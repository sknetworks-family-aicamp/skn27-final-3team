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a4c221fe244850" /><Relationship Type="http://schemas.openxmlformats.org/officeDocument/2006/relationships/extended-properties" Target="/docProps/app.xml" Id="Ra90f1e1d88464d69" /><Relationship Type="http://schemas.openxmlformats.org/officeDocument/2006/relationships/officeDocument" Target="/ppt/presentation.xml" Id="Ra2888a70b34d45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1546b3e7864d86"/>
  </p:sldMasterIdLst>
  <p:notesMasterIdLst>
    <p:notesMasterId xmlns:r="http://schemas.openxmlformats.org/officeDocument/2006/relationships" r:id="R9a0298945e9b4f32"/>
  </p:notesMasterIdLst>
  <p:sldIdLst>
    <p:sldId xmlns:r="http://schemas.openxmlformats.org/officeDocument/2006/relationships" id="256" r:id="R4545149cdd7b4260"/>
    <p:sldId xmlns:r="http://schemas.openxmlformats.org/officeDocument/2006/relationships" id="257" r:id="R6ea1cfd91b8f4a04"/>
    <p:sldId xmlns:r="http://schemas.openxmlformats.org/officeDocument/2006/relationships" id="258" r:id="R55344207253a469e"/>
    <p:sldId xmlns:r="http://schemas.openxmlformats.org/officeDocument/2006/relationships" id="259" r:id="R16e13fe326e64373"/>
    <p:sldId xmlns:r="http://schemas.openxmlformats.org/officeDocument/2006/relationships" id="260" r:id="R94aa11714ef74d28"/>
    <p:sldId xmlns:r="http://schemas.openxmlformats.org/officeDocument/2006/relationships" id="261" r:id="Ra95c028c49804287"/>
    <p:sldId xmlns:r="http://schemas.openxmlformats.org/officeDocument/2006/relationships" id="262" r:id="R5b60a0127abd436e"/>
    <p:sldId xmlns:r="http://schemas.openxmlformats.org/officeDocument/2006/relationships" id="263" r:id="R5e947341cce447ca"/>
    <p:sldId xmlns:r="http://schemas.openxmlformats.org/officeDocument/2006/relationships" id="264" r:id="R440e5d7d440a4312"/>
    <p:sldId xmlns:r="http://schemas.openxmlformats.org/officeDocument/2006/relationships" id="265" r:id="Ra41db0f1da4e4660"/>
    <p:sldId xmlns:r="http://schemas.openxmlformats.org/officeDocument/2006/relationships" id="266" r:id="R7cb33849052d4fd3"/>
    <p:sldId xmlns:r="http://schemas.openxmlformats.org/officeDocument/2006/relationships" id="267" r:id="R1cc102609816453e"/>
    <p:sldId xmlns:r="http://schemas.openxmlformats.org/officeDocument/2006/relationships" id="268" r:id="R3d8506e4a4f9456b"/>
    <p:sldId xmlns:r="http://schemas.openxmlformats.org/officeDocument/2006/relationships" id="269" r:id="R6099752d3be941ef"/>
    <p:sldId xmlns:r="http://schemas.openxmlformats.org/officeDocument/2006/relationships" id="270" r:id="R56839f3223b24ac3"/>
    <p:sldId xmlns:r="http://schemas.openxmlformats.org/officeDocument/2006/relationships" id="271" r:id="R8ff6c4da5ed64a42"/>
    <p:sldId xmlns:r="http://schemas.openxmlformats.org/officeDocument/2006/relationships" id="272" r:id="Rcef98e8a4f0245a8"/>
    <p:sldId xmlns:r="http://schemas.openxmlformats.org/officeDocument/2006/relationships" id="273" r:id="R51208872ca444989"/>
    <p:sldId xmlns:r="http://schemas.openxmlformats.org/officeDocument/2006/relationships" id="274" r:id="R0f54b28e2c81456c"/>
    <p:sldId xmlns:r="http://schemas.openxmlformats.org/officeDocument/2006/relationships" id="275" r:id="R3d7c5e15f5e24cce"/>
    <p:sldId xmlns:r="http://schemas.openxmlformats.org/officeDocument/2006/relationships" id="276" r:id="R19194ad3f16641a7"/>
    <p:sldId xmlns:r="http://schemas.openxmlformats.org/officeDocument/2006/relationships" id="277" r:id="R7d31093daa3d4866"/>
    <p:sldId xmlns:r="http://schemas.openxmlformats.org/officeDocument/2006/relationships" id="278" r:id="R7546eab4a24a4271"/>
    <p:sldId xmlns:r="http://schemas.openxmlformats.org/officeDocument/2006/relationships" id="279" r:id="Rda3dc14ad8bc462f"/>
    <p:sldId xmlns:r="http://schemas.openxmlformats.org/officeDocument/2006/relationships" id="280" r:id="R6b4aeddfb5ef4b4d"/>
    <p:sldId xmlns:r="http://schemas.openxmlformats.org/officeDocument/2006/relationships" id="281" r:id="R278fba8decd24112"/>
    <p:sldId xmlns:r="http://schemas.openxmlformats.org/officeDocument/2006/relationships" id="282" r:id="Rdc9ce0f8709340c2"/>
    <p:sldId xmlns:r="http://schemas.openxmlformats.org/officeDocument/2006/relationships" id="283" r:id="R75e924e7a3d7424d"/>
    <p:sldId xmlns:r="http://schemas.openxmlformats.org/officeDocument/2006/relationships" id="284" r:id="R2e19a02224cd4716"/>
    <p:sldId xmlns:r="http://schemas.openxmlformats.org/officeDocument/2006/relationships" id="285" r:id="R6a920ac809c04b02"/>
    <p:sldId xmlns:r="http://schemas.openxmlformats.org/officeDocument/2006/relationships" id="286" r:id="R0bea34c66d564a82"/>
    <p:sldId xmlns:r="http://schemas.openxmlformats.org/officeDocument/2006/relationships" id="287" r:id="Rc8583e03cadd45b6"/>
    <p:sldId xmlns:r="http://schemas.openxmlformats.org/officeDocument/2006/relationships" id="288" r:id="R876947e36a8a4705"/>
    <p:sldId xmlns:r="http://schemas.openxmlformats.org/officeDocument/2006/relationships" id="289" r:id="R688f0f44810f4793"/>
    <p:sldId xmlns:r="http://schemas.openxmlformats.org/officeDocument/2006/relationships" id="290" r:id="Rcb83afcd7fc54326"/>
    <p:sldId xmlns:r="http://schemas.openxmlformats.org/officeDocument/2006/relationships" id="291" r:id="R1b237ca53a444186"/>
    <p:sldId xmlns:r="http://schemas.openxmlformats.org/officeDocument/2006/relationships" id="292" r:id="R956f970dd6924e3e"/>
    <p:sldId xmlns:r="http://schemas.openxmlformats.org/officeDocument/2006/relationships" id="293" r:id="Rcb6f7fb821d04b92"/>
    <p:sldId xmlns:r="http://schemas.openxmlformats.org/officeDocument/2006/relationships" id="294" r:id="R113eb7fa92ec473b"/>
    <p:sldId xmlns:r="http://schemas.openxmlformats.org/officeDocument/2006/relationships" id="295" r:id="R06bae1a7e84d4738"/>
    <p:sldId xmlns:r="http://schemas.openxmlformats.org/officeDocument/2006/relationships" id="296" r:id="Ra8e7529c9f7548d6"/>
    <p:sldId xmlns:r="http://schemas.openxmlformats.org/officeDocument/2006/relationships" id="297" r:id="Rae1c6b2b6add4cdf"/>
    <p:sldId xmlns:r="http://schemas.openxmlformats.org/officeDocument/2006/relationships" id="298" r:id="R6e23330d83014ac2"/>
    <p:sldId xmlns:r="http://schemas.openxmlformats.org/officeDocument/2006/relationships" id="299" r:id="R55ab5c7839a143f0"/>
    <p:sldId xmlns:r="http://schemas.openxmlformats.org/officeDocument/2006/relationships" id="300" r:id="Ra9f438dece8549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93f9364d4c498f" /><Relationship Type="http://schemas.openxmlformats.org/officeDocument/2006/relationships/slideMaster" Target="/ppt/slideMasters/slideMaster1.xml" Id="R811546b3e7864d86" /><Relationship Type="http://schemas.openxmlformats.org/officeDocument/2006/relationships/notesMaster" Target="/ppt/notesMasters/notesMaster1.xml" Id="R9a0298945e9b4f32" /><Relationship Type="http://schemas.openxmlformats.org/officeDocument/2006/relationships/presProps" Target="/ppt/presProps.xml" Id="Re0b36df5dff34886" /><Relationship Type="http://schemas.openxmlformats.org/officeDocument/2006/relationships/tableStyles" Target="/ppt/tableStyles.xml" Id="Re9cab83dbdf34f5c" /><Relationship Type="http://schemas.openxmlformats.org/officeDocument/2006/relationships/slide" Target="/ppt/slides/slide1.xml" Id="R4545149cdd7b4260" /><Relationship Type="http://schemas.openxmlformats.org/officeDocument/2006/relationships/slide" Target="/ppt/slides/slide2.xml" Id="R6ea1cfd91b8f4a04" /><Relationship Type="http://schemas.openxmlformats.org/officeDocument/2006/relationships/slide" Target="/ppt/slides/slide3.xml" Id="R55344207253a469e" /><Relationship Type="http://schemas.openxmlformats.org/officeDocument/2006/relationships/slide" Target="/ppt/slides/slide4.xml" Id="R16e13fe326e64373" /><Relationship Type="http://schemas.openxmlformats.org/officeDocument/2006/relationships/slide" Target="/ppt/slides/slide5.xml" Id="R94aa11714ef74d28" /><Relationship Type="http://schemas.openxmlformats.org/officeDocument/2006/relationships/slide" Target="/ppt/slides/slide6.xml" Id="Ra95c028c49804287" /><Relationship Type="http://schemas.openxmlformats.org/officeDocument/2006/relationships/slide" Target="/ppt/slides/slide7.xml" Id="R5b60a0127abd436e" /><Relationship Type="http://schemas.openxmlformats.org/officeDocument/2006/relationships/slide" Target="/ppt/slides/slide8.xml" Id="R5e947341cce447ca" /><Relationship Type="http://schemas.openxmlformats.org/officeDocument/2006/relationships/slide" Target="/ppt/slides/slide9.xml" Id="R440e5d7d440a4312" /><Relationship Type="http://schemas.openxmlformats.org/officeDocument/2006/relationships/slide" Target="/ppt/slides/slide10.xml" Id="Ra41db0f1da4e4660" /><Relationship Type="http://schemas.openxmlformats.org/officeDocument/2006/relationships/slide" Target="/ppt/slides/slide11.xml" Id="R7cb33849052d4fd3" /><Relationship Type="http://schemas.openxmlformats.org/officeDocument/2006/relationships/slide" Target="/ppt/slides/slide12.xml" Id="R1cc102609816453e" /><Relationship Type="http://schemas.openxmlformats.org/officeDocument/2006/relationships/slide" Target="/ppt/slides/slide13.xml" Id="R3d8506e4a4f9456b" /><Relationship Type="http://schemas.openxmlformats.org/officeDocument/2006/relationships/slide" Target="/ppt/slides/slide14.xml" Id="R6099752d3be941ef" /><Relationship Type="http://schemas.openxmlformats.org/officeDocument/2006/relationships/slide" Target="/ppt/slides/slide15.xml" Id="R56839f3223b24ac3" /><Relationship Type="http://schemas.openxmlformats.org/officeDocument/2006/relationships/slide" Target="/ppt/slides/slide16.xml" Id="R8ff6c4da5ed64a42" /><Relationship Type="http://schemas.openxmlformats.org/officeDocument/2006/relationships/slide" Target="/ppt/slides/slide17.xml" Id="Rcef98e8a4f0245a8" /><Relationship Type="http://schemas.openxmlformats.org/officeDocument/2006/relationships/slide" Target="/ppt/slides/slide18.xml" Id="R51208872ca444989" /><Relationship Type="http://schemas.openxmlformats.org/officeDocument/2006/relationships/slide" Target="/ppt/slides/slide19.xml" Id="R0f54b28e2c81456c" /><Relationship Type="http://schemas.openxmlformats.org/officeDocument/2006/relationships/slide" Target="/ppt/slides/slide20.xml" Id="R3d7c5e15f5e24cce" /><Relationship Type="http://schemas.openxmlformats.org/officeDocument/2006/relationships/slide" Target="/ppt/slides/slide21.xml" Id="R19194ad3f16641a7" /><Relationship Type="http://schemas.openxmlformats.org/officeDocument/2006/relationships/slide" Target="/ppt/slides/slide22.xml" Id="R7d31093daa3d4866" /><Relationship Type="http://schemas.openxmlformats.org/officeDocument/2006/relationships/slide" Target="/ppt/slides/slide23.xml" Id="R7546eab4a24a4271" /><Relationship Type="http://schemas.openxmlformats.org/officeDocument/2006/relationships/slide" Target="/ppt/slides/slide24.xml" Id="Rda3dc14ad8bc462f" /><Relationship Type="http://schemas.openxmlformats.org/officeDocument/2006/relationships/slide" Target="/ppt/slides/slide25.xml" Id="R6b4aeddfb5ef4b4d" /><Relationship Type="http://schemas.openxmlformats.org/officeDocument/2006/relationships/slide" Target="/ppt/slides/slide26.xml" Id="R278fba8decd24112" /><Relationship Type="http://schemas.openxmlformats.org/officeDocument/2006/relationships/slide" Target="/ppt/slides/slide27.xml" Id="Rdc9ce0f8709340c2" /><Relationship Type="http://schemas.openxmlformats.org/officeDocument/2006/relationships/slide" Target="/ppt/slides/slide28.xml" Id="R75e924e7a3d7424d" /><Relationship Type="http://schemas.openxmlformats.org/officeDocument/2006/relationships/slide" Target="/ppt/slides/slide29.xml" Id="R2e19a02224cd4716" /><Relationship Type="http://schemas.openxmlformats.org/officeDocument/2006/relationships/slide" Target="/ppt/slides/slide30.xml" Id="R6a920ac809c04b02" /><Relationship Type="http://schemas.openxmlformats.org/officeDocument/2006/relationships/slide" Target="/ppt/slides/slide31.xml" Id="R0bea34c66d564a82" /><Relationship Type="http://schemas.openxmlformats.org/officeDocument/2006/relationships/slide" Target="/ppt/slides/slide32.xml" Id="Rc8583e03cadd45b6" /><Relationship Type="http://schemas.openxmlformats.org/officeDocument/2006/relationships/slide" Target="/ppt/slides/slide33.xml" Id="R876947e36a8a4705" /><Relationship Type="http://schemas.openxmlformats.org/officeDocument/2006/relationships/slide" Target="/ppt/slides/slide34.xml" Id="R688f0f44810f4793" /><Relationship Type="http://schemas.openxmlformats.org/officeDocument/2006/relationships/slide" Target="/ppt/slides/slide35.xml" Id="Rcb83afcd7fc54326" /><Relationship Type="http://schemas.openxmlformats.org/officeDocument/2006/relationships/slide" Target="/ppt/slides/slide36.xml" Id="R1b237ca53a444186" /><Relationship Type="http://schemas.openxmlformats.org/officeDocument/2006/relationships/slide" Target="/ppt/slides/slide37.xml" Id="R956f970dd6924e3e" /><Relationship Type="http://schemas.openxmlformats.org/officeDocument/2006/relationships/slide" Target="/ppt/slides/slide38.xml" Id="Rcb6f7fb821d04b92" /><Relationship Type="http://schemas.openxmlformats.org/officeDocument/2006/relationships/slide" Target="/ppt/slides/slide39.xml" Id="R113eb7fa92ec473b" /><Relationship Type="http://schemas.openxmlformats.org/officeDocument/2006/relationships/slide" Target="/ppt/slides/slide40.xml" Id="R06bae1a7e84d4738" /><Relationship Type="http://schemas.openxmlformats.org/officeDocument/2006/relationships/slide" Target="/ppt/slides/slide41.xml" Id="Ra8e7529c9f7548d6" /><Relationship Type="http://schemas.openxmlformats.org/officeDocument/2006/relationships/slide" Target="/ppt/slides/slide42.xml" Id="Rae1c6b2b6add4cdf" /><Relationship Type="http://schemas.openxmlformats.org/officeDocument/2006/relationships/slide" Target="/ppt/slides/slide43.xml" Id="R6e23330d83014ac2" /><Relationship Type="http://schemas.openxmlformats.org/officeDocument/2006/relationships/slide" Target="/ppt/slides/slide44.xml" Id="R55ab5c7839a143f0" /><Relationship Type="http://schemas.openxmlformats.org/officeDocument/2006/relationships/slide" Target="/ppt/slides/slide45.xml" Id="Ra9f438dece8549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c890c42f4d44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f994c9c24f4cc1" /><Relationship Type="http://schemas.openxmlformats.org/officeDocument/2006/relationships/notesMaster" Target="/ppt/notesMasters/notesMaster1.xml" Id="R79b9efe953b949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5fcce69d86457d" /><Relationship Type="http://schemas.openxmlformats.org/officeDocument/2006/relationships/notesMaster" Target="/ppt/notesMasters/notesMaster1.xml" Id="R6f20ea283b4740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62177f7cb24bd8" /><Relationship Type="http://schemas.openxmlformats.org/officeDocument/2006/relationships/notesMaster" Target="/ppt/notesMasters/notesMaster1.xml" Id="R3279ef1916c84a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87fabb0dcd4a39" /><Relationship Type="http://schemas.openxmlformats.org/officeDocument/2006/relationships/notesMaster" Target="/ppt/notesMasters/notesMaster1.xml" Id="Rc3a0ba05872c47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75f0cc81a54ad6" /><Relationship Type="http://schemas.openxmlformats.org/officeDocument/2006/relationships/notesMaster" Target="/ppt/notesMasters/notesMaster1.xml" Id="Rb8908e9345634d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ac9875e58d4eba" /><Relationship Type="http://schemas.openxmlformats.org/officeDocument/2006/relationships/notesMaster" Target="/ppt/notesMasters/notesMaster1.xml" Id="Rd532d5f19a7e4e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58ba9545764a79" /><Relationship Type="http://schemas.openxmlformats.org/officeDocument/2006/relationships/notesMaster" Target="/ppt/notesMasters/notesMaster1.xml" Id="Rb6797684ecc746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d87edb051640be" /><Relationship Type="http://schemas.openxmlformats.org/officeDocument/2006/relationships/notesMaster" Target="/ppt/notesMasters/notesMaster1.xml" Id="R51f4790ceeb948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049dc19cc6432c" /><Relationship Type="http://schemas.openxmlformats.org/officeDocument/2006/relationships/notesMaster" Target="/ppt/notesMasters/notesMaster1.xml" Id="R83aca8862e4d41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62ecf8573948b0" /><Relationship Type="http://schemas.openxmlformats.org/officeDocument/2006/relationships/notesMaster" Target="/ppt/notesMasters/notesMaster1.xml" Id="R18cd7f511c164f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8cc1f55b774f72" /><Relationship Type="http://schemas.openxmlformats.org/officeDocument/2006/relationships/notesMaster" Target="/ppt/notesMasters/notesMaster1.xml" Id="Rd82839647d6041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3cb6e956d94f96" /><Relationship Type="http://schemas.openxmlformats.org/officeDocument/2006/relationships/notesMaster" Target="/ppt/notesMasters/notesMaster1.xml" Id="R7c3b9be4f3ee44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25100ce35143eb" /><Relationship Type="http://schemas.openxmlformats.org/officeDocument/2006/relationships/notesMaster" Target="/ppt/notesMasters/notesMaster1.xml" Id="R8d8a23b3b0ba47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2c8dd9656d48bf" /><Relationship Type="http://schemas.openxmlformats.org/officeDocument/2006/relationships/notesMaster" Target="/ppt/notesMasters/notesMaster1.xml" Id="R595b4c54de3b4f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57785fffc94162" /><Relationship Type="http://schemas.openxmlformats.org/officeDocument/2006/relationships/notesMaster" Target="/ppt/notesMasters/notesMaster1.xml" Id="Rec0c1e78f53848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a1c7a2a03747e0" /><Relationship Type="http://schemas.openxmlformats.org/officeDocument/2006/relationships/notesMaster" Target="/ppt/notesMasters/notesMaster1.xml" Id="Rd95175bcbc64442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217538efe64268" /><Relationship Type="http://schemas.openxmlformats.org/officeDocument/2006/relationships/notesMaster" Target="/ppt/notesMasters/notesMaster1.xml" Id="Ra7ded153286e45d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1fba4ef4b8743db" /><Relationship Type="http://schemas.openxmlformats.org/officeDocument/2006/relationships/notesMaster" Target="/ppt/notesMasters/notesMaster1.xml" Id="Re1b9f09882684b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32ae4b4d3142a4" /><Relationship Type="http://schemas.openxmlformats.org/officeDocument/2006/relationships/notesMaster" Target="/ppt/notesMasters/notesMaster1.xml" Id="R560dd07bd97c46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861d2c33524ae8" /><Relationship Type="http://schemas.openxmlformats.org/officeDocument/2006/relationships/notesMaster" Target="/ppt/notesMasters/notesMaster1.xml" Id="R91219151c2364e8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7898ba74a024178" /><Relationship Type="http://schemas.openxmlformats.org/officeDocument/2006/relationships/notesMaster" Target="/ppt/notesMasters/notesMaster1.xml" Id="Ra0a729b53c024a5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b62ceef907440f2" /><Relationship Type="http://schemas.openxmlformats.org/officeDocument/2006/relationships/notesMaster" Target="/ppt/notesMasters/notesMaster1.xml" Id="Rb1e8d9fb197c4a3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07dfde9920246e0" /><Relationship Type="http://schemas.openxmlformats.org/officeDocument/2006/relationships/notesMaster" Target="/ppt/notesMasters/notesMaster1.xml" Id="R28d9c3c9348148d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a399e0ec9db41dd" /><Relationship Type="http://schemas.openxmlformats.org/officeDocument/2006/relationships/notesMaster" Target="/ppt/notesMasters/notesMaster1.xml" Id="R2d5bd29c337d445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30ecfcd18aa4c30" /><Relationship Type="http://schemas.openxmlformats.org/officeDocument/2006/relationships/notesMaster" Target="/ppt/notesMasters/notesMaster1.xml" Id="R7d58a0766c0a4ca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476411f62514909" /><Relationship Type="http://schemas.openxmlformats.org/officeDocument/2006/relationships/notesMaster" Target="/ppt/notesMasters/notesMaster1.xml" Id="Ra23acd13a9554c2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eb54fe4ed17427a" /><Relationship Type="http://schemas.openxmlformats.org/officeDocument/2006/relationships/notesMaster" Target="/ppt/notesMasters/notesMaster1.xml" Id="R8cc4a1f3bae0497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0b80e8fa74941a3" /><Relationship Type="http://schemas.openxmlformats.org/officeDocument/2006/relationships/notesMaster" Target="/ppt/notesMasters/notesMaster1.xml" Id="R0b4104492a1b4c1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5278b968db94ae2" /><Relationship Type="http://schemas.openxmlformats.org/officeDocument/2006/relationships/notesMaster" Target="/ppt/notesMasters/notesMaster1.xml" Id="Rf57b199c0be74f4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a2990bcc7a44e4c" /><Relationship Type="http://schemas.openxmlformats.org/officeDocument/2006/relationships/notesMaster" Target="/ppt/notesMasters/notesMaster1.xml" Id="R31cd113ee5bc4ab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5ffd24e0a6e4896" /><Relationship Type="http://schemas.openxmlformats.org/officeDocument/2006/relationships/notesMaster" Target="/ppt/notesMasters/notesMaster1.xml" Id="Rec647bf41fab43e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5a7896b3f8548e4" /><Relationship Type="http://schemas.openxmlformats.org/officeDocument/2006/relationships/notesMaster" Target="/ppt/notesMasters/notesMaster1.xml" Id="Rde5b72685d2e49d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2d6b995ba034fdd" /><Relationship Type="http://schemas.openxmlformats.org/officeDocument/2006/relationships/notesMaster" Target="/ppt/notesMasters/notesMaster1.xml" Id="Ra714b317dcf840f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17d7e9e8c2643e6" /><Relationship Type="http://schemas.openxmlformats.org/officeDocument/2006/relationships/notesMaster" Target="/ppt/notesMasters/notesMaster1.xml" Id="Rfb35c5897ad545a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38ae0bac8774cf2" /><Relationship Type="http://schemas.openxmlformats.org/officeDocument/2006/relationships/notesMaster" Target="/ppt/notesMasters/notesMaster1.xml" Id="Rfef93262886844b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2be21a5cd7c4383" /><Relationship Type="http://schemas.openxmlformats.org/officeDocument/2006/relationships/notesMaster" Target="/ppt/notesMasters/notesMaster1.xml" Id="Rfca0177b9d534aa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5443b44a5144846" /><Relationship Type="http://schemas.openxmlformats.org/officeDocument/2006/relationships/notesMaster" Target="/ppt/notesMasters/notesMaster1.xml" Id="Rdf8651b3c0174f7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cd670c4830b48cc" /><Relationship Type="http://schemas.openxmlformats.org/officeDocument/2006/relationships/notesMaster" Target="/ppt/notesMasters/notesMaster1.xml" Id="Rc7502ee3cabb404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ec60312a0b64c00" /><Relationship Type="http://schemas.openxmlformats.org/officeDocument/2006/relationships/notesMaster" Target="/ppt/notesMasters/notesMaster1.xml" Id="R6bd5546fef2741a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ee7356d80284bde" /><Relationship Type="http://schemas.openxmlformats.org/officeDocument/2006/relationships/notesMaster" Target="/ppt/notesMasters/notesMaster1.xml" Id="Rc3764e94f06f483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3a65a03c2ba4075" /><Relationship Type="http://schemas.openxmlformats.org/officeDocument/2006/relationships/notesMaster" Target="/ppt/notesMasters/notesMaster1.xml" Id="Rfcb2e9eb96fd4a2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e8771b494ab478f" /><Relationship Type="http://schemas.openxmlformats.org/officeDocument/2006/relationships/notesMaster" Target="/ppt/notesMasters/notesMaster1.xml" Id="Rd14b00e0aff94bf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cef260db47c4c11" /><Relationship Type="http://schemas.openxmlformats.org/officeDocument/2006/relationships/notesMaster" Target="/ppt/notesMasters/notesMaster1.xml" Id="R611b4918fd80436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b5cba3de6784e65" /><Relationship Type="http://schemas.openxmlformats.org/officeDocument/2006/relationships/notesMaster" Target="/ppt/notesMasters/notesMaster1.xml" Id="R51ac8c1793794fe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4cf75a200cd4b64" /><Relationship Type="http://schemas.openxmlformats.org/officeDocument/2006/relationships/notesMaster" Target="/ppt/notesMasters/notesMaster1.xml" Id="Rf25c0a4b99f544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장에서는 이 서비스가 단순 챗봇이 아니라 교통사고, 과태료, 보험 대응, 법률 근거를 하나의 사건 흐름으로 정리하는 솔루션이라는 점을 열어줍니다.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목차는 문제 배경에서 출발해 사용자 문제, 시장과 차별점, 이용 과정, AI 분석 구조, 구현 범위 순서로 이어집니다. 발표할 때는 기능 나열보다 왜 이 흐름이 필요한지에 초점을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섹션은 과실비율 분쟁이 늘고 사용자가 기준을 이해하기 어렵다는 문제를 제기합니다. 이후 슬라이드에서 수치와 인식 격차로 근거를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2024년 분쟁 건수와 10년 증가 흐름을 말하며, 단순 사고 증가가 아니라 보험금과 보험료 할증으로 이어지는 이해관계가 분쟁을 키운다고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공정성, 기본과실, 조사 부족에서 느끼는 정보 격차를 짚습니다. 여기서 우리 서비스는 결론을 대신 내리는 것이 아니라 근거와 한계를 보여주는 도구라고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 보강 슬라이드입니다. 분쟁 건수, 사용자 인식 격차, 흩어진 근거원을 한 장으로 묶어 시장을 '교통사고 전체'가 아니라 상담 전 근거 검토 수요로 정의합니다.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과실비율은 날씨, 도로 상태, 블랙박스 화각, 유사사고 차이, 고의성 여부처럼 변수가 많습니다. 따라서 AI도 확정 판정보다 변수 구조화와 근거 제시가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소개로 전환합니다. 판단 전 사건 구조화, 근거 기반 답변, 다음 행동 리포트라는 세 가지 가치를 짧게 제시합니다.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구조화의 필요성을 여는 장입니다. 사고나 고지서를 바로 판단하기 전에 어떤 정보가 들어왔는지 분리해야 한다고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고지서, 사고 설명, 사진, 영상에서 위반유형, 장소, 기한, 증거, 사고유형을 먼저 추출한다는 점을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구조화된 정보가 법령, 과실비율 인정기준, 판례, 심의사례 검색으로 이어진다는 연결을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결과물은 이의 가능성, 리스크, 추가 증거, 문의 초안, 다운로드 가능한 리포트입니다. 사용자가 상담 전 스스로 검토할 수 있게 하는 것이 목표입니다.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수집부터 리포트까지의 파이프라인을 요약합니다. 사용자 가치는 쟁점과 근거 확인, 서비스 가치는 흩어진 자료의 사건 단위 연결입니다.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문제 섹션입니다. 고지서, 과실비율, 보험 대응에서 실제 사용자가 반복적으로 겪는 실패 장면을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과태료, 과실비율, 법률 근거, 상담 리포트가 각각 다른 문제처럼 보이지만 모두 사건 구조화와 근거 검색으로 연결된다고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과태료, 범칙금, 벌점, 사고 과실비율을 구분합니다. 특히 범칙금과 벌점은 리스크가 있어 단정형 문서 생성을 제한해야 한다는 점을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질문을 바로 답하지 않고 검토 가능한 사건 구조로 바꾼다는 메시지를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 고지서 사례입니다. OCR 추출과 처분 유형 분기, 가능성 및 위험 분리를 통해 사용자가 무엇을 확인해야 하는지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보험 과실비율 분쟁 사례입니다. 정답 비율보다 유사 사례, 사실관계 차이, 부족한 증거, 보험사 질문 문구가 사용자에게 더 실용적입니다.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법률/보험 AI에서 품질만큼 중요한 것이 데이터 보호입니다. 차량번호, 고지서, 주소, 영상이 함께 들어오므로 권한 분리와 파일 검사가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시장과 차별점으로 넘어갑니다. 이미 있는 서비스와 아직 비어 있는 조합을 비교할 준비를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기능은 시장에 있지만, 고지서 문서 인식부터 사고자료 구조화, 근거 검색, 리포트까지 한 번에 이어지는 조합은 부족하다고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포털, 보험사 앱, 리걸테크, 일반 AI의 강점과 한계를 공정하게 말합니다. 우리 서비스는 사건자료 기반 리포트 연결에 초점을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경쟁 기능 비교에서는 보험사 독립성, 영상/문서/법령 연결, 개인 운전자용 리포트라는 차이를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우리 서비스의 위치는 전문가 상담 전 셀프 점검입니다. 보험사 AI나 판례 검색과 경쟁하기보다 빈 구간을 메우는 서비스로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차별점 네 가지를 요약합니다. 무조건 이의신청 권유가 아니라 근거, 기한, 증거, 위험을 분리하는 안전한 접근이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이용 섹션으로 넘어갑니다. 입력부터 리포트까지 사용자가 어떤 경험을 하게 되는지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사고자료 처리 흐름입니다. 공식 포털, 보험사, 법률 플랫폼, 생성형 AI가 따로 제공하던 조각을 사건 중심으로 묶는다고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입력부터 내부 분석 모듈, 리포트 저장까지의 흐름입니다. 파일 검사와 분석 통합이 신뢰성의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고지서 인식과 이의 검토입니다. OCR은 필드 추출, Appeal 분석은 가능성과 리스크 분리라는 역할 차이를 분명히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법령·사례 검색입니다. 교통 판례, 과실비율 판례, 심의사례를 활용하되 정답 비율이 아니라 판례·심의사례의 근거와 차이를 보여준다고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상담 리포트 관리는 발표에서 사용자 가치가 가장 잘 보이는 부분입니다. 보험사 대화나 전문가 상담 전 정리된 자료가 되는 점을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기능과 AI 분석 구조 섹션입니다. 문서, 영상, 법률 데이터를 연결하되 민감 데이터 보호를 함께 다룹니다.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기술 보강 슬라이드입니다. AI 분석 구조를 OCR, RAG, 사례검색, 리포트 생성의 네 단계로 설명하고, 정답 생성이 아니라 근거 조립이라는 관점을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분석 모듈의 역할을 구분합니다. 오류 유형이 다르므로 하나의 거대 모델보다 모듈 분리와 Supervisor 병합이 더 안전하다는 메시지를 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보안 설계입니다. 권한 분리, 서버 측 인증정보 관리, 파일 검사, 개인정보 최소화, AI 입력 검증을 법률/보험 AI의 기본 조건으로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안전장치입니다. 승소 보장, 과실비율 확정, 자동 제출을 하지 않는다는 선을 명확히 하고, 출처와 한계, 추가 확인사항을 반드시 제공한다고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범위와 기대효과 섹션입니다. MVP에 무엇을 넣고 무엇을 제외했는지 현실적으로 정리합니다.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범위에서는 가능한 기능과 제외 기능을 구분합니다. 자동 제출이나 확정 표현을 제외했다는 점이 오히려 신뢰 설계라는 점을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계획입니다. OCR, 근거 검색, Vision, 분석 통합, 안전장치를 각각 다른 지표로 평가해야 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구현과 다음 단계입니다. 실제 보험사 내부 데이터와 모든 영상 자동 판정은 후순위이며, 지금은 근거 검색과 리포트 흐름 검증에 집중한다고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핵심 문장입니다. 교통분쟁 AI는 판단을 대신하는 서비스가 아니라 사용자가 근거를 확인하고 다음 행동을 정리하도록 돕는 서비스입니다.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참고자료 슬라이드입니다. 시장 수치, 공식 기준, 법령, 보안 기준의 출처를 짚고 질의응답으로 넘어갑니다.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Q&amp;A에서는 '확정 판정이 아닌 근거 리포트', '보험사 독립성', '개인정보 보호', 'MVP의 한계와 확장 계획' 네 가지 답변 축을 준비하면 좋습니다.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5324ae07e4b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fc5dcfcb547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e311fed2e44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1b83c4f874c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7d669d1a394b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75ec89c23743a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cdc9deebf47a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9a62fe57c84ce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7da6583fd4fc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fb1fe65f3472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963cd6f73e403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E8E465-550B-4FDF-B291-01E9E4AE664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C0A8EA5-ED30-4140-985F-271797DC87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5D7775-4518-4DF5-9445-394547BC8B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6A0E60-2090-4E42-A783-312432F7AF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567F4F-14B4-4D4D-AA0B-BC1C4A29B3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A633FA-241D-4DB6-874A-C35A68C8D5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0C49BA3-DCD7-4565-A8B4-22BB7FAD82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AF8E70-77EF-407B-9D29-B30E6267D0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394A18-8B06-4DE5-A992-451F58DF22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8DD2C8-A1EF-4E86-A7EB-FE05D3FA4B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299CA5-D89D-4287-8D3F-94432779CE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E14E89-843E-4E12-9968-2FECC81452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1D96AC-704F-4E06-82A9-71699580C2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0526A2-5C5C-45B2-AB03-A13D474ECD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B32873-ED85-47C5-81A2-601AAFC8E9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FF86C8-1226-4EDC-A65D-112EAF322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0E9723-DB95-4275-AE90-1C39DF7A88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3A5E7C4-A3B6-497D-A4A8-75FDEDCBAD2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96ACE44-E571-4E2A-8727-0883503A38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44BA40A-E598-4519-9FEB-D2EAF69DF6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796AD6-EE3A-42C7-8396-069DACB604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7E938A-7AB5-4C18-B197-B895DC46B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D62C7C-99B0-427A-8C7B-633BC80763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B23F55B-5373-44C5-9EFD-BC3B805903A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B1AC849-7FA1-4349-90B1-C7BFD3F115D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60A944D-125E-48A2-8C35-8416C534962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60DDBE1-4C43-4F86-8476-2D99024D51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BD16814-D058-49D0-A1F7-4BC6A0BB93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404AD2B-D2DE-4A26-BA7C-85CA895F0A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102F97-1996-4AB5-AAD1-61095CB3D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40085FE-0129-4DBA-8053-B307F960DD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7263654-1F33-4F9C-957B-C54D73910B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93C4BDB-8610-4E0D-BD0C-66B5DCCDCE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4319625-FFFD-488D-A798-DB9E911DB5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2026-07-07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61EA7E5-B9EA-44DC-B22E-E335EC3DBE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3CDACE7-7BDA-4DEB-846F-0D87963E7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C614B1-5BF0-4703-B32E-596C8C49B0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215A4B-0D87-450D-B44E-F5CB513A16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47BAD6A-5D44-40DF-88E3-29472C7EE0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F9D7E9F-CE9F-4DBB-BB73-B36CAEBFB5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47A9785-E71B-43F6-AC03-C95F47321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19B54C3-F303-4456-963E-90B492A752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1C6985-D8FA-44DE-A79B-60FCB61C4D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C593D0C-140B-4F85-AC54-EA8D454898E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BC593D2-550A-49B1-8421-57A3C2C602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FB42AAC-AEB7-4FD2-8E84-7816B446EC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9C9C517-62BF-4B4E-AA29-0220E9C5BC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D8E27EE-A0FC-45CB-8578-099B52C874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FD94FF-4ACC-4048-8DC0-B49B80C737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C3A905-8BC0-4088-8EA1-C49F30179D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BB53A0-D461-4713-AF0F-A60EAFB74A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DC8431-1B9C-493A-A531-DB81395853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71E7CF-068E-4711-9348-D79F96294A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0F3B39C-D5DB-4CE6-BDD9-9E0B95BC96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14A399-E4A0-4986-AB09-D4C606613C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0B5E51-5790-4FD0-960A-F944894D45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19B549-0C2C-4E8B-B6C7-176F0589B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444D2D-BFE3-48D0-85B2-D0EB113F00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30cd51533943bc" /><Relationship Type="http://schemas.openxmlformats.org/officeDocument/2006/relationships/slideLayout" Target="/ppt/slideLayouts/slideLayout1.xml" Id="R2bfe9faf58614053" /><Relationship Type="http://schemas.openxmlformats.org/officeDocument/2006/relationships/slideLayout" Target="/ppt/slideLayouts/slideLayout2.xml" Id="Rfb7ebfffda784491" /><Relationship Type="http://schemas.openxmlformats.org/officeDocument/2006/relationships/slideLayout" Target="/ppt/slideLayouts/slideLayout3.xml" Id="R4766bf7e504e4e39" /><Relationship Type="http://schemas.openxmlformats.org/officeDocument/2006/relationships/slideLayout" Target="/ppt/slideLayouts/slideLayout4.xml" Id="R283032e146ed4c74" /><Relationship Type="http://schemas.openxmlformats.org/officeDocument/2006/relationships/slideLayout" Target="/ppt/slideLayouts/slideLayout5.xml" Id="R667ab4260b4a4e62" /><Relationship Type="http://schemas.openxmlformats.org/officeDocument/2006/relationships/slideLayout" Target="/ppt/slideLayouts/slideLayout6.xml" Id="Rb6d4fd8d0dfb4768" /><Relationship Type="http://schemas.openxmlformats.org/officeDocument/2006/relationships/slideLayout" Target="/ppt/slideLayouts/slideLayout7.xml" Id="R786eaebc968f4c5e" /><Relationship Type="http://schemas.openxmlformats.org/officeDocument/2006/relationships/slideLayout" Target="/ppt/slideLayouts/slideLayout8.xml" Id="R9d087cd9ea844e7a" /><Relationship Type="http://schemas.openxmlformats.org/officeDocument/2006/relationships/slideLayout" Target="/ppt/slideLayouts/slideLayout9.xml" Id="Ra8767b69f6bc4063" /><Relationship Type="http://schemas.openxmlformats.org/officeDocument/2006/relationships/slideLayout" Target="/ppt/slideLayouts/slideLayout10.xml" Id="R862cb3aa6cf6422c" /><Relationship Type="http://schemas.openxmlformats.org/officeDocument/2006/relationships/slideLayout" Target="/ppt/slideLayouts/slideLayout11.xml" Id="Rf89dc08443c14a7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40BD951-D60B-4C8E-929F-366353FC7A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1A1C22-507C-48A4-A6FE-9EAFEFB09A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502A29-747D-4CD1-8B81-8D364FE3D8E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2026-07-07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79F249-CBED-4EC1-9527-476FEBA3ED3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DC49A4-D4C4-4724-A727-15736B7E6B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fe9faf58614053"/>
    <p:sldLayoutId xmlns:r="http://schemas.openxmlformats.org/officeDocument/2006/relationships" id="2147483650" r:id="Rfb7ebfffda784491"/>
    <p:sldLayoutId xmlns:r="http://schemas.openxmlformats.org/officeDocument/2006/relationships" id="2147483651" r:id="R4766bf7e504e4e39"/>
    <p:sldLayoutId xmlns:r="http://schemas.openxmlformats.org/officeDocument/2006/relationships" id="2147483652" r:id="R283032e146ed4c74"/>
    <p:sldLayoutId xmlns:r="http://schemas.openxmlformats.org/officeDocument/2006/relationships" id="2147483653" r:id="R667ab4260b4a4e62"/>
    <p:sldLayoutId xmlns:r="http://schemas.openxmlformats.org/officeDocument/2006/relationships" id="2147483654" r:id="Rb6d4fd8d0dfb4768"/>
    <p:sldLayoutId xmlns:r="http://schemas.openxmlformats.org/officeDocument/2006/relationships" id="2147483655" r:id="R786eaebc968f4c5e"/>
    <p:sldLayoutId xmlns:r="http://schemas.openxmlformats.org/officeDocument/2006/relationships" id="2147483656" r:id="R9d087cd9ea844e7a"/>
    <p:sldLayoutId xmlns:r="http://schemas.openxmlformats.org/officeDocument/2006/relationships" id="2147483657" r:id="Ra8767b69f6bc4063"/>
    <p:sldLayoutId xmlns:r="http://schemas.openxmlformats.org/officeDocument/2006/relationships" id="2147483658" r:id="R862cb3aa6cf6422c"/>
    <p:sldLayoutId xmlns:r="http://schemas.openxmlformats.org/officeDocument/2006/relationships" id="2147483659" r:id="Rf89dc08443c14a7d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5ca932184e403c" /><Relationship Type="http://schemas.openxmlformats.org/officeDocument/2006/relationships/image" Target="/ppt/media/image.png" Id="R8dd3860b8b214080" /><Relationship Type="http://schemas.openxmlformats.org/officeDocument/2006/relationships/notesSlide" Target="/ppt/notesSlides/notesSlide1.xml" Id="R509770f9934b49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d1269cbd37416c" /><Relationship Type="http://schemas.openxmlformats.org/officeDocument/2006/relationships/notesSlide" Target="/ppt/notesSlides/notesSlide2.xml" Id="R7682022323da45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9d50d935b24846" /><Relationship Type="http://schemas.openxmlformats.org/officeDocument/2006/relationships/notesSlide" Target="/ppt/notesSlides/notesSlide3.xml" Id="R4a1be2c295924f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c39f076e7d4ce2" /><Relationship Type="http://schemas.openxmlformats.org/officeDocument/2006/relationships/chart" Target="/ppt/slides/charts/chart1.xml" Id="R31826d748c1b4857" /><Relationship Type="http://schemas.openxmlformats.org/officeDocument/2006/relationships/notesSlide" Target="/ppt/notesSlides/notesSlide4.xml" Id="R67774dd5b8a348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454845b5c84262" /><Relationship Type="http://schemas.openxmlformats.org/officeDocument/2006/relationships/notesSlide" Target="/ppt/notesSlides/notesSlide5.xml" Id="Rffa847cb7b7146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6be42839ea46f8" /><Relationship Type="http://schemas.openxmlformats.org/officeDocument/2006/relationships/image" Target="/ppt/media/image2.png" Id="Rf934de2b9824402b" /><Relationship Type="http://schemas.openxmlformats.org/officeDocument/2006/relationships/notesSlide" Target="/ppt/notesSlides/notesSlide6.xml" Id="Ra3153ecc40d74d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87e54208954e08" /><Relationship Type="http://schemas.openxmlformats.org/officeDocument/2006/relationships/notesSlide" Target="/ppt/notesSlides/notesSlide7.xml" Id="R1dfdd4df9d0c49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6d68d0ae664157" /><Relationship Type="http://schemas.openxmlformats.org/officeDocument/2006/relationships/notesSlide" Target="/ppt/notesSlides/notesSlide8.xml" Id="R99094e7bb4bd45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334987f1764b6d" /><Relationship Type="http://schemas.openxmlformats.org/officeDocument/2006/relationships/image" Target="/ppt/media/image3.png" Id="R8e36e8746a464a9d" /><Relationship Type="http://schemas.openxmlformats.org/officeDocument/2006/relationships/image" Target="/ppt/media/image4.png" Id="R2d7af0495cfb4db2" /><Relationship Type="http://schemas.openxmlformats.org/officeDocument/2006/relationships/image" Target="/ppt/media/image5.png" Id="Rf14d1b836f66451d" /><Relationship Type="http://schemas.openxmlformats.org/officeDocument/2006/relationships/image" Target="/ppt/media/image6.png" Id="R67ad6eafc22d43db" /><Relationship Type="http://schemas.openxmlformats.org/officeDocument/2006/relationships/image" Target="/ppt/media/image.svg" Id="Rbb4490a019ec4884" /><Relationship Type="http://schemas.openxmlformats.org/officeDocument/2006/relationships/notesSlide" Target="/ppt/notesSlides/notesSlide9.xml" Id="R837111482e8442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a2603ad1aa4a69" /><Relationship Type="http://schemas.openxmlformats.org/officeDocument/2006/relationships/image" Target="/ppt/media/image3.png" Id="R4959858515fc42cb" /><Relationship Type="http://schemas.openxmlformats.org/officeDocument/2006/relationships/image" Target="/ppt/media/image4.png" Id="R8d5d60c90da649aa" /><Relationship Type="http://schemas.openxmlformats.org/officeDocument/2006/relationships/image" Target="/ppt/media/image5.png" Id="R06e4192c0a0f4a8f" /><Relationship Type="http://schemas.openxmlformats.org/officeDocument/2006/relationships/image" Target="/ppt/media/image7.png" Id="Rc7fa9f34bf234915" /><Relationship Type="http://schemas.openxmlformats.org/officeDocument/2006/relationships/image" Target="/ppt/media/image2.svg" Id="R1dfdfd85daaf4460" /><Relationship Type="http://schemas.openxmlformats.org/officeDocument/2006/relationships/image" Target="/ppt/media/image6.png" Id="Rc2a29e0021c84939" /><Relationship Type="http://schemas.openxmlformats.org/officeDocument/2006/relationships/image" Target="/ppt/media/image.svg" Id="R94241bb26f094866" /><Relationship Type="http://schemas.openxmlformats.org/officeDocument/2006/relationships/notesSlide" Target="/ppt/notesSlides/notesSlide10.xml" Id="R3806346ccda644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7450bcc5314541" /><Relationship Type="http://schemas.openxmlformats.org/officeDocument/2006/relationships/image" Target="/ppt/media/image3.png" Id="Re381e0d092234a63" /><Relationship Type="http://schemas.openxmlformats.org/officeDocument/2006/relationships/image" Target="/ppt/media/image4.png" Id="R382b7b8830c44aa0" /><Relationship Type="http://schemas.openxmlformats.org/officeDocument/2006/relationships/image" Target="/ppt/media/image5.png" Id="R17b964c3ccc44694" /><Relationship Type="http://schemas.openxmlformats.org/officeDocument/2006/relationships/image" Target="/ppt/media/image7.png" Id="R76845e1553b14c81" /><Relationship Type="http://schemas.openxmlformats.org/officeDocument/2006/relationships/image" Target="/ppt/media/image2.svg" Id="R4a120dc63f2941fd" /><Relationship Type="http://schemas.openxmlformats.org/officeDocument/2006/relationships/image" Target="/ppt/media/image6.png" Id="R71860528680e43ac" /><Relationship Type="http://schemas.openxmlformats.org/officeDocument/2006/relationships/image" Target="/ppt/media/image.svg" Id="R97c81cdc7db64082" /><Relationship Type="http://schemas.openxmlformats.org/officeDocument/2006/relationships/notesSlide" Target="/ppt/notesSlides/notesSlide11.xml" Id="R1d3fa000cb3745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338c38de794874" /><Relationship Type="http://schemas.openxmlformats.org/officeDocument/2006/relationships/image" Target="/ppt/media/image3.png" Id="R6d17a8b6f30e4ee0" /><Relationship Type="http://schemas.openxmlformats.org/officeDocument/2006/relationships/image" Target="/ppt/media/image4.png" Id="R9d9d358226964881" /><Relationship Type="http://schemas.openxmlformats.org/officeDocument/2006/relationships/image" Target="/ppt/media/image5.png" Id="Rb70bc8687b3e4f27" /><Relationship Type="http://schemas.openxmlformats.org/officeDocument/2006/relationships/image" Target="/ppt/media/image7.png" Id="Rd67db846cfce488e" /><Relationship Type="http://schemas.openxmlformats.org/officeDocument/2006/relationships/image" Target="/ppt/media/image2.svg" Id="Rd892188214df45bb" /><Relationship Type="http://schemas.openxmlformats.org/officeDocument/2006/relationships/image" Target="/ppt/media/image6.png" Id="R0f18c378f2d345d9" /><Relationship Type="http://schemas.openxmlformats.org/officeDocument/2006/relationships/image" Target="/ppt/media/image.svg" Id="R33f46db23c4a40f3" /><Relationship Type="http://schemas.openxmlformats.org/officeDocument/2006/relationships/notesSlide" Target="/ppt/notesSlides/notesSlide12.xml" Id="R18924f8795274d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37d82e206b45c1" /><Relationship Type="http://schemas.openxmlformats.org/officeDocument/2006/relationships/notesSlide" Target="/ppt/notesSlides/notesSlide13.xml" Id="Re08d764d7e104e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9247c8cdbc4164" /><Relationship Type="http://schemas.openxmlformats.org/officeDocument/2006/relationships/notesSlide" Target="/ppt/notesSlides/notesSlide14.xml" Id="Rbb8fc7105a474d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015d3ddf684e66" /><Relationship Type="http://schemas.openxmlformats.org/officeDocument/2006/relationships/notesSlide" Target="/ppt/notesSlides/notesSlide15.xml" Id="R6ad39a34f86b43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43fe9128d6483c" /><Relationship Type="http://schemas.openxmlformats.org/officeDocument/2006/relationships/notesSlide" Target="/ppt/notesSlides/notesSlide16.xml" Id="R0247d3dfa1a947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ea82244b194a47" /><Relationship Type="http://schemas.openxmlformats.org/officeDocument/2006/relationships/notesSlide" Target="/ppt/notesSlides/notesSlide17.xml" Id="Ra83012d83b6540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9e2766a3e2484f" /><Relationship Type="http://schemas.openxmlformats.org/officeDocument/2006/relationships/notesSlide" Target="/ppt/notesSlides/notesSlide18.xml" Id="Rf58bda9c118c405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b9951be01247eb" /><Relationship Type="http://schemas.openxmlformats.org/officeDocument/2006/relationships/notesSlide" Target="/ppt/notesSlides/notesSlide19.xml" Id="R64837ea4e6eb4a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ccee69d2044258" /><Relationship Type="http://schemas.openxmlformats.org/officeDocument/2006/relationships/notesSlide" Target="/ppt/notesSlides/notesSlide20.xml" Id="Rd1e9fb2f52c043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990acdb4de4109" /><Relationship Type="http://schemas.openxmlformats.org/officeDocument/2006/relationships/notesSlide" Target="/ppt/notesSlides/notesSlide21.xml" Id="R3f8db3b5e9c8415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37aed02cf049c5" /><Relationship Type="http://schemas.openxmlformats.org/officeDocument/2006/relationships/notesSlide" Target="/ppt/notesSlides/notesSlide22.xml" Id="Rd7ab8c0892e5420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cf35fd1d4044e0" /><Relationship Type="http://schemas.openxmlformats.org/officeDocument/2006/relationships/notesSlide" Target="/ppt/notesSlides/notesSlide23.xml" Id="R5c308585b19b4ac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1fe328d4ad488f" /><Relationship Type="http://schemas.openxmlformats.org/officeDocument/2006/relationships/notesSlide" Target="/ppt/notesSlides/notesSlide24.xml" Id="R45bbe888197e423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1eaf0c38114da7" /><Relationship Type="http://schemas.openxmlformats.org/officeDocument/2006/relationships/notesSlide" Target="/ppt/notesSlides/notesSlide25.xml" Id="R2cc1c935b9df417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55e47053a6445b" /><Relationship Type="http://schemas.openxmlformats.org/officeDocument/2006/relationships/notesSlide" Target="/ppt/notesSlides/notesSlide26.xml" Id="Rfa591fc1bbac47c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f94ae2df404553" /><Relationship Type="http://schemas.openxmlformats.org/officeDocument/2006/relationships/notesSlide" Target="/ppt/notesSlides/notesSlide27.xml" Id="R35a4504f1bd3476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50d2cbdf934f35" /><Relationship Type="http://schemas.openxmlformats.org/officeDocument/2006/relationships/notesSlide" Target="/ppt/notesSlides/notesSlide28.xml" Id="Rf09dfad0f9754f1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f4583aaea748f1" /><Relationship Type="http://schemas.openxmlformats.org/officeDocument/2006/relationships/notesSlide" Target="/ppt/notesSlides/notesSlide29.xml" Id="Rcb57d758d893493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92f9471b80493b" /><Relationship Type="http://schemas.openxmlformats.org/officeDocument/2006/relationships/notesSlide" Target="/ppt/notesSlides/notesSlide30.xml" Id="Rad1ecf621c5443f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21c5d711dd4f8a" /><Relationship Type="http://schemas.openxmlformats.org/officeDocument/2006/relationships/notesSlide" Target="/ppt/notesSlides/notesSlide31.xml" Id="Rd448a81e51164ca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150d69e45b4059" /><Relationship Type="http://schemas.openxmlformats.org/officeDocument/2006/relationships/notesSlide" Target="/ppt/notesSlides/notesSlide32.xml" Id="Rc2177d940ed1444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f6eb2f5ff44a3f" /><Relationship Type="http://schemas.openxmlformats.org/officeDocument/2006/relationships/notesSlide" Target="/ppt/notesSlides/notesSlide33.xml" Id="R2ed766f2153042a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31a5dc7db0445c" /><Relationship Type="http://schemas.openxmlformats.org/officeDocument/2006/relationships/image" Target="/ppt/media/image8.png" Id="R89bb6128cffe4d2a" /><Relationship Type="http://schemas.openxmlformats.org/officeDocument/2006/relationships/notesSlide" Target="/ppt/notesSlides/notesSlide34.xml" Id="R7b54a03cccd7428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0e6f820c045d1" /><Relationship Type="http://schemas.openxmlformats.org/officeDocument/2006/relationships/notesSlide" Target="/ppt/notesSlides/notesSlide35.xml" Id="Rf3460df681534dd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24a2bd12424edc" /><Relationship Type="http://schemas.openxmlformats.org/officeDocument/2006/relationships/notesSlide" Target="/ppt/notesSlides/notesSlide36.xml" Id="R5643593d4dc44d3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c270ec864c4e7c" /><Relationship Type="http://schemas.openxmlformats.org/officeDocument/2006/relationships/notesSlide" Target="/ppt/notesSlides/notesSlide37.xml" Id="Raccb9526ddcd464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307a0025744305" /><Relationship Type="http://schemas.openxmlformats.org/officeDocument/2006/relationships/notesSlide" Target="/ppt/notesSlides/notesSlide38.xml" Id="R896204503f354bc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48acb5c97747f6" /><Relationship Type="http://schemas.openxmlformats.org/officeDocument/2006/relationships/notesSlide" Target="/ppt/notesSlides/notesSlide39.xml" Id="Rbce3a9a48a0a48e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67696706d742a3" /><Relationship Type="http://schemas.openxmlformats.org/officeDocument/2006/relationships/notesSlide" Target="/ppt/notesSlides/notesSlide40.xml" Id="Rf5d9014a69de4fd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39b854400d4cc7" /><Relationship Type="http://schemas.openxmlformats.org/officeDocument/2006/relationships/notesSlide" Target="/ppt/notesSlides/notesSlide41.xml" Id="R3a3bc4390ad64a2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de839c156a4ccc" /><Relationship Type="http://schemas.openxmlformats.org/officeDocument/2006/relationships/notesSlide" Target="/ppt/notesSlides/notesSlide42.xml" Id="Rd8f25123ca26442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dea4960cd04964" /><Relationship Type="http://schemas.openxmlformats.org/officeDocument/2006/relationships/notesSlide" Target="/ppt/notesSlides/notesSlide43.xml" Id="R22936a12cc8746a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1ffd059e164409" /><Relationship Type="http://schemas.openxmlformats.org/officeDocument/2006/relationships/notesSlide" Target="/ppt/notesSlides/notesSlide44.xml" Id="R522db93b689d4e0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d550b694fa451b" /><Relationship Type="http://schemas.openxmlformats.org/officeDocument/2006/relationships/notesSlide" Target="/ppt/notesSlides/notesSlide45.xml" Id="R71781c42f7fc47b9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1"/>
    </mc:Choice>
    <mc:Fallback>
      <c:style val="1"/>
    </mc:Fallback>
  </mc:AlternateContent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분쟁청구 건수</c:v>
                </c:pt>
              </c:strCache>
            </c:strRef>
          </c:tx>
          <c:spPr>
            <a:solidFill xmlns:a="http://schemas.openxmlformats.org/drawingml/2006/main">
              <a:schemeClr val="dk1">
                <a:tint val="88500"/>
              </a:schemeClr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7" b="0" i="0" u="none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Sheet1!$B$2:$B$13</c:f>
              <c:numCache>
                <c:formatCode>#,##0</c:formatCode>
                <c:ptCount val="12"/>
                <c:pt idx="0">
                  <c:v>26093</c:v>
                </c:pt>
                <c:pt idx="1">
                  <c:v>30206</c:v>
                </c:pt>
                <c:pt idx="2">
                  <c:v>43480</c:v>
                </c:pt>
                <c:pt idx="3">
                  <c:v>52590</c:v>
                </c:pt>
                <c:pt idx="4">
                  <c:v>61401</c:v>
                </c:pt>
                <c:pt idx="5">
                  <c:v>75597</c:v>
                </c:pt>
                <c:pt idx="6">
                  <c:v>102456</c:v>
                </c:pt>
                <c:pt idx="7">
                  <c:v>104077</c:v>
                </c:pt>
                <c:pt idx="8">
                  <c:v>113804</c:v>
                </c:pt>
                <c:pt idx="9">
                  <c:v>120965</c:v>
                </c:pt>
                <c:pt idx="10">
                  <c:v>136225</c:v>
                </c:pt>
                <c:pt idx="11">
                  <c:v>156812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2764400"/>
        <c:axId val="143118072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청구 건수 전년 대비 증가율 </c:v>
                </c:pt>
              </c:strCache>
            </c:strRef>
          </c:tx>
          <c:spPr>
            <a:ln xmlns:a="http://schemas.openxmlformats.org/drawingml/2006/main" w="28575">
              <a:solidFill>
                <a:schemeClr val="dk1">
                  <a:tint val="55000"/>
                </a:schemeClr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chemeClr val="dk1">
                  <a:tint val="55000"/>
                </a:schemeClr>
              </a:solidFill>
              <a:ln xmlns:a="http://schemas.openxmlformats.org/drawingml/2006/main" w="9525">
                <a:solidFill>
                  <a:schemeClr val="dk1">
                    <a:tint val="55000"/>
                  </a:schemeClr>
                </a:solidFill>
              </a:ln>
            </c:spPr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16.2</c:v>
                </c:pt>
                <c:pt idx="1">
                  <c:v>16</c:v>
                </c:pt>
                <c:pt idx="2">
                  <c:v>43.7</c:v>
                </c:pt>
                <c:pt idx="3">
                  <c:v>20.9</c:v>
                </c:pt>
                <c:pt idx="4">
                  <c:v>16.8</c:v>
                </c:pt>
                <c:pt idx="5">
                  <c:v>23.1</c:v>
                </c:pt>
                <c:pt idx="6">
                  <c:v>35.5</c:v>
                </c:pt>
                <c:pt idx="7">
                  <c:v>1.6</c:v>
                </c:pt>
                <c:pt idx="8">
                  <c:v>9.4</c:v>
                </c:pt>
                <c:pt idx="9">
                  <c:v>6.3</c:v>
                </c:pt>
                <c:pt idx="10">
                  <c:v>12.6</c:v>
                </c:pt>
                <c:pt idx="11">
                  <c:v>15.1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분쟁청구 건수/대물배상수리 건수</c:v>
                </c:pt>
              </c:strCache>
            </c:strRef>
          </c:tx>
          <c:spPr>
            <a:ln xmlns:a="http://schemas.openxmlformats.org/drawingml/2006/main" w="28575">
              <a:solidFill>
                <a:schemeClr val="dk1">
                  <a:tint val="75000"/>
                </a:schemeClr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chemeClr val="tx1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dk1">
                    <a:tint val="75000"/>
                  </a:schemeClr>
                </a:solidFill>
              </a:ln>
            </c:spPr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0.9</c:v>
                </c:pt>
                <c:pt idx="1">
                  <c:v>1</c:v>
                </c:pt>
                <c:pt idx="2">
                  <c:v>1.4</c:v>
                </c:pt>
                <c:pt idx="3">
                  <c:v>1.7</c:v>
                </c:pt>
                <c:pt idx="4">
                  <c:v>2</c:v>
                </c:pt>
                <c:pt idx="5">
                  <c:v>2.4</c:v>
                </c:pt>
                <c:pt idx="6">
                  <c:v>3.2</c:v>
                </c:pt>
                <c:pt idx="7">
                  <c:v>3.6</c:v>
                </c:pt>
                <c:pt idx="8">
                  <c:v>4</c:v>
                </c:pt>
                <c:pt idx="9">
                  <c:v>4.3</c:v>
                </c:pt>
                <c:pt idx="10">
                  <c:v>4.7</c:v>
                </c:pt>
                <c:pt idx="11">
                  <c:v>5.4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22781104"/>
        <c:axId val="1431186960"/>
      </c:lineChart>
      <c:catAx>
        <c:axId val="162276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431180720"/>
        <c:crosses val="autoZero"/>
        <c:lblAlgn val="ctr"/>
        <c:lblOffset val="100"/>
        <c:noMultiLvlLbl val="0"/>
      </c:catAx>
      <c:valAx>
        <c:axId val="143118072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622764400"/>
        <c:crosses val="autoZero"/>
        <c:crossBetween val="between"/>
      </c:valAx>
      <c:valAx>
        <c:axId val="143118696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622781104"/>
        <c:crosses val="max"/>
        <c:crossBetween val="between"/>
      </c:valAx>
      <c:catAx>
        <c:axId val="162278110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31186960"/>
        <c:crosses val="autoZero"/>
        <c:lblAlgn val="ctr"/>
        <c:lblOffset val="100"/>
        <c:noMultiLvlLbl val="0"/>
      </c:catAx>
      <c:spPr>
        <a:noFill xmlns:a="http://schemas.openxmlformats.org/drawingml/2006/main"/>
        <a:ln xmlns:a="http://schemas.openxmlformats.org/drawingml/2006/main" w="25400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bg1"/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5BFC80C-0A60-4E79-8E4D-6C28EC11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08" y="716280"/>
            <a:ext cx="713232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AI 기반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3034EB-5CDC-4990-9DAF-072FA99A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08" y="1388114"/>
            <a:ext cx="7132320" cy="775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 분쟁 및 법률 솔루션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989464-E5F3-4916-BD6A-5C138589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96" y="2430186"/>
            <a:ext cx="786384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과실비율·과태료/범칙금·보험 대응·법률 근거를 사건 중심으로 재구성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F39419-907E-4AE2-B1B6-C59106C7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615391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SKN27 FINAL 3Team</a:t>
            </a:r>
          </a:p>
        </p:txBody>
      </p:sp>
      <p:pic>
        <p:nvPicPr>
          <p:cNvPr id="21" name="그림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3860b8b214080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11166477" y="122764"/>
            <a:ext cx="2520945" cy="1585335"/>
          </a:xfrm>
          <a:prstGeom xmlns:a="http://schemas.openxmlformats.org/drawingml/2006/main" prst="rect">
            <a:avLst/>
          </a:prstGeom>
        </p:spPr>
      </p:pic>
      <p:pic>
        <p:nvPicPr>
          <p:cNvPr id="22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3860b8b214080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9808718" y="1023404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23" name="그림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3860b8b214080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8286195" y="2028506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24" name="그림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3860b8b214080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6802038" y="3015365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25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3860b8b214080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5785567" y="3679196"/>
            <a:ext cx="2520945" cy="1585335"/>
          </a:xfrm>
          <a:prstGeom xmlns:a="http://schemas.openxmlformats.org/drawingml/2006/main" prst="rect">
            <a:avLst/>
          </a:prstGeom>
        </p:spPr>
      </p:pic>
      <p:pic>
        <p:nvPicPr>
          <p:cNvPr id="26" name="그림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3860b8b214080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11193085" y="3240635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27" name="그림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3860b8b214080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10153665" y="3923815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28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3860b8b214080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9091412" y="4624282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29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3860b8b214080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8005692" y="5347900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30" name="그림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3860b8b214080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6966272" y="6033837"/>
            <a:ext cx="1836305" cy="18363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04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38687E1-2B11-4D68-A1D3-2772F7BA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05" y="553141"/>
            <a:ext cx="3888042" cy="8679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CONTENTS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E57556-2E19-40DC-8168-86FA29F9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55" y="1964426"/>
            <a:ext cx="1744397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C06455-5322-402F-BEFF-D27C9FDE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87" y="2203134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문제 배경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8E44938-CB96-4D96-9BD9-C560DCBB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754" y="2734049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과실비율 분쟁 증가와 소비자 정보 격차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0771E2F-8E22-41FC-A3BB-ADF1CB11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88" y="3102175"/>
            <a:ext cx="1251308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6F7F429-C1FA-475D-9310-D8B9CE35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54" y="3358871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사용자가 겪는 문제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93BD936-23EE-4789-A23E-E4535EA8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54" y="3926123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고지서·과실비율·보험 대응에서 반복되는 어려움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E51FBF5-3225-458C-B5F3-76E21ECC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88" y="4342068"/>
            <a:ext cx="115350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2D6509E-E406-452B-8730-E575515E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928" y="4594776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서비스 이용 과정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B463516-8B4D-419E-8029-58DEA37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54" y="5094928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사고 내용 입력부터 근거 리포트 생성까지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5A50D5E-D555-4D6C-8286-1AE1E17C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245" y="4278461"/>
            <a:ext cx="1338697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127C8A-1B2F-4FE1-8425-9D954A02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4547525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핵심 기능과 AI 분석 구조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B8D26FB-9CFD-4172-871E-B33757F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5082215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문서·영상·법률 데이터를 연결하는 AI 분석 과정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E32FC0B-DBCC-469B-9424-FA8E3703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70" y="5407175"/>
            <a:ext cx="152389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CEDB4D1-486B-4B05-AA6E-4ADE3295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810" y="5655892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0F79D8A-CC64-4C7B-B0CD-232CFE10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810" y="6186568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MVP 기능, 검증 계획, 향후 확장 방향</a:t>
            </a:r>
          </a:p>
        </p:txBody>
      </p:sp>
      <p:sp>
        <p:nvSpPr>
          <p:cNvPr id="2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B71B375-37A8-DEF2-A6A0-1EA9265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09538" y="1470916"/>
            <a:ext cx="3056406" cy="85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0FC8564-B5F4-4AA1-9545-C731E96B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245" y="2029634"/>
            <a:ext cx="152389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BF6965C-87D9-46B9-893A-2A3FFD3B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2240571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프로젝트 소개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D1792E-FB24-4752-B01F-C9222EEE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2738041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교통분쟁 AI 서비스의 목표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973777-73C4-4EB3-9E03-494BA8D1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245" y="3107109"/>
            <a:ext cx="1744396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2CEAFEF-71AC-45BA-9733-173DFDDD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3291774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시장과 차별점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56249C7-0A4F-4E3E-B736-B6A9F0FC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3" y="3840118"/>
            <a:ext cx="4894587" cy="252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기존 서비스의 한계와 교통분쟁 AI 서비스의 해결 방식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C1E4E492-E947-425F-969E-2CDC2A27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F388207F-6659-4EB3-95C5-018D3839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3A3965DC-507A-4427-B5EC-68718CC2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발표 흐름은 문제에서 근거 리포트까지 이어진다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3EA548D1-C9A4-4F5B-A220-C85C6C4B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기능 나열보다 사용자가 왜 이 서비스를 필요로 하는지 먼저 보여줍니다.</a:t>
            </a:r>
          </a:p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97E5F709-7BA3-4E40-90FD-CD70C77E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1EED2CE2-DD44-4748-AC98-7FD29D8A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01</a:t>
            </a: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3E25AB9F-978E-48AC-8A23-2EC5CAF4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47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문제 배경</a:t>
            </a:r>
          </a:p>
        </p:txBody>
      </p:sp>
      <p:sp>
        <p:nvSpPr>
          <p:cNvPr id="37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90A362B2-3319-459F-BE74-C380B456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146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분쟁 증가와 정보 격차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F35B1DA6-BF5A-4B5A-8EF5-9C4B365E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E26C91AB-5B5F-4C88-AF0A-C1C9570B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74A31ED2-B1A8-40A2-8BDF-A3517192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24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프로젝트 소개</a:t>
            </a:r>
          </a:p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37E8B635-CEB9-4F7D-A643-DC03247D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909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사건 구조화와 근거 답변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D649DDA1-EC1A-4B51-AA52-E3B3055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43" name="직사각형 42">
            <a:extLst xmlns:a="http://schemas.openxmlformats.org/drawingml/2006/main">
              <a:ext uri="{FF2B5EF4-FFF2-40B4-BE49-F238E27FC236}">
                <a16:creationId xmlns:a16="http://schemas.microsoft.com/office/drawing/2014/main" id="{0B09FA96-CFBA-494F-AEEA-B2BBF5D8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44" name="직사각형 43">
            <a:extLst xmlns:a="http://schemas.openxmlformats.org/drawingml/2006/main">
              <a:ext uri="{FF2B5EF4-FFF2-40B4-BE49-F238E27FC236}">
                <a16:creationId xmlns:a16="http://schemas.microsoft.com/office/drawing/2014/main" id="{BCC8B0C8-34E9-4320-9832-C6720B8E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00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사용자 문제</a:t>
            </a:r>
          </a:p>
        </p:txBody>
      </p:sp>
      <p:sp>
        <p:nvSpPr>
          <p:cNvPr id="45" name="직사각형 44">
            <a:extLst xmlns:a="http://schemas.openxmlformats.org/drawingml/2006/main">
              <a:ext uri="{FF2B5EF4-FFF2-40B4-BE49-F238E27FC236}">
                <a16:creationId xmlns:a16="http://schemas.microsoft.com/office/drawing/2014/main" id="{B1362F8A-E8F7-42ED-909D-ABDA59E1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672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실제 실패 장면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61687461-9BB4-458D-9D46-D652B942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47" name="직사각형 46">
            <a:extLst xmlns:a="http://schemas.openxmlformats.org/drawingml/2006/main">
              <a:ext uri="{FF2B5EF4-FFF2-40B4-BE49-F238E27FC236}">
                <a16:creationId xmlns:a16="http://schemas.microsoft.com/office/drawing/2014/main" id="{74CD2FB1-6372-4E95-B3C4-59401FD5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33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48" name="직사각형 47">
            <a:extLst xmlns:a="http://schemas.openxmlformats.org/drawingml/2006/main">
              <a:ext uri="{FF2B5EF4-FFF2-40B4-BE49-F238E27FC236}">
                <a16:creationId xmlns:a16="http://schemas.microsoft.com/office/drawing/2014/main" id="{DAC32243-6914-4C8C-B202-7D1B986D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시장과 차별점</a:t>
            </a:r>
          </a:p>
        </p:txBody>
      </p:sp>
      <p:sp>
        <p:nvSpPr>
          <p:cNvPr id="49" name="직사각형 48">
            <a:extLst xmlns:a="http://schemas.openxmlformats.org/drawingml/2006/main">
              <a:ext uri="{FF2B5EF4-FFF2-40B4-BE49-F238E27FC236}">
                <a16:creationId xmlns:a16="http://schemas.microsoft.com/office/drawing/2014/main" id="{6AABBE72-44B9-4C52-AF49-1EEBCD9B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비어 있는 서비스 조합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284F7EF4-A6C2-DEBA-FD9F-D562FAEC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756" y="2092778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52F35FF-31EF-5806-44E9-51DD4ED1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06" y="228327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7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098BC18D-81D6-FCDB-6534-7D8CDC4E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2226128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서비스 이용 과정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FF016C79-C3E0-4C27-8979-61B96A87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2492828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1000">
                <a:solidFill>
                  <a:srgbClr val="BDBDBD"/>
                </a:solidFill>
              </a:rPr>
              <a:t>입력부터 리포트까지</a:t>
            </a:r>
          </a:p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FF081F76-E99E-ACA3-05F7-8259DB26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756" y="2969078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0F01B166-5C71-DBD2-2AED-8A596D41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06" y="315957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700" b="1">
                <a:solidFill>
                  <a:srgbClr val="79D5D0"/>
                </a:solidFill>
              </a:rPr>
              <a:t>06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B4E22657-5FF9-1D58-A0E0-FD3589F6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3102428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 분석 구조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4075874A-AA1E-F107-03BA-B37F155B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3369128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1000">
                <a:solidFill>
                  <a:srgbClr val="BDBDBD"/>
                </a:solidFill>
              </a:rPr>
              <a:t>모듈 분리와 안전장치</a:t>
            </a:r>
          </a:p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A5E33E9C-774E-E3DE-37CC-5E2F36D5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756" y="3845378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988E985-49A7-D58E-EB14-524BC364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06" y="403587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700" b="1">
                <a:solidFill>
                  <a:srgbClr val="79D5D0"/>
                </a:solidFill>
              </a:rPr>
              <a:t>07</a:t>
            </a:r>
          </a:p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7C32579B-1DD6-7ED8-A7CF-EB6F6D13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3978728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구현 범위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12C97307-4DBB-EF48-AB55-86F8974A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4245428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1000">
                <a:solidFill>
                  <a:srgbClr val="BDBDBD"/>
                </a:solidFill>
              </a:rPr>
              <a:t>MVP와 평가 계획</a:t>
            </a:r>
          </a:p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777438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84A3388-FD74-637E-363E-51A0E04F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0622421-7A3C-4787-B909-F69FDBCD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6417F05-E3F1-4055-A5E9-CAEFC7AB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270446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문제 배경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4E78819-1B7C-485D-ABFB-56CE1ACB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과실비율 분쟁 증가와 소비자 정보 격차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78641D5-0885-4A4F-8AD3-CEDF3289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DA466D9-90D4-9CC2-567D-7F8182AC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분쟁청구 건수의 장기 증가 추세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소비자 인식과 기준의 격차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사고 판단의 중요한 변수들</a:t>
            </a:r>
          </a:p>
        </p:txBody>
      </p:sp>
    </p:spTree>
    <p:extLst>
      <p:ext uri="{BB962C8B-B14F-4D97-AF65-F5344CB8AC3E}">
        <p14:creationId xmlns:p14="http://schemas.microsoft.com/office/powerpoint/2010/main" val="17107938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8D5201-EDDD-4280-A2D4-A94F0FF1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3A57E2-7AAA-4665-A1DE-B36103DB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분쟁 증가 추세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16E277B-0B3D-4615-AE6F-44D94982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4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DFFE523-3B4B-48FD-B541-5AE01663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1714067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156,812건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420034-E096-4C20-8324-92D7C231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2216887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2024년 분쟁 건수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897BE4-BCDE-4F1A-93C2-DFA66AF5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2519427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2014년 약 3만 건 대비 5배 이상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CE95F79-45B9-4FB8-BE2D-060AACCF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271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82F861E-479F-4CBA-91E5-7B0DFBC1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1694403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5.4%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7376876-E2B2-4566-B67A-FB43DF2D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2188179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대물 수리 대비 비율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03C7B18-7ABC-4C61-9776-726F074E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2489931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2014년 1.0% → 2024년 5.4%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EBE80A0-6A56-4BC2-8429-77F52F42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738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4E9F1AC-DAB9-46A4-8893-98F448D9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1694403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5.2배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A747B1B-DD81-4716-AA5A-5E614995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2188179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분쟁 건수 증가폭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47A55DE-8BAE-4BE8-89AC-43EB5D6C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2489931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FAFAF"/>
                </a:solidFill>
                <a:latin typeface="Malgun Gothic"/>
                <a:ea typeface="Malgun Gothic"/>
                <a:cs typeface="Malgun Gothic"/>
              </a:rPr>
              <a:t>2014년 대비 2024년 기준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E480A21-95BD-4CC4-8196-2F485587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4/40</a:t>
            </a:r>
          </a:p>
        </p:txBody>
      </p:sp>
      <p:sp>
        <p:nvSpPr>
          <p:cNvPr id="4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595E8BF-A003-0367-F5E3-A139BCD0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7206" y="1559307"/>
            <a:ext cx="261275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94D2583-3944-F435-BFAC-92B831B8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6" y="1684815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10년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718A7123-F98A-CA88-7154-CEEC91E6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6" y="2158927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지속 증가 흐름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142B629E-2B47-F512-CD2F-7142C6C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5" y="2450846"/>
            <a:ext cx="2741234" cy="198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보험금·보험료 할증 영향으로 분쟁 확대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537376B-43EB-4743-8989-D40D583D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graphicFrame>
        <p:nvGraphicFramePr>
          <p:cNvPr id="95" name="차트 20"/>
          <p:cNvGraphicFramePr/>
          <p:nvPr/>
        </p:nvGraphicFramePr>
        <p:xfrm>
          <a:off xmlns:a="http://schemas.openxmlformats.org/drawingml/2006/main" x="2164714" y="3205841"/>
          <a:ext xmlns:a="http://schemas.openxmlformats.org/drawingml/2006/main" cx="7588687" cy="3268111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826d748c1b4857"/>
          </a:graphicData>
        </a:graphic>
      </p:graphicFrame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E996F813-D520-41CB-8570-89CFD5C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BC1C328D-8B8C-470C-BC9B-B5DCA3B1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45CC77B7-AD15-46F5-844D-61C77C37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과실비율 분쟁은 10년 동안 구조적으로 커졌다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12AEE09A-71E9-440F-8A0F-459030D2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보험금과 보험료 할증이 걸리면서 사용자는 설명 가능한 근거를 요구합니다.</a:t>
            </a:r>
          </a:p>
        </p:txBody>
      </p:sp>
      <p:sp>
        <p:nvSpPr>
          <p:cNvPr id="59" name="사각형: 둥근 모서리 58">
            <a:extLst xmlns:a="http://schemas.openxmlformats.org/drawingml/2006/main">
              <a:ext uri="{FF2B5EF4-FFF2-40B4-BE49-F238E27FC236}">
                <a16:creationId xmlns:a16="http://schemas.microsoft.com/office/drawing/2014/main" id="{4C6D946F-8315-4D34-9244-0F774522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6EB72203-A3D8-46E2-A9D9-3F34CCAA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156,812건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227D536C-4FD2-4EDA-A88F-87A41E9F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2024년 분쟁 건수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1E34C2C8-FF26-4ED1-BA44-DD6DCDED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2014년 약 3만 건 대비 5배 이상</a:t>
            </a:r>
          </a:p>
        </p:txBody>
      </p:sp>
      <p:sp>
        <p:nvSpPr>
          <p:cNvPr id="63" name="사각형: 둥근 모서리 62">
            <a:extLst xmlns:a="http://schemas.openxmlformats.org/drawingml/2006/main">
              <a:ext uri="{FF2B5EF4-FFF2-40B4-BE49-F238E27FC236}">
                <a16:creationId xmlns:a16="http://schemas.microsoft.com/office/drawing/2014/main" id="{B523674C-58AD-4539-AE06-13B302B7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C32FAED6-E30B-49CA-A8C6-739B8AEC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5.4%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D98514C9-B600-4EB7-B836-1670E45A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대물 수리 대비 비율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6FBD3CC5-4019-41E5-A8A8-2685AF82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2014년 1.0%에서 상승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9BBBB5FA-A98A-40B5-9DBD-17EBBB40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F64344C-CE90-4E64-8385-E9A04A38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5.2배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C061B65A-3494-4204-B300-59A08247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10년 증가폭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771297CF-0FCF-4F5F-A76E-53356040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분쟁이 장기 증가 흐름으로 고착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97D1A47D-6D11-4712-9BB3-E1B6454E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9982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E1A3D52A-80AA-4B97-A7DA-FE4B7681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29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해석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9F100415-266F-4E8D-9C56-C05589EE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291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1F1F1"/>
                </a:solidFill>
              </a:defRPr>
            </a:pPr>
            <a:r>
              <a:rPr sz="1575" b="0">
                <a:solidFill>
                  <a:srgbClr val="F1F1F1"/>
                </a:solidFill>
              </a:rPr>
              <a:t>숫자는 단순한 사고 증가가 아니라, 사용자가 보험사 설명을 검증하고 자기 사건의 근거를 찾으려는 수요가 커졌다는 신호입니다.</a:t>
            </a:r>
          </a:p>
        </p:txBody>
      </p:sp>
    </p:spTree>
    <p:extLst>
      <p:ext uri="{BB962C8B-B14F-4D97-AF65-F5344CB8AC3E}">
        <p14:creationId xmlns:p14="http://schemas.microsoft.com/office/powerpoint/2010/main" val="1739705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3E555E-F461-EAF1-3F9A-9824D0CE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9DDF49-FEC5-2518-DB14-81798FC4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인식 격차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38C3967-EF04-83FC-7B84-342AED6F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5/40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92A8F383-2F56-D545-0E98-864B7D5F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sp>
        <p:nvSpPr>
          <p:cNvPr id="1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004AAFD-F605-CDC0-5167-E1CC31A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215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6BE8E6D-BE89-E79C-3535-45AA71B2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1906280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34.9%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29C9031-B49A-99AE-AED8-6AED7CCA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2400056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공정하지 않다고 인식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52882EE-D76C-3875-DED7-DFDA2BBF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2701808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최근 3년 사고 경험자 기준</a:t>
            </a:r>
          </a:p>
        </p:txBody>
      </p:sp>
      <p:sp>
        <p:nvSpPr>
          <p:cNvPr id="27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0B1C6B8-BD5D-7693-9867-C3C30A14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407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6BEC7AD-4D03-27A0-934E-3A34D1B9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1886616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9.3~57.8%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7A20005-2279-AF80-6A5E-D2528117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2380392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기본과실 정답률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50DEE9B-1896-40A7-BE7D-88AB3DAA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2682144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사고도표별 편차가 큼</a:t>
            </a:r>
          </a:p>
        </p:txBody>
      </p:sp>
      <p:sp>
        <p:nvSpPr>
          <p:cNvPr id="35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AFD9A1-1095-9F5F-C854-44D14CDC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599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C9CB86D-7F30-4729-9D4F-765B4D30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1876784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33.2%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E79BF904-A00C-8331-99B1-1FC1C77A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2370560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조사 부족 인식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AB85649D-3CEE-D40D-F759-80CABBAA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2672312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 경험자 응답 기준</a:t>
            </a:r>
          </a:p>
        </p:txBody>
      </p:sp>
      <p:sp>
        <p:nvSpPr>
          <p:cNvPr id="51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813CA99-5A79-86AB-2177-CBBC0FB7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56432"/>
            <a:ext cx="530352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9DF09D1-A02E-65F3-E234-1678AC7F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593592"/>
            <a:ext cx="49377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관점의 문제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9B3093A-32BA-350F-FEE7-E6C6C5A2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986784"/>
            <a:ext cx="4937759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“왜 내 과실이 잡혔는지” 설명 부족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블랙박스가 있어도 무엇이 쟁점인지 알기 어려움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보험사·분쟁심의·법원 판단 기준을 구분하기 어려움</a:t>
            </a:r>
          </a:p>
        </p:txBody>
      </p:sp>
      <p:sp>
        <p:nvSpPr>
          <p:cNvPr id="59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CA603F2-C4DD-89EB-3DFC-CC6A6B28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456432"/>
            <a:ext cx="498348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1079FB0B-3519-7BA2-B9C7-7184EF6A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59359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프로젝트 연결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59F6F799-7042-AB23-833E-ED39FBAB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986784"/>
            <a:ext cx="46177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사고자료를 사건 단위로 정리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공식 기준·판례·심의사례를 함께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결과가 아니라 근거·한계·다음 행동을 보여제공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BD750B17-647B-4E3E-9744-49E6BB99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FDFD130D-D1E3-49E9-A082-4AA7CE72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64912519-8DDB-4A41-A5D3-958E36FB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사용자는 과실 판단의 기준과 설명을 함께 놓친다</a:t>
            </a:r>
          </a:p>
        </p:txBody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7BEA1430-FF85-42B4-93C6-299DE7C5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공정성 인식, 정답률 편차, 조사 부족 인식이 같은 문제를 가리킵니다.</a:t>
            </a:r>
          </a:p>
        </p:txBody>
      </p:sp>
      <p:sp>
        <p:nvSpPr>
          <p:cNvPr id="68" name="사각형: 둥근 모서리 67">
            <a:extLst xmlns:a="http://schemas.openxmlformats.org/drawingml/2006/main">
              <a:ext uri="{FF2B5EF4-FFF2-40B4-BE49-F238E27FC236}">
                <a16:creationId xmlns:a16="http://schemas.microsoft.com/office/drawing/2014/main" id="{89B69303-B3B4-4619-BBDE-71E9785D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BC3F5CBB-D4F0-44BC-8726-BD749FF2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34.9%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D149F1E5-8DAB-4C64-8100-0C619E32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공정하지 않다고 인식</a:t>
            </a:r>
          </a:p>
        </p:txBody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01A3326A-C66E-447D-8FFD-C1519152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최근 3년 사고 경험자 기준</a:t>
            </a:r>
          </a:p>
        </p:txBody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66ABE9A5-01EF-43E4-AB6C-3D6A82FA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264DC7F4-844D-4A0A-8A01-3C950624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9.3~57.8%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6F94390C-A025-47D3-A6C0-E8F3F435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기본과실 정답률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5DFD4FDF-EFD2-4791-8CD0-E0EC2740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사고도표별 편차가 큼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53D20B98-37D4-4297-91A3-4DFCAB49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D77A6280-EA15-4518-B388-69C177C9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33.2%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B610C6C1-7AF4-4096-8F6B-28D4354B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조사 부족 인식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179271FF-BD01-451E-9005-658EEDE0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 경험자 응답 기준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4E2C8AD1-6FBF-43DC-9DD8-9EC08DE8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1" name="사각형: 둥근 모서리 80">
            <a:extLst xmlns:a="http://schemas.openxmlformats.org/drawingml/2006/main">
              <a:ext uri="{FF2B5EF4-FFF2-40B4-BE49-F238E27FC236}">
                <a16:creationId xmlns:a16="http://schemas.microsoft.com/office/drawing/2014/main" id="{8234A599-383F-4824-95CE-DFA2155B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0583BB0D-3B9A-4B63-B73F-7333EC60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사용자 문제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E2DC6143-7A6C-467E-920A-330BB3AA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서비스 연결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57998A41-6D27-4188-855F-A5DE359C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왜 내 과실이 잡혔는지 설명이 부족함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ED076591-ED6C-46E8-BBCC-4400AA48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블랙박스가 있어도 쟁점 파악이 어려움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E9D0FD30-4EE0-4024-A4C7-27E2AFBD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보험사·분쟁심의·법원 기준을 구분하기 어려움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A1CE096E-3F56-4613-BF93-3BE6107C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사고자료를 사건 단위로 정리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F59DD906-6F5B-4A24-B047-A3DD8B1C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공식 기준·판례·심의사례를 함께 검색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0714AAF7-4AA4-4DAD-81FA-B9195B6F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근거·한계·다음 행동을 리포트로 제공</a:t>
            </a:r>
          </a:p>
        </p:txBody>
      </p:sp>
    </p:spTree>
    <p:extLst>
      <p:ext uri="{BB962C8B-B14F-4D97-AF65-F5344CB8AC3E}">
        <p14:creationId xmlns:p14="http://schemas.microsoft.com/office/powerpoint/2010/main" val="21573199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896E4F-7737-A9AE-CFB0-53F347D6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F298DC2-B993-C1AB-2FCC-2C8CA5D0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인식 격차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94DBB4E-BBF3-2C95-885B-5620B918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5/40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D8D3120A-9FA9-EB33-2221-2B5B9FEF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968BF49-CB2A-AD1D-25D8-AE5BD786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405" y="2997843"/>
            <a:ext cx="213712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뉴스 기사 추가하기</a:t>
            </a:r>
          </a:p>
        </p:txBody>
      </p:sp>
      <p:pic>
        <p:nvPicPr>
          <p:cNvPr id="77" name="그림 7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4de2b9824402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E8E4F73-8D53-4270-B6D5-B3F27EAA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4E0683C0-DA77-4E87-98F5-1BFA3F15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시장 신호는 분쟁의 양보다</a:t>
            </a:r>
          </a:p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근거 탐색 비용에 있다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432CFFE2-0F9B-4FBE-8A1C-6FC41326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C9C9C9"/>
                </a:solidFill>
              </a:defRPr>
            </a:pPr>
            <a:r>
              <a:rPr sz="1200" b="1">
                <a:solidFill>
                  <a:srgbClr val="C9C9C9"/>
                </a:solidFill>
              </a:rPr>
              <a:t>01  문제 배경</a:t>
            </a:r>
          </a:p>
        </p:txBody>
      </p:sp>
      <p:sp>
        <p:nvSpPr>
          <p:cNvPr id="58" name="사각형: 둥근 모서리 57">
            <a:extLst xmlns:a="http://schemas.openxmlformats.org/drawingml/2006/main">
              <a:ext uri="{FF2B5EF4-FFF2-40B4-BE49-F238E27FC236}">
                <a16:creationId xmlns:a16="http://schemas.microsoft.com/office/drawing/2014/main" id="{6B1588DA-958F-4BD4-80C7-6FA84197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C84B42"/>
            </a:solidFill>
            <a:prstDash val="solid"/>
          </a:ln>
        </p:spPr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DBCCF158-49D4-40CD-8014-7C6FF6B7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156,812건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B44A9082-1A0B-4058-B4A3-F79A65B0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98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2024년 과실비율 분쟁 건수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326D127F-5642-4F95-9CCB-667FDF35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24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2014년 약 3만 건 대비 5배 이상</a:t>
            </a:r>
          </a:p>
        </p:txBody>
      </p:sp>
      <p:sp>
        <p:nvSpPr>
          <p:cNvPr id="62" name="사각형: 둥근 모서리 61">
            <a:extLst xmlns:a="http://schemas.openxmlformats.org/drawingml/2006/main">
              <a:ext uri="{FF2B5EF4-FFF2-40B4-BE49-F238E27FC236}">
                <a16:creationId xmlns:a16="http://schemas.microsoft.com/office/drawing/2014/main" id="{FBE93C91-C499-4226-BB82-509C227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3E5557"/>
            </a:solidFill>
            <a:prstDash val="solid"/>
          </a:ln>
        </p:spPr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3F44C1C8-6FBA-428F-BAEE-8575672A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8D5D0"/>
                </a:solidFill>
              </a:defRPr>
            </a:pPr>
            <a:r>
              <a:rPr sz="1875" b="1">
                <a:solidFill>
                  <a:srgbClr val="78D5D0"/>
                </a:solidFill>
              </a:rPr>
              <a:t>34.9%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D35E0EA1-B264-41A7-9C08-C66218E7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337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공정하지 않다고 인식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13AFAFDF-4512-4ED3-BE3C-764B916A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사고 경험자 기준 인식 격차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44755831-0B80-4CDD-A754-0B6DAA62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3E5557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11D4CABB-59A2-4BEA-841A-B82312B6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8D5D0"/>
                </a:solidFill>
              </a:defRPr>
            </a:pPr>
            <a:r>
              <a:rPr sz="1875" b="1">
                <a:solidFill>
                  <a:srgbClr val="78D5D0"/>
                </a:solidFill>
              </a:rPr>
              <a:t>3개 근거축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6D8F5C3-D655-4FAC-B60E-3459AB54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57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인정기준·판례·심의사례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BE8EAB48-3A25-49D3-BA81-DD7BD5EF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72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사용자 사건 단위 연결이 핵심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EA9DC996-7DAA-493A-BF78-94D48A3F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핵심 해석 | 시장은 '사고 건수'보다 보험사 설명을 검증하고 상담 전 근거를 정리하려는 사전 검토 수요로 좁혀야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394830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51685E-A373-9C93-296A-FA71515A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4D8A30-7532-AAEA-A488-BF185BC1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판단 변수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4BB14DD-70FE-EC3F-4F0A-F36E0B59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6/40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AF1E2385-6557-07BF-FA00-BF0BFCAD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C3F9286-6287-ACCE-E348-3F9F0766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187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AFD937C-6DF9-2433-C49C-8606107B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05592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악천후·도로상태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5492637-672E-375B-E9C0-702775E1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467406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비·눈·안개는 면책 사유가 아니라 감속 의무와 연결될 수 있음.</a:t>
            </a:r>
          </a:p>
        </p:txBody>
      </p:sp>
      <p:sp>
        <p:nvSpPr>
          <p:cNvPr id="11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62BB3E5-23CE-BF8B-C2F2-9E4D890F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187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46F040D-9E1A-1D7E-0C3B-ED545D6F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05592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블랙박스의 역설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1F855C1-493B-653B-93B3-26FDC6F0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467406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영상은 강한 증거지만 화각·속도·시야 차이가 오히려 불리하게 작용가능</a:t>
            </a:r>
          </a:p>
        </p:txBody>
      </p:sp>
      <p:sp>
        <p:nvSpPr>
          <p:cNvPr id="1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8B8E362-D156-23C8-5D70-B0D2245F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475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387189B-7937-530F-D258-038E6BFC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884725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유사 사고의 다른 판단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26C3FAA-22C8-63DC-431A-47742116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296205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비슷한 사고라도 사실관계와 판단 주체에 따라 결론이 달라질 가능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4DFB651-38CE-FD01-21DA-09293C03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7475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2477329-2673-32DF-3E1B-430DA3C5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884725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고의성 개입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48E87F9-D31F-312D-EA60-9F863449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296205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보복운전·보험사기는 일반 과실비율 판단과 분리해야 함</a:t>
            </a:r>
          </a:p>
        </p:txBody>
      </p:sp>
      <p:sp>
        <p:nvSpPr>
          <p:cNvPr id="39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D8E2284-6980-8DAE-2DDB-54E2EFAB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34779"/>
            <a:ext cx="106070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5D6402B6-01FB-E385-B633-676B2129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09099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필요한 것은 “정답을 단정하는 AI”가 아니라, 변수를 구조화하고 근거를 보여주는 AI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71ABE57-5B19-4C9F-86DF-4BDFFA33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FEE0325B-2E8D-4E84-AB5B-18D99757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BA57DBBE-F149-45B8-944C-4D2B4C68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과실비율은 한 가지 정답보다 변수 구조화가 먼저다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6294F10A-57CD-4A2D-A6CA-5AE263B6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비슷해 보이는 사고도 도로·증거·행동·고의성에 따라 결론이 달라집니다.</a:t>
            </a:r>
          </a:p>
        </p:txBody>
      </p:sp>
      <p:sp>
        <p:nvSpPr>
          <p:cNvPr id="58" name="사각형: 둥근 모서리 57">
            <a:extLst xmlns:a="http://schemas.openxmlformats.org/drawingml/2006/main">
              <a:ext uri="{FF2B5EF4-FFF2-40B4-BE49-F238E27FC236}">
                <a16:creationId xmlns:a16="http://schemas.microsoft.com/office/drawing/2014/main" id="{0C8D85E7-D4E7-49D6-80DB-3E0AE1DA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68383E5A-EC70-46F5-B0E5-CC4F9534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악천후·도로상태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2AD49F4B-80A9-41F5-B11E-5268D87C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8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비·눈·안개는 감속 의무와 연결될 수 있음</a:t>
            </a:r>
          </a:p>
        </p:txBody>
      </p:sp>
      <p:sp>
        <p:nvSpPr>
          <p:cNvPr id="61" name="사각형: 둥근 모서리 60">
            <a:extLst xmlns:a="http://schemas.openxmlformats.org/drawingml/2006/main">
              <a:ext uri="{FF2B5EF4-FFF2-40B4-BE49-F238E27FC236}">
                <a16:creationId xmlns:a16="http://schemas.microsoft.com/office/drawing/2014/main" id="{ACE46758-51A8-45F8-BBBD-6817BAFF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6E3ACE54-52BD-40B9-9EB8-33F34B96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블랙박스의 역설</a:t>
            </a:r>
          </a:p>
        </p:txBody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AB1DC82E-ABB4-44A5-B2C1-3E892126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38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화각·속도·시야 차이가 불리하게 작용할 수 있음</a:t>
            </a:r>
          </a:p>
        </p:txBody>
      </p:sp>
      <p:sp>
        <p:nvSpPr>
          <p:cNvPr id="64" name="사각형: 둥근 모서리 63">
            <a:extLst xmlns:a="http://schemas.openxmlformats.org/drawingml/2006/main">
              <a:ext uri="{FF2B5EF4-FFF2-40B4-BE49-F238E27FC236}">
                <a16:creationId xmlns:a16="http://schemas.microsoft.com/office/drawing/2014/main" id="{1D6F381D-342A-4DE5-A594-AF097777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9F93C533-44DB-457B-A0EE-2A583F81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유사 사고의 차이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49A47ACF-7EF8-4991-B781-9B0579A4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사실관계와 판단 주체가 결론을 바꿈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9CD09F90-ACDB-4BC3-A502-798305F2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8620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7E6413C3-1670-4D28-9C55-2DDC21C9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5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고의성 개입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D644EE29-0A2D-4534-AB45-CBEEBA04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72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보복운전·보험사기는 일반 과실 판단과 분리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60BDFB7C-E9F6-4BDA-BE79-3A542223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578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필요한 AI는 확정 판정이 아니라, 변수를 정리하고 근거를 보여주는 분석 흐름입니다.</a:t>
            </a:r>
          </a:p>
        </p:txBody>
      </p:sp>
    </p:spTree>
    <p:extLst>
      <p:ext uri="{BB962C8B-B14F-4D97-AF65-F5344CB8AC3E}">
        <p14:creationId xmlns:p14="http://schemas.microsoft.com/office/powerpoint/2010/main" val="3421746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B4012FF-5FDB-40BD-5D8D-480978A2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DC837D-4090-99EC-784F-9F19C3DC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B5447ED-BBCA-CBEA-5E1C-C004FBD1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프로젝트 소개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2062F4F-03E1-13D6-B071-B9FC098D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해결하고자 하는 문제와 서비스 목표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34FEF05-0B42-DD6E-CC3F-64CEF315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7/40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4C00956-C47C-5967-C32D-0FEB485B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판단 전 사건 구조화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근거 기반 답변 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다음 행동으로 연결되는 리포트 결과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37D52B1D-127F-4DD4-ABA6-B1CFF7D5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789EE76B-538B-4E00-8B33-0B4B54AF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02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FFF59BE2-557C-481B-97A4-E98D8998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프로젝트 소개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2D403CF4-06DE-4BCE-826B-CABC1353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판단 전 구조화, 근거 기반 답변, 다음 행동 리포트로 이어집니다.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3B19C2DD-2E7D-4A80-A036-21565F57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EC8F9298-14D4-483C-AAA5-9C6F180C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92741C47-BD3C-4888-B71C-8F19ADA1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사건 구조화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85EB6653-AC99-4A66-BBDE-0D5689FB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자료를 바로 판단하지 않고 필드로 분리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42385CE7-DF32-4275-A59F-E42E7BF8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526E9B9A-E34A-488B-A8D7-4FD09D1D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근거 답변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A1482142-9098-4031-830F-2C37BDD0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법령·판례·심의사례 출처를 함께 제시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504716EA-3E7D-4C16-A8D9-CA8A66F8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CFEFCC45-8111-480A-8889-094A7D11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행동 연결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0BCE343D-4A28-44B2-8D95-9BB39AB2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문의 초안과 체크리스트까지 제공</a:t>
            </a:r>
          </a:p>
        </p:txBody>
      </p:sp>
    </p:spTree>
    <p:extLst>
      <p:ext uri="{BB962C8B-B14F-4D97-AF65-F5344CB8AC3E}">
        <p14:creationId xmlns:p14="http://schemas.microsoft.com/office/powerpoint/2010/main" val="40719706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5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6e8746a464a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66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af0495cfb4d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67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af0495cfb4d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68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af0495cfb4d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69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af0495cfb4d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0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af0495cfb4d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1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af0495cfb4d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40152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2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d1b836f6645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73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d1b836f6645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74" name="그림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af0495cfb4d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44180" y="3362793"/>
            <a:ext cx="1557105" cy="56940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EA1127-6FDC-A3E4-CE5B-72607560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0136712-3791-3095-AD92-358850C7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59B21C1-9B51-CF51-D4B7-C3337F48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14CAE9DA-430C-76EB-7C5E-8364753C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pic>
        <p:nvPicPr>
          <p:cNvPr id="79" name="그래픽 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d6eafc22d43db">
            <a:extLst>
              <a:ext uri="{96DAC541-7B7A-43D3-8B79-37D633B846F1}">
                <asvg:svgBlip xmlns:asvg="http://schemas.microsoft.com/office/drawing/2016/SVG/main" r:embed="Rbb4490a019ec488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67239" y="4868445"/>
            <a:ext cx="914400" cy="91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175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1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9858515fc42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72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d60c90da649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3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d60c90da649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4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d60c90da649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5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d60c90da649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6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d60c90da649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7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d60c90da649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40152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8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4192c0a0f4a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79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4192c0a0f4a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80" name="그림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d60c90da649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44180" y="3362793"/>
            <a:ext cx="1557105" cy="56940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637CBD5-3F21-6889-765F-75F1CAE7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33F003-0A73-36A7-176C-CF07DC3E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AAF99DD-3453-5D32-5EAC-A5E56326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771D7B50-4534-08BE-66C1-30993814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pic>
        <p:nvPicPr>
          <p:cNvPr id="85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a9f34bf234915">
            <a:extLst>
              <a:ext uri="{96DAC541-7B7A-43D3-8B79-37D633B846F1}">
                <asvg:svgBlip xmlns:asvg="http://schemas.microsoft.com/office/drawing/2016/SVG/main" r:embed="R1dfdfd85daaf446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3C4E866-CD7B-9E12-D9C7-DD00A29F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48123608-88C7-35AF-ACF9-09108E91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판단 전 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D59A20EA-AA9B-3894-7849-6B943A0B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 설명·사진·영상에서 위반유형, 장소, 기한, 증거, 사고유형을 먼저 분리</a:t>
            </a:r>
          </a:p>
        </p:txBody>
      </p:sp>
      <p:pic>
        <p:nvPicPr>
          <p:cNvPr id="89" name="그래픽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29e0021c84939">
            <a:extLst>
              <a:ext uri="{96DAC541-7B7A-43D3-8B79-37D633B846F1}">
                <asvg:svgBlip xmlns:asvg="http://schemas.microsoft.com/office/drawing/2016/SVG/main" r:embed="R94241bb26f09486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877515"/>
            <a:ext cx="914400" cy="91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8061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9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1e0d092234a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80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b7b8830c44a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1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b7b8830c44a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2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b7b8830c44a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3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b7b8830c44a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4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b7b8830c44a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5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b7b8830c44a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40152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6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964c3ccc446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87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964c3ccc446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88" name="그림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b7b8830c44a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44180" y="3362793"/>
            <a:ext cx="1557105" cy="56940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9F7982-C547-CEF1-600A-5248219B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A9F9F4B-0C5B-0FD0-0E76-3FE9CD5C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C565667-F374-42FA-EDBD-1D5180E7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8D1949BD-B9DA-6BA7-E46B-7AAE8662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pic>
        <p:nvPicPr>
          <p:cNvPr id="93" name="그래픽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45e1553b14c81">
            <a:extLst>
              <a:ext uri="{96DAC541-7B7A-43D3-8B79-37D633B846F1}">
                <asvg:svgBlip xmlns:asvg="http://schemas.microsoft.com/office/drawing/2016/SVG/main" r:embed="R4a120dc63f2941f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9755" y="4322494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94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45e1553b14c81">
            <a:extLst>
              <a:ext uri="{96DAC541-7B7A-43D3-8B79-37D633B846F1}">
                <asvg:svgBlip xmlns:asvg="http://schemas.microsoft.com/office/drawing/2016/SVG/main" r:embed="R4a120dc63f2941f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51B855D-95CC-EAF7-A2D7-37F0A0AF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23B4ECFD-3D77-0B92-B851-3D0AF0B7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판단 전 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1801C8CE-6488-DA92-EC2D-C63DF40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 설명·사진·영상에서 위반유형, 장소, 기한, 증거, 사고유형을 먼저 분리</a:t>
            </a:r>
          </a:p>
        </p:txBody>
      </p:sp>
      <p:sp>
        <p:nvSpPr>
          <p:cNvPr id="60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EBEA2AB-4F0E-FE1D-BAAC-F5FA2BC7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98" y="2569847"/>
            <a:ext cx="3063240" cy="170299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E2BCAFEF-2B1A-2346-B432-72EF02D0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618" y="2751832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02 근거 기반 답변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31E732AD-ED7D-D96C-E2AC-10A3F629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00" y="33099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법령, 과실비율 인정기준, 판례, 심의사례를 연결하고 출처를 남김</a:t>
            </a:r>
          </a:p>
        </p:txBody>
      </p:sp>
      <p:pic>
        <p:nvPicPr>
          <p:cNvPr id="101" name="그래픽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60528680e43ac">
            <a:extLst>
              <a:ext uri="{96DAC541-7B7A-43D3-8B79-37D633B846F1}">
                <asvg:svgBlip xmlns:asvg="http://schemas.microsoft.com/office/drawing/2016/SVG/main" r:embed="R97c81cdc7db6408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7469" y="4877515"/>
            <a:ext cx="914400" cy="914400"/>
          </a:xfrm>
          <a:prstGeom xmlns:a="http://schemas.openxmlformats.org/drawingml/2006/main" prst="rect">
            <a:avLst/>
          </a:prstGeom>
        </p:spPr>
      </p:pic>
      <p:pic>
        <p:nvPicPr>
          <p:cNvPr id="102" name="그래픽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60528680e43ac">
            <a:extLst>
              <a:ext uri="{96DAC541-7B7A-43D3-8B79-37D633B846F1}">
                <asvg:svgBlip xmlns:asvg="http://schemas.microsoft.com/office/drawing/2016/SVG/main" r:embed="R97c81cdc7db6408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2192000" y="3202924"/>
            <a:ext cx="973947" cy="91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956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6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7a8b6f30e4e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87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d3582269648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8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d3582269648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9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d3582269648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0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d3582269648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1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d3582269648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2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d3582269648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40152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3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bc8687b3e4f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94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bc8687b3e4f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95" name="그림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d3582269648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44180" y="3362793"/>
            <a:ext cx="1557105" cy="56940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2B6D46-2B01-8D0E-20F7-33D0637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BE6DA06-0B84-347A-3DE4-6B824F97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A9F2340-48E2-CDD0-C119-E9C1D6A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AC8E56B-358D-EB94-1EDF-C070BA8B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pic>
        <p:nvPicPr>
          <p:cNvPr id="100" name="그래픽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db846cfce488e">
            <a:extLst>
              <a:ext uri="{96DAC541-7B7A-43D3-8B79-37D633B846F1}">
                <asvg:svgBlip xmlns:asvg="http://schemas.microsoft.com/office/drawing/2016/SVG/main" r:embed="Rd892188214df45b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9755" y="4322494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101" name="그래픽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db846cfce488e">
            <a:extLst>
              <a:ext uri="{96DAC541-7B7A-43D3-8B79-37D633B846F1}">
                <asvg:svgBlip xmlns:asvg="http://schemas.microsoft.com/office/drawing/2016/SVG/main" r:embed="Rd892188214df45b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4619" y="2681940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102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db846cfce488e">
            <a:extLst>
              <a:ext uri="{96DAC541-7B7A-43D3-8B79-37D633B846F1}">
                <asvg:svgBlip xmlns:asvg="http://schemas.microsoft.com/office/drawing/2016/SVG/main" r:embed="Rd892188214df45b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BAF1DAC-5884-D36B-7368-D8D70709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8FE64C86-9DE4-1287-95A7-7ED8E443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판단 전 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BA213B4A-59DB-DE86-1650-0638B4D1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 설명·사진·영상에서 위반유형, 장소, 기한, 증거, 사고유형을 먼저 분리</a:t>
            </a:r>
          </a:p>
        </p:txBody>
      </p:sp>
      <p:sp>
        <p:nvSpPr>
          <p:cNvPr id="60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0571826-3CEE-5619-D11D-FC2409CA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98" y="2569847"/>
            <a:ext cx="3063240" cy="170299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0D8D3C7E-F9AF-AFCD-8584-1CD6BD6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618" y="2751832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02 근거 기반 답변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29033B77-E921-81D0-38C0-84F4D637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00" y="33099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법령, 과실비율 인정기준, 판례, 심의사례를 연결하고 출처를 남김</a:t>
            </a:r>
          </a:p>
        </p:txBody>
      </p:sp>
      <p:sp>
        <p:nvSpPr>
          <p:cNvPr id="66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BBECAFB-9AF5-E640-B5AA-05171DE7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488" y="826439"/>
            <a:ext cx="3063240" cy="1872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D024FCBA-647F-D5A7-048F-E70E8AA3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368" y="1009899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03 행동으로 연결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AC026309-EC44-9D40-5D8D-BB6928D9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368" y="1631886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>
                <a:latin typeface="Noto Sans CJK KR"/>
                <a:ea typeface="Noto Sans CJK KR"/>
                <a:cs typeface="Noto Sans CJK KR"/>
              </a:rPr>
              <a:t>이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의 가능성, 리스크, 추가 증거, 문의 초안, 리포트 다운로드까지 이어집니다.</a:t>
            </a:r>
          </a:p>
        </p:txBody>
      </p:sp>
      <p:pic>
        <p:nvPicPr>
          <p:cNvPr id="112" name="그래픽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8c378f2d345d9">
            <a:extLst>
              <a:ext uri="{96DAC541-7B7A-43D3-8B79-37D633B846F1}">
                <asvg:svgBlip xmlns:asvg="http://schemas.microsoft.com/office/drawing/2016/SVG/main" r:embed="R33f46db23c4a40f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9772890" y="3202924"/>
            <a:ext cx="973947" cy="914400"/>
          </a:xfrm>
          <a:prstGeom xmlns:a="http://schemas.openxmlformats.org/drawingml/2006/main" prst="rect">
            <a:avLst/>
          </a:prstGeom>
        </p:spPr>
      </p:pic>
      <p:pic>
        <p:nvPicPr>
          <p:cNvPr id="113" name="그래픽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8c378f2d345d9">
            <a:extLst>
              <a:ext uri="{96DAC541-7B7A-43D3-8B79-37D633B846F1}">
                <asvg:svgBlip xmlns:asvg="http://schemas.microsoft.com/office/drawing/2016/SVG/main" r:embed="R33f46db23c4a40f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7469" y="4877515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43FB278-3BA6-A4AC-62AB-DABF357D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62" y="6096809"/>
            <a:ext cx="9921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latin typeface="Noto Sans CJK KR"/>
                <a:ea typeface="Noto Sans CJK KR"/>
                <a:cs typeface="Noto Sans CJK KR"/>
              </a:rPr>
              <a:t>교통분쟁 AI 서비스의 결과물은 사용자가 스스로 검토·상담·대응할 수 있는 사건 리포트</a:t>
            </a:r>
          </a:p>
        </p:txBody>
      </p:sp>
    </p:spTree>
    <p:extLst>
      <p:ext uri="{BB962C8B-B14F-4D97-AF65-F5344CB8AC3E}">
        <p14:creationId xmlns:p14="http://schemas.microsoft.com/office/powerpoint/2010/main" val="25476506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3E284E-075C-6CAC-9720-D82D4D71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44FD64-7DEE-6FE7-5B8E-28A8412B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사건 리포트 구성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8C1EF19-C3C5-A39B-949F-05FC4383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9/40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F3E22DA6-FD55-2D5B-0650-06C8559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sp>
        <p:nvSpPr>
          <p:cNvPr id="6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D6DD98-573C-9495-2ADE-E8B178B8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D1975AF4-B63D-B786-D7DB-5FCD4566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입력 수집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48258694-B0A3-1C54-F9DC-906FBAD1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고지서·사진·영상·상황 설명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D3891155-E6E8-C91E-2CB5-CE72AA56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76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34C3F-BE1D-FA9D-1774-A24C93AF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674B008A-3317-B85C-39A7-63195E86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사건 구조화</a:t>
            </a: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A8C7546A-2946-24C1-1A8E-174DCE21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사고유형·증거·기한·장소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81381A7B-1ABE-AF28-81F9-893178BF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8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EFA5F52-7A6F-9D03-0976-426B6B1E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D6E764E8-E9F5-5C1E-754C-303F062E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근거 검색</a:t>
            </a: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B95C4FA1-45AA-6566-2611-9B5F9B8A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법령·판례·심의사례·인정기준</a:t>
            </a: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3B8DF3E4-0106-8333-B84B-AEB26801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92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328BEAF-C235-CC06-DA7F-BC8F0394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4" name="TextBox 93">
            <a:extLst xmlns:a="http://schemas.openxmlformats.org/drawingml/2006/main">
              <a:ext uri="{FF2B5EF4-FFF2-40B4-BE49-F238E27FC236}">
                <a16:creationId xmlns:a16="http://schemas.microsoft.com/office/drawing/2014/main" id="{53A0A1F6-D2E2-80AB-1130-D9BA5AFA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한계 표시</a:t>
            </a:r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51358A9E-CB2D-18E7-8AD2-18618C2C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부족한 증거·리스크·단정 방지</a:t>
            </a:r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3B1712FF-0617-1F8E-1C5B-5D3484D6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00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0CFAF75-FEDA-6651-7076-E34CC09D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5A73005C-45CE-7123-7BD6-71388D2F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리포트</a:t>
            </a:r>
          </a:p>
        </p:txBody>
      </p:sp>
      <p:sp>
        <p:nvSpPr>
          <p:cNvPr id="104" name="TextBox 103">
            <a:extLst xmlns:a="http://schemas.openxmlformats.org/drawingml/2006/main">
              <a:ext uri="{FF2B5EF4-FFF2-40B4-BE49-F238E27FC236}">
                <a16:creationId xmlns:a16="http://schemas.microsoft.com/office/drawing/2014/main" id="{E7A7AAFC-B581-FBFB-7D7B-B674184E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문의·체크리스트·다운로드</a:t>
            </a:r>
          </a:p>
        </p:txBody>
      </p:sp>
      <p:sp>
        <p:nvSpPr>
          <p:cNvPr id="106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A80384FF-39C1-042F-2D56-CA0F3971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51960"/>
            <a:ext cx="5166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8" name="TextBox 107">
            <a:extLst xmlns:a="http://schemas.openxmlformats.org/drawingml/2006/main">
              <a:ext uri="{FF2B5EF4-FFF2-40B4-BE49-F238E27FC236}">
                <a16:creationId xmlns:a16="http://schemas.microsoft.com/office/drawing/2014/main" id="{C84091CA-9A5B-1B55-0793-54A9D4A7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389120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가치</a:t>
            </a:r>
          </a:p>
        </p:txBody>
      </p:sp>
      <p:sp>
        <p:nvSpPr>
          <p:cNvPr id="110" name="TextBox 109">
            <a:extLst xmlns:a="http://schemas.openxmlformats.org/drawingml/2006/main">
              <a:ext uri="{FF2B5EF4-FFF2-40B4-BE49-F238E27FC236}">
                <a16:creationId xmlns:a16="http://schemas.microsoft.com/office/drawing/2014/main" id="{3AC8EFD2-A58E-5D9A-7C5F-17E193A7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800600"/>
            <a:ext cx="4800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전문가 상담 전, 내 사건의 쟁점과 필요한 근거를 먼저 확인가능</a:t>
            </a:r>
          </a:p>
        </p:txBody>
      </p:sp>
      <p:sp>
        <p:nvSpPr>
          <p:cNvPr id="112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82D33682-3C3D-C455-AF61-972D2024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251960"/>
            <a:ext cx="5166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TextBox 113">
            <a:extLst xmlns:a="http://schemas.openxmlformats.org/drawingml/2006/main">
              <a:ext uri="{FF2B5EF4-FFF2-40B4-BE49-F238E27FC236}">
                <a16:creationId xmlns:a16="http://schemas.microsoft.com/office/drawing/2014/main" id="{79E80A16-04E3-E7B4-E0FA-ACA225BF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89120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가치</a:t>
            </a:r>
          </a:p>
        </p:txBody>
      </p:sp>
      <p:sp>
        <p:nvSpPr>
          <p:cNvPr id="116" name="TextBox 115">
            <a:extLst xmlns:a="http://schemas.openxmlformats.org/drawingml/2006/main">
              <a:ext uri="{FF2B5EF4-FFF2-40B4-BE49-F238E27FC236}">
                <a16:creationId xmlns:a16="http://schemas.microsoft.com/office/drawing/2014/main" id="{03F48085-88E7-E09E-8995-C66251A8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800600"/>
            <a:ext cx="4800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공식 정보·판례·사고자료를 하나의 사건 흐름으로 연결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392E09D9-D433-438F-AFE8-E0BA6F4F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직사각형 117">
            <a:extLst xmlns:a="http://schemas.openxmlformats.org/drawingml/2006/main">
              <a:ext uri="{FF2B5EF4-FFF2-40B4-BE49-F238E27FC236}">
                <a16:creationId xmlns:a16="http://schemas.microsoft.com/office/drawing/2014/main" id="{96D8F478-3838-4969-B8F2-A578F3D2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119" name="직사각형 118">
            <a:extLst xmlns:a="http://schemas.openxmlformats.org/drawingml/2006/main">
              <a:ext uri="{FF2B5EF4-FFF2-40B4-BE49-F238E27FC236}">
                <a16:creationId xmlns:a16="http://schemas.microsoft.com/office/drawing/2014/main" id="{B48B09F3-F0B0-4CB4-BCF0-A5A4EFFE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사건 리포트는 흩어진 자료를 상담 가능한 형태로 바꾼다</a:t>
            </a:r>
          </a:p>
        </p:txBody>
      </p:sp>
      <p:sp>
        <p:nvSpPr>
          <p:cNvPr id="120" name="직사각형 119">
            <a:extLst xmlns:a="http://schemas.openxmlformats.org/drawingml/2006/main">
              <a:ext uri="{FF2B5EF4-FFF2-40B4-BE49-F238E27FC236}">
                <a16:creationId xmlns:a16="http://schemas.microsoft.com/office/drawing/2014/main" id="{B56A3902-4348-48F9-974B-72E7EC5C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입력, 구조화, 검색, 한계 표시, 다음 행동이 한 흐름으로 이어집니다.</a:t>
            </a:r>
          </a:p>
        </p:txBody>
      </p:sp>
      <p:sp>
        <p:nvSpPr>
          <p:cNvPr id="121" name="사각형: 둥근 모서리 120">
            <a:extLst xmlns:a="http://schemas.openxmlformats.org/drawingml/2006/main">
              <a:ext uri="{FF2B5EF4-FFF2-40B4-BE49-F238E27FC236}">
                <a16:creationId xmlns:a16="http://schemas.microsoft.com/office/drawing/2014/main" id="{5482BA1B-0006-4596-B8CE-83223AB0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22" name="직사각형 121">
            <a:extLst xmlns:a="http://schemas.openxmlformats.org/drawingml/2006/main">
              <a:ext uri="{FF2B5EF4-FFF2-40B4-BE49-F238E27FC236}">
                <a16:creationId xmlns:a16="http://schemas.microsoft.com/office/drawing/2014/main" id="{E571353E-A85A-420A-A646-7A0B5F80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123" name="직사각형 122">
            <a:extLst xmlns:a="http://schemas.openxmlformats.org/drawingml/2006/main">
              <a:ext uri="{FF2B5EF4-FFF2-40B4-BE49-F238E27FC236}">
                <a16:creationId xmlns:a16="http://schemas.microsoft.com/office/drawing/2014/main" id="{DF37BB9F-94CC-40DC-9222-DE32A9B8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입력 수집</a:t>
            </a:r>
          </a:p>
        </p:txBody>
      </p:sp>
      <p:sp>
        <p:nvSpPr>
          <p:cNvPr id="124" name="직사각형 123">
            <a:extLst xmlns:a="http://schemas.openxmlformats.org/drawingml/2006/main">
              <a:ext uri="{FF2B5EF4-FFF2-40B4-BE49-F238E27FC236}">
                <a16:creationId xmlns:a16="http://schemas.microsoft.com/office/drawing/2014/main" id="{B5AC9345-6FA6-4CED-B2CF-84F610C5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고지서·사진·영상·상황 설명</a:t>
            </a:r>
          </a:p>
        </p:txBody>
      </p:sp>
      <p:sp>
        <p:nvSpPr>
          <p:cNvPr id="125" name="사각형: 둥근 모서리 124">
            <a:extLst xmlns:a="http://schemas.openxmlformats.org/drawingml/2006/main">
              <a:ext uri="{FF2B5EF4-FFF2-40B4-BE49-F238E27FC236}">
                <a16:creationId xmlns:a16="http://schemas.microsoft.com/office/drawing/2014/main" id="{565B456F-2F0E-4AA6-8135-B6B3C2AF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26" name="직사각형 125">
            <a:extLst xmlns:a="http://schemas.openxmlformats.org/drawingml/2006/main">
              <a:ext uri="{FF2B5EF4-FFF2-40B4-BE49-F238E27FC236}">
                <a16:creationId xmlns:a16="http://schemas.microsoft.com/office/drawing/2014/main" id="{1A9C15A3-A862-42ED-84B3-CC879A1B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127" name="직사각형 126">
            <a:extLst xmlns:a="http://schemas.openxmlformats.org/drawingml/2006/main">
              <a:ext uri="{FF2B5EF4-FFF2-40B4-BE49-F238E27FC236}">
                <a16:creationId xmlns:a16="http://schemas.microsoft.com/office/drawing/2014/main" id="{8FF812BE-3993-4997-899C-0316344E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사건 구조화</a:t>
            </a:r>
          </a:p>
        </p:txBody>
      </p:sp>
      <p:sp>
        <p:nvSpPr>
          <p:cNvPr id="128" name="직사각형 127">
            <a:extLst xmlns:a="http://schemas.openxmlformats.org/drawingml/2006/main">
              <a:ext uri="{FF2B5EF4-FFF2-40B4-BE49-F238E27FC236}">
                <a16:creationId xmlns:a16="http://schemas.microsoft.com/office/drawing/2014/main" id="{93F14172-7F8A-4622-A82D-61F692DF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사고유형·증거·기한·장소</a:t>
            </a:r>
          </a:p>
        </p:txBody>
      </p:sp>
      <p:sp>
        <p:nvSpPr>
          <p:cNvPr id="129" name="사각형: 둥근 모서리 128">
            <a:extLst xmlns:a="http://schemas.openxmlformats.org/drawingml/2006/main">
              <a:ext uri="{FF2B5EF4-FFF2-40B4-BE49-F238E27FC236}">
                <a16:creationId xmlns:a16="http://schemas.microsoft.com/office/drawing/2014/main" id="{63553B11-F50F-4814-818F-F375D1AB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0" name="직사각형 129">
            <a:extLst xmlns:a="http://schemas.openxmlformats.org/drawingml/2006/main">
              <a:ext uri="{FF2B5EF4-FFF2-40B4-BE49-F238E27FC236}">
                <a16:creationId xmlns:a16="http://schemas.microsoft.com/office/drawing/2014/main" id="{005523E4-BFAD-4507-A81F-A6D10FE3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131" name="직사각형 130">
            <a:extLst xmlns:a="http://schemas.openxmlformats.org/drawingml/2006/main">
              <a:ext uri="{FF2B5EF4-FFF2-40B4-BE49-F238E27FC236}">
                <a16:creationId xmlns:a16="http://schemas.microsoft.com/office/drawing/2014/main" id="{37BCAE3F-F75E-40A6-A05A-2406E4C9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132" name="직사각형 131">
            <a:extLst xmlns:a="http://schemas.openxmlformats.org/drawingml/2006/main">
              <a:ext uri="{FF2B5EF4-FFF2-40B4-BE49-F238E27FC236}">
                <a16:creationId xmlns:a16="http://schemas.microsoft.com/office/drawing/2014/main" id="{C20227E5-78CC-4F6F-A336-B92E94AD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법령·판례·심의사례·인정기준</a:t>
            </a:r>
          </a:p>
        </p:txBody>
      </p:sp>
      <p:sp>
        <p:nvSpPr>
          <p:cNvPr id="133" name="사각형: 둥근 모서리 132">
            <a:extLst xmlns:a="http://schemas.openxmlformats.org/drawingml/2006/main">
              <a:ext uri="{FF2B5EF4-FFF2-40B4-BE49-F238E27FC236}">
                <a16:creationId xmlns:a16="http://schemas.microsoft.com/office/drawing/2014/main" id="{ABD659DC-1124-4303-84AE-4BD04B64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4" name="직사각형 133">
            <a:extLst xmlns:a="http://schemas.openxmlformats.org/drawingml/2006/main">
              <a:ext uri="{FF2B5EF4-FFF2-40B4-BE49-F238E27FC236}">
                <a16:creationId xmlns:a16="http://schemas.microsoft.com/office/drawing/2014/main" id="{0A200ACD-5550-45CF-87D4-3DA39CC0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135" name="직사각형 134">
            <a:extLst xmlns:a="http://schemas.openxmlformats.org/drawingml/2006/main">
              <a:ext uri="{FF2B5EF4-FFF2-40B4-BE49-F238E27FC236}">
                <a16:creationId xmlns:a16="http://schemas.microsoft.com/office/drawing/2014/main" id="{624E7866-5FB3-4296-A3A9-D8CAE663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한계 표시</a:t>
            </a:r>
          </a:p>
        </p:txBody>
      </p:sp>
      <p:sp>
        <p:nvSpPr>
          <p:cNvPr id="136" name="직사각형 135">
            <a:extLst xmlns:a="http://schemas.openxmlformats.org/drawingml/2006/main">
              <a:ext uri="{FF2B5EF4-FFF2-40B4-BE49-F238E27FC236}">
                <a16:creationId xmlns:a16="http://schemas.microsoft.com/office/drawing/2014/main" id="{1D2F7FFB-0377-4D82-A034-41869044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부족한 증거와 단정 방지</a:t>
            </a:r>
          </a:p>
        </p:txBody>
      </p:sp>
      <p:sp>
        <p:nvSpPr>
          <p:cNvPr id="137" name="사각형: 둥근 모서리 136">
            <a:extLst xmlns:a="http://schemas.openxmlformats.org/drawingml/2006/main">
              <a:ext uri="{FF2B5EF4-FFF2-40B4-BE49-F238E27FC236}">
                <a16:creationId xmlns:a16="http://schemas.microsoft.com/office/drawing/2014/main" id="{7B06DEBE-62BA-4C0C-B9FB-2DF6A2FE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8" name="직사각형 137">
            <a:extLst xmlns:a="http://schemas.openxmlformats.org/drawingml/2006/main">
              <a:ext uri="{FF2B5EF4-FFF2-40B4-BE49-F238E27FC236}">
                <a16:creationId xmlns:a16="http://schemas.microsoft.com/office/drawing/2014/main" id="{2072E395-0B8D-48F9-BDF8-606A5FD1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39" name="직사각형 138">
            <a:extLst xmlns:a="http://schemas.openxmlformats.org/drawingml/2006/main">
              <a:ext uri="{FF2B5EF4-FFF2-40B4-BE49-F238E27FC236}">
                <a16:creationId xmlns:a16="http://schemas.microsoft.com/office/drawing/2014/main" id="{4B644A63-F76E-418B-A8D7-DA7E8BE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리포트</a:t>
            </a:r>
          </a:p>
        </p:txBody>
      </p:sp>
      <p:sp>
        <p:nvSpPr>
          <p:cNvPr id="140" name="직사각형 139">
            <a:extLst xmlns:a="http://schemas.openxmlformats.org/drawingml/2006/main">
              <a:ext uri="{FF2B5EF4-FFF2-40B4-BE49-F238E27FC236}">
                <a16:creationId xmlns:a16="http://schemas.microsoft.com/office/drawing/2014/main" id="{6A61F2C9-0116-4171-84EA-79024E2D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문의 초안·체크리스트·다운로드</a:t>
            </a:r>
          </a:p>
        </p:txBody>
      </p:sp>
      <p:sp>
        <p:nvSpPr>
          <p:cNvPr id="141" name="사각형: 둥근 모서리 140">
            <a:extLst xmlns:a="http://schemas.openxmlformats.org/drawingml/2006/main">
              <a:ext uri="{FF2B5EF4-FFF2-40B4-BE49-F238E27FC236}">
                <a16:creationId xmlns:a16="http://schemas.microsoft.com/office/drawing/2014/main" id="{10143266-3A77-4966-B36F-07C6E0ED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86300"/>
            <a:ext cx="4038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42" name="사각형: 둥근 모서리 141">
            <a:extLst xmlns:a="http://schemas.openxmlformats.org/drawingml/2006/main">
              <a:ext uri="{FF2B5EF4-FFF2-40B4-BE49-F238E27FC236}">
                <a16:creationId xmlns:a16="http://schemas.microsoft.com/office/drawing/2014/main" id="{2601EA61-E8AB-4848-8087-E0B8EF8D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8071"/>
            <a:ext cx="4074885" cy="859971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43" name="직사각형 142">
            <a:extLst xmlns:a="http://schemas.openxmlformats.org/drawingml/2006/main">
              <a:ext uri="{FF2B5EF4-FFF2-40B4-BE49-F238E27FC236}">
                <a16:creationId xmlns:a16="http://schemas.microsoft.com/office/drawing/2014/main" id="{E8987E3B-6C24-421F-B40A-754EEFE0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사용자 가치</a:t>
            </a:r>
          </a:p>
        </p:txBody>
      </p:sp>
      <p:sp>
        <p:nvSpPr>
          <p:cNvPr id="144" name="직사각형 143">
            <a:extLst xmlns:a="http://schemas.openxmlformats.org/drawingml/2006/main">
              <a:ext uri="{FF2B5EF4-FFF2-40B4-BE49-F238E27FC236}">
                <a16:creationId xmlns:a16="http://schemas.microsoft.com/office/drawing/2014/main" id="{C8CA6755-F3F0-4B6B-87B2-373A50B0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전문가 상담 전 쟁점과 근거를 먼저 확인</a:t>
            </a:r>
          </a:p>
        </p:txBody>
      </p:sp>
      <p:sp>
        <p:nvSpPr>
          <p:cNvPr id="145" name="직사각형 144">
            <a:extLst xmlns:a="http://schemas.openxmlformats.org/drawingml/2006/main">
              <a:ext uri="{FF2B5EF4-FFF2-40B4-BE49-F238E27FC236}">
                <a16:creationId xmlns:a16="http://schemas.microsoft.com/office/drawing/2014/main" id="{CBDEB124-5E6E-4871-81EC-6A50D091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95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서비스 가치</a:t>
            </a:r>
          </a:p>
        </p:txBody>
      </p:sp>
      <p:sp>
        <p:nvSpPr>
          <p:cNvPr id="146" name="직사각형 145">
            <a:extLst xmlns:a="http://schemas.openxmlformats.org/drawingml/2006/main">
              <a:ext uri="{FF2B5EF4-FFF2-40B4-BE49-F238E27FC236}">
                <a16:creationId xmlns:a16="http://schemas.microsoft.com/office/drawing/2014/main" id="{02926B55-112C-48AF-8632-1B51729C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12443"/>
            <a:ext cx="3513364" cy="30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공식 정보와 사고자료를 사건 흐름으로 연결</a:t>
            </a:r>
          </a:p>
        </p:txBody>
      </p:sp>
    </p:spTree>
    <p:extLst>
      <p:ext uri="{BB962C8B-B14F-4D97-AF65-F5344CB8AC3E}">
        <p14:creationId xmlns:p14="http://schemas.microsoft.com/office/powerpoint/2010/main" val="514774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714ED74-1FDE-4459-61C0-D3F454C2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2B0DA54-7229-9DA1-87A6-E8EC0A52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D19AED7-ECAB-7DD4-E231-9424184B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사용자 문제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8E6B218-98C5-B790-43DA-6F1365F4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고지서 ·과실비율 ·보험 대응의 어려움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6C841B-3DA2-97E6-519C-96FED63B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10/40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213D885-86EF-30B3-FBF5-9152DBD4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처분 종류와 절차 구분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사용자 실패 장면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시나리오 기반 기능 연결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449ECFD2-3BD5-4B9D-A133-174D12FD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D4CD3B70-5C97-45CF-8E83-5D9EF4D0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43ACE57-FC70-46C3-B566-C4C06CB2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사용자가 겪는 문제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F6917C8-6B2D-46DD-9129-91BD344D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고지서, 과실비율, 보험 대응에서 실패 장면이 반복됩니다.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6E343A96-C541-4B77-89BA-B008063D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B355EFA3-F31B-4B8E-8BEC-8061FC0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15C07271-CF2F-458C-8577-EAE57562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절차 혼동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BC2BF2E7-66FE-424B-925A-F9BF53D7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과태료·범칙금·기한을 구분하기 어려움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9EA8EE6A-C177-446E-AE94-2339D51C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53E9EFF1-4AAC-43D2-BA78-D7624277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근거 부족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4D4CCF7C-C417-4ED8-B9CC-B0A8577F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보험사 주장을 검증할 자료가 흩어짐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F6C8EAD5-9B55-4909-BAD3-8A03445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4653977E-4FD4-4ED0-82F8-A52CCA97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문서화 부담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5BB72D73-5284-4FF1-9CC9-7279EEE7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상담 전 사건을 정리하기 어려움</a:t>
            </a:r>
          </a:p>
        </p:txBody>
      </p:sp>
    </p:spTree>
    <p:extLst>
      <p:ext uri="{BB962C8B-B14F-4D97-AF65-F5344CB8AC3E}">
        <p14:creationId xmlns:p14="http://schemas.microsoft.com/office/powerpoint/2010/main" val="29245383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C4D2236-CBB1-88AF-83AC-22A19068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F2A8B8-5AF2-E667-3FC2-4E7CAD1B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사고 이후 분쟁 영역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6EB740B-7505-5746-AE2F-5E7B1B47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11/40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EBCDA6F-4A62-A27F-FA94-1AA36AFC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9885944-6583-47D7-529A-DB8CA232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20162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9100105-3A98-0FD7-25B6-5498E7F6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21534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과태료/범칙금 고지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276D4C0-674E-05CA-3A8F-5D5E59E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2564892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사유, 기한, 이의제기 가능성을 모름 → 문서 인식·기한·유형 분기</a:t>
            </a:r>
          </a:p>
        </p:txBody>
      </p:sp>
      <p:sp>
        <p:nvSpPr>
          <p:cNvPr id="11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8BB3F23-E45C-A03B-E847-46F1884D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65" y="20162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4BA2B8-0311-5123-3C82-BB662786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21534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교통사고 과실비율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125D5C7-0E59-10A6-FF38-82A85955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2564892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보험사나 상대방 주장과 내 생각이 다름 → 유사 판례·심의사례 검색</a:t>
            </a:r>
          </a:p>
        </p:txBody>
      </p:sp>
      <p:sp>
        <p:nvSpPr>
          <p:cNvPr id="1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BE7DE78-76CC-6266-6C91-A6DE28A6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38450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7BC9B08-4369-3302-8A46-6471CB8E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3982211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 근거 확인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96F9193-B6B2-11DD-BDC3-21F560A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4393691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조문과 법률 용어를 직접 찾기 어려움 → 일상어를 법률 용어로 변환</a:t>
            </a:r>
          </a:p>
        </p:txBody>
      </p:sp>
      <p:sp>
        <p:nvSpPr>
          <p:cNvPr id="23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AB6A411-8B03-222B-253A-B95DB87E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65" y="38450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C918A8A-B580-CD74-4C7F-05C9914D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3982211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상담/리포트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E9868D0-CFA0-6A1C-42D7-BA041514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4393691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말로 설명한 사건을 문서로 정리하기 어려움 → 증거·한계·다음 조치 구조화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46DE922A-53C0-4F52-B3F1-414677FC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D6CBA7E-C2A5-4E76-A418-1DDF0F46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9F9F7F35-94BC-4D6B-9E22-3F6EDF95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사고 이후 문제는 네 가지 영역으로 나뉜다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C60C46C8-75CB-4D5E-8298-FB9B674A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사용자의 질문을 먼저 영역별로 분류해야 올바른 분석 모듈을 호출할 수 있습니다.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A8664E80-0B62-444F-A219-E9327426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F396B329-0063-4922-9F35-55279C4A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FA7A7"/>
                </a:solidFill>
              </a:defRPr>
            </a:pPr>
            <a:r>
              <a:rPr sz="1350" b="1">
                <a:solidFill>
                  <a:srgbClr val="9FA7A7"/>
                </a:solidFill>
              </a:rPr>
              <a:t>영역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AD64E81D-E3B9-47E0-8836-781BBE13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FA7A7"/>
                </a:solidFill>
              </a:defRPr>
            </a:pPr>
            <a:r>
              <a:rPr sz="1350" b="1">
                <a:solidFill>
                  <a:srgbClr val="9FA7A7"/>
                </a:solidFill>
              </a:rPr>
              <a:t>사용자 실패 장면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03D0B850-C799-40C2-9CDB-9130272A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FA7A7"/>
                </a:solidFill>
              </a:defRPr>
            </a:pPr>
            <a:r>
              <a:rPr sz="1350" b="1">
                <a:solidFill>
                  <a:srgbClr val="9FA7A7"/>
                </a:solidFill>
              </a:rPr>
              <a:t>연결 기능</a:t>
            </a:r>
          </a:p>
        </p:txBody>
      </p:sp>
      <p:sp>
        <p:nvSpPr>
          <p:cNvPr id="62" name="사각형: 둥근 모서리 61">
            <a:extLst xmlns:a="http://schemas.openxmlformats.org/drawingml/2006/main">
              <a:ext uri="{FF2B5EF4-FFF2-40B4-BE49-F238E27FC236}">
                <a16:creationId xmlns:a16="http://schemas.microsoft.com/office/drawing/2014/main" id="{C3A21851-A19D-4D83-A0C8-5D7ABEFF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F91CA95B-0C62-4C3B-A209-45A5F789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과태료/범칙금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CD6E1A21-5415-4AE8-8E91-F136CF65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051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고지 사유·기한·이의 가능성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902DE3D7-6014-4828-9D2C-A4208716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문서 인식·유형 분기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240978B9-E7CB-43DA-9E9D-328B510A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D6D97843-1915-45C4-9E1D-EEE93B87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48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교통사고 과실비율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2DDF097A-A005-43FD-8CC3-3306DB74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48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보험사 주장과 사용자 인식 차이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D5ED08E7-DE03-43F3-86B6-513983F3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48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유사 판례·심의사례 검색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869ACB62-FF89-46CE-ACE7-20DA1D1A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5471634C-5B21-4229-88F0-42E713A7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법률 근거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4F45D615-1F3D-4AF5-BFA4-0C8063DE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910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조문과 법률 용어 탐색 어려움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EDC06181-3F9E-44B6-BCD8-42DD53C7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910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일상어를 법률 용어로 변환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7429272C-2CC0-4FCF-AF44-EB6F0CA2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CD99FD48-3D72-4C7A-B376-81335D70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상담/리포트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DAED4589-6A57-4D21-8B8F-7FE9C6F1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339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말로 설명한 사건을 문서화하기 어려움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396DE979-DDD0-486E-846C-6DA5C868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339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증거·한계·다음 조치 구조화</a:t>
            </a:r>
          </a:p>
        </p:txBody>
      </p:sp>
    </p:spTree>
    <p:extLst>
      <p:ext uri="{BB962C8B-B14F-4D97-AF65-F5344CB8AC3E}">
        <p14:creationId xmlns:p14="http://schemas.microsoft.com/office/powerpoint/2010/main" val="20725901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3D792D-9BD9-F072-C3C8-4C1A93CD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0B322AA-0861-B199-9ADA-4CD27995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과태료·범칙금·벌점 차이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D0CD24FC-2578-EA13-ACC2-DA8BBD1F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12/40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721B06E0-CF76-7D38-F206-D1E40CFB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0BE978D-4C4D-C5D2-1464-8928C562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22F83B3-4340-1011-3D59-E7349C3E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5689A19-6B4A-2667-E6E3-D0A8297F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행정질서 위반 금전 제재. 의견제출·이의신청 가능성, 기한, 고지서 문서 인식 분석이 중요</a:t>
            </a:r>
          </a:p>
        </p:txBody>
      </p:sp>
      <p:sp>
        <p:nvSpPr>
          <p:cNvPr id="18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3EFB880-8345-AB2B-C76C-435E58C5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E8CBD15-C314-982C-D0C4-F41B4CAE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범칙금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3B49291-0990-83DD-D64F-F8912467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운전자 특정 및 교통법규 위반 처리와 연결됨 벌점 리스크가 있어 단정형 문서 생성을 제한함</a:t>
            </a:r>
          </a:p>
        </p:txBody>
      </p:sp>
      <p:sp>
        <p:nvSpPr>
          <p:cNvPr id="29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AB3A3A5-144F-A418-3B88-B52B95B5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46ED982-8CB4-ED2F-E031-943E8768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사고 과실비율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E910604-43DC-E915-8B15-E65D449C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 당사자 간 책임 비율 보험금, 구상, 분쟁심의, 소송 가능성과 연결됨</a:t>
            </a:r>
          </a:p>
        </p:txBody>
      </p:sp>
      <p:sp>
        <p:nvSpPr>
          <p:cNvPr id="3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3D7CB6C-846E-4E62-7238-FFF23CC9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8D64311-AD39-7E34-B816-07A9B443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법률사고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09C211A-FB9F-19A6-C432-2F1B0762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기한 도과, 잘못된 진술, 개인정보 노출 등 불이익을 만드는 상황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CA017827-6A5E-5FFE-E09C-2A62A4C7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100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설계 원칙 | 억울함보다 객관적 근거·기한·증거·절차상 문제가 있는지 먼저 판단함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462A89AD-61C7-4F33-BB06-900775E7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675057FA-7550-426D-B193-7F6F5CF0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6EA43A5F-E6CF-4856-A169-348B217B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처분 종류를 구분해야 잘못된 대응을 줄일 수 있다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166CFE64-C86D-4EAB-8BD2-8BEEAE16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과태료, 범칙금, 벌점, 과실비율은 리스크와 다음 절차가 다릅니다.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8449CA5C-8E71-435B-8944-011B0FB8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사각형: 둥근 모서리 58">
            <a:extLst xmlns:a="http://schemas.openxmlformats.org/drawingml/2006/main">
              <a:ext uri="{FF2B5EF4-FFF2-40B4-BE49-F238E27FC236}">
                <a16:creationId xmlns:a16="http://schemas.microsoft.com/office/drawing/2014/main" id="{DDC54D3D-8876-4BA0-867E-6BEA0670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87FE295D-030C-44DE-A0A1-CB295956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52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과태료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73558EE5-47E4-4FB8-B64A-278B0B38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5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행정질서 위반 금전 제재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FD87E50F-01F5-4F1A-A839-0026A790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95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기한·고지서 OCR·이의 가능성</a:t>
            </a:r>
          </a:p>
        </p:txBody>
      </p:sp>
      <p:sp>
        <p:nvSpPr>
          <p:cNvPr id="63" name="사각형: 둥근 모서리 62">
            <a:extLst xmlns:a="http://schemas.openxmlformats.org/drawingml/2006/main">
              <a:ext uri="{FF2B5EF4-FFF2-40B4-BE49-F238E27FC236}">
                <a16:creationId xmlns:a16="http://schemas.microsoft.com/office/drawing/2014/main" id="{CAF0AC86-5FDA-4BE2-AD57-B2ADF881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4A4523D7-0B05-4C57-9B3B-792385FB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범칙금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676DBAE3-7FEB-4251-8261-2BC3A49E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운전자 특정 교통법규 위반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1D1DF830-228C-4F9A-852C-BC5B494D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벌점과 진술 리스크 확인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306238FC-E767-4788-88AD-101BFADC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6578C516-7B7B-43C8-B655-DB002572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벌점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51AF33A6-B4EC-4AE5-A3E5-7C02725E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면허 행정처분과 연결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6248A64E-096D-47EA-A9CC-C7BD2E64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14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단정형 문서 생성 제한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41CF45AE-79A0-4793-B1ED-22369284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9DE37118-9D04-419A-BB2F-A08DC40E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71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사고 과실비율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D094C92-1848-4644-B4E6-873283C6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당사자 책임 비율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02A16AA2-622B-4C15-84E0-D11C64B7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보험금·분쟁심의·소송 가능성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33DCFE01-1C67-48E3-B4C5-9F19DCA5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19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설계 원칙: 억울함보다 객관적 근거·기한·증거·절차를 먼저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6527696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48AB14-7D6B-4D76-B554-E84BC9F9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ABA113A-2641-0C8B-E197-ED6E7858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질문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FF06328-3520-7807-9F39-2CB83371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13/40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929CA77B-8DF2-711F-0F23-987B5451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B13A3C4-19E0-5709-457A-680A375C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37207A5-9505-8CD5-BC4E-66B88AF7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고지서 해석</a:t>
            </a:r>
          </a:p>
        </p:txBody>
      </p:sp>
      <p:sp>
        <p:nvSpPr>
          <p:cNvPr id="11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CD0F03B-9079-34EC-41C8-911F50F3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909B85-2469-55F7-0EAD-6AC3AD5A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과실 근거 확인</a:t>
            </a:r>
          </a:p>
        </p:txBody>
      </p:sp>
      <p:sp>
        <p:nvSpPr>
          <p:cNvPr id="16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68EE7E7-DCE0-EA78-3F04-0BE9C62B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9ADA08A-B6D6-BBF7-0BD1-E1211190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3. 증거 부족 판단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2003BE8-E1CF-8D8E-C46D-BB05DA4E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CFAEB2F-484C-F3D0-0871-76B74C64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유사 사례 검색</a:t>
            </a:r>
          </a:p>
        </p:txBody>
      </p:sp>
      <p:sp>
        <p:nvSpPr>
          <p:cNvPr id="27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5E0DE4B-3D93-E521-B44D-00DB671B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A3B7DF2-745F-E243-F18D-482E9052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리스크 판단</a:t>
            </a:r>
          </a:p>
        </p:txBody>
      </p:sp>
      <p:sp>
        <p:nvSpPr>
          <p:cNvPr id="34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FE7D787-D09A-D9C5-7100-21C9DE3A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17CCCD0-2E97-1399-0E73-9F5EE9D5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6. 문서화</a:t>
            </a:r>
          </a:p>
        </p:txBody>
      </p:sp>
      <p:sp>
        <p:nvSpPr>
          <p:cNvPr id="43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4CA8366-888B-70FD-5852-B1E22870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3052"/>
            <a:ext cx="1051560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0DEDE30-4EAB-2C4F-3893-3FEBEDFD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00252"/>
            <a:ext cx="10332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교통분쟁 AI 서비스는 “사용자의 질문”을 “검토 가능한 사건 구조”로 바꾸는 데서 시작함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3D67D8AE-25C9-41E7-8BE5-1B6B67FC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46AED9FD-9DCB-49E8-948D-FCC39846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4B2120DE-F7F8-47D4-B01C-1879A396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사용자의 질문은 검토 가능한 사건 구조로 바뀐다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72F17351-7674-4F1A-9E2A-A551961D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질문을 바로 답하지 않고 분석 가능한 항목으로 나누는 것이 첫 단계입니다.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6831806B-9B31-4DF7-9EB7-4562A685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사각형: 둥근 모서리 58">
            <a:extLst xmlns:a="http://schemas.openxmlformats.org/drawingml/2006/main">
              <a:ext uri="{FF2B5EF4-FFF2-40B4-BE49-F238E27FC236}">
                <a16:creationId xmlns:a16="http://schemas.microsoft.com/office/drawing/2014/main" id="{B9B29E06-2FF7-4058-A705-3A42E04B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1429C574-B949-4ED8-806B-24789FB9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F179A07B-DBE6-4B1E-A1E0-ABF47546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고지서 해석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36C89CD8-F7EC-4381-8A87-A1EB2FDC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처분·금액·기한</a:t>
            </a:r>
          </a:p>
        </p:txBody>
      </p:sp>
      <p:sp>
        <p:nvSpPr>
          <p:cNvPr id="63" name="사각형: 둥근 모서리 62">
            <a:extLst xmlns:a="http://schemas.openxmlformats.org/drawingml/2006/main">
              <a:ext uri="{FF2B5EF4-FFF2-40B4-BE49-F238E27FC236}">
                <a16:creationId xmlns:a16="http://schemas.microsoft.com/office/drawing/2014/main" id="{BB75DB63-E1A4-46D4-AC68-4F0E18C7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C9C5FE95-A67C-4C45-8517-C17D372D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37B04AED-E043-42BC-881E-0F815A1A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과실 근거 확인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E9E1BA4B-8C08-4CE9-BD28-F539B96C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사고유형·행동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FE1571CA-983E-4509-9C29-E3E2F0A3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6FD8E1DE-8277-4C58-9C87-54AD0ACA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1AFF250E-740A-49F3-92AF-45592D10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증거 부족 판단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0BBA0222-F88C-4127-88BC-FF7B8F76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사진·영상·위치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0FC2C645-C059-47C0-B642-5FF5F8DD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CDDD2EE5-73C8-443F-82E3-2216106F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A1DF9B65-B7CA-40B5-BC65-DA0DD600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유사 사례 검색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A80F5D1C-F3E6-43D6-9A75-04047057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판례·심의사례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C24BF7FD-67CF-4306-ACF3-D2FA3FEB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805FA2AD-F135-4596-B64F-6B2C3830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797F03B2-87A4-49DA-8CD2-63C11FF0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리스크 판단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CE4DB24-38F4-49A3-9707-D7283343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기한·진술·단정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8296ED25-3BAE-4D5C-A50D-59E42A1B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A7CEAB90-E0D5-4AEA-BCE6-67CE6EBB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06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FE8DF9A2-9102-4DC8-9DA9-3E19482C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문서화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8554DAD0-CC9F-4D8A-82D7-21997BAC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문의 초안·리포트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48DAAC59-2F7A-42A8-95C6-6D8984B2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핵심: 교통분쟁 AI는 질문을 '답변'이 아니라 '검토 가능한 사건'으로 바꾸는 데서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40784365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8015B3-1789-79EE-90A9-D692CCAD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644E5E-CDCF-F774-30DF-FA7E3C66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과태료 고지서 사례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3C46A1E-B8F8-3663-D17B-5FA32780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14/40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5731F10C-38DB-395B-A899-7E8991B2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B502-BC43-4752-0649-F9A67A13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7492"/>
            <a:ext cx="10744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1D3C00A-4973-241A-B416-3EFBA0B2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7804"/>
            <a:ext cx="10241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“불법주정차 과태료 고지서를 받았는데, 차를 도난당한 상태였고 이의신청을 해도 되는지 모르겠다.”</a:t>
            </a:r>
          </a:p>
        </p:txBody>
      </p:sp>
      <p:sp>
        <p:nvSpPr>
          <p:cNvPr id="12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65585A5-EB81-708C-6E02-FC095646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D04B6CF-4CE7-6226-FEDD-D20A8847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고지서 업로드</a:t>
            </a:r>
          </a:p>
        </p:txBody>
      </p:sp>
      <p:sp>
        <p:nvSpPr>
          <p:cNvPr id="18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403FD80-C7C2-9C37-3197-9027A223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266B315-6720-3F47-DA1F-9B6250D5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문서 인식 필드 추출</a:t>
            </a:r>
          </a:p>
        </p:txBody>
      </p:sp>
      <p:sp>
        <p:nvSpPr>
          <p:cNvPr id="25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D8D2B88-07DC-0848-1DE0-EBF840E0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5125A5C-0246-9FA3-16EC-AA399571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처분 유형 분기</a:t>
            </a:r>
          </a:p>
        </p:txBody>
      </p:sp>
      <p:sp>
        <p:nvSpPr>
          <p:cNvPr id="31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784C0EE-2E46-C5A9-AAB1-E31402B4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5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917892F-EAB3-FB87-3A6A-36C5BF7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5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사유·기한 검토</a:t>
            </a:r>
          </a:p>
        </p:txBody>
      </p:sp>
      <p:sp>
        <p:nvSpPr>
          <p:cNvPr id="3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5908D75-6BC3-3148-628B-73CFD17A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6B2244F-D04B-64E5-2472-A94DA6B8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3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리포트 생성</a:t>
            </a:r>
          </a:p>
        </p:txBody>
      </p:sp>
      <p:sp>
        <p:nvSpPr>
          <p:cNvPr id="41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C3E43BD-C969-DFE8-5F29-1E841ACA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14972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0254BF0D-F583-BF26-BD45-DF9481EF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5213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실패 지점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5A2BAB6-5C3E-4C27-AA0F-3060A413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45324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위반유형, 기한, 법조문, 금액을 읽기 어려움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도난·부득이한 사유·본인 운전 인정형 진술을 구분하기 어려움</a:t>
            </a:r>
          </a:p>
        </p:txBody>
      </p:sp>
      <p:sp>
        <p:nvSpPr>
          <p:cNvPr id="50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A50AA1C5-27BF-3DBD-FC0B-907C8EF9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972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C156D7C-24A6-7EBA-787F-A54095D3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5213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출력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DBAF422-7980-1B44-07BF-B92B21AC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045324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판단 결과, 법적 리스크, 인정 가능성, 부족한 정보, 다음 조치를 분리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검토 가치와 한계를 표시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FB33F56F-06FE-4505-852B-C2C6B4B7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1091FF61-19E8-4C1E-A3D1-C50C8FD0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79955C5D-CB00-4D1C-A1A1-CFF2F82C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고지서 사례는 OCR보다 위험 분리가 중요하다</a:t>
            </a: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940D432F-879C-489F-8DFE-56754C56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도난·부득이한 사유·본인 운전 인정형 진술은 결과와 리스크를 크게 바꿉니다.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BAF54A8A-F876-42A6-9058-F474AE4E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6DC5C19B-92D2-4ED0-BB51-45B93C89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“불법주정차 과태료 고지서를 받았는데,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차를 도난당한 상태였고 이의신청을 해도 되는지 모르겠다.”</a:t>
            </a:r>
          </a:p>
        </p:txBody>
      </p:sp>
      <p:sp>
        <p:nvSpPr>
          <p:cNvPr id="62" name="사각형: 둥근 모서리 61">
            <a:extLst xmlns:a="http://schemas.openxmlformats.org/drawingml/2006/main">
              <a:ext uri="{FF2B5EF4-FFF2-40B4-BE49-F238E27FC236}">
                <a16:creationId xmlns:a16="http://schemas.microsoft.com/office/drawing/2014/main" id="{8EDCD417-9C1D-47AC-B738-D6D0694B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95FCBF11-2D61-4954-971E-7C9AA7BE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15CA2AA0-03F9-4414-91C3-23653796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업로드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EAF99518-2070-4E47-9262-EB5C3B57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고지서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D27183EA-FB8D-488B-9B4B-7AB57120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DC3A2CB9-1198-4953-8E69-E68E57D7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0346F260-4FCB-45D9-B531-517B481A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필드 추출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C6CD4B12-0064-49C8-864A-22D93E65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일시·장소·금액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561E6376-3E5E-4134-8B3F-7DDF540E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9EB41B25-9A97-4828-8F46-DF78B901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89E69D2C-A8A2-491A-9579-21E9D64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유형 분기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D967EC8C-B30B-44DD-B204-CBBC4AFD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과태료/범칙금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AE2DCB31-F605-4E88-A7F9-9B8398C1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B209A91A-FFF8-41FA-B448-E0BA260A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7F69686D-05F7-4C14-B813-1119ACC0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사유 검토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6C9F6D23-1C04-48F7-ADAF-2FDF93A7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도난·기한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C3957B74-4009-4D53-B385-9605EE1F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2969CFEE-B0B9-4164-8D3E-67C24AB8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F627C499-51DE-41E6-B463-2CEE020F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리포트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25EDE149-8244-485A-B39A-7CB9309D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위험·다음 조치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9C7BFBEA-0FCF-4FC0-83B9-428260A6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CF9B5461-2263-476C-99EA-F6B6F31C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794F5CD2-B388-4C12-AAFF-B6910C37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사용자 실패 지점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D3794ED5-47E3-424C-A9A9-BCEE62E7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서비스 출력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41F518A5-B818-4E80-B3BC-C0739FA4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기한·법조문·금액을 읽기 어려움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C06BF517-492F-43E2-8428-104BB031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진술 리스크를 구분하기 어려움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E9C36768-5886-4118-9CF4-FEA97F56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판단 결과와 법적 리스크 분리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A6C60A62-0D83-425F-9505-9C1A904D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인정 가능성과 부족 정보를 함께 안내</a:t>
            </a:r>
          </a:p>
        </p:txBody>
      </p:sp>
    </p:spTree>
    <p:extLst>
      <p:ext uri="{BB962C8B-B14F-4D97-AF65-F5344CB8AC3E}">
        <p14:creationId xmlns:p14="http://schemas.microsoft.com/office/powerpoint/2010/main" val="27922374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ECA8E2B-605D-D509-1AEF-42FD2BFC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15/40</a:t>
            </a:r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F01EE2-4BA5-0304-3BD2-3EDCC3F0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7493"/>
            <a:ext cx="10744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42D7D5-85EF-9AC8-9A8F-AA15EABC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7805"/>
            <a:ext cx="10241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“상대 차량이 진로변경을 했는데 보험사는 제 과실도 크다고 함 비슷한 사례가 있나요?”</a:t>
            </a:r>
          </a:p>
        </p:txBody>
      </p:sp>
      <p:sp>
        <p:nvSpPr>
          <p:cNvPr id="11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4F001AC-3A43-60C9-5207-220DB281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D3D3CED-336B-72C0-0DBD-52EE60D5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사고 설명 입력</a:t>
            </a:r>
          </a:p>
        </p:txBody>
      </p:sp>
      <p:sp>
        <p:nvSpPr>
          <p:cNvPr id="17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9E51C6F-4049-DB43-0A25-B3DA9D59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AEDE6E0-B6DA-1FCB-1143-4D5273CC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사고유형 구조화</a:t>
            </a:r>
          </a:p>
        </p:txBody>
      </p:sp>
      <p:sp>
        <p:nvSpPr>
          <p:cNvPr id="23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22D6A39-1CD1-809E-403D-176AB8B6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5E803A2-E865-098D-5000-081D344E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유사 사례 검색</a:t>
            </a:r>
          </a:p>
        </p:txBody>
      </p:sp>
      <p:sp>
        <p:nvSpPr>
          <p:cNvPr id="29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1BCCA58-1915-C6FF-E35F-3395493B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5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82F0265-6201-5E6C-539D-288FCD10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5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근거/한계 비교</a:t>
            </a:r>
          </a:p>
        </p:txBody>
      </p:sp>
      <p:sp>
        <p:nvSpPr>
          <p:cNvPr id="35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4FB1F75-F3F3-20E4-199C-F8436C0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8A0BE42-3F13-B98C-C8B3-CEC503AE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3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문의 초안</a:t>
            </a:r>
          </a:p>
        </p:txBody>
      </p:sp>
      <p:sp>
        <p:nvSpPr>
          <p:cNvPr id="4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A43B6BA-6611-3185-42E8-FFEF2F70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14973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20827AB-5B71-3A56-6B07-7D73E2E4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52133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실패 지점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C6A5EA62-BA3B-15AC-EE1A-5C5D1539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45325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인정기준, 판례, 심의사례가 흩어져 있음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장소, 방향, 신호, 정지 여부가 빠지면 유사 사례 판단이 어려움</a:t>
            </a:r>
          </a:p>
        </p:txBody>
      </p:sp>
      <p:sp>
        <p:nvSpPr>
          <p:cNvPr id="54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63473EE3-A256-5B06-FB9D-877FB04C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973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F85F81EC-2873-3765-B8AE-85B3EF4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52133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출력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B9F1669-AFB3-DCE0-2085-CAFE7E2A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045325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유사 사례, 사실관계 차이, 부족한 증거, 보험사 질문 문구를 정리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정답 비율이 아니라 판단의 출발점을 제공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460B29-A568-2B88-50D5-93640D95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79E4D6B-D932-4E0F-79F9-54AB588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보험 과실비율 사례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2737F6C7-8DC0-5E65-C366-4A8697AF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6349ED2E-8ADA-4118-B277-6825E3F5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296B13EC-AD66-4398-B7A6-A419D00E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3FA0B9F7-E203-4033-B970-7E6D0202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과실비율 사례는 정답보다 비교 출발점이 필요하다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5DB270E9-8F49-4898-B4A9-0E6E5B87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비슷한 사고라도 장소, 방향, 신호, 정지 여부가 빠지면 판단이 흔들립니다.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C53EC4E3-84C5-4E09-A22B-02E2B5B6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E5872B3C-0BE8-4C48-A4AA-0E001FD9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526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“상대 차량이 진로변경을 했는데 보험사는 제 과실도 크다고 합니다.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비슷한 사례가 있나요?”</a:t>
            </a:r>
          </a:p>
        </p:txBody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5E112EA8-3179-41C5-844F-68079F2F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F9EBD467-F8EE-4463-9FE3-8D076E5E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381D6A8F-1272-41EF-8F1D-19115DE2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사고 설명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BFB50EA8-99E1-42DA-9C0D-46F29565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사용자 진술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1F50A925-CC3B-4F20-90C1-9728F9E4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C9B8CB13-4839-4CFC-8E8B-F4DB8FF7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88B77BC-35F6-43B3-9EFB-77FFB665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유형 구조화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E974F15C-1819-4AAF-B595-CAD61D80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진로변경·차로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CE2F0A54-72C8-42F3-A908-24A197D1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CB66FD08-B6B1-4826-9483-E17AEE62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ACFD356C-D631-4D0D-B0CB-F843A9A5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사례 검색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EFA4298C-C53B-45F2-A5C6-BA3571F9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판례·심의</a:t>
            </a:r>
          </a:p>
        </p:txBody>
      </p:sp>
      <p:sp>
        <p:nvSpPr>
          <p:cNvPr id="84" name="사각형: 둥근 모서리 83">
            <a:extLst xmlns:a="http://schemas.openxmlformats.org/drawingml/2006/main">
              <a:ext uri="{FF2B5EF4-FFF2-40B4-BE49-F238E27FC236}">
                <a16:creationId xmlns:a16="http://schemas.microsoft.com/office/drawing/2014/main" id="{FC39C669-F57F-43AB-8A3F-C0BE9588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4BE06EF1-25AC-4537-BD79-9E38F2AA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957CA9B8-6C8F-4E3B-9705-A33376E1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근거 비교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DF294798-0DC3-4882-815F-A153BEA1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차이·한계</a:t>
            </a:r>
          </a:p>
        </p:txBody>
      </p:sp>
      <p:sp>
        <p:nvSpPr>
          <p:cNvPr id="88" name="사각형: 둥근 모서리 87">
            <a:extLst xmlns:a="http://schemas.openxmlformats.org/drawingml/2006/main">
              <a:ext uri="{FF2B5EF4-FFF2-40B4-BE49-F238E27FC236}">
                <a16:creationId xmlns:a16="http://schemas.microsoft.com/office/drawing/2014/main" id="{1D1C7166-E112-4E10-AC0F-5220D30E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9EF0755E-8F43-40B1-B8EE-2F640C13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9390B8E0-F318-49B8-A8C5-4E8F9E73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문의 초안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A3B20058-4C74-442D-8298-D88A2448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보험사 질문</a:t>
            </a:r>
          </a:p>
        </p:txBody>
      </p:sp>
      <p:sp>
        <p:nvSpPr>
          <p:cNvPr id="92" name="사각형: 둥근 모서리 91">
            <a:extLst xmlns:a="http://schemas.openxmlformats.org/drawingml/2006/main">
              <a:ext uri="{FF2B5EF4-FFF2-40B4-BE49-F238E27FC236}">
                <a16:creationId xmlns:a16="http://schemas.microsoft.com/office/drawing/2014/main" id="{91827C9F-2981-43B3-9D66-A48353A6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138D2F42-A6D8-4BC2-963E-A628CCAF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197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서비스 출력: 유사 사례, 사실관계 차이, 부족한 증거, 보험사 질문 문구를 정리합니다.</a:t>
            </a:r>
          </a:p>
        </p:txBody>
      </p:sp>
    </p:spTree>
    <p:extLst>
      <p:ext uri="{BB962C8B-B14F-4D97-AF65-F5344CB8AC3E}">
        <p14:creationId xmlns:p14="http://schemas.microsoft.com/office/powerpoint/2010/main" val="13623653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4E4B1D6-659C-87FC-658C-C425FEA7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AE31569-693E-771E-D5A9-D50FDAF6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DB56009-C748-8154-7401-197E9077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상담 데이터 보안 위험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3B982C94-825E-4503-9865-A3C806D4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4D932A4-4C4A-B76C-4A6C-26AA32EE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83C43C4-7F2D-F4F7-663C-7B36BE6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입력 데이터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2AA0C02-0C32-1D3D-7C73-6EE6A4DF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차량번호, 고지서 사진, 이름, 주소, 사고 위치, 블랙박스 영상이 동시에 들어올 가능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65DBDCA-8A90-82BC-12F3-4FB94746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A44BE96-CCBF-118A-9A95-11C51786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LLM 위험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85D7AB8-3BC9-496E-484A-C7132104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입력 원문이 프롬프트·로그·출력에 그대로 노출되거나 문서 내 지시가 모델을 오염시킬 가능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B5DB382-EFF8-1475-16E3-0396FAD9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A6CCB8B-8AE0-1BBC-AB53-B9E27ED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설계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97C76BA-DE0C-ADC9-487E-0C24C1D6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회원 권한 분리, 업로드 파일 검사, 개인정보 최소 저장, 근거·한계 표시를 적용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944294C-09E6-A35C-B88F-FCAE2A8E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3371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법률/보험 AI 서비스의 핵심 | 답변 품질 + 데이터 보호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B07287B5-A898-4517-B401-D026F62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6A416D91-EF97-4BD1-9550-F2F1A6AD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F2C72188-79B8-4A85-9BFF-21936594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법률·보험 AI는 답변 품질만큼 데이터 보호가 중요하다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217C7348-B821-4CE0-8267-551F8EC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입력 자체가 차량번호, 주소, 고지서, 블랙박스 영상을 포함할 수 있습니다.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204CF6D0-D997-42D8-A78D-B4F95B46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20222670-D2A0-4BD7-9947-E6D7639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36591BF1-1F3C-4F06-B891-C114ACB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위험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2C4F38B0-5828-41C6-BFBF-6648CFDF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우리 설계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067D4F2B-0092-4726-A31C-83F90DBD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민감 정보가 프롬프트·로그·출력에 남을 수 있음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6A583749-23DD-4560-BE59-63A55227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문서 안의 악성 지시가 답변을 오염시킬 수 있음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388D118B-CC2B-44FF-8B1D-FE8F395F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원문 전체 저장은 개인정보 노출 범위를 키움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45C15FCB-95C9-4432-83C9-6FE6E22A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회원 권한과 저장·다운로드 권한 분리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B88FFC93-44F1-4E98-AC5F-FEE88919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업로드 파일 검사 후 AI 분석 전달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3B093591-4FEF-4654-9476-51FEF433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필드 중심 처리와 근거·한계 표시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53DFA862-BD8A-4FED-9B56-B1A722E7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1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품질 + 보호</a:t>
            </a:r>
          </a:p>
        </p:txBody>
      </p:sp>
    </p:spTree>
    <p:extLst>
      <p:ext uri="{BB962C8B-B14F-4D97-AF65-F5344CB8AC3E}">
        <p14:creationId xmlns:p14="http://schemas.microsoft.com/office/powerpoint/2010/main" val="20526968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7BC2984-567D-01AD-02EB-BD07784C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091EA95-1E87-7FBA-7D96-E336E2C0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5E4D8CB-C6FB-5594-7E67-56E96D71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2453445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경쟁사와 차별점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3235C1F-A2A8-E8FD-A480-E60707D2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17/40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7E67D9-9FA9-1773-5FEF-4FD0F200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None/>
            </a:pPr>
            <a:r>
              <a:rPr sz="2000" b="1">
                <a:solidFill>
                  <a:srgbClr val="E6E6E6"/>
                </a:solidFill>
              </a:rPr>
              <a:t>기존 경쟁사 기능 범위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부족한 시장 영역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우리 서비스 차별점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4FE47A-4D0E-F96D-D1FD-059D6E0D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3030351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기존 서비스의 한계와 차별점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C817E482-3C34-49F6-9589-9F08FD89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9C2B76BF-C5D0-4F15-B522-489BD36B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5A567901-FD15-4BE9-871B-0C76AAA9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시장과 차별점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F90C227F-6343-415E-AD73-DEA54D7C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기존 서비스의 강점 사이에 사건 단위 근거 리포트가 비어 있습니다.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C82E86A5-BDCF-45A2-AD00-E6B6C37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B29D234A-EE6E-4598-898C-31C23BDB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917D86FC-DE1D-4EDE-8475-EE2DDB22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공식 기준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DA80FC68-EBD1-40A1-BE2E-1D22CCCE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기준은 있지만 개인 사건 연결은 약함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1404AD64-E3D6-4E03-BEF8-11BFE51D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D540DC67-D578-4B0F-95DE-D13254FF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보험사 앱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0D440309-0EFE-4C1C-825F-02523B5C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접수·청구 중심으로 설계됨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29BE98E9-17EC-4E50-BDDF-661B3BE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4592CA07-74D6-40BE-9CAC-2DEB5FA2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우리 위치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6407D4ED-EFD1-4301-9C82-384931D5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상담 전 셀프 점검용 근거 패키지</a:t>
            </a:r>
          </a:p>
        </p:txBody>
      </p:sp>
    </p:spTree>
    <p:extLst>
      <p:ext uri="{BB962C8B-B14F-4D97-AF65-F5344CB8AC3E}">
        <p14:creationId xmlns:p14="http://schemas.microsoft.com/office/powerpoint/2010/main" val="22227126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0D53647-4C79-8516-0CBA-0BB947F9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18/40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D3C909-F3E8-E909-92D9-1FA1C7E6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7D74AF3F-6B43-53AF-3851-DB981DD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경쟁 서비스 현황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BA7D0C73-D5A9-0E30-9BB3-9FF76ECE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CA29625-8135-9C68-3B7D-9646EC14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5078"/>
            <a:ext cx="521208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7F86B6-C159-696F-CF75-E834FC5A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72238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시장에 이미 있는 기능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C6E9D58-B52F-E150-A076-D910AA96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65430"/>
            <a:ext cx="484632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과태료·범칙금 조회/납부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보험사 앱·콜센터 사고 접수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손상/청구 중심 보험 AI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판례 검색·법률문서 생성 리걸테크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D3313EE-4716-EF48-84EB-898D6780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5078"/>
            <a:ext cx="521208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6F30F2E-CF1A-A9DE-5C2F-0C59114A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72238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아직 부족한 조합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0CFEBB6-6739-A008-A19D-7B431FD6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665430"/>
            <a:ext cx="484632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고지서 문서 인식 + 이의 가능성 판단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블랙박스/사고자료 + 과실 근거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판례·인정기준 근거 검색 + 출처 제시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소비자용 사건 리포트 통합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AC5DDD4-85E9-8384-2903-9F5C3153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267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핵심 | 개별 기능은 있으나, 자기 사건 기반 근거 리포트 제공 서비스는 부족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F6187418-CA93-466F-92C3-4EB48A8D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D27EFAB5-1AD5-40D9-8251-74CC1FA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1AE8A513-EB86-4264-9FF4-076E17DC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시장에는 기능이 있지만 조합이 부족하다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7FE1DED9-54D1-4C94-94CE-58FA45A2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조회, 청구, 판례 검색은 존재하지만 자기 사건 기반 근거 리포트로 이어지지 않습니다.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DB40F73C-1791-421E-BDA6-92E68687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9820ED82-2C94-4B05-B5ED-CC7070B6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2C86E901-9EC1-412B-BB4E-6AB8831C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AE41F7A3-1F8E-4B05-8B5A-256633F4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이미 있는 기능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71233EFE-9F36-4728-9933-2117DE7A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아직 부족한 조합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9EB57EA8-19CE-47BC-BE7B-4FEE2F66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과태료·범칙금 조회/납부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444E4D04-0507-426F-B74E-F3D53B6D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보험사 앱·콜센터 사고 접수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0027742B-5166-4814-9B08-C34AF268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손상/청구 중심 보험 AI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B09AEAB-5FA0-45DF-B06D-8130B6C2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판례 검색·법률문서 생성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22C801D9-AD8D-44DA-9D8E-3FC9B6FB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고지서 OCR + 이의 가능성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B42F2570-54E1-4701-B58E-C7649794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사고자료 + 과실 근거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FEA423B4-698A-46C5-972C-4F056D25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근거 검색 + 출처 제시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6CEAB07D-E00D-4682-AEAB-73577870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소비자용 사건 리포트</a:t>
            </a:r>
          </a:p>
        </p:txBody>
      </p:sp>
    </p:spTree>
    <p:extLst>
      <p:ext uri="{BB962C8B-B14F-4D97-AF65-F5344CB8AC3E}">
        <p14:creationId xmlns:p14="http://schemas.microsoft.com/office/powerpoint/2010/main" val="15888565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50359BF-DD17-C1A0-7143-5F5EE104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19/40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416C8-96B7-1A3A-DFB2-28A492FF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8D6C8A7-32A1-1DA2-3CB1-C4C494F7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기존 서비스 한계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2F684F49-B6D8-9265-D6D5-3881EE94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6E49986-5D8E-4AA3-A3BB-1F879952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F289BF-ADA7-7706-49D5-E6AAB1D2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공공·공식 포털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66BAB9D-37C5-822D-992F-802C6709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조회·납부와 공식 기준 제공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9D20614-F526-77C0-6A60-C3CE5EBF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B302B31-86E6-B74B-D05D-CD9045BC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정보포털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0747881-65D2-F64C-C567-8CA10515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인정기준·심의사례 제공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F2D499A-C5B6-748B-258E-034189B2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D0DC2AA-DD1C-88FC-F41C-F4CBE026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 AI/앱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59AB557-A97F-930D-7B04-FD52F045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청구·보상 처리와 연결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0E2EB3A-8255-F25E-0A2C-4788EB3E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548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ACB867C-35C7-5FF3-5501-2CFA7809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32642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D642C64-8369-3654-896F-740DE353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44122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 검색·문서작성·전문가 연결</a:t>
            </a:r>
          </a:p>
        </p:txBody>
      </p:sp>
      <p:sp>
        <p:nvSpPr>
          <p:cNvPr id="34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2C619F5-8FA9-AC8D-E3DE-C714A155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19548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D0669E2-0E60-80F5-6E94-164CFF9F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2642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일반 AI/검색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B9805A1-978C-9667-C71E-8399C26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44122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접근성은 높지만 검증 약함</a:t>
            </a:r>
          </a:p>
        </p:txBody>
      </p:sp>
      <p:sp>
        <p:nvSpPr>
          <p:cNvPr id="40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D7ED3AF-FE46-8081-057A-3ED73A67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70002"/>
            <a:ext cx="99669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303E07F-DABF-B170-976D-1636121D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98602"/>
            <a:ext cx="9692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공통 한계 | 사고자료 구조화 → 근거·한계·다음 행동 리포트 연결 부족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71021D48-D80A-47A9-9AC5-F0EC6220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34C63548-3396-480A-A36D-B0D83CD0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76A98D1C-B592-4875-B0EC-27FFF297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각 서비스의 강점은 분명하지만 사용자 흐름은 끊긴다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D69CF06D-E7C4-4FB2-B6C7-D224FE6E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조회, 청구, 검색을 오가며 자기 사건을 직접 연결해야 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A8514AA7-3546-43E2-9698-9B05FFFB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D4FFA978-7F06-496F-9B1C-669219C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E3FAA1D4-13CF-478F-9CA7-A7B267F8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공공·공식 포털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B601B332-C149-44BE-A81F-D13EC2FC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955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조회·납부와 공식 기준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6F1B75EF-B115-4B52-BB76-77906E44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95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사건 리포트 연결 부족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50E4012D-FA59-4DD5-B5E6-DA976B22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35C53752-A3C5-4F3D-BDF4-BB4246DF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과실비율 포털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13A1E913-1129-4338-A50E-B98C7F13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24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인정기준·심의사례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BE3E814A-72B1-478A-9AE0-BA60C41E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24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개인 자료 반영 부족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ECCDE625-C7E8-4917-B0F5-6FA9DB78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37AB9105-E2EE-4BF5-923A-1607EFAB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보험사 AI/앱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677728F3-A319-4DEB-9E13-CD9E362B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청구·보상 처리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35E2466A-C278-4B95-AD39-A2FF1D8E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52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보험사 내부 흐름 중심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D83FE352-BE0A-4059-8726-DABAB35B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719175FC-483C-4B42-B21F-4F8C34BC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리걸테크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F2FDE9F5-D7E9-4EAC-9E3C-97ECD020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판례 검색·문서작성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B71F17AF-6443-4646-B562-C91F14CC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81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교통분쟁 자료 연결 약함</a:t>
            </a:r>
          </a:p>
        </p:txBody>
      </p:sp>
      <p:sp>
        <p:nvSpPr>
          <p:cNvPr id="87" name="사각형: 둥근 모서리 86">
            <a:extLst xmlns:a="http://schemas.openxmlformats.org/drawingml/2006/main">
              <a:ext uri="{FF2B5EF4-FFF2-40B4-BE49-F238E27FC236}">
                <a16:creationId xmlns:a16="http://schemas.microsoft.com/office/drawing/2014/main" id="{355D3984-2E69-47EA-B322-92312AAB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C516C161-F498-47D4-A43F-DDCFC54E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일반 AI/검색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FCF629A2-A572-48C1-BF12-47C4B050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10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접근성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28A732F1-F9B5-4E76-B0E8-7BD197E8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10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출처·보안 검증 약함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53D3654-F4FB-4416-AD8A-C5601E61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4C95B72-BE9A-441C-ABA3-2ADD6B9E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경쟁사와 차별점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D7C37A7-7F5B-4FD4-8DCE-9B330589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기존 서비스의 한계는 기능이 아니라 데이터 연결 방식에 있다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838F239-B0E7-472A-BDDF-C4BDC4DB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조회, 청구, 검색은 가능하지만 한 사건의 문서·영상·법률 근거를 함께 판단하지는 못합니다.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DE94D35-A2A1-4CD8-9529-0D4EBF46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859C4E7-AD53-415B-B7E7-374337B3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73C95F7-B0D0-4A73-B4CB-C9C318F7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공공·공식 포털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9063D83-E4CF-4A24-800C-0093A46E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과태료·범칙금 조회와 납부, 공식 기준 확인에는 강하지만 사고 맥락과 사용자 증거를 함께 해석하지 않습니다.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3CAD656-0372-4288-BDC6-1B7C05C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7BF749E-F012-4448-AB11-55A8B29E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보험사 앱·상담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B5D96DD-3CD6-465C-9907-2CE042E1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337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사고 접수와 청구 흐름은 제공하지만 보험사 관점의 업무 처리에 가까워 소비자용 근거 패키지가 부족합니다.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845B0C0-5FA1-4D3A-946C-00CBBE3A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54C082D-263A-4DA5-9E0F-5D08953A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리걸테크·검색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E9F92E1-7688-4BC8-AD03-83F5B7FD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판례와 문서 검색은 가능하지만 고지서 OCR, 블랙박스 맥락, 과실비율 기준을 자동으로 묶어주지는 않습니다.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82D533D-0C6B-46F7-88CD-07F0F5C3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00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기술적 Pain Point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E4AD665-B21B-4DF3-A9F7-7B11F23E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482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C22AA74-213B-460D-8E28-FB65EFC9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387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입력 데이터가 문서·텍스트·이미지·영상으로 흩어져 있어 단일 LLM 호출만으로는 판단 근거가 약함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750C535-2039-44E2-963F-6564D2BF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482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EA06130-7C46-4437-94FF-CE3B6988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법령·과실비율 기준·심의사례는 출처 추적이 필요해 RAG 기반 검색과 답변 검증이 필요함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BF5A348-E046-49D4-8228-8D2C9254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48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17798AE-7EC2-48D5-B178-1416A2BC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388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사용자에게는 확정 판정이 아니라 부족한 증거, 한계, 다음 행동을 분리한 리포트가 필요함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BC18789-B283-4A17-ADDE-80B4825D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19/41</a:t>
            </a:r>
          </a:p>
        </p:txBody>
      </p:sp>
    </p:spTree>
    <p:extLst>
      <p:ext uri="{BB962C8B-B14F-4D97-AF65-F5344CB8AC3E}">
        <p14:creationId xmlns:p14="http://schemas.microsoft.com/office/powerpoint/2010/main" val="19440613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A9722855-364C-5CB0-530A-0ACEE7AC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20/40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D3CBB8-CFAE-376E-06BD-D7674FC9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498B069-511D-5F2E-009C-1C843484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경쟁사 기능 비교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C343A39A-8188-9CC6-682B-1DCE597C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84B9D2-DFC4-292F-8E3B-62C886EE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4308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플레이어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986BB6D-EAB2-816B-0CBD-FDF2C3BE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004308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강점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A92B26E-EEFA-A29A-102E-F9DDD9C4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04308"/>
            <a:ext cx="5120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비어 있는 부분</a:t>
            </a:r>
          </a:p>
        </p:txBody>
      </p:sp>
      <p:sp>
        <p:nvSpPr>
          <p:cNvPr id="13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1044307-BE31-4DBE-CD34-B2522A54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5788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FACF11E-DDC1-CDCB-1B31-5C70E7D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25516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DoNotPay / 딱지앱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695D724-6E00-BCBD-D798-8C855453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25516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문서·티켓 대응 일부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4A3ABF6-8B41-3641-A9A9-E59BCFB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25516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영상 과실·판례 근거 부족</a:t>
            </a:r>
          </a:p>
        </p:txBody>
      </p:sp>
      <p:sp>
        <p:nvSpPr>
          <p:cNvPr id="25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752506B-C07D-873C-6C9F-E17DF5F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4156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7104CF8-5748-56AC-F588-870F9D29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83884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보험사·손상 AI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B500F2D-69B1-39D6-BC5B-DAE75D56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183884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청구/손상 자동화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DCD2DD9-9173-6EF6-8A14-071BB426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83884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내부·청구 고객 중심</a:t>
            </a:r>
          </a:p>
        </p:txBody>
      </p:sp>
      <p:sp>
        <p:nvSpPr>
          <p:cNvPr id="41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D1AB739-3F48-F273-16F9-BFFE6D74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2524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2AD41BE-7CF3-C3CA-F493-2D09B4F7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2252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8EE44E74-CA88-9250-D6C0-B8ADBF58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42252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 판례 검색·문서 작성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DFA910C5-97BC-A89B-76D5-A8731F17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842252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사고자료·과실분쟁 특화 부족</a:t>
            </a:r>
          </a:p>
        </p:txBody>
      </p:sp>
      <p:sp>
        <p:nvSpPr>
          <p:cNvPr id="5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00439A0-0FC5-3BA0-51AF-4884C629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0892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CF7DCCDF-41A0-DBA9-1858-DF278FAA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00620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포털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23B1D4E-C1E4-23CE-3FD7-9D4F8F32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500620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공식 기준·심의사례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C0F9CD72-53E4-8DD8-4083-24ECDADE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00620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개인 사건 리포트로 연결 안 됨</a:t>
            </a:r>
          </a:p>
        </p:txBody>
      </p:sp>
      <p:sp>
        <p:nvSpPr>
          <p:cNvPr id="59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7520216-79D5-0ADD-396D-4254032F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9259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F624704A-3E8D-5337-125A-7A95210C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58987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서비스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919C103D-EA82-2E73-5516-23BAE064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58987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문서 인식+영상 분석+근거 검색+리포트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3998E531-5DCE-7347-DF9F-D68EE6A3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158987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개인 운전자용 통합 분석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E7C7B78-D78A-42AC-BF19-419E04F8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2F6CEA1E-9FF0-4755-A684-5FD4EE34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72C873E2-789C-4B36-945C-2F9A3E60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기존 서비스는 강하지만, 사건 단위 근거 리포트는 비어 있다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C934AC82-09BB-4FC0-B115-852B499E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우리 서비스는 문서·영상·법령·사례를 한 사용자 흐름으로 묶는 데 집중합니다.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32FE951-90E8-4914-B5B5-79D82AC8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플레이어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2A609D09-A85E-4B2C-BCC9-38FAF319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강점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2426BB87-423C-48E2-B0A9-94250AFE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비어 있는 부분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48D4A93C-1D75-4778-93A4-195927A9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899A6BE9-9C1E-4BE4-8C58-D6FBE312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공식 포털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69837B87-760C-42AE-8FDE-A2A26BCE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47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기준과 심의사례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6B5D9E95-5AC2-4089-B5C2-0B0A0538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개인 사건 리포트 연결 부족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86B8CB59-CFD8-44A0-8D25-DE41FD07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8EB85761-D802-44C1-AB05-9BDF19BE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보험사 앱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10CFA26A-5AFA-4984-A1A5-D835742D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접수·청구·보상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B29091AE-4409-4C0E-B9FD-252D6EF7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보험사 내부 흐름 중심</a:t>
            </a:r>
          </a:p>
        </p:txBody>
      </p:sp>
      <p:sp>
        <p:nvSpPr>
          <p:cNvPr id="84" name="사각형: 둥근 모서리 83">
            <a:extLst xmlns:a="http://schemas.openxmlformats.org/drawingml/2006/main">
              <a:ext uri="{FF2B5EF4-FFF2-40B4-BE49-F238E27FC236}">
                <a16:creationId xmlns:a16="http://schemas.microsoft.com/office/drawing/2014/main" id="{4BB8CA2C-5CA4-4210-91BF-B221BD18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B9172B2C-7242-4B7F-928D-8043E536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리걸테크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1E309E48-FF9F-435D-949F-8EAE756D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05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판례·문서 작성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637FFB47-34D4-48E5-8C5F-0BF6289F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교통분쟁 특화 자료 부족</a:t>
            </a:r>
          </a:p>
        </p:txBody>
      </p:sp>
      <p:sp>
        <p:nvSpPr>
          <p:cNvPr id="88" name="사각형: 둥근 모서리 87">
            <a:extLst xmlns:a="http://schemas.openxmlformats.org/drawingml/2006/main">
              <a:ext uri="{FF2B5EF4-FFF2-40B4-BE49-F238E27FC236}">
                <a16:creationId xmlns:a16="http://schemas.microsoft.com/office/drawing/2014/main" id="{36047BC2-5392-4FE6-BC03-89D74BFD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6464EA23-8725-4C5B-AC81-53874B35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일반 AI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CC358388-398D-4374-A667-4D1DECCF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339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접근성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E3748D4E-BBEB-4317-9615-0F32A29D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출처·보안·사건 이력 약함</a:t>
            </a:r>
          </a:p>
        </p:txBody>
      </p:sp>
      <p:sp>
        <p:nvSpPr>
          <p:cNvPr id="92" name="사각형: 둥근 모서리 91">
            <a:extLst xmlns:a="http://schemas.openxmlformats.org/drawingml/2006/main">
              <a:ext uri="{FF2B5EF4-FFF2-40B4-BE49-F238E27FC236}">
                <a16:creationId xmlns:a16="http://schemas.microsoft.com/office/drawing/2014/main" id="{53CEB821-CCD9-4827-8BDF-13E74494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416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027DB4CC-5AD2-41A5-822D-5C45074A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우리 서비스</a:t>
            </a:r>
          </a:p>
        </p:txBody>
      </p:sp>
      <p:sp>
        <p:nvSpPr>
          <p:cNvPr id="94" name="직사각형 93">
            <a:extLst xmlns:a="http://schemas.openxmlformats.org/drawingml/2006/main">
              <a:ext uri="{FF2B5EF4-FFF2-40B4-BE49-F238E27FC236}">
                <a16:creationId xmlns:a16="http://schemas.microsoft.com/office/drawing/2014/main" id="{311041BF-A1D1-4546-80CB-47BCDEB2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62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문서+영상+근거+리포트</a:t>
            </a:r>
          </a:p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A6E75B2D-8FBC-498A-AB47-03A30EE4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625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소비자 셀프 점검에 초점</a:t>
            </a:r>
          </a:p>
        </p:txBody>
      </p:sp>
    </p:spTree>
    <p:extLst>
      <p:ext uri="{BB962C8B-B14F-4D97-AF65-F5344CB8AC3E}">
        <p14:creationId xmlns:p14="http://schemas.microsoft.com/office/powerpoint/2010/main" val="39537566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F9C1A92-0A79-93FF-5E4B-FE635881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21/40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500B03-C77B-1B44-E3AE-E72607CF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874F44C-92A5-C96E-3B7F-C2C85740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우리 서비스의 위치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C08603A-0D8B-FD15-0026-70C5C479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BA2DCF4-FB80-A84C-52E5-DDBC5884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834A80-AC86-6EB5-6D7F-EAE10F86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291CD05-22AD-82B4-825C-7512F0A4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판례·문서 중심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BBCC2AF-EF36-D188-2CB7-27CECF5D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5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56544E0-D64A-BF1E-54A3-4E3AAC10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2B9E7D8-4BA1-3F8D-38B7-B8AB40AB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 AI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3BD60E4-F539-5BC3-3EB9-774C284B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청구·손상 중심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B237A81-6E3B-7B13-8290-6597500C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7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E752A9B-F628-8C65-6010-D0509336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3CA8329-E72B-0EBE-E149-7AAD726F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서비스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A0B3896-B46E-8484-F0E1-635EC8CE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사건 중심 근거 패키지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9A75DEA-6580-664C-404A-CABD8742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D1DB3CA-051D-A2B1-454A-9D59A175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5CAFB7B-35FD-8F74-B630-F2E81753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187B721-1C2E-056B-EE57-95AC4BFA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전문가 상담 전 셀프 점검</a:t>
            </a:r>
          </a:p>
        </p:txBody>
      </p:sp>
      <p:sp>
        <p:nvSpPr>
          <p:cNvPr id="48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76DF57E-5735-763B-C579-420C9602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26280"/>
            <a:ext cx="105156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277E142B-B4A0-33BF-2EB5-DCAFBC63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63440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차별화 축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D35CF495-C9A2-0AF0-DE64-516B8B5D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74920"/>
            <a:ext cx="10149840" cy="2103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독립 + 이의 가치 사전 판단 + 판례·인정기준 근거 검색 + 과태료까지 묶은 멀티에이전트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B8203508-7B78-4134-BF1C-2602B0F1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395F5D70-5A02-4F77-85DC-90FBE138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0291D9B3-0425-43C9-8694-723112D5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우리 서비스의 위치는 상담 전 셀프 점검이다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30C6AAA5-395D-4B44-965E-3453C4C1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보험사 AI와 리걸테크 사이에서 사건 중심 근거 패키지를 제공합니다.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89955AA7-5A0B-435A-B335-BCEBB7F5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797BB8E5-DE02-4E89-BD4B-3F5D375D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8841D418-45BD-4595-9258-0B1F500C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CF2675A5-E8A5-4FD8-9339-11BCF243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리걸테크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2D829AFE-7BFB-469F-B73B-93B5E7A1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판례·문서 중심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B720FDCB-A9D2-4D7E-8CB1-8BF2ABF1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996BCBD4-60C7-4BE2-811E-C8FD09DD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93702A57-FEE3-4558-A55E-666DCEF0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보험사 AI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F302B7C9-70B1-47BF-8215-3257F5E4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청구·손상 중심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E33480DF-9207-4C45-993A-33878766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F6A86D3B-10D9-4A39-8A46-C21A9C50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F9CBEFFD-1F00-4B74-8879-E3757042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우리 서비스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138DBC4B-3365-413D-B687-F5B4822F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사건 중심 근거 패키지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10342379-1EC1-4AFB-A86D-0982FCA1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6492C2A4-CF50-4BB4-9576-0E15EEF3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D48E8CFC-26F6-4E01-AEFC-AAF249B3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사용자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18BCF792-C593-49A6-BAAE-4DE1326A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상담 전 셀프 점검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927E730E-0FDF-4F1D-B82F-837994AF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차별화 축: 보험사 독립 + 이의 가치 사전 판단 + 판례·인정기준 검색 + 과태료까지 묶은 멀티에이전트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7123655-B299-4CC6-8592-EBD62E3B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BF6812B-3A8B-4EF8-8A55-37E4F57E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경쟁사와 차별점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D01B588-2B3B-40AA-A2FB-4DA27DE6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우리 서비스는 상담 전 사건 구조화 에이전트로 포지셔닝한다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7135D8A-5993-4355-885C-5B1E3E98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경쟁 서비스 사이의 빈칸은 ‘내 사건을 검토 가능한 단위로 바꾸는 기술’입니다.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B14F635-CF2D-4972-805F-BD0D32D7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FEC10B7-E6A6-42C2-B2D8-149A8423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809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C3F7288-521A-4A43-8F1A-BA0E54A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리걸테크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2D2C0F2-2CD8-4308-A591-D188348C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판례·문서 중심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전문가/법률 검색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A31AA32-1536-428D-9CF9-E192A3A9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38525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7575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A86499C-9240-4382-BFE4-6B0F16B8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76550"/>
            <a:ext cx="1809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D5C7F63-2B27-4E5C-8889-F28156C4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480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공식 포털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D21D567-3162-4D7A-A54D-2C8942E1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90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조회·납부 중심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공식 기준 제공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C029DF0-6963-4077-8F7A-15E61FEE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38525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7575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E19FA54-EB73-45EA-8B86-E949F376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05100"/>
            <a:ext cx="2095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C65F966-A478-470D-BF4C-997BE2C2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우리 서비스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47F9772-42A6-495D-B3B2-3C654B8B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사건 중심 근거 패키지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멀티 에이전트 분석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69A2402-36E5-417E-B4DE-E48F9582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38525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7575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A1A8339-2B2D-40A7-A6CF-4E5B9A7D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765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30A10FA-181B-4A07-B4B3-68763ED2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480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보험사 AI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4A73EB0-8106-4522-BD53-F17E61F4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909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접수·청구 중심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보험 업무 자동화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00DE7C0-C87F-4FF8-9CBB-AC22CFEE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00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그래서 이런 에이전트를 씁니다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E1EACF8-02CA-48F8-804A-E46666CA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292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9D5D0"/>
                </a:solidFill>
              </a:defRPr>
            </a:pPr>
            <a:r>
              <a:rPr sz="120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97BD0D5-D492-4A14-AC21-EE568336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EDED"/>
                </a:solidFill>
              </a:defRPr>
            </a:pPr>
            <a:r>
              <a:rPr sz="1200" b="0">
                <a:solidFill>
                  <a:srgbClr val="EDEDED"/>
                </a:solidFill>
              </a:rPr>
              <a:t>OCR/문서 에이전트: 고지서의 처분 유형, 금액, 기한, 장소를 구조화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4F77BE3-2C4B-4315-BF4B-382CEDB9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340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9D5D0"/>
                </a:solidFill>
              </a:defRPr>
            </a:pPr>
            <a:r>
              <a:rPr sz="120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E33FE38-0D59-4C06-9441-549B3635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EDED"/>
                </a:solidFill>
              </a:defRPr>
            </a:pPr>
            <a:r>
              <a:rPr sz="1200" b="0">
                <a:solidFill>
                  <a:srgbClr val="EDEDED"/>
                </a:solidFill>
              </a:rPr>
              <a:t>사고상황 에이전트: 사용자 설명, 사진, 영상 단서를 사고 유형과 증거 목록으로 변환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F010BD9-5939-42AF-80AA-7D0FB0FD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388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9D5D0"/>
                </a:solidFill>
              </a:defRPr>
            </a:pPr>
            <a:r>
              <a:rPr sz="120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5E40F9F-A23E-43B3-88E5-47403F69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293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EDED"/>
                </a:solidFill>
              </a:defRPr>
            </a:pPr>
            <a:r>
              <a:rPr sz="1200" b="0">
                <a:solidFill>
                  <a:srgbClr val="EDEDED"/>
                </a:solidFill>
              </a:rPr>
              <a:t>법률·사례 RAG 에이전트: 법령, 과실비율 기준, 유사 사례를 출처와 함께 검색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2E5C94F-8C9E-49F3-8857-72742399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1436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9D5D0"/>
                </a:solidFill>
              </a:defRPr>
            </a:pPr>
            <a:r>
              <a:rPr sz="120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7B4F74F-BA78-45A1-8B62-BF8AAC3D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34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EDED"/>
                </a:solidFill>
              </a:defRPr>
            </a:pPr>
            <a:r>
              <a:rPr sz="1200" b="0">
                <a:solidFill>
                  <a:srgbClr val="EDEDED"/>
                </a:solidFill>
              </a:rPr>
              <a:t>리포트 에이전트: 가능성, 리스크, 부족 정보, 다음 행동을 분리해 제시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5FE8306-4E9F-4A70-9105-5BB073D4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21/41</a:t>
            </a:r>
          </a:p>
        </p:txBody>
      </p:sp>
    </p:spTree>
    <p:extLst>
      <p:ext uri="{BB962C8B-B14F-4D97-AF65-F5344CB8AC3E}">
        <p14:creationId xmlns:p14="http://schemas.microsoft.com/office/powerpoint/2010/main" val="35545247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9ACE2F6-43E2-3D7A-F184-88F18505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22/40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2DAB00-B043-431A-5968-BFC42B42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460BE685-2D53-5A98-B44C-BB548980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기존 경쟁사와의 차이점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3257EEF7-243A-3C69-21A8-CBBFA402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673C00A-1143-5C6A-DAD6-299DBAE3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86" y="2233400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AE7B385-F304-5508-47B5-7F830BFA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237056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보험사와 분리된 소비자용 서비스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72DCABD-20B2-014D-F4B2-927ACCF6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2782040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특정 보험사 고객에 한정되지 않음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사용자 사고자료 기반 근거 확인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9C063A6-3B40-8DC2-4C16-2D9BC555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466" y="2233400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FFDE949-0D0C-7803-8024-6FBA0B3D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237056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이의 제기 전 검토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987780F-BDA1-6B78-5B76-1329A7EB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2782040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무조건 이의신청 권유 X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근거·기한·증거·위험 분리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DFB37E4-7F13-FEF4-5FEC-82A9956B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86" y="4107919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CE031F4-1433-49ED-8188-C4680C4B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4245079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3. 판례·기준 근거 연결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037E0AF-8E3B-3DCC-9C2E-1E263BE5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4656559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법령·인정기준·판례·심의사례 출처 제시</a:t>
            </a:r>
          </a:p>
        </p:txBody>
      </p:sp>
      <p:sp>
        <p:nvSpPr>
          <p:cNvPr id="31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5C06E11-8702-E729-6179-4289D0A2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466" y="4107919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A5E197D-C7E0-EE35-3D91-6C14DAE5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4245079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자가 대응 안전장치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D0D1302-2464-D02C-F3A0-89F07123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4656559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대리·자동제출·승소 보장 표현 제외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사용자 직접 검토용 리포트 제공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D18A1CA9-B83D-4F51-B632-83490D4E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A7E4223E-9984-4413-9089-F927E39F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00DDF7BA-7134-4E29-9934-12873E15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차별점은 기능보다 안전한 판단 흐름에 있다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A6617C25-84A1-4CA4-B7CC-851B50F9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무조건 이의신청을 권유하지 않고 근거·기한·증거·위험을 분리합니다.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120D7B8B-0D5C-4007-AAB4-155296C2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D0A1CFF0-5D5D-442D-A913-277509C3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FF9B9030-E83B-46C2-8970-52C8127A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79D5D0"/>
                </a:solidFill>
              </a:defRPr>
            </a:pPr>
            <a:r>
              <a:rPr sz="2250" b="1">
                <a:solidFill>
                  <a:srgbClr val="79D5D0"/>
                </a:solidFill>
              </a:rPr>
              <a:t>1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A761873-8B7A-4C56-9873-8B641018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67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보험사와 분리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F41AE4B2-1956-4602-B2B9-1602075C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특정 보험사 고객에 한정되지 않음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D440325D-A5DD-4662-A319-505F0465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8C2F8009-D5D7-492F-99BE-A4406B79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95B52"/>
                </a:solidFill>
              </a:defRPr>
            </a:pPr>
            <a:r>
              <a:rPr sz="2250" b="1">
                <a:solidFill>
                  <a:srgbClr val="E95B52"/>
                </a:solidFill>
              </a:rPr>
              <a:t>2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C41F8620-072F-4D11-AFCB-B4EB3B8F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이의 전 검토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FDEDEFB6-B8CB-4FB7-B637-240FC1C9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근거·기한·증거·위험 분리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A004E58C-D39B-4795-AFB1-C896FB92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0D9DB972-C876-4C21-8C0E-12D37D72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79D5D0"/>
                </a:solidFill>
              </a:defRPr>
            </a:pPr>
            <a:r>
              <a:rPr sz="2250" b="1">
                <a:solidFill>
                  <a:srgbClr val="79D5D0"/>
                </a:solidFill>
              </a:rPr>
              <a:t>3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E45408DF-5684-414E-8810-E2964066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86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판례·기준 연결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E5AB8CB7-67E8-4934-A5DA-192E2EED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67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법령·인정기준·심의사례 출처 제시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1D5F7C2B-3FBB-49C8-A00C-B66D7F8E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B8AB00CD-0534-48BA-A9B7-A15A207A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79D5D0"/>
                </a:solidFill>
              </a:defRPr>
            </a:pPr>
            <a:r>
              <a:rPr sz="2250" b="1">
                <a:solidFill>
                  <a:srgbClr val="79D5D0"/>
                </a:solidFill>
              </a:rPr>
              <a:t>4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A67A4C9C-6ED3-47B2-9580-09E28677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자가 대응 안전장치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09BD0F89-EAC2-41B7-A93B-CAA850B2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67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자동 제출·승소 보장 표현 제외</a:t>
            </a:r>
          </a:p>
        </p:txBody>
      </p:sp>
    </p:spTree>
    <p:extLst>
      <p:ext uri="{BB962C8B-B14F-4D97-AF65-F5344CB8AC3E}">
        <p14:creationId xmlns:p14="http://schemas.microsoft.com/office/powerpoint/2010/main" val="24311521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04EB74A-2610-9CA6-0E27-39E7F524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492ACBD-3F99-5EB8-2C15-881986E8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82D1AE-4442-4F08-2031-86D23C10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서비스 이용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4CFCB1-B7DC-B5D4-8BC1-9783CB26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2435244"/>
            <a:ext cx="3436671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사고 내용 입력부터 근거 리포트 생성까지의 과정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46F2E7-ECA9-587B-753D-0D06DEB9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23/40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B66779E-95BB-A94B-2129-7E75FC15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확정 판정이 아닌 근거 패키지 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입력부터 리포트까지의 흐름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문서 인식 </a:t>
            </a:r>
            <a:r>
              <a:rPr sz="2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·근거 검색 ·사례검색 ·리포트</a:t>
            </a:r>
            <a:r>
              <a:rPr sz="2000" b="1">
                <a:solidFill>
                  <a:srgbClr val="E6E6E6"/>
                </a:solidFill>
              </a:rPr>
              <a:t> 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E77D7B10-9108-4A3E-93F2-3CBDA4C8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3FAC963D-300C-4B09-A75A-38AFE687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0C74E614-16B1-473F-9297-92133184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서비스 이용 과정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1F767CF4-647B-4627-988B-5B35DAB8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입력부터 리포트까지 사용자가 이해할 수 있는 흐름으로 설계합니다.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F2D7CCE3-B963-46CA-8F2D-C7808195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7A4F9950-65BB-44A7-BE26-F735FA6F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DE452E08-0FCB-4ABA-9348-BF00BC8C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입력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859617E8-704C-4F54-8EEF-4BDC854B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사고 설명·고지서·사진·영상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F9BCC9F2-7263-4CB4-9912-7A25ADCE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83BDF5D6-C4D1-48CB-8606-55191F30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분석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C66F0FED-2CA4-4821-B670-026FCDC6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문서 인식·근거 검색·사례 검색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FB512DA5-AF25-4BA8-B01A-D1D6562E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4AC3EE5-D3DC-4B8F-B870-26C237B3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출력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E18F7A91-D032-4F2E-9444-BFABD027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근거·한계·다음 행동 리포트</a:t>
            </a:r>
          </a:p>
        </p:txBody>
      </p:sp>
    </p:spTree>
    <p:extLst>
      <p:ext uri="{BB962C8B-B14F-4D97-AF65-F5344CB8AC3E}">
        <p14:creationId xmlns:p14="http://schemas.microsoft.com/office/powerpoint/2010/main" val="16810768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17C10D20-FB5E-193D-A9C3-617793D1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24/40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1A9976-172C-F204-089B-C613C77B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B261389-ED66-E44D-BDD8-4832759B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사고자료 처리 흐름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6C581DB-A96C-0F32-33D3-2B53E149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66A5AEA-3878-A915-F3E9-ECBB3466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F1EB6A0-F694-5718-3D05-D9A44A99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입력 자동화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67BCDD-F675-F146-9A22-909118F1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 문서 인식, 사고 설명, 블랙박스/현장 사진 업로드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54CE486-D977-7B38-960F-D66D8BF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153FCDE-5975-3F8D-87A8-AF7B2170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사고상황 구조화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500E087-C94A-CDBF-25D5-80C97917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사고유형, 도로유형, 당사자 행동, 증거 목록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0F87E05-E813-0867-0145-8A2C82D9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6031F80-8D98-B826-B819-5C1A5A52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근거 검색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86D6DF6-3E16-63D5-0DC7-89EA611A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법령, 과실비율 기준, 판례, 심의사례 복합 검색</a:t>
            </a:r>
          </a:p>
        </p:txBody>
      </p:sp>
      <p:sp>
        <p:nvSpPr>
          <p:cNvPr id="30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EE5C255-9E3C-D0C3-D023-28A9D486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31685C0-F3EB-910B-237D-B9487544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행동 연결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909CF3C-E3D3-E05E-2FF2-6DC67D45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증거 체크리스트, 보험사 문의 초안, 이의신청 검토 리포트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39FF5F0-21DD-C405-4E72-E865EED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1928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공식 포털·보험사·법률 플랫폼·생성형 AI가 따로 제공하던 조각을 사건 중심으로 통합함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56345971-A3BC-4F6D-8D59-0B62A1F7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BBEB73F-208C-474F-8C67-04877F4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05  서비스 이용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A1CDBDC-8A72-4303-9277-EF98D5BB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사고자료는 입력 자동화에서 행동 연결까지 흘러간다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E183D5E7-F7F3-4F90-9F31-CCBBA867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공식 포털·보험사·법률 플랫폼·생성형 AI의 조각을 사건 중심으로 통합합니다.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503D0FF5-D20D-4F31-92F0-8A4563D2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09060EC2-B457-485C-A2EE-35D19CCC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5E59A7B2-66A1-4EC5-98D4-5868F92B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EF3FB7A3-B06D-4E56-A671-4AD4E4FF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입력 자동화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00DD5A4F-6375-4DC1-8E60-FABECD7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고지서·설명·사진·영상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E3B6F58C-6EC6-494C-859B-554FDC99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2EFD5F93-8C29-4CAE-A382-365D3337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00648D3C-0441-4912-8B40-4691CDA0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상황 구조화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AED46D3B-9512-4862-8066-83167EEF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유형·도로·행동·증거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9969D775-9B3B-467C-8E63-E3AA0BCD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5D02745F-946E-49DA-9A4D-E2C8966B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26B76C68-B5F9-40DE-BF65-7799C3C1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BE3B6F8E-56DA-406D-866E-05F8BB92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법령·기준·판례·심의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AC89E440-228F-4964-92F5-5ACEF02A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F010C159-6C79-4520-94FA-91AED3C4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927CCC8A-66E0-4B76-903E-2D3C68DB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행동 연결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3F18D15B-795C-4F4E-917E-F9CC0D75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체크리스트·문의 초안</a:t>
            </a:r>
          </a:p>
        </p:txBody>
      </p:sp>
      <p:sp>
        <p:nvSpPr>
          <p:cNvPr id="87" name="사각형: 둥근 모서리 86">
            <a:extLst xmlns:a="http://schemas.openxmlformats.org/drawingml/2006/main">
              <a:ext uri="{FF2B5EF4-FFF2-40B4-BE49-F238E27FC236}">
                <a16:creationId xmlns:a16="http://schemas.microsoft.com/office/drawing/2014/main" id="{0046D90B-E6E3-46B1-9885-60263906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9258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BDEE2534-E356-4B92-9C9D-5811FA7D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86375"/>
            <a:ext cx="830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결과물은 판단 확정이 아니라 사용자가 다음 대화를 준비할 수 있는 근거 패키지입니다.</a:t>
            </a:r>
          </a:p>
        </p:txBody>
      </p:sp>
    </p:spTree>
    <p:extLst>
      <p:ext uri="{BB962C8B-B14F-4D97-AF65-F5344CB8AC3E}">
        <p14:creationId xmlns:p14="http://schemas.microsoft.com/office/powerpoint/2010/main" val="6169411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665B134-8C52-A895-C384-71029450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25/40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A3CCA4-4756-D906-6EC3-F08FAAC9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8B9593BD-C3AD-BAA2-D4BC-02CE33AB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 입력부터 리포트까지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B04EA428-DD3C-3038-1515-2ED374FF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32BE9F-E46B-A1DD-0463-C8399C50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3249BC3-F509-74CD-7362-256F99CA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상황 입력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76151B-EAE8-683A-FF68-FDC78D40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3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036AA7F-9B36-CEC3-D0E0-BEEC8CA4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9B8A43E-A909-50FF-4CE6-9855B403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자료 업로드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4BC8DE5-FD8D-4745-8CE9-A9C838A8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457549E-409D-F107-402A-41D36631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1644708-83F6-128C-48D0-21D04B2A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파일 검사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BDCC8D3-EC17-3BE5-1136-B0BEB3D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1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D3F26F8-6D68-9739-C4B0-68FFEA83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FE31424-F846-46A8-A861-C67BAE12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분석 모듈 분석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97EE3AF3-5F03-EC4B-7F49-A6C523E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40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57A08BF-5ADF-9FA8-1AEC-4FEB920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5A783F1-0862-B6E1-5BCC-6AD264E1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근거 리포트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8784FA03-ED7C-3DEE-8513-AB4F3989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224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47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33896C8-A222-8101-B094-7B81E761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AA57774F-9FE8-0FBF-8F28-A8E06159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6. 이력 저장</a:t>
            </a:r>
          </a:p>
        </p:txBody>
      </p:sp>
      <p:sp>
        <p:nvSpPr>
          <p:cNvPr id="51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EFB665DC-0BBC-6EAD-8C90-244F7A4A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507492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01D3A295-7B48-6E24-5583-D03A8EC7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7764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사용자가 보는 것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663B06B-9800-3919-615D-3417D5A8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70832"/>
            <a:ext cx="47091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사고 설명 또는 고지 내용 입력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영상·사진·문서·고지서 업로드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근거·한계·다음 행동 리포트</a:t>
            </a:r>
          </a:p>
        </p:txBody>
      </p:sp>
      <p:sp>
        <p:nvSpPr>
          <p:cNvPr id="57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DAC04395-46FF-78F4-2ED4-FE022AAF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0480"/>
            <a:ext cx="507492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16F5986-26D1-6D6E-066C-71BA950A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97764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시스템 내부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6C627819-B19F-2849-6A13-E559A65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370832"/>
            <a:ext cx="47091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문서 인식·DL·근거 검색·과실비율 분석 모듈 분리 분석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분석 통합가 병합하고 한계를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저장·다운로드·이력 권한 통제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7E83EAC7-1B27-41A4-9B40-0A5AB844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1A694FE-B005-4A94-848A-7E5B3003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397665A5-C628-4BD6-8A1C-499B25C8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사용자는 입력하고, 시스템은 근거 리포트로 되돌려준다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D14252F-91E9-41CC-B1F0-AA79B68D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보이는 경험과 내부 분석 과정을 분리해 신뢰를 만듭니다.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C14025D1-E123-4C53-A86F-81F8BDC4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78C8E7D3-3948-4C30-9D2E-486EE720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1325B1BE-4D37-42D0-9A1E-C066645E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상황 입력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0F98C5A2-DCF1-4341-804E-CDFC5BDE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사고 설명 또는 고지 내용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47C19721-20D4-4946-AA5E-442F252F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A0BEE64E-698A-42B9-8560-371578E8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C443BE5C-61DB-4C28-8204-9EB291CB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자료 업로드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81186D6B-0377-4A74-B786-CEC6B17D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영상·사진·문서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F5ABE470-01DE-40AE-9EB4-4B8261C1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18DC46B0-6531-40F7-88B3-5E8757E5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13036D01-2FFB-4E91-A146-A98F6C60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파일 검사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1CBE0DED-7B5F-47ED-9D7E-2243487D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위험 파일 차단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CAF9C83F-2F49-43ED-BF08-5E33A253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01C0A922-6D77-41B5-BB5D-6ADA655F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ED0403BC-24C5-4F82-A716-655557DF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모듈 분석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1BA48D7B-9341-4FED-A2CA-DF4BD0ED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OCR·RAG·사례검색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FB21A3C2-EAF1-4C30-8345-62CE913E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A181B488-B100-4D29-96BC-1F8C6921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19DFF00B-7288-4E27-A73B-721624C0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리포트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0DA67BC4-30DD-486A-B934-4EFBB3DE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근거·한계·다음 행동</a:t>
            </a:r>
          </a:p>
        </p:txBody>
      </p:sp>
      <p:sp>
        <p:nvSpPr>
          <p:cNvPr id="90" name="사각형: 둥근 모서리 89">
            <a:extLst xmlns:a="http://schemas.openxmlformats.org/drawingml/2006/main">
              <a:ext uri="{FF2B5EF4-FFF2-40B4-BE49-F238E27FC236}">
                <a16:creationId xmlns:a16="http://schemas.microsoft.com/office/drawing/2014/main" id="{6C177124-F622-4955-B477-B716E34D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762FDC98-3730-4CBF-9E34-028219FC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06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D74239F4-3D82-4849-AA42-3F1AFBCC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이력 저장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4A8B7C55-94F3-4B05-AD9A-FF4FB69E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다시 보기·다운로드</a:t>
            </a:r>
          </a:p>
        </p:txBody>
      </p:sp>
      <p:sp>
        <p:nvSpPr>
          <p:cNvPr id="94" name="사각형: 둥근 모서리 93">
            <a:extLst xmlns:a="http://schemas.openxmlformats.org/drawingml/2006/main">
              <a:ext uri="{FF2B5EF4-FFF2-40B4-BE49-F238E27FC236}">
                <a16:creationId xmlns:a16="http://schemas.microsoft.com/office/drawing/2014/main" id="{D7F10F20-9BCC-4FAC-B432-FEE4B789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5" name="사각형: 둥근 모서리 94">
            <a:extLst xmlns:a="http://schemas.openxmlformats.org/drawingml/2006/main">
              <a:ext uri="{FF2B5EF4-FFF2-40B4-BE49-F238E27FC236}">
                <a16:creationId xmlns:a16="http://schemas.microsoft.com/office/drawing/2014/main" id="{DD6E242A-B9C1-45DD-820D-4730E5A9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6" name="직사각형 95">
            <a:extLst xmlns:a="http://schemas.openxmlformats.org/drawingml/2006/main">
              <a:ext uri="{FF2B5EF4-FFF2-40B4-BE49-F238E27FC236}">
                <a16:creationId xmlns:a16="http://schemas.microsoft.com/office/drawing/2014/main" id="{019E7F40-52EF-443C-8EE4-E8472E27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사용자가 보는 것</a:t>
            </a:r>
          </a:p>
        </p:txBody>
      </p: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D0F79A08-B613-43CF-996F-CA6E64D0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시스템 내부</a:t>
            </a:r>
          </a:p>
        </p:txBody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B969D995-2E1D-4FA9-BC50-68A4C26C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설명 입력과 자료 업로드</a:t>
            </a:r>
          </a:p>
        </p:txBody>
      </p: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8F1BDB4B-71C4-4948-A271-735FC5F1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근거·한계·다음 행동 확인</a:t>
            </a:r>
          </a:p>
        </p:txBody>
      </p:sp>
      <p:sp>
        <p:nvSpPr>
          <p:cNvPr id="100" name="직사각형 99">
            <a:extLst xmlns:a="http://schemas.openxmlformats.org/drawingml/2006/main">
              <a:ext uri="{FF2B5EF4-FFF2-40B4-BE49-F238E27FC236}">
                <a16:creationId xmlns:a16="http://schemas.microsoft.com/office/drawing/2014/main" id="{8D68E8BE-1B04-467A-B3E2-9DA85DB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모듈별 분석과 결과 병합</a:t>
            </a:r>
          </a:p>
        </p:txBody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E6122E0C-8FE3-4B0C-8DAB-AC4A0F3C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저장·다운로드·이력 관리</a:t>
            </a:r>
          </a:p>
        </p:txBody>
      </p:sp>
    </p:spTree>
    <p:extLst>
      <p:ext uri="{BB962C8B-B14F-4D97-AF65-F5344CB8AC3E}">
        <p14:creationId xmlns:p14="http://schemas.microsoft.com/office/powerpoint/2010/main" val="41675063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20C14BE-EC82-A84D-9E85-34C20D73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301ED5-1FDD-A24C-CD3C-C2D12A1C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10E2F8AF-37A3-3017-C197-4FCD158C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고지서 인식과 이의 검토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0C14CE82-85F0-A161-707B-B366DC7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3187DD5-6501-6FE6-0E9A-FEB8B17F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1B3E884-68DC-F381-CB4C-2416BFC6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고지서 문서 인식</a:t>
            </a:r>
          </a:p>
        </p:txBody>
      </p:sp>
      <p:sp>
        <p:nvSpPr>
          <p:cNvPr id="9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26C84F2-7AE6-02BF-B228-8D655361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AF100D0-D189-F11A-5127-5687854A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필드 추출</a:t>
            </a:r>
          </a:p>
        </p:txBody>
      </p:sp>
      <p:sp>
        <p:nvSpPr>
          <p:cNvPr id="15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3BF61C3-6980-6F8B-692B-A231E8E4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CA748E9-BD6F-82C4-5025-1B58C12B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처분 유형 분기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21DF9C8-7655-4A61-2F21-AC105BA0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2A5AC75-A2C2-C36F-77F6-E8F89F18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가능성/위험 분리</a:t>
            </a:r>
          </a:p>
        </p:txBody>
      </p:sp>
      <p:sp>
        <p:nvSpPr>
          <p:cNvPr id="27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C335F87-89F5-9923-803C-D9953901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F2849BE-2BBF-E7B0-F68D-39EB6F55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결과 리포트</a:t>
            </a:r>
          </a:p>
        </p:txBody>
      </p:sp>
      <p:sp>
        <p:nvSpPr>
          <p:cNvPr id="33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78AB55B-8A51-A089-12A0-312AE333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4518"/>
            <a:ext cx="50749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E20E20DB-F04D-636C-4790-BBF29081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11678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 분석 모듈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A61514F0-0A08-40A3-D20A-A36516C5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04870"/>
            <a:ext cx="470915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위반일시, 장소, 위반유형, 금액, 기한 추출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누락 필드는 사용자에게 추가 확인 요청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원문 전체가 아니라 필드 중심 처리</a:t>
            </a:r>
          </a:p>
        </p:txBody>
      </p:sp>
      <p:sp>
        <p:nvSpPr>
          <p:cNvPr id="44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5F95691-8D94-08A6-927C-AB7DBE2D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74518"/>
            <a:ext cx="50749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96977CF7-613E-3BC3-B90E-683A500A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11678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Appeal 분석 모듈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36B59BF3-087B-4A3D-5C45-E0A54C0D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04870"/>
            <a:ext cx="470915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도난, 제3자 운전 주장, 본인 운전 인정형 위험 패턴 구분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법적 가능성과 리스크 분리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기한 불명확 시 경고와 한계 표시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F2EC9AFE-16D7-4BFC-87B3-1C5A33D4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CE016421-73D4-489F-8E57-DC11CBB4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05  서비스 이용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D2F43389-0913-4CAC-9165-010DDC16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고지서 인식은 필드 추출과 이의 검토로 나뉜다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228551AC-89D3-4D8E-A932-4B45C570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원문 전체를 그대로 처리하기보다 필요한 필드와 위험 패턴을 분리합니다.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204A925E-A137-461F-99A7-35F9275C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A72C5350-1827-4208-B5BD-0B9A511F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EFCEB7CE-A099-4603-8907-8399BF17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E7607F43-82AD-4BEA-AED2-5945543C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문서 인식 분석 모듈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147F1860-3709-4390-83A2-91992382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Appeal 분석 모듈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A0EF5C4-1A03-43F7-87EE-FF994916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위반일시·장소·유형·금액·기한 추출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26E6BA89-BF4A-4F13-9133-93A174FD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누락 필드는 추가 확인 요청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9C325DB7-160F-4E4B-A1DC-C18B5F74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원문 전체보다 필드 중심 처리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518C5672-7EE8-4CDF-897E-06BB5798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도난·제3자 운전 등 사유 구분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471A2E1B-B2A4-4AE7-9DD2-BD168BF8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가능성과 리스크 분리 표시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46887629-906D-40CF-B03D-C7A13F65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기한 불명확 시 경고와 한계 표시</a:t>
            </a:r>
          </a:p>
        </p:txBody>
      </p:sp>
    </p:spTree>
    <p:extLst>
      <p:ext uri="{BB962C8B-B14F-4D97-AF65-F5344CB8AC3E}">
        <p14:creationId xmlns:p14="http://schemas.microsoft.com/office/powerpoint/2010/main" val="34328732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83F27B7E-3991-071F-F5F1-A90AE1F2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27/40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DC0C12-6849-B478-8974-743D7D67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735397B-B1F5-B218-6D4E-FF7DE607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법령·사례 근거 검색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FF88D66A-2C64-59DF-B679-4A6D97F4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60F8F91-23D4-5681-7416-D0CA9B07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3561"/>
            <a:ext cx="507492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4048824-819C-D278-2095-9A42601E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5072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법령 근거 검색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EA221EC-220D-2A15-461D-76A44C1B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43913"/>
            <a:ext cx="4709159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사용자의 일상어를 법률 용어로 확장함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조문 단위 chunk와 keyword/vector search로 관련 법령을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근거 조문, 적용 한계, 추가 확인 사항을 남김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9E203E1-0856-F975-FD3C-C26744DB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13561"/>
            <a:ext cx="507492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67E24AB-7BDC-C25F-CC2F-E0488B5A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5072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사례검색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58CC1D4-0994-8600-A60C-99B23717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43913"/>
            <a:ext cx="4709159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교통 판례 3,562건, 과실비율 판례 973건, 심의사례 226건을 활용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유사 사례 목록, 사실관계 차이, 부족한 증거를 함께 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정답 비율이 아니라 판단의 출발점을 제공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60F18BB-C514-0FA1-3B36-43E947F5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8281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판례·심의사례·인정기준은 성격이 다르므로 source를 구분해서 보여줘야 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BD7C7129-6007-42FA-AAFD-441AF338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B94A3F61-6F63-4BA0-8DB7-0B0CF9C0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FEB02AA-8C27-448D-B2EB-C08B5135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근거 검색은 source를 나눠야 신뢰가 생긴다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F55D4A67-504C-4CB6-86BF-85E33F1E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법령, 판례, 인정기준, 심의사례는 성격이 달라 리포트에서도 구분해 보여줘야 합니다.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771A47F2-8310-46C6-8F83-0997211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12935D57-7F6A-4B06-AD1E-2BF3C488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3,562건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048BCD25-ADCC-4589-83CE-132F35AF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교통 판례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FA5A3AA7-FDBF-47E9-B176-0D4134B3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 사실관계와 법리 확인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D3E1211D-074F-48FD-B264-1B218CEE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A825664A-1AA9-4BC4-9D43-018BF6F9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973건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33A1556D-F516-4A96-BF00-FCADE65C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과실비율 판례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457D67C5-2EC7-4151-8DC7-5A1F7640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책임 비율 판단 근거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4412EFF8-D531-4E46-8700-31E1732C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303AC949-D8D4-46A0-889B-D8D0BEBC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226건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3F719190-76EE-496F-807B-90772E30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심의사례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A3BCEB26-3852-4710-959A-D09488AA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보험 분쟁 실무 참고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E35B6391-EF04-406C-B711-F13404ED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883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52871057-424E-4D0E-A4E8-8DD3FE84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0537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정답 비율을 단정하지 않고, 유사 사례·사실관계 차이·부족한 증거를 함께 제시합니다.</a:t>
            </a:r>
          </a:p>
        </p:txBody>
      </p:sp>
    </p:spTree>
    <p:extLst>
      <p:ext uri="{BB962C8B-B14F-4D97-AF65-F5344CB8AC3E}">
        <p14:creationId xmlns:p14="http://schemas.microsoft.com/office/powerpoint/2010/main" val="31550572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31202B7-7849-EAC2-66D1-F53CFD8F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D21113-4364-2EEB-00C3-7928A280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9E2B43FD-3F8A-6ED9-9A5E-5C61519C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상담 리포트 관리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1E2CFD03-5A5D-806D-A78E-27DB09F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ACFE13D-718D-B604-5127-CCDFAC97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94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723542-B768-D927-C288-2D12BEAC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2810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사건 요약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8DC020-7684-4CE0-4EE3-969C50B9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958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사고유형, 당사자 주장, 제출 자료를 한눈에 확인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76DD4BD-79B5-533C-2EBD-CBA40A77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79094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A2823E8-1E25-1A68-E512-92D44EB9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2810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자료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15784CE-F5DA-7CE5-3CA2-A370B23C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3958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법령, 판례, 심의사례, 과실기준을 출처와 함께 정리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D0CB76E-0247-2AFD-F2EF-6BA64AD1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258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A27AE82-4CC0-FE61-9348-87640BB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1974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한계·주의사항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34A6B14-B28C-0B96-E092-56426AA5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3122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부족한 증거와 단정할 수 없는 부분을 표시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C73F3A6-8FD5-2E0B-E8EA-EC649436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48258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C9DD3B1-D0A0-CFAC-24E9-CFF5D31B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1974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다음 행동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568D350-3C07-4389-E211-0E6D71F7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3122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보험사 문의 문구, 추가 증거 체크리스트, 다운로드 제공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030574A-E485-FD1B-36D0-DFA5CD25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9986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사용자가 보험사와 대화하거나 전문가 상담을 받을 때 정리된 자료가 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F7456FF3-4564-4677-BE8E-B2D6E3B3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75820314-A76E-4BF2-8C53-D706EC00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05  서비스 이용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BD6A4A89-7567-42CA-A0A9-75384347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상담 리포트는 보험사 대화와 전문가 상담의 준비물이 된다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76BA4EE-5BA7-4715-8E31-2C19A6BC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사건 요약, 근거, 한계, 다음 행동을 한 페이지 안에서 확인하게 만듭니다.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D50D8B4A-6938-45A5-96EB-2FE05D0D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FE81F88E-8C49-4070-9CEC-85B34C00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5033D670-D3EB-49DF-B825-00A3F188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사건 요약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072177CE-0DF1-4957-95FB-20826EAB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432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사고유형·당사자 주장·제출 자료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D405317A-E026-4B95-9F3A-921492C7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B2E98153-A628-41EF-AEA4-1E6860CB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근거 자료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6D6301A7-4737-49E0-A813-16E44F41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법령·판례·심의사례·과실기준</a:t>
            </a:r>
          </a:p>
        </p:txBody>
      </p:sp>
      <p:sp>
        <p:nvSpPr>
          <p:cNvPr id="77" name="사각형: 둥근 모서리 76">
            <a:extLst xmlns:a="http://schemas.openxmlformats.org/drawingml/2006/main">
              <a:ext uri="{FF2B5EF4-FFF2-40B4-BE49-F238E27FC236}">
                <a16:creationId xmlns:a16="http://schemas.microsoft.com/office/drawing/2014/main" id="{0F360E6C-B3DB-4160-BB7F-146BB1FA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72C2D109-81AA-4DD8-A7A3-EBF17D36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한계·주의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EE7835A4-F515-454C-BF6E-DA5A783C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부족한 증거와 단정 불가 영역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D2B4CCEA-A8F5-4BCB-B2B5-48BEA1DC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7E8F8F90-1674-4B72-8919-7DDC9EC2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다음 행동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115FB378-9735-470F-9983-35048474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62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보험사 문의 문구·증거 체크리스트</a:t>
            </a:r>
          </a:p>
        </p:txBody>
      </p:sp>
    </p:spTree>
    <p:extLst>
      <p:ext uri="{BB962C8B-B14F-4D97-AF65-F5344CB8AC3E}">
        <p14:creationId xmlns:p14="http://schemas.microsoft.com/office/powerpoint/2010/main" val="10804869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C9CDB27-2941-7051-E670-20DF93CB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91DED4F-62D9-A598-6733-0ACEDFB7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1BBB26-855A-A8CD-5BAA-552C77BE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핵심 기능과</a:t>
            </a:r>
          </a:p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AI 분석 구조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7615BBB-120B-29DD-7332-53711415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3050797"/>
            <a:ext cx="3436671" cy="406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문서 ·영상 ·법률 데이터를 연결하는 </a:t>
            </a:r>
          </a:p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AI 분석 과정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7CBBC96-D3AA-A1CD-C196-7BA02C3B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29/40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EBFBFC-952A-A90C-A5C9-44DF9DE0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None/>
            </a:pPr>
            <a:r>
              <a:rPr sz="2000" b="1">
                <a:solidFill>
                  <a:srgbClr val="E6E6E6"/>
                </a:solidFill>
              </a:rPr>
              <a:t>이미지·문서 분석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근거 검색과 결과 통합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민감 데이터 보호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C022316-DB00-44B2-8A78-69F61408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BC3C20D5-9F6E-4AD7-8B8F-9957B93A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06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6D7C850-282F-49FB-B200-4256E960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AI 분석 구조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703FEB75-F14E-44B9-B3A2-8E3EB20B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문서·영상·법률 데이터를 모듈로 나누고 Supervisor가 병합합니다.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51675EA3-503F-4990-9E5B-E9A410FB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5C3729D2-DDBB-4821-A2C4-B713D648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BFC11871-DD92-4B9A-9A71-80B37009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모듈 분리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10707CD3-BF15-422F-BBDC-53D02CA5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오류 유형별로 검증 기준을 다르게 적용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D777A55B-D68D-4397-BEC2-FEA5263D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E7657F73-4C05-4669-B01B-935E0748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근거 검색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CD016E9E-6F8D-4954-B5C5-D5175250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법령·사례 source를 분리해 추적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FF5C10DB-C037-4C92-ADE4-77EDE84C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E6747950-B3A9-4532-A2BA-22024508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안전장치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3AF3E76E-1146-4E44-A118-488C44CB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단정 대신 근거와 한계를 표시</a:t>
            </a:r>
          </a:p>
        </p:txBody>
      </p:sp>
    </p:spTree>
    <p:extLst>
      <p:ext uri="{BB962C8B-B14F-4D97-AF65-F5344CB8AC3E}">
        <p14:creationId xmlns:p14="http://schemas.microsoft.com/office/powerpoint/2010/main" val="28618058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9AA8577-8BF2-8390-F721-06194156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30/40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C5A431-9D8E-867D-6D9D-6358D9A6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145F02FD-4921-57A5-9870-DC298883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AI 분석 구조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7F58160-7E73-AF48-7871-08A9BD53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CAA5891-6326-9867-F794-3522C81F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293A27B-2FE3-F17C-BFEF-9DE9DB62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884032E-1C1D-72CE-0D80-247D8CE2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텍스트·이미지·영상·고지서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798A04F-13C5-1112-197E-D5DD3515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350DF2B-120C-0A1C-1F8A-DDA70F83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A73F84F-50D2-4076-EBB0-84903046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문서 인식·파일 검사·항목 정리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1628ADA-1660-4964-BDC2-89F23C50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51315FC-21B0-87D4-C403-C3C87E1A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BEBEBE"/>
                </a:solidFill>
                <a:latin typeface="Malgun Gothic"/>
                <a:ea typeface="Malgun Gothic"/>
                <a:cs typeface="Malgun Gothic"/>
              </a:rPr>
              <a:t>검색/분석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D9AAEC7-3269-5D61-1DD0-10BA913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법령·사례·영상 분석</a:t>
            </a:r>
          </a:p>
        </p:txBody>
      </p:sp>
      <p:sp>
        <p:nvSpPr>
          <p:cNvPr id="33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CB4DA6D-320E-E392-1D93-FD450E2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1C7DDED-B1F4-3098-E27D-68025064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통합 판단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986E664-0210-5EFF-4F97-6E95B16F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라우팅·병합·한계 표시</a:t>
            </a:r>
          </a:p>
        </p:txBody>
      </p:sp>
      <p:sp>
        <p:nvSpPr>
          <p:cNvPr id="40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5AB0D3E-CB89-2250-FB7C-5F774D4A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AF0A214F-55E7-9BBE-A9DC-CDECF864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DE8BBFCF-E1B1-E1A5-07FA-D11272CB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리포트</a:t>
            </a:r>
          </a:p>
        </p:txBody>
      </p:sp>
      <p:sp>
        <p:nvSpPr>
          <p:cNvPr id="47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6F68FB6-C7ED-B8B7-8AEB-8E9D60E5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3425"/>
            <a:ext cx="50749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79214F6C-FFB0-3D6B-5FBB-09BF3267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20585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결과 저장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DBAE8A39-D216-CDF5-0DDA-32F35862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13777"/>
            <a:ext cx="4709159" cy="914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상담 이력, 업로드 자료, 분석 진행 상태를 관리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사용자는 리포트와 이전 상담 내용을 다시 확인</a:t>
            </a:r>
          </a:p>
        </p:txBody>
      </p:sp>
      <p:sp>
        <p:nvSpPr>
          <p:cNvPr id="53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ADC77304-CFEB-22EF-6F4B-9D5FDD2F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3425"/>
            <a:ext cx="50749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661FD2BB-6DC7-5A0D-28A3-0BE920E5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420585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검색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2A35622-614C-9945-8560-5DF14B91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813777"/>
            <a:ext cx="4709159" cy="914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법령·판례·과실비율 기준을 검색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근거와 한계를 함께 리포트에 표시</a:t>
            </a:r>
          </a:p>
        </p:txBody>
      </p:sp>
      <p:pic>
        <p:nvPicPr>
          <p:cNvPr id="143" name="그림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b6128cffe4d2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CA6F3BB6-E325-4459-881C-C36F7170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A2EFA5ED-C05C-493D-90BE-DC6E532C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AI 분석 구조는</a:t>
            </a:r>
          </a:p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정답 생성이 아니라 근거 조립이다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807B2EA0-13AB-4E7D-B570-1454D53E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C9C9C9"/>
                </a:solidFill>
              </a:defRPr>
            </a:pPr>
            <a:r>
              <a:rPr sz="1125" b="1">
                <a:solidFill>
                  <a:srgbClr val="C9C9C9"/>
                </a:solidFill>
              </a:rPr>
              <a:t>06  핵심 기능과 AI 분석 구조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2D2F4384-1925-456C-BFC5-FADAF6F0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971DB1D2-D3BC-4ECD-B3E1-D8125FD8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46166DAF-6134-4E06-9D26-3988636C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입력 정리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5DF3F063-F8FB-4B3A-8A92-CDB667E0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고지서·사진·영상·사고 설명을 사건 필드로 분리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DAF11FDB-4088-465A-816C-F4A67FDB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4B696B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24816D35-47B3-4C93-86F2-C3ABA29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712F8C07-E375-4C7B-AFC5-2F44EB5C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AE3C5BE3-AB5C-4F5A-9F69-9D354A19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법령, 인정기준, 판례, 심의사례를 source별로 검색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537C15C3-ACA5-4752-92DA-B07C343B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444844C7-013C-4951-8BEF-1DBEE121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193F7BC0-247D-4515-9EC2-27DCC8BF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분석 통합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61EC15E8-4B65-4003-99CD-A0554B99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Supervisor가 모듈 결과와 한계를 병합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120DC336-ACDF-44A6-A529-DFEF6AAF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EBF3B501-1B56-4454-A94D-29EDE321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E49F7BCA-D1ED-45E8-B0F9-6E423ECB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리포트화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E877CE5D-1812-41D9-B6B6-5844EC47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근거, 부족 증거, 다음 행동을 사용자 문서로 제공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BF69EDB-8A04-4A60-9B86-3133C1EE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3D15742-FA98-4E08-B357-F12E66EC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06  핵심 기능과 AI 분석 구조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D28827F-83EE-49EE-8D4F-CB61215D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AI 분석 구조는 역할이 다른 에이전트가 근거를 합치는 방식이다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185638D-BFBD-4D01-BA0D-B246C023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문서 인식, 사고 맥락, 법률 검색, 리포트 생성을 분리해 오류 전파를 줄입니다.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665A0D1-2661-41BE-84D6-E1BA1EAC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C21C9BB-21E2-4E38-BFBF-432D8771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9001C31-2602-4F61-8580-451F92AB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입력 수집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6F701A7-C9FE-4F8E-BA8F-C57CE209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고지서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사진·영상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사고 설명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1C83C1D-E86A-4521-93AC-5409D4D6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432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F8D0241-CE46-4DA5-9DD0-9496E31D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05050"/>
            <a:ext cx="1714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1C1F845-5A64-4245-9C5E-0FA11945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Supervisor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CCEF324-F613-4067-948D-4E653993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19400"/>
            <a:ext cx="137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입력 유형 분류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모듈 호출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결과 병합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0849BE4-D506-448C-8029-505364AD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432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F820741-F21E-497B-8CB8-E93E5EFB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05050"/>
            <a:ext cx="2000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B44AF95-D497-460B-9DBA-5CEB86FF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전문 에이전트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136CF74-3802-43A1-9044-B93E03C5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1940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OCR/문서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사고상황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법률·사례 RAG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3C46EDA-7B5E-44FD-BA4F-016499F3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432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F124A45-5499-47A3-B909-981EAB88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19050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27E1C75-F6C7-4ECA-B140-D170AD6C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검증·안전장치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A5C7D72-C536-4271-87AA-8A56A0D6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출처 확인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한계 표시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개인정보 보호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40B41C1-EA11-49B8-B27D-BEFA4E59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4322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BB52B23-2BFC-4C65-A52B-34BF3AE7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81250"/>
            <a:ext cx="1047750" cy="11239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77CBC84-1E4A-4904-9FB2-95FF07C0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55270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리포트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214E268-FEA5-49C5-81BD-A4C96EFE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895600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사건 요약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근거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다음 행동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0C8385B-0A11-45DF-8101-31E4E4C3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4305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2A43856-0D68-4736-B56F-71C79956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006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핵심 설계 원칙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38D2235-52ED-4F4F-B1F7-0CAE6219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62550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정답을 바로 생성하지 않고, 먼저 사건을 구조화한 뒤 근거 검색과 안전 검증을 거쳐 리포트로 합칩니다.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BD15105-A288-434A-95D0-1815372F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0100"/>
            <a:ext cx="4305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06FD266-0017-4CE5-BADB-6464A295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006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발표에서 강조할 한 문장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0D534E2-D5BD-4DAC-8890-EFC72E45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62550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우리는 단일 챗봇이 아니라 교통분쟁에 맞춘 역할 분리형 에이전트 시스템을 만들었습니다.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EE04EE2-0A7E-41CE-AFC4-E2B68728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30/41</a:t>
            </a:r>
          </a:p>
        </p:txBody>
      </p:sp>
    </p:spTree>
    <p:extLst>
      <p:ext uri="{BB962C8B-B14F-4D97-AF65-F5344CB8AC3E}">
        <p14:creationId xmlns:p14="http://schemas.microsoft.com/office/powerpoint/2010/main" val="341965448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596449-9C43-4EA2-BE83-6201D88F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F5A02-C684-4D2B-A4E4-A0EC03CA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06  핵심 기능과 AI 분석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AA29D-A72E-457C-A29F-3DF01E8C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시스템 아키텍처는 입력, 분석, 근거, 리포트 계층으로 나뉜다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34607-1318-4710-84B6-4CE7EBF5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각 에이전트가 같은 데이터를 보지 않고 필요한 정보만 처리해 정확도와 보안성을 함께 높입니다.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F1E45-1A59-4213-80E9-2F11BAAA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97DEB-4B91-4474-BBB8-7956466B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0A08C-7FA2-4EA9-A17B-27B49FB2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입력 계층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363DF-2609-4853-9157-362543DA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사용자 질문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고지서 이미지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사고 사진·영상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A575B-A97E-41B4-BC62-30391136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956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12AA9-2943-4C89-8C2F-F7140D9E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F2C04-EE72-411A-B7D1-C5684D36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전처리 계층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1E91A-956C-4CF4-928E-3D48557E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파일 검사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OCR·메타데이터 추출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개인정보 마스킹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2D21B-63C7-4E4A-8C82-736DB9DC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956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7A1F5-360C-4F23-BDD2-3BF5DE37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7F765-AB7B-4E4C-9D5D-CD8E66F9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Agent 계층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FA448-B97F-4271-A12F-B2FD9CBC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Supervisor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문서 인식 Agent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사고상황 Agent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법률·사례 RAG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CF720-9A8A-42F1-8AE6-097DD884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956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AB3FB-6F7A-49DC-A1EC-435AD776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6AD9D-B039-47BD-AC2F-447C1D06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근거 계층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7EAFE-5E24-4F1B-AA27-4557A5E3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국가법령정보센터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과실비율 기준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심의·유사 사례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프로젝트 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016C68-A501-40BF-A35F-67207690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956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D5120-7DC9-4420-9007-043DDC0F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646A51-BA22-4717-B845-6E871241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출력 계층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84A39-BEC7-4064-8AA8-C7ECF177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상담 리포트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부족 정보 체크리스트</a:t>
            </a:r>
          </a:p>
          <a:p xmlns:a="http://schemas.openxmlformats.org/drawingml/2006/main">
            <a:pPr algn="ctr"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보험사 문의 초안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F6C195-AFA1-44B5-B886-21B49A4A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887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1A82DD-9103-47A4-AA89-85CB15B2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62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보안·품질 공통 계층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17C50A-A282-4C6C-9360-DF893914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81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권한 분리 · 업로드 파일 검사 · 개인정보 마스킹 · 근거 출처 표시 · 확정 판정 금지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8B5904-CF4E-42A2-B0C6-7BA9D931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31/41</a:t>
            </a:r>
          </a:p>
        </p:txBody>
      </p:sp>
    </p:spTree>
    <p:extLst>
      <p:ext uri="{BB962C8B-B14F-4D97-AF65-F5344CB8AC3E}">
        <p14:creationId xmlns:p14="http://schemas.microsoft.com/office/powerpoint/2010/main" val="85706600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1D5A5655-E82E-A099-A1C6-5446B08B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31/40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CA0C07-F82A-82AF-2F66-333F11DD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BB78A165-8507-B064-2DB9-923F93A2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분석 모듈 역할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AB6E2FF-5AD6-B0D5-4CE8-43AB8092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7AF45E4-5F50-6B6F-E0D9-99A47618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31BAF64-CCF5-35DC-9C9B-5EAB3C04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 분석 모듈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44E6D36-BC86-C281-451A-69EF0311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고지서·문서 필드 추출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A6E4FA0-AD08-6DF2-3A72-C3B8D9C2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73BC8EF-47BA-0DEE-4898-DF1AF199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Vision/DL 분석 모듈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930E75B-73DA-2BA9-35D0-C4E68842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프레임·객체·사고상황 후보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189BC91-337C-A4AB-9742-9BAE94B5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AB31630-1C04-1D8B-41BF-55E29880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Law 근거 검색 분석 모듈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631E584-85D7-B817-3753-2A8DCEC3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법령·판례·심의사례 검색</a:t>
            </a:r>
          </a:p>
        </p:txBody>
      </p:sp>
      <p:sp>
        <p:nvSpPr>
          <p:cNvPr id="30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A7C64E5-6169-A173-461C-7CDB34FB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BAC7246-194B-CCC3-E93F-707403DD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Fault 분석 모듈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7E87B1C-0247-C0B5-5339-947EF419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사고유형·쟁점·수정요소</a:t>
            </a:r>
          </a:p>
        </p:txBody>
      </p:sp>
      <p:sp>
        <p:nvSpPr>
          <p:cNvPr id="39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E7032DC-E981-1D9B-B6A8-F054ED80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AE65C10-2C0D-2347-0A92-26F154A2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Report 분석 모듈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5E0CBC43-E6F0-F863-AF0B-B54C3D0D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초안·체크리스트·리포트</a:t>
            </a:r>
          </a:p>
        </p:txBody>
      </p:sp>
      <p:sp>
        <p:nvSpPr>
          <p:cNvPr id="52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B38097F-9ABB-15A6-A534-192D9CEF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990445C8-58BE-E800-76CA-82806B94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분석 통합 분석 모듈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03151DCE-4135-6185-FD8A-1AD7DF03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입력 분류·라우팅·결과 병합·한계 표시</a:t>
            </a:r>
          </a:p>
        </p:txBody>
      </p:sp>
      <p:sp>
        <p:nvSpPr>
          <p:cNvPr id="6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A3741E6-B331-88AA-21F7-ED998456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3318"/>
            <a:ext cx="105613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A4DB8A8A-ECE1-52A6-D15B-80CD30B8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4798"/>
            <a:ext cx="10561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법률, 보험, 영상, 문서 분석은 오류 유형이 다르기 때문에 역할 분리가 더 안정적</a:t>
            </a:r>
          </a:p>
        </p:txBody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D962339A-3EBF-42A6-8D75-B9CD4B66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4E2E9075-AE46-4CD3-94D3-9FFE25E9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A1AC9394-2B46-46B3-834C-2037BE06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모듈을 나누면 오류 유형을 더 잘 통제할 수 있다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4CC00D73-6D81-4648-8035-37039694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문서, 영상, 법률, 사례, 리포트는 서로 다른 검증 기준을 가집니다.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471CE8F8-1792-4604-ABA4-BA3AB803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C78B7843-1481-46CA-972E-1BEC66C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문서 인식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0E2F6690-5C19-42F6-A6AD-D555AF89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고지서·문서 필드 추출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F5A8E6AF-0FC6-4E5F-B252-2CCA4651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3E12988F-D850-4C7E-9BF4-F374B707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Vision/DL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0A09F8F0-EFD6-4D7A-8FEF-CCF586F2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프레임·객체·상황 후보</a:t>
            </a:r>
          </a:p>
        </p:txBody>
      </p:sp>
      <p:sp>
        <p:nvSpPr>
          <p:cNvPr id="77" name="사각형: 둥근 모서리 76">
            <a:extLst xmlns:a="http://schemas.openxmlformats.org/drawingml/2006/main">
              <a:ext uri="{FF2B5EF4-FFF2-40B4-BE49-F238E27FC236}">
                <a16:creationId xmlns:a16="http://schemas.microsoft.com/office/drawing/2014/main" id="{2342ADBE-7CBA-409B-B91E-17DE33CD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CBD90106-D24E-4DF5-B101-023EC862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Law RAG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C46B2645-E7E4-4650-91C8-915C971F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법령·판례·심의사례 검색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D041B85F-85BA-4955-9C90-44D0226F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A49694BA-0FCF-4EDD-8901-F50E6C91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Fault 분석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5914A4CE-A718-4608-8D55-C7D1596E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사고유형·쟁점·수정요소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377993AE-BC4E-428B-B8C9-A4775308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C4129766-9993-41E7-8049-AC6BDFF0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Report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FA4423DC-5806-4D03-A97D-4DBEF8C9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초안·체크리스트·리포트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AB07AE76-A3F0-496A-BB65-D621E529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67D3CE96-CB65-496A-95E2-7D10BB76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Supervisor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92FF0241-EA16-46D8-9867-38D4BE80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라우팅·병합·한계 표시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65EFDD0-0BD7-4B38-9340-F3D1F0AA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3041B5D-2DBD-4D39-A684-44628287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06  핵심 기능과 AI 분석 구조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A6B3C4A-FA6E-451D-BB38-E3174D64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분석 모듈은 사용자 질문을 검토 가능한 사건 데이터로 바꾼다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231466A-AC24-433F-BEB4-FC9DB8A5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각 모듈은 다른 실패 지점을 담당하고, Supervisor가 최종 리포트의 일관성을 맞춥니다.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E895DF8-D0B8-4EC0-99D7-9FC9FC37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2915FF9-8843-43B6-8D18-FF9F2A97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972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FE6143A-16AB-4535-AA67-C4CDCE2F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문서 인식 Agent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D6BB81A-A592-44D8-B0C9-31B5C808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고지서·통지서에서 위반일시, 장소, 금액, 기한, 처분 유형을 추출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2BA2F18-6B92-4552-BC49-D723209A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4972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CFDB923-BA10-4A9E-9FF7-C0575FBC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사고상황 Agent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8D222FE-35C0-4378-968F-882FAAC1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사고 설명과 이미지·영상 단서를 사고 유형, 당사자 행동, 증거 목록으로 구조화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1D0FE6F-BB6E-40AF-85E4-BB85D59B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4972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783EA75-0721-44A8-A76D-844CF07B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법률·사례 RAG Agent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C906244-4556-43BD-8168-B0E12AA6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법령, 과실비율 기준, 심의사례를 검색하고 답변 근거와 출처를 연결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30E2C41-E328-40C7-94F7-15F74CE7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4972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D282A6B-E478-4B12-963C-580C3C60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291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리포트 Agent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E5F61F0-4FFB-4F50-ADFB-53E12892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9105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가능성, 리스크, 부족 자료, 다음 행동을 사용자가 읽을 수 있는 형태로 정리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B16EFAD-0D90-4056-9084-109070CB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32/41</a:t>
            </a:r>
          </a:p>
        </p:txBody>
      </p:sp>
    </p:spTree>
    <p:extLst>
      <p:ext uri="{BB962C8B-B14F-4D97-AF65-F5344CB8AC3E}">
        <p14:creationId xmlns:p14="http://schemas.microsoft.com/office/powerpoint/2010/main" val="57738186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92C7304-A754-553B-7C54-12E4BA29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32/40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678BCAB-C548-C92A-273D-161DDCAF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9B8E52F-423A-AD67-D168-3A7A81B9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보안 설계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0547C11D-A71E-6FB2-0171-B63E79B7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326874D-0AFD-610C-655A-66DA5798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BD3641C-AACE-24EF-5D23-8D40962B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권한 분리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9BA88F-41E5-0D44-A1D3-6D29A963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로그인 여부에 따라 저장·다운로드 권한을 다르게 적용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391FC68-410D-3E34-DB86-57FDB7EC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F78C476-C0BA-0602-A37A-593D37EC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계정 보호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4689D73-EDFD-9FF1-A45E-09F5C858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인증 정보는 서버에서 안전하게 관리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C759F51-5325-1552-D31B-D546C6EF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210471F-78C1-2AF4-B5D1-7E70C75F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파일 검사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046A61B-D02C-2422-F479-595EBDD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업로드 파일을 검사한 뒤 AI 분석에 전달</a:t>
            </a:r>
          </a:p>
        </p:txBody>
      </p:sp>
      <p:sp>
        <p:nvSpPr>
          <p:cNvPr id="31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A58412E-C515-47D7-ACFA-75943F72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18B55FA-E08A-53E3-E408-796CAFC4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개인정보 최소화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4928952-3213-8EE1-7F48-F171E481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필요한 정보만 저장하고 민감한 원문 노출을 줄임</a:t>
            </a:r>
          </a:p>
        </p:txBody>
      </p:sp>
      <p:sp>
        <p:nvSpPr>
          <p:cNvPr id="40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882D7E9-789E-4FB0-BFA2-C1125A10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5146AC91-1DEE-401A-492F-BB3A0AF5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AI 입력 검증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B1DA210E-8B02-6548-9FB0-2785202F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문서 안의 악성 지시가 답변을 오염시키지 않도록 분리</a:t>
            </a:r>
          </a:p>
        </p:txBody>
      </p:sp>
      <p:sp>
        <p:nvSpPr>
          <p:cNvPr id="49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3594BB1-A814-9E55-EFC6-333CEA12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25BDA974-D9B6-C0D3-A96F-6E8CA90A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책임 제한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77F7027B-21C0-BBA1-0A44-8FFB5FAA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3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근거·한계·전문가 상담 안내 포함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51C8BBDA-BA10-48E3-8084-B2C5C79D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B8189220-286E-4288-882A-453FC161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60F60600-B242-4C6E-87EF-5F400BC5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보안 설계는 AI 기능의 전제 조건이다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1D71B73-02B3-4A2B-9085-BCD45E4A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교통분쟁 데이터는 법률·보험·개인정보가 한 번에 들어오는 민감한 입력입니다.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0A271772-10D1-4C82-AE99-845E7DDF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51E392DE-3E6D-4B31-BECB-5D80B39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권한 분리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4165905F-BFA0-4576-A7E5-6B86CEEA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로그인 여부에 따라 저장·다운로드 권한 차등</a:t>
            </a:r>
          </a:p>
        </p:txBody>
      </p:sp>
      <p:sp>
        <p:nvSpPr>
          <p:cNvPr id="73" name="사각형: 둥근 모서리 72">
            <a:extLst xmlns:a="http://schemas.openxmlformats.org/drawingml/2006/main">
              <a:ext uri="{FF2B5EF4-FFF2-40B4-BE49-F238E27FC236}">
                <a16:creationId xmlns:a16="http://schemas.microsoft.com/office/drawing/2014/main" id="{7EB1E344-94E0-4232-9957-1E1113A6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6D3E69AD-AAF3-4201-9F6B-1670FA64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계정 보호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91189E6E-CB01-46A7-85A7-0E158DA6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인증 정보는 서버에서 관리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F2BE1784-81CA-48B7-93B6-745CB1E5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A54C817B-8B15-4208-82CD-0245341E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파일 검사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D68CD458-027F-4289-9DDB-0196F8A1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검사 후 AI 분석에 전달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7119CA41-79BA-4368-ACF2-9AC79E39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442F0024-627A-4871-B8B6-1E8C511C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개인정보 최소화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DC6D0F33-3737-4A7D-A4DD-F1D1A5DF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필요 필드 중심 저장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D8616FCC-4CE5-422A-A7E9-534A16B6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732C1AA8-07D3-473B-AF0C-17D7BBBE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AI 입력 검증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87B4950E-B793-4F88-B500-D6073812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문서 내 악성 지시 분리</a:t>
            </a:r>
          </a:p>
        </p:txBody>
      </p:sp>
      <p:sp>
        <p:nvSpPr>
          <p:cNvPr id="85" name="사각형: 둥근 모서리 84">
            <a:extLst xmlns:a="http://schemas.openxmlformats.org/drawingml/2006/main">
              <a:ext uri="{FF2B5EF4-FFF2-40B4-BE49-F238E27FC236}">
                <a16:creationId xmlns:a16="http://schemas.microsoft.com/office/drawing/2014/main" id="{1CE671FC-FAF0-4030-85D1-11F73FE2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58256A8A-BF2E-4818-B08C-10407CF1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책임 제한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11A0216A-A8BC-4FCE-AE83-A05A0245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근거·한계·상담 안내 포함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A3EFB37-F890-44D8-8B11-D6DB3D6E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A0608AA-5BDA-464E-A403-7B79EFAE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33/41</a:t>
            </a:r>
          </a:p>
        </p:txBody>
      </p:sp>
    </p:spTree>
    <p:extLst>
      <p:ext uri="{BB962C8B-B14F-4D97-AF65-F5344CB8AC3E}">
        <p14:creationId xmlns:p14="http://schemas.microsoft.com/office/powerpoint/2010/main" val="235864682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C576DCF-5215-A46F-F56B-D9A43921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33/40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868A09-922B-5EFD-0F3C-8CA4B04B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323FF589-05AA-EB1D-A59A-E7D7222A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기반 안전장치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CB089523-E867-44FC-7573-C36152BF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71AAEE5-DDA4-C9FF-FFF1-023CEE0C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9032"/>
            <a:ext cx="324612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7068997-D808-9437-6466-D2271F5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1619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하지 않는 것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EEA34A-9D04-1853-B8AC-33983203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09384"/>
            <a:ext cx="28803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승소 보장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과실비율 확정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자동 제출·대리 신청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변호사처럼 단정하는 표현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027B340-C516-3E8F-D6DC-63B2B743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079032"/>
            <a:ext cx="324612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9788A49-AC4F-987D-B0FA-F9F5E2A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21619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반드시 하는 것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BED0C63-AAA4-60EE-F72B-6B8C5F0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09384"/>
            <a:ext cx="28803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출처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판단 근거와 한계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추가 확인사항 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사용자 직접 확인 절차 안내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26216B2-A80C-25F3-772D-25BCAE15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079032"/>
            <a:ext cx="29718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A8D7934-8EF5-8B16-8E9E-7A9998AE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221619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표현 방식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69CC4B9-AABA-1B2C-4501-94FBB709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2609384"/>
            <a:ext cx="260604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“가능성 있음”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“검토가 필요함”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“부족 자료 안내”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4A2CD0C-A964-7A43-BB18-1CFC03C8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2352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확정 판정 X | 기준·유사 사례·부족한 증거·다음 행동 제시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508F646A-3926-4429-B2AF-419CA08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171B16E-E7F9-4A95-8BCD-BC76C9EC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5A156E43-DE86-466A-A88D-AB84D665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안전한 서비스는 하지 않을 일을 먼저 정한다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2ACDBBB8-F44E-4DA3-AD54-FF15B684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교통분쟁 AI는 확정 판정이 아니라 검토 가능한 근거와 다음 행동을 제공합니다.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948B4E3F-CA68-4B3B-88B5-C27613B4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E38A57E3-CEC0-4A24-ADCF-89E9ACD9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667B4D6F-7EA3-4723-8184-9E9C361A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하지 않는 것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A7A05B83-F6D9-4774-947A-72DEC340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반드시 하는 것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7688C557-B1B8-4502-95F3-ED49C4A6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승소 보장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5C30D95C-0B14-49BC-8593-7E9AEF65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과실비율 확정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B0F209B8-966A-4504-9714-0C0F3A94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자동 제출·대리 신청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CAE2DE1F-353A-46D2-9CB7-6E96F4B8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변호사처럼 단정하는 표현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00C2595-D0ED-42C7-BCF5-1B82B701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출처 표시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FCD2A1EA-B944-4BB1-845E-EC54ACD0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판단 근거와 한계 표시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D622EC67-F1B5-42BE-AE27-08992D81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추가 확인사항 제시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27E374B7-58E2-407E-BC76-DB4F3AA6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29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사용자 직접 확인 절차 안내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758664A4-7FE9-432A-B69D-77794283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62600"/>
            <a:ext cx="609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D3FE1C4F-31D5-4101-BE84-E99E68EE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76900"/>
            <a:ext cx="544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표현 방식: 가능성 있음 · 검토 필요 · 부족 자료 안내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9E9F1FC-5D9D-4362-BA71-6C92A6B1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5020823-D5BE-4212-97E1-9A76706B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34/41</a:t>
            </a:r>
          </a:p>
        </p:txBody>
      </p:sp>
    </p:spTree>
    <p:extLst>
      <p:ext uri="{BB962C8B-B14F-4D97-AF65-F5344CB8AC3E}">
        <p14:creationId xmlns:p14="http://schemas.microsoft.com/office/powerpoint/2010/main" val="12428057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B26C8F3-7EB5-A9E4-AB64-673A0B94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FF1564A-19FA-7025-8258-FDE21C1F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83696D8-CCC3-11F5-091E-8D3044AA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28EC2A-1B03-734C-E90C-78B11FBB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3050797"/>
            <a:ext cx="3436671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MVP 기능, 검증 계획, 향후 확장 방향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53ABC2F-7F0E-7C95-A00E-72E545FC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34/40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B94F91-FBBC-EFB1-548C-F88D9770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6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MVP 포함 및 제외 범위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분석 모듈 별 평가지표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현재 한계와 향후 확장 계획 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AA749F42-D938-42E4-9D5B-0B119A04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A499571A-D4A4-44A2-87EB-E6A810E4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07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F4CDEA5C-3B62-4CEF-9735-5DABE299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구현 범위와 기대효과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53A7A11C-D1A8-4D25-84B7-30523A03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MVP는 검증 가능한 기능에 집중하고 위험한 자동화는 제외합니다.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0E9AE391-D968-4EA4-8D5E-967969DF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F8B83F37-8557-4F80-8016-FD3C1283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026D4B3C-C802-4541-9D01-307B6191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MVP 범위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7F909919-7A85-4095-9165-5CC20091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고지서·사고 설명·근거 검색·리포트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2B787B58-EDB8-4487-BFE0-CA9750A4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BC368FF5-3710-4021-8DD4-3D7DA868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평가 계획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B60D759F-59DA-4999-8B13-9F7523A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모듈별 정확도와 안전장치 검증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0CA975BA-04C7-4ED2-9B47-A455A3A7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44C0FCD7-5558-4AB2-9053-76217A8E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Next Step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315E332A-B0DA-44F0-B732-EBF59DD0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실제 사고 샘플 기반 E2E 보강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6498CF-7774-41B8-AF3E-C9A4974A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10FE1-CFD7-496F-965C-1B33B48D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35/41</a:t>
            </a:r>
          </a:p>
        </p:txBody>
      </p:sp>
    </p:spTree>
    <p:extLst>
      <p:ext uri="{BB962C8B-B14F-4D97-AF65-F5344CB8AC3E}">
        <p14:creationId xmlns:p14="http://schemas.microsoft.com/office/powerpoint/2010/main" val="404811138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6CC153E-47DF-49E4-9E0F-1DCD511B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35/40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3F80A37-CC2F-8BF2-9B79-F66AE185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33476D41-8227-9C42-6077-12450787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MVP 구현 범위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7E7EA93E-67B7-9A95-303A-E947F46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AFE901B-483F-592A-E6F8-EC9FFD8C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2"/>
            <a:ext cx="516636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7AD4209-C966-31B2-78BC-1B8C69FD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6888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MVP에 포함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75FCFC6-417E-C389-4F62-8E1EAA68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62074"/>
            <a:ext cx="4800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고지서 문서 인식 및 과태료/범칙금 유형 확인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사고 설명 + 이미지/영상 구조화 결과 생성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법령·과실비율 기준·유사사례 근거 검색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이의제기 가능성 높음/중간/낮음 라벨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부족한 증거 체크리스트와 참고용 리포트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CD18615-97F2-0B1B-2E53-83637AE9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1722"/>
            <a:ext cx="516636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6A2CDDF-7752-0854-2F4D-2AE9A5F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6888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후순위 / 제외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D26BA59-46AE-B2A5-3FC0-E645637D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62074"/>
            <a:ext cx="4800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자동 제출 또는 대리 신청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승소/과실비율 확정 표현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전문가 연결 수익화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모든 영상 상황 자동 판정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법률 자문처럼 보이는 단정 문구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FA768100-9CDE-46A6-A9A7-1AE625F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1334A804-D7ED-4668-87F0-56DD95FE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07  구현 범위와 기대효과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129F8260-1692-4255-8964-CD941113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MVP는 검증 가능한 기능에 집중한다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F3DB1176-2EB8-4589-BDAA-8335F64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위험한 자동화와 단정 표현은 후순위로 두고 근거 리포트 흐름을 먼저 완성합니다.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4FB60CAB-424B-4F9B-823B-F6B08694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57086EE0-DF42-4FC0-B726-E03ADD50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0F96E0B7-5ACC-40B5-9E40-5AE24ABA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4E28334C-E072-44DF-917E-2664FB5E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MVP에 포함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CC44D66E-1E91-476C-9F35-F83FE34B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후순위 / 제외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A9D6A4C6-B7E1-4116-AFC3-ECC5FE4F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고지서 문서 인식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815D1BFD-0A52-4D2D-BCF3-5E34AC0B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사고 설명 + 이미지/영상 구조화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90442587-F637-4B36-A0A9-9F34C017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법령·기준·유사사례 검색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C435EA69-6885-4069-85D0-3AB2AE87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부족한 증거 체크리스트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908327F9-F370-4BF8-973D-CC2684F4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자동 제출 또는 대리 신청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62D4FF70-FBA3-47FC-A2A5-ADFCC3AE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승소·과실비율 확정 표현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F708EFF4-EEE3-4FB4-807B-F9A1BD70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전문가 연결 수익화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C935A28E-72C0-4D97-92BB-9A52A211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모든 영상 상황 자동 판정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6A9E92C-B1F7-41A2-A672-F401BB8C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A558423-E906-4500-B958-C140EFB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36/41</a:t>
            </a:r>
          </a:p>
        </p:txBody>
      </p:sp>
    </p:spTree>
    <p:extLst>
      <p:ext uri="{BB962C8B-B14F-4D97-AF65-F5344CB8AC3E}">
        <p14:creationId xmlns:p14="http://schemas.microsoft.com/office/powerpoint/2010/main" val="393586588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94D1064-057D-20E4-4BA3-EE502EB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6DEB490-A897-96E9-6F45-0B065F52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BC5B1AB-5628-B542-4E0A-75FCEEFF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기능별 평가 계획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4A6F3484-F834-55CE-6DCD-87A790E2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90A2AD6-E1D5-00C6-544F-383F5627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51096E-998D-80C6-EEC4-BCEB7915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C1E345-48CC-4221-9509-6C0BEBB9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필드 정확도, CER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핵심값이 맞는가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23424DF-6E05-AB78-9655-71703117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F4B55D7-E4B8-C85B-F4DB-27833FBD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검색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A3FFE49-3377-718F-E44D-362B806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Recall@k, MRR, Faithfulness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근거 문서를 찾는가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4EAE8D0-82E9-F34E-E663-1A6FEE99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70CCD7D-030E-C1B9-1F30-AFF719C9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Vision/DL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A215532-4504-CBD5-CAF6-76509B7A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mAP, 장면 후보 정확도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상황을 구조화하는가</a:t>
            </a:r>
          </a:p>
        </p:txBody>
      </p:sp>
      <p:sp>
        <p:nvSpPr>
          <p:cNvPr id="27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7894C9F-3B21-63EF-3EB1-FE4829A0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DFBC811-F50E-0E87-3D91-56683658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분석 통합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0B6C7C6-807A-7607-2DD3-1BCC6D90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라우팅 정확도, E2E 성공률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올바른 분석 모듈를 호출하는가</a:t>
            </a:r>
          </a:p>
        </p:txBody>
      </p:sp>
      <p:sp>
        <p:nvSpPr>
          <p:cNvPr id="3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0D71E48-0245-3EDC-F891-D4EFC329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FF27474C-3173-2252-25E8-CCB62AD8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안전장치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7154643-041C-657C-6C3C-9738712C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단정 표현 차단률, limitations 포함률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법률 리스크를 줄이는가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2F9A5EED-CCF3-D484-0035-567FD2FD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1832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최소 목표 | 분석 모듈마다 숫자 1개 + 실패/한계 예시 1개 + 근거 포함 결과 1개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7A207AB4-0792-4C6C-B8CE-343A021E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589CCB29-C42E-499D-835E-929CDFCB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736E6598-8A65-430B-9D04-DD7022A4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기능별 평가는 하나의 점수가 아니라 모듈별 기준으로 본다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6CA7CFBD-67BD-4892-9884-93CFF3F7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OCR, 검색, 영상, 통합, 안전장치는 서로 다른 실패 방식을 갖습니다.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8A5E3D6A-EC34-4B83-A17F-CA008EF4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F823020C-A4FE-45BC-B231-DF3B98A7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97351817-3D15-454D-864E-77667FC1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문서 인식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AB2977A-AD83-41A6-9941-220DF93A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필드 정확도·CER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핵심값이 맞는가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072FBEC4-5621-44BD-B441-D737B863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2656A8A-28E5-4AAC-A1C6-F044C7A4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BF84CB5E-D207-4504-B0A5-2F7F7273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55EAE74E-B947-44E2-8766-775DED20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Recall@k·MRR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근거 문서를 찾는가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12636398-D2AF-4A73-80DC-FE948148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F3550E9E-E68A-46B6-AA2A-4A29E11D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648A4EB0-B43D-4596-BF14-0B923D99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Vision/DL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803A704B-72D3-4E32-8F6A-EAF7723C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mAP·장면 후보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상황을 구조화하는가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8B3A959E-95E3-4BB1-9E4F-61B51A00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C64ABFFF-0A3D-407F-BC7A-2F750407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49DA8AA9-B967-4D6A-BAE7-58554367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분석 통합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0BC4A680-26B4-4C53-8432-124F65C2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라우팅·E2E 성공률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올바른 모듈을 호출하는가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4D00B2C8-4299-4508-8788-BB58705E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4EEC1DE3-5C5A-46F8-BD72-26707847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E6FDA771-A9E5-482A-9986-D79B11CD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안전장치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E0D8B941-081E-41AF-A012-08B92068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단정 표현 차단률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법률 리스크를 줄이는가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CF58B243-93F1-4172-864B-C3D7E6FA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67300"/>
            <a:ext cx="902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평가의 목표는 높은 점수보다, 근거 없는 단정과 잘못된 라우팅을 줄이는 것입니다.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CF6C1B0-D228-4995-A3CD-B45845C0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47DF435-44B6-4449-BDB3-02BC41E5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37/41</a:t>
            </a:r>
          </a:p>
        </p:txBody>
      </p:sp>
    </p:spTree>
    <p:extLst>
      <p:ext uri="{BB962C8B-B14F-4D97-AF65-F5344CB8AC3E}">
        <p14:creationId xmlns:p14="http://schemas.microsoft.com/office/powerpoint/2010/main" val="396019158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63FC-0B13-6DED-BD97-594AFF1C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37/40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AAB7D1-4F15-460E-143F-BEFDC020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A45ECE0-7AD3-8925-7EFB-3C2E3DB6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현재 구현과 다음 단계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7851612-E02F-D66B-1FCD-A5B2C385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8E5539C-12E6-643D-89C6-3C5D1AB5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0478"/>
            <a:ext cx="516636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767B3C-43B4-E1AB-8B27-55428540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17637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현재 강조할 것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C84D907-32D9-33BC-5818-555B33BF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10830"/>
            <a:ext cx="4800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고지서 문서 인식 기반 처분 정보 추출 흐름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법령·과실비율 사례 검색 기반 답변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상담 결과 리포트와 이력 확인 흐름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업로드 파일 검사와 개인정보 보호 설계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994EB2E-087E-74F6-43F7-A221609C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80478"/>
            <a:ext cx="516636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E83C979-1B95-C683-A381-96C94368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17637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한계와 Next Step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0D5EA99-BDA2-E120-9AC7-4F937CE6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10830"/>
            <a:ext cx="4800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실제 보험사 내부 데이터는 아직 활용하지 않음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모든 영상 상황 자동 판정은 후순위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법률 자문·대리 제출이 아닌 자가 대응 도구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실제 사고 샘플 기반 E2E 데모 보강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정량 평가 수치와 리포트 품질 표시 강화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8D3218B3-A259-465F-94D6-9255C9D1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E046D64F-EF13-4F8B-B35E-45FF684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07  구현 범위와 기대효과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48AD3684-E6FF-48D4-8B91-8F2768E4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현재 구현은 데모 가능한 흐름과 한계를 함께 보여준다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6F2BF368-6BB4-445F-87A9-A7872C11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완성된 부분과 아직 아닌 부분을 분리해야 발표의 신뢰도가 올라갑니다.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9030E4C9-9C81-434C-BC4C-39012BD6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3F555038-4CA4-4871-8921-06047A69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88B233C1-D73C-4102-B81E-30F30621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CFF1D1D1-7152-4E13-88A9-CE798E24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현재 강조할 것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24838B0E-0E7F-4D09-BC55-FB0B31C7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한계와 Next Step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191F60CC-0740-4745-BE03-968B6EF4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고지서 문서 인식 기반 처분 정보 추출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EDD22D23-5D0F-4A6D-BA5B-766DB457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법령·과실비율 사례 검색 기반 답변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DF0907C9-AB70-47C6-82E1-B0CCA055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상담 결과 리포트와 이력 확인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716D9F0C-9B92-41EE-AC56-55BDC5D3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업로드 파일 검사와 개인정보 보호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8B1B43A7-2B52-49F4-9085-FBFB4707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보험사 내부 데이터는 아직 미사용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11C889C8-7FA3-4E35-94C1-F167F1F9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모든 영상 자동 판정은 후순위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C9A29948-57E3-47BB-972F-43A8FF7A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자가 대응 도구로 범위 제한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107D4923-E815-431C-80F3-FDC49F3C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실제 사고 샘플 기반 E2E 보강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66103AA-F704-4836-A3C0-8D2BE939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6176098-6CB1-40AC-B23D-E32BB17C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38/41</a:t>
            </a:r>
          </a:p>
        </p:txBody>
      </p:sp>
    </p:spTree>
    <p:extLst>
      <p:ext uri="{BB962C8B-B14F-4D97-AF65-F5344CB8AC3E}">
        <p14:creationId xmlns:p14="http://schemas.microsoft.com/office/powerpoint/2010/main" val="330240217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8D62189-8C58-443A-13D8-46B8CE11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37E76C-1723-016B-4183-92D51D19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8F1CD41-2F02-3A6D-FFA1-D897AD48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교통분쟁 AI가 필요한 이유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D9679A91-74AC-9FEB-6FE9-87EF66CA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6FB915D-DD67-0A6E-C25D-F99CFD37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95A45D-0C36-0AFB-E717-5F51DC54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분쟁 증가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7E52D3-A5EE-8DAC-D44E-55FDD575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8D4EB5B-3EE2-0FAD-2372-5E875027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3AAE824-7683-B192-8F17-AB0E9135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탐색 비용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EC127E0-99B6-E858-DF28-D5D328A4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0A08C8B-4C84-854C-434C-A838433F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AB428B8-5C88-8B33-06F1-37C0B7FF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사건 구조화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60E71F9-6CB1-A613-07FD-E5F6CC72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79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7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1C72AC8-D6CD-E0D5-BC8C-1A1A95BB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C654980-A649-1438-B216-1DA1F383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검색/분석 모듈 분석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DF827B37-BFC7-4397-0711-69A1D76C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5A2A98A-8906-2D12-35A0-89162983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86FDEC9-E85B-3E11-8385-450B0AF1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리포트</a:t>
            </a:r>
          </a:p>
        </p:txBody>
      </p:sp>
      <p:sp>
        <p:nvSpPr>
          <p:cNvPr id="37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0BF945D-F627-5BA1-2826-08D5C75B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94472"/>
            <a:ext cx="104698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EF5595E-1802-7133-BDED-30707C20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31632"/>
            <a:ext cx="1010411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프로젝트 한 문장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AE69ED8A-493F-DE05-BCFE-9149C12D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43111"/>
            <a:ext cx="10104119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교통분쟁 AI 서비스는 교통사고·과태료·보험 분쟁에서 사용자가 전문가 상담 전 스스로 근거를 확인하고 다음 행동을 정리하도록 돕는 AI 상담·분석 서비스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FD4F8E17-CAF4-A0AD-1AC0-B9BA22FF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0432"/>
            <a:ext cx="10469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정답을 대신 내려주는 서비스가 아니라, 근거를 정리해 판단을 돕는 서비스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39876FF7-AD09-4F36-BD76-CC8BD66E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8079242C-8E50-4B5E-9E86-AE39B04E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A9A9775C-9A28-44A4-83F9-AA1377AB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교통분쟁 AI는 판단을 대신하지 않고 판단 준비를 돕는다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AC318D96-67D3-43DA-A6D8-5E8131D4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전문가 상담 전, 자기 사건의 쟁점·근거·부족한 증거를 먼저 정리할 수 있습니다.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18BFD49A-4B8A-4DBA-9EE7-C4B315DD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6165EE9B-B079-42AB-BCF1-F36F91A4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F600C1E2-A936-4781-90B1-CDBFE971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분쟁 증가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D3867A50-A0BB-42D2-9DEF-CF59A8EE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정보 격차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2401B232-46CA-4690-98FF-A50699E9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AC24978-1414-4AB4-B62E-A2E74D95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E5A0D58C-AF9B-4691-8543-CB119D2A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탐색 비용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8F91C6AB-21BD-490F-90CA-496AAE15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흩어진 기준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8C9C1580-DB0C-447E-A1FE-BC0F7920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2AE8DCD0-ED8F-4FF2-A6A7-00097D21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05870032-C875-4551-8C6C-5B4D8973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사건 구조화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73D87131-DCF9-4C5E-AE5D-804B73DE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자료를 필드화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043DDA74-20D2-4C51-9FF5-EBC94C30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56B306F4-8E1E-43C3-B6DE-4216DBB4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8FCA19BE-FE35-4090-B949-F880DB22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096965A2-8014-40D9-BE82-A8CC2ADE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법령·판례·사례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F4CC9B93-31A2-4A64-9C69-511082F7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2FDA7491-A249-43AC-A1EA-F2DF4BA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3102E621-E596-476B-BA9F-0848FB41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리포트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58EF6639-D596-445C-982C-F3AB1AEF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다음 행동</a:t>
            </a:r>
          </a:p>
        </p:txBody>
      </p:sp>
      <p:sp>
        <p:nvSpPr>
          <p:cNvPr id="90" name="사각형: 둥근 모서리 89">
            <a:extLst xmlns:a="http://schemas.openxmlformats.org/drawingml/2006/main">
              <a:ext uri="{FF2B5EF4-FFF2-40B4-BE49-F238E27FC236}">
                <a16:creationId xmlns:a16="http://schemas.microsoft.com/office/drawing/2014/main" id="{FFA021CC-9015-48CA-9403-5BD93324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948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CEB08AB9-035D-4675-AC8B-72FB22B6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72075"/>
            <a:ext cx="853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한 문장: 정답을 대신 내려주는 서비스가 아니라, 근거를 정리해 사용자의 다음 판단을 돕는 서비스입니다.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A7D255F-730E-4E43-A8CC-9329746A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BF990AD-4767-419D-A8CE-596068F0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39/41</a:t>
            </a:r>
          </a:p>
        </p:txBody>
      </p:sp>
    </p:spTree>
    <p:extLst>
      <p:ext uri="{BB962C8B-B14F-4D97-AF65-F5344CB8AC3E}">
        <p14:creationId xmlns:p14="http://schemas.microsoft.com/office/powerpoint/2010/main" val="405461284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AF21AA1F-1EDC-9866-6F00-6B977E80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2" y="-12191"/>
            <a:ext cx="12313185" cy="195986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B073CF9-FB27-4BF9-959B-A61D6EBA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266" y="3855130"/>
            <a:ext cx="8678444" cy="1421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보험연구원·한국보험신문: 과실비율 분쟁 증가 및 국민인식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IT동아/Daum: 교통사고 과실비율 판단 변수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자동차사고 과실비율 정보포털: 공식 기준·심의사례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국가법령정보센터: 도로교통 관련 법령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개인정보보호위원회·OWASP LLM Top 10: 보안 기준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FE1C8AB-9C9E-489C-A045-BFA67D8A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/>
              </a:rPr>
              <a:t>39/40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4621449-F1B2-B05C-0F95-3662F648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cja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F28438AA-BA8C-45B3-B1BB-ED88465C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BDF1D499-2F92-4CA2-A72A-FE509ECB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39/40  참고자료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D2181154-82FF-41AC-ACD7-B7158C87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참고자료는 시장·공식기준·보안을 분리해 제시한다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59FD7C45-2668-4422-A434-A67D956C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발표 근거가 어디에서 왔는지 마지막에 한 번 더 정리합니다.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9D7D798-78D3-4E87-B9E1-C36FF28D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F5645D16-7154-4661-BF04-49F2773C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E0CB9DAE-7F89-4A92-9079-EA6915AA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시장/인식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47E76057-62EE-490B-A9BD-0AD02638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보험연구원·한국보험신문</a:t>
            </a:r>
          </a:p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과실비율 분쟁 증가 및 국민인식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4C63BE01-39A1-4C68-A41B-25D39496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DF04EF28-E0B6-4E84-8A0F-6A4D8DE4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판단 변수</a:t>
            </a:r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4A535BA1-8A95-4169-AC79-62576711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IT동아 / Daum</a:t>
            </a:r>
          </a:p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교통사고 과실비율 판단 변수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65ED25C9-7C79-4DE6-A94B-70CB113B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180BF591-B044-446B-99F2-A8FCB699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공식 기준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5623193D-D682-43C9-BFCD-4BF70EEB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자동차사고 과실비율 정보포털</a:t>
            </a:r>
          </a:p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공식 기준·심의사례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2FFBA2C5-D7A9-48BF-ACAE-54E91194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3305960A-3554-42C7-8975-F3E2BA0E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00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법령</a:t>
            </a:r>
          </a:p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B485E96B-231A-41D5-AE5D-D982E8C1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625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국가법령정보센터</a:t>
            </a:r>
          </a:p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도로교통 관련 법령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C5598331-84D4-478F-B71D-EC485592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719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2792C079-A89D-4512-BE7C-B986DB5B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보안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4ED9424A-63AE-4BDF-B717-278B354B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625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개인정보보호위원회·OWASP LLM Top 10</a:t>
            </a:r>
          </a:p>
          <a:p xmlns:a="http://schemas.openxmlformats.org/drawingml/2006/main"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개인정보·LLM 안전 기준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4B84BE-18E5-48DA-BF00-FF9AE1ED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912F2C-3D04-469C-9D65-2ED41D3F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40/41</a:t>
            </a:r>
          </a:p>
        </p:txBody>
      </p:sp>
    </p:spTree>
    <p:extLst>
      <p:ext uri="{BB962C8B-B14F-4D97-AF65-F5344CB8AC3E}">
        <p14:creationId xmlns:p14="http://schemas.microsoft.com/office/powerpoint/2010/main" val="44600657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52AFD0D-6D4A-4F5D-8B4E-897C6040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634" y="1833151"/>
            <a:ext cx="4572000" cy="1391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8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Q&amp;A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B7DA0A3-C9B6-456B-A01D-AB98AFF8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3633699"/>
            <a:ext cx="67665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교통분쟁 AI 상담·분석 서비스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B197156-6C4F-4090-8844-E139F41A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40/40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36BFE417-1B8D-4056-AA47-2D3E5765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FA87E04-C117-4FCA-A6BD-CF1B59DF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2C7252EC-49FB-4AC3-A526-01E25030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C9C9C9"/>
                </a:solidFill>
              </a:defRPr>
            </a:pPr>
            <a:r>
              <a:rPr sz="1950" b="0">
                <a:solidFill>
                  <a:srgbClr val="C9C9C9"/>
                </a:solidFill>
              </a:rPr>
              <a:t>교통분쟁 AI 상담·분석 서비스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9DD6F5E0-2473-4296-AD02-F4368E61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9535FAB6-46B5-4072-A9E7-4861F374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DB38FF27-FB82-4893-B066-25FF9DC4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62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확정 판정이 아닌가요?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9A3F33C0-552C-4C59-936B-9EA89CF1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86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근거 리포트와 다음 행동을 제공합니다.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9F531060-3CDE-477B-ACDA-06ACBD28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777422A8-7418-4A31-B09A-DA6FD850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62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보험사와 독립적인가요?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A62B1722-2B00-439C-BA86-58FD8119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86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특정 보험사 고객에 한정하지 않습니다.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D6ABAA79-0F64-409A-A164-9CD4F7F8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B89C44D1-8BA6-429E-A918-1A2C79D3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개인정보는 안전한가요?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B15EFC38-F08D-411D-A91E-6160725E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57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권한·파일 검사·최소 저장을 전제로 합니다.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D106C5EE-6DB5-44FF-8B19-14CE228B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434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0F6A2EE4-078B-492B-AEAD-23CDD49C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33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MVP 한계는 무엇인가요?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80D15687-1239-4496-92D7-5E3E3746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57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자동 제출과 확정 표현은 제외합니다.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5B5A62-3D94-4603-B1B1-8B02289F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246A7-7E6F-40F1-9A57-34D6EAB3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41/41</a:t>
            </a:r>
          </a:p>
        </p:txBody>
      </p:sp>
    </p:spTree>
    <p:extLst>
      <p:ext uri="{BB962C8B-B14F-4D97-AF65-F5344CB8AC3E}">
        <p14:creationId xmlns:p14="http://schemas.microsoft.com/office/powerpoint/2010/main" val="122005079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2026-07-08T07:21:07.6470000Z</dcterms:created>
  <dcterms:modified xsi:type="dcterms:W3CDTF">2026-07-08T07:21:07.6470000Z</dcterms:modified>
</coreProperties>
</file>