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f3f211189849a2" /><Relationship Type="http://schemas.openxmlformats.org/officeDocument/2006/relationships/extended-properties" Target="/docProps/app.xml" Id="Ree20b4e3cd8b4712" /><Relationship Type="http://schemas.openxmlformats.org/officeDocument/2006/relationships/officeDocument" Target="/ppt/presentation.xml" Id="R38fad64a96874b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5fe30e7484e26"/>
  </p:sldMasterIdLst>
  <p:notesMasterIdLst>
    <p:notesMasterId xmlns:r="http://schemas.openxmlformats.org/officeDocument/2006/relationships" r:id="R47c9a029b2924ff4"/>
  </p:notesMasterIdLst>
  <p:sldIdLst>
    <p:sldId xmlns:r="http://schemas.openxmlformats.org/officeDocument/2006/relationships" id="256" r:id="Rcca117b15e804a06"/>
    <p:sldId xmlns:r="http://schemas.openxmlformats.org/officeDocument/2006/relationships" id="257" r:id="R8b1d563800484f0f"/>
    <p:sldId xmlns:r="http://schemas.openxmlformats.org/officeDocument/2006/relationships" id="258" r:id="R7267927d62a245bb"/>
    <p:sldId xmlns:r="http://schemas.openxmlformats.org/officeDocument/2006/relationships" id="259" r:id="Rb388d361ec584025"/>
    <p:sldId xmlns:r="http://schemas.openxmlformats.org/officeDocument/2006/relationships" id="260" r:id="Rfd8dbf9f68e64410"/>
    <p:sldId xmlns:r="http://schemas.openxmlformats.org/officeDocument/2006/relationships" id="261" r:id="R7128e920121b46ff"/>
    <p:sldId xmlns:r="http://schemas.openxmlformats.org/officeDocument/2006/relationships" id="262" r:id="R5f49cdc84a3f46bb"/>
    <p:sldId xmlns:r="http://schemas.openxmlformats.org/officeDocument/2006/relationships" id="263" r:id="Rfce6824bb7674521"/>
    <p:sldId xmlns:r="http://schemas.openxmlformats.org/officeDocument/2006/relationships" id="264" r:id="R9d6c0de37d0c45de"/>
    <p:sldId xmlns:r="http://schemas.openxmlformats.org/officeDocument/2006/relationships" id="265" r:id="R404f2e0e56e8468c"/>
    <p:sldId xmlns:r="http://schemas.openxmlformats.org/officeDocument/2006/relationships" id="266" r:id="R247a845d87fa45df"/>
    <p:sldId xmlns:r="http://schemas.openxmlformats.org/officeDocument/2006/relationships" id="267" r:id="R49222d1190de47a2"/>
    <p:sldId xmlns:r="http://schemas.openxmlformats.org/officeDocument/2006/relationships" id="268" r:id="R56bf6abe05ec4090"/>
    <p:sldId xmlns:r="http://schemas.openxmlformats.org/officeDocument/2006/relationships" id="269" r:id="Rf01cda33aaad4e43"/>
    <p:sldId xmlns:r="http://schemas.openxmlformats.org/officeDocument/2006/relationships" id="270" r:id="R2067e2dfce92447a"/>
    <p:sldId xmlns:r="http://schemas.openxmlformats.org/officeDocument/2006/relationships" id="271" r:id="Rf9a41a5e84884fe8"/>
    <p:sldId xmlns:r="http://schemas.openxmlformats.org/officeDocument/2006/relationships" id="272" r:id="R0da500815a3345d0"/>
    <p:sldId xmlns:r="http://schemas.openxmlformats.org/officeDocument/2006/relationships" id="273" r:id="R59c9026d5abd4c83"/>
    <p:sldId xmlns:r="http://schemas.openxmlformats.org/officeDocument/2006/relationships" id="274" r:id="R4f2f674ebfc74cec"/>
    <p:sldId xmlns:r="http://schemas.openxmlformats.org/officeDocument/2006/relationships" id="275" r:id="R6bba59cb092f4406"/>
    <p:sldId xmlns:r="http://schemas.openxmlformats.org/officeDocument/2006/relationships" id="276" r:id="Rcd9f9aab16814e87"/>
    <p:sldId xmlns:r="http://schemas.openxmlformats.org/officeDocument/2006/relationships" id="277" r:id="Rc58f63ad72bb4784"/>
    <p:sldId xmlns:r="http://schemas.openxmlformats.org/officeDocument/2006/relationships" id="278" r:id="R51ab4199c6d04388"/>
    <p:sldId xmlns:r="http://schemas.openxmlformats.org/officeDocument/2006/relationships" id="279" r:id="R2a40a1cadea64cca"/>
    <p:sldId xmlns:r="http://schemas.openxmlformats.org/officeDocument/2006/relationships" id="280" r:id="R1844fed6df0243e0"/>
    <p:sldId xmlns:r="http://schemas.openxmlformats.org/officeDocument/2006/relationships" id="281" r:id="Rf82e0dc8f8ad4020"/>
    <p:sldId xmlns:r="http://schemas.openxmlformats.org/officeDocument/2006/relationships" id="282" r:id="Rd794c5a19f9b43f9"/>
    <p:sldId xmlns:r="http://schemas.openxmlformats.org/officeDocument/2006/relationships" id="283" r:id="R8d25c2ef11dc46ed"/>
    <p:sldId xmlns:r="http://schemas.openxmlformats.org/officeDocument/2006/relationships" id="284" r:id="R8690b303ada5492c"/>
    <p:sldId xmlns:r="http://schemas.openxmlformats.org/officeDocument/2006/relationships" id="285" r:id="R7f2b5ef4362b409c"/>
    <p:sldId xmlns:r="http://schemas.openxmlformats.org/officeDocument/2006/relationships" id="286" r:id="R1d4b929860a94567"/>
    <p:sldId xmlns:r="http://schemas.openxmlformats.org/officeDocument/2006/relationships" id="287" r:id="R52fcc4e350b94da6"/>
    <p:sldId xmlns:r="http://schemas.openxmlformats.org/officeDocument/2006/relationships" id="288" r:id="R3f7cb5b2d84e4411"/>
    <p:sldId xmlns:r="http://schemas.openxmlformats.org/officeDocument/2006/relationships" id="289" r:id="R801b66e089024d4e"/>
    <p:sldId xmlns:r="http://schemas.openxmlformats.org/officeDocument/2006/relationships" id="290" r:id="R450db01e12ee4b2f"/>
    <p:sldId xmlns:r="http://schemas.openxmlformats.org/officeDocument/2006/relationships" id="291" r:id="Rd2016c1a72f14438"/>
    <p:sldId xmlns:r="http://schemas.openxmlformats.org/officeDocument/2006/relationships" id="292" r:id="R568c171270894235"/>
    <p:sldId xmlns:r="http://schemas.openxmlformats.org/officeDocument/2006/relationships" id="293" r:id="R691da643fcf34481"/>
    <p:sldId xmlns:r="http://schemas.openxmlformats.org/officeDocument/2006/relationships" id="294" r:id="R8452be916eec4f20"/>
    <p:sldId xmlns:r="http://schemas.openxmlformats.org/officeDocument/2006/relationships" id="295" r:id="Rea768ca648804502"/>
    <p:sldId xmlns:r="http://schemas.openxmlformats.org/officeDocument/2006/relationships" id="296" r:id="R32b6511a97314ebf"/>
    <p:sldId xmlns:r="http://schemas.openxmlformats.org/officeDocument/2006/relationships" id="297" r:id="Rf138f0e9bd714a50"/>
    <p:sldId xmlns:r="http://schemas.openxmlformats.org/officeDocument/2006/relationships" id="298" r:id="R8c33f1077071452e"/>
    <p:sldId xmlns:r="http://schemas.openxmlformats.org/officeDocument/2006/relationships" id="299" r:id="Rd6a2518bba2b4ea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1b9b2955744657" /><Relationship Type="http://schemas.openxmlformats.org/officeDocument/2006/relationships/slideMaster" Target="/ppt/slideMasters/slideMaster1.xml" Id="Rfb95fe30e7484e26" /><Relationship Type="http://schemas.openxmlformats.org/officeDocument/2006/relationships/notesMaster" Target="/ppt/notesMasters/notesMaster1.xml" Id="R47c9a029b2924ff4" /><Relationship Type="http://schemas.openxmlformats.org/officeDocument/2006/relationships/presProps" Target="/ppt/presProps.xml" Id="Rf46a8f2110d2458d" /><Relationship Type="http://schemas.openxmlformats.org/officeDocument/2006/relationships/tableStyles" Target="/ppt/tableStyles.xml" Id="R2fae90c3bdcc486b" /><Relationship Type="http://schemas.openxmlformats.org/officeDocument/2006/relationships/slide" Target="/ppt/slides/slide1.xml" Id="Rcca117b15e804a06" /><Relationship Type="http://schemas.openxmlformats.org/officeDocument/2006/relationships/slide" Target="/ppt/slides/slide2.xml" Id="R8b1d563800484f0f" /><Relationship Type="http://schemas.openxmlformats.org/officeDocument/2006/relationships/slide" Target="/ppt/slides/slide3.xml" Id="R7267927d62a245bb" /><Relationship Type="http://schemas.openxmlformats.org/officeDocument/2006/relationships/slide" Target="/ppt/slides/slide4.xml" Id="Rb388d361ec584025" /><Relationship Type="http://schemas.openxmlformats.org/officeDocument/2006/relationships/slide" Target="/ppt/slides/slide5.xml" Id="Rfd8dbf9f68e64410" /><Relationship Type="http://schemas.openxmlformats.org/officeDocument/2006/relationships/slide" Target="/ppt/slides/slide6.xml" Id="R7128e920121b46ff" /><Relationship Type="http://schemas.openxmlformats.org/officeDocument/2006/relationships/slide" Target="/ppt/slides/slide7.xml" Id="R5f49cdc84a3f46bb" /><Relationship Type="http://schemas.openxmlformats.org/officeDocument/2006/relationships/slide" Target="/ppt/slides/slide8.xml" Id="Rfce6824bb7674521" /><Relationship Type="http://schemas.openxmlformats.org/officeDocument/2006/relationships/slide" Target="/ppt/slides/slide9.xml" Id="R9d6c0de37d0c45de" /><Relationship Type="http://schemas.openxmlformats.org/officeDocument/2006/relationships/slide" Target="/ppt/slides/slide10.xml" Id="R404f2e0e56e8468c" /><Relationship Type="http://schemas.openxmlformats.org/officeDocument/2006/relationships/slide" Target="/ppt/slides/slide11.xml" Id="R247a845d87fa45df" /><Relationship Type="http://schemas.openxmlformats.org/officeDocument/2006/relationships/slide" Target="/ppt/slides/slide12.xml" Id="R49222d1190de47a2" /><Relationship Type="http://schemas.openxmlformats.org/officeDocument/2006/relationships/slide" Target="/ppt/slides/slide13.xml" Id="R56bf6abe05ec4090" /><Relationship Type="http://schemas.openxmlformats.org/officeDocument/2006/relationships/slide" Target="/ppt/slides/slide14.xml" Id="Rf01cda33aaad4e43" /><Relationship Type="http://schemas.openxmlformats.org/officeDocument/2006/relationships/slide" Target="/ppt/slides/slide15.xml" Id="R2067e2dfce92447a" /><Relationship Type="http://schemas.openxmlformats.org/officeDocument/2006/relationships/slide" Target="/ppt/slides/slide16.xml" Id="Rf9a41a5e84884fe8" /><Relationship Type="http://schemas.openxmlformats.org/officeDocument/2006/relationships/slide" Target="/ppt/slides/slide17.xml" Id="R0da500815a3345d0" /><Relationship Type="http://schemas.openxmlformats.org/officeDocument/2006/relationships/slide" Target="/ppt/slides/slide18.xml" Id="R59c9026d5abd4c83" /><Relationship Type="http://schemas.openxmlformats.org/officeDocument/2006/relationships/slide" Target="/ppt/slides/slide19.xml" Id="R4f2f674ebfc74cec" /><Relationship Type="http://schemas.openxmlformats.org/officeDocument/2006/relationships/slide" Target="/ppt/slides/slide20.xml" Id="R6bba59cb092f4406" /><Relationship Type="http://schemas.openxmlformats.org/officeDocument/2006/relationships/slide" Target="/ppt/slides/slide21.xml" Id="Rcd9f9aab16814e87" /><Relationship Type="http://schemas.openxmlformats.org/officeDocument/2006/relationships/slide" Target="/ppt/slides/slide22.xml" Id="Rc58f63ad72bb4784" /><Relationship Type="http://schemas.openxmlformats.org/officeDocument/2006/relationships/slide" Target="/ppt/slides/slide23.xml" Id="R51ab4199c6d04388" /><Relationship Type="http://schemas.openxmlformats.org/officeDocument/2006/relationships/slide" Target="/ppt/slides/slide24.xml" Id="R2a40a1cadea64cca" /><Relationship Type="http://schemas.openxmlformats.org/officeDocument/2006/relationships/slide" Target="/ppt/slides/slide25.xml" Id="R1844fed6df0243e0" /><Relationship Type="http://schemas.openxmlformats.org/officeDocument/2006/relationships/slide" Target="/ppt/slides/slide26.xml" Id="Rf82e0dc8f8ad4020" /><Relationship Type="http://schemas.openxmlformats.org/officeDocument/2006/relationships/slide" Target="/ppt/slides/slide27.xml" Id="Rd794c5a19f9b43f9" /><Relationship Type="http://schemas.openxmlformats.org/officeDocument/2006/relationships/slide" Target="/ppt/slides/slide28.xml" Id="R8d25c2ef11dc46ed" /><Relationship Type="http://schemas.openxmlformats.org/officeDocument/2006/relationships/slide" Target="/ppt/slides/slide29.xml" Id="R8690b303ada5492c" /><Relationship Type="http://schemas.openxmlformats.org/officeDocument/2006/relationships/slide" Target="/ppt/slides/slide30.xml" Id="R7f2b5ef4362b409c" /><Relationship Type="http://schemas.openxmlformats.org/officeDocument/2006/relationships/slide" Target="/ppt/slides/slide31.xml" Id="R1d4b929860a94567" /><Relationship Type="http://schemas.openxmlformats.org/officeDocument/2006/relationships/slide" Target="/ppt/slides/slide32.xml" Id="R52fcc4e350b94da6" /><Relationship Type="http://schemas.openxmlformats.org/officeDocument/2006/relationships/slide" Target="/ppt/slides/slide33.xml" Id="R3f7cb5b2d84e4411" /><Relationship Type="http://schemas.openxmlformats.org/officeDocument/2006/relationships/slide" Target="/ppt/slides/slide34.xml" Id="R801b66e089024d4e" /><Relationship Type="http://schemas.openxmlformats.org/officeDocument/2006/relationships/slide" Target="/ppt/slides/slide35.xml" Id="R450db01e12ee4b2f" /><Relationship Type="http://schemas.openxmlformats.org/officeDocument/2006/relationships/slide" Target="/ppt/slides/slide36.xml" Id="Rd2016c1a72f14438" /><Relationship Type="http://schemas.openxmlformats.org/officeDocument/2006/relationships/slide" Target="/ppt/slides/slide37.xml" Id="R568c171270894235" /><Relationship Type="http://schemas.openxmlformats.org/officeDocument/2006/relationships/slide" Target="/ppt/slides/slide38.xml" Id="R691da643fcf34481" /><Relationship Type="http://schemas.openxmlformats.org/officeDocument/2006/relationships/slide" Target="/ppt/slides/slide39.xml" Id="R8452be916eec4f20" /><Relationship Type="http://schemas.openxmlformats.org/officeDocument/2006/relationships/slide" Target="/ppt/slides/slide40.xml" Id="Rea768ca648804502" /><Relationship Type="http://schemas.openxmlformats.org/officeDocument/2006/relationships/slide" Target="/ppt/slides/slide41.xml" Id="R32b6511a97314ebf" /><Relationship Type="http://schemas.openxmlformats.org/officeDocument/2006/relationships/slide" Target="/ppt/slides/slide42.xml" Id="Rf138f0e9bd714a50" /><Relationship Type="http://schemas.openxmlformats.org/officeDocument/2006/relationships/slide" Target="/ppt/slides/slide43.xml" Id="R8c33f1077071452e" /><Relationship Type="http://schemas.openxmlformats.org/officeDocument/2006/relationships/slide" Target="/ppt/slides/slide44.xml" Id="Rd6a2518bba2b4e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d05c63a0b246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aff99fffa04372" /><Relationship Type="http://schemas.openxmlformats.org/officeDocument/2006/relationships/notesMaster" Target="/ppt/notesMasters/notesMaster1.xml" Id="R264a6fefd4534e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5dafe75dd6469f" /><Relationship Type="http://schemas.openxmlformats.org/officeDocument/2006/relationships/notesMaster" Target="/ppt/notesMasters/notesMaster1.xml" Id="Re09a10d28de048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7491ef0c58480b" /><Relationship Type="http://schemas.openxmlformats.org/officeDocument/2006/relationships/notesMaster" Target="/ppt/notesMasters/notesMaster1.xml" Id="Rba486de0484c47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d32ccce4d94272" /><Relationship Type="http://schemas.openxmlformats.org/officeDocument/2006/relationships/notesMaster" Target="/ppt/notesMasters/notesMaster1.xml" Id="R4428dcea1fb049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18f2b176d042c6" /><Relationship Type="http://schemas.openxmlformats.org/officeDocument/2006/relationships/notesMaster" Target="/ppt/notesMasters/notesMaster1.xml" Id="Raa84b581526749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32e314ca9e42a8" /><Relationship Type="http://schemas.openxmlformats.org/officeDocument/2006/relationships/notesMaster" Target="/ppt/notesMasters/notesMaster1.xml" Id="R9daf1a3aacf64f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9211accb85434b" /><Relationship Type="http://schemas.openxmlformats.org/officeDocument/2006/relationships/notesMaster" Target="/ppt/notesMasters/notesMaster1.xml" Id="R90db28797826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e3fe7b924442d6" /><Relationship Type="http://schemas.openxmlformats.org/officeDocument/2006/relationships/notesMaster" Target="/ppt/notesMasters/notesMaster1.xml" Id="Rdf655195b40a41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6cee0102a24eb8" /><Relationship Type="http://schemas.openxmlformats.org/officeDocument/2006/relationships/notesMaster" Target="/ppt/notesMasters/notesMaster1.xml" Id="R83535239892443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7c57279e1248a4" /><Relationship Type="http://schemas.openxmlformats.org/officeDocument/2006/relationships/notesMaster" Target="/ppt/notesMasters/notesMaster1.xml" Id="R78d6696f44b14e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151854d3bc448e" /><Relationship Type="http://schemas.openxmlformats.org/officeDocument/2006/relationships/notesMaster" Target="/ppt/notesMasters/notesMaster1.xml" Id="R3b437799fbbb43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c2ebb8d4c24054" /><Relationship Type="http://schemas.openxmlformats.org/officeDocument/2006/relationships/notesMaster" Target="/ppt/notesMasters/notesMaster1.xml" Id="Rb596db99643c4b2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249b6b1b1e43dd" /><Relationship Type="http://schemas.openxmlformats.org/officeDocument/2006/relationships/notesMaster" Target="/ppt/notesMasters/notesMaster1.xml" Id="Raa791775b0d145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73e51beb3f4984" /><Relationship Type="http://schemas.openxmlformats.org/officeDocument/2006/relationships/notesMaster" Target="/ppt/notesMasters/notesMaster1.xml" Id="R63ce16f7af7e478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f677ed95e54a73" /><Relationship Type="http://schemas.openxmlformats.org/officeDocument/2006/relationships/notesMaster" Target="/ppt/notesMasters/notesMaster1.xml" Id="R5c84c30b0e694f4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f1c1e162ef41e9" /><Relationship Type="http://schemas.openxmlformats.org/officeDocument/2006/relationships/notesMaster" Target="/ppt/notesMasters/notesMaster1.xml" Id="Rae093c051a484cd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787ce15acd1473c" /><Relationship Type="http://schemas.openxmlformats.org/officeDocument/2006/relationships/notesMaster" Target="/ppt/notesMasters/notesMaster1.xml" Id="R45b2609e655744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7e6557645ec4131" /><Relationship Type="http://schemas.openxmlformats.org/officeDocument/2006/relationships/notesMaster" Target="/ppt/notesMasters/notesMaster1.xml" Id="R677d00fcf5ed44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c01319842434669" /><Relationship Type="http://schemas.openxmlformats.org/officeDocument/2006/relationships/notesMaster" Target="/ppt/notesMasters/notesMaster1.xml" Id="R70e411d539fa466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97ca86637854cda" /><Relationship Type="http://schemas.openxmlformats.org/officeDocument/2006/relationships/notesMaster" Target="/ppt/notesMasters/notesMaster1.xml" Id="R8b6ca5e6ead54ba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e89e1408784ff2" /><Relationship Type="http://schemas.openxmlformats.org/officeDocument/2006/relationships/notesMaster" Target="/ppt/notesMasters/notesMaster1.xml" Id="R332a50f46ebe4ac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a800282c6b74e1a" /><Relationship Type="http://schemas.openxmlformats.org/officeDocument/2006/relationships/notesMaster" Target="/ppt/notesMasters/notesMaster1.xml" Id="R6f3c343f82a4411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fc23da3b5141ec" /><Relationship Type="http://schemas.openxmlformats.org/officeDocument/2006/relationships/notesMaster" Target="/ppt/notesMasters/notesMaster1.xml" Id="R7a69204cfd0741b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f05eab0ff124531" /><Relationship Type="http://schemas.openxmlformats.org/officeDocument/2006/relationships/notesMaster" Target="/ppt/notesMasters/notesMaster1.xml" Id="R474b8d3c932146c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58b7e8a816a4bf5" /><Relationship Type="http://schemas.openxmlformats.org/officeDocument/2006/relationships/notesMaster" Target="/ppt/notesMasters/notesMaster1.xml" Id="R7dd65c18027846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d8f8723ff974d3f" /><Relationship Type="http://schemas.openxmlformats.org/officeDocument/2006/relationships/notesMaster" Target="/ppt/notesMasters/notesMaster1.xml" Id="Rd17b55ee678847a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8cb3c1e20404c0a" /><Relationship Type="http://schemas.openxmlformats.org/officeDocument/2006/relationships/notesMaster" Target="/ppt/notesMasters/notesMaster1.xml" Id="R415601115bd0484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858734fe8742e5" /><Relationship Type="http://schemas.openxmlformats.org/officeDocument/2006/relationships/notesMaster" Target="/ppt/notesMasters/notesMaster1.xml" Id="Rde4f330cde9c4c4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893d7176a464928" /><Relationship Type="http://schemas.openxmlformats.org/officeDocument/2006/relationships/notesMaster" Target="/ppt/notesMasters/notesMaster1.xml" Id="R5aa35001f77c464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18a323027cb4d61" /><Relationship Type="http://schemas.openxmlformats.org/officeDocument/2006/relationships/notesMaster" Target="/ppt/notesMasters/notesMaster1.xml" Id="R943247d6194b443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516ad414ca3476d" /><Relationship Type="http://schemas.openxmlformats.org/officeDocument/2006/relationships/notesMaster" Target="/ppt/notesMasters/notesMaster1.xml" Id="R0a63db4fd63b437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7799afdbc74aae" /><Relationship Type="http://schemas.openxmlformats.org/officeDocument/2006/relationships/notesMaster" Target="/ppt/notesMasters/notesMaster1.xml" Id="Ra7fd03ee727c46f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2e555537cfe48c6" /><Relationship Type="http://schemas.openxmlformats.org/officeDocument/2006/relationships/notesMaster" Target="/ppt/notesMasters/notesMaster1.xml" Id="R25ec888225504ed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75ba5b347f34432" /><Relationship Type="http://schemas.openxmlformats.org/officeDocument/2006/relationships/notesMaster" Target="/ppt/notesMasters/notesMaster1.xml" Id="Rfe00c74e8d504c8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b08eac0f38a43b1" /><Relationship Type="http://schemas.openxmlformats.org/officeDocument/2006/relationships/notesMaster" Target="/ppt/notesMasters/notesMaster1.xml" Id="R232a12bad8624f8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e84e8b5a2e84464" /><Relationship Type="http://schemas.openxmlformats.org/officeDocument/2006/relationships/notesMaster" Target="/ppt/notesMasters/notesMaster1.xml" Id="Re9453c80eed2490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c4dd94c72554e1e" /><Relationship Type="http://schemas.openxmlformats.org/officeDocument/2006/relationships/notesMaster" Target="/ppt/notesMasters/notesMaster1.xml" Id="R4480cab7221a462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1c02917c3946f3" /><Relationship Type="http://schemas.openxmlformats.org/officeDocument/2006/relationships/notesMaster" Target="/ppt/notesMasters/notesMaster1.xml" Id="Rb4537223332b426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482fb12dfc24abf" /><Relationship Type="http://schemas.openxmlformats.org/officeDocument/2006/relationships/notesMaster" Target="/ppt/notesMasters/notesMaster1.xml" Id="Rf1a51be44e5f4b0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b1913022b694fcb" /><Relationship Type="http://schemas.openxmlformats.org/officeDocument/2006/relationships/notesMaster" Target="/ppt/notesMasters/notesMaster1.xml" Id="Rc643174660c24ae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f5aa5bca33b42c6" /><Relationship Type="http://schemas.openxmlformats.org/officeDocument/2006/relationships/notesMaster" Target="/ppt/notesMasters/notesMaster1.xml" Id="Rc3832232afd44e25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7f20183848284680" /><Relationship Type="http://schemas.openxmlformats.org/officeDocument/2006/relationships/notesMaster" Target="/ppt/notesMasters/notesMaster1.xml" Id="R925391280cd14bd9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c2183442d06f4c3e" /><Relationship Type="http://schemas.openxmlformats.org/officeDocument/2006/relationships/notesMaster" Target="/ppt/notesMasters/notesMaster1.xml" Id="R34fa0a4b1cab45d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c13e408620240f7" /><Relationship Type="http://schemas.openxmlformats.org/officeDocument/2006/relationships/notesMaster" Target="/ppt/notesMasters/notesMaster1.xml" Id="R880f2ebcbdef4e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장에서는 이 서비스가 단순 챗봇이 아니라 교통사고, 과태료, 보험 대응, 법률 근거를 하나의 사건 흐름으로 정리하는 솔루션이라는 점을 열어줍니다.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목차는 문제 배경에서 출발해 사용자 문제, 시장과 차별점, 이용 과정, AI 분석 구조, 구현 범위 순서로 이어집니다. 발표할 때는 기능 나열보다 왜 이 흐름이 필요한지에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섹션은 과실비율 분쟁이 늘고 사용자가 기준을 이해하기 어렵다는 문제를 제기합니다. 이후 슬라이드에서 수치와 인식 격차로 근거를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2024년 분쟁 건수와 10년 증가 흐름을 말하며, 단순 사고 증가가 아니라 보험금과 보험료 할증으로 이어지는 이해관계가 분쟁을 키운다고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공정성, 기본과실, 조사 부족에서 느끼는 정보 격차를 짚습니다. 여기서 우리 서비스는 결론을 대신 내리는 것이 아니라 근거와 한계를 보여주는 도구라고 연결합니다.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 보강 슬라이드입니다. 분쟁 건수, 사용자 인식 격차, 흩어진 근거원을 한 장으로 묶어 시장을 '교통사고 전체'가 아니라 상담 전 근거 검토 수요로 정의합니다.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과실비율은 날씨, 도로 상태, 블랙박스 화각, 유사사고 차이, 고의성 여부처럼 변수가 많습니다. 따라서 AI도 확정 판정보다 변수 구조화와 근거 제시가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프로젝트 소개로 전환합니다. 판단 전 사건 구조화, 근거 기반 답변, 다음 행동 리포트라는 세 가지 가치를 짧게 제시합니다.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구조화의 필요성을 여는 장입니다. 사고나 고지서를 바로 판단하기 전에 어떤 정보가 들어왔는지 분리해야 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고지서, 사고 설명, 사진, 영상에서 위반유형, 장소, 기한, 증거, 사고유형을 먼저 추출한다는 점을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구조화된 정보가 법령, 과실비율 인정기준, 판례, 심의사례 검색으로 이어진다는 연결을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결과물은 이의 가능성, 리스크, 추가 증거, 문의 초안, 다운로드 가능한 리포트입니다. 사용자가 상담 전 스스로 검토할 수 있게 하는 것이 목표입니다.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입력 수집부터 리포트까지의 파이프라인을 요약합니다. 사용자 가치는 쟁점과 근거 확인, 서비스 가치는 흩어진 자료의 사건 단위 연결입니다.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문제 섹션입니다. 고지서, 과실비율, 보험 대응에서 실제 사용자가 반복적으로 겪는 실패 장면을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과실비율, 법률 근거, 상담 리포트가 각각 다른 문제처럼 보이지만 모두 사건 구조화와 근거 검색으로 연결된다고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과태료, 범칙금, 벌점, 사고 과실비율을 구분합니다. 특히 범칙금과 벌점은 리스크가 있어 단정형 문서 생성을 제한해야 한다는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질문을 바로 답하지 않고 검토 가능한 사건 구조로 바꾼다는 메시지를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과태료 고지서 사례입니다. OCR 추출과 처분 유형 분기, 가능성 및 위험 분리를 통해 사용자가 무엇을 확인해야 하는지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보험 과실비율 분쟁 사례입니다. 정답 비율보다 유사 사례, 사실관계 차이, 부족한 증거, 보험사 질문 문구가 사용자에게 더 실용적입니다.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법률/보험 AI에서 품질만큼 중요한 것이 데이터 보호입니다. 차량번호, 고지서, 주소, 영상이 함께 들어오므로 권한 분리와 파일 검사가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시장과 차별점으로 넘어갑니다. 이미 있는 서비스와 아직 비어 있는 조합을 비교할 준비를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개별 기능은 시장에 있지만, 고지서 문서 인식부터 사고자료 구조화, 근거 검색, 리포트까지 한 번에 이어지는 조합은 부족하다고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포털, 보험사 앱, 리걸테크, 일반 AI의 강점과 한계를 공정하게 말합니다. 우리 서비스는 사건자료 기반 리포트 연결에 초점을 둡니다.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경쟁 기능 비교에서는 보험사 독립성, 영상/문서/법령 연결, 개인 운전자용 리포트라는 차이를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우리 서비스의 위치는 전문가 상담 전 셀프 점검입니다. 보험사 AI나 판례 검색과 경쟁하기보다 빈 구간을 메우는 서비스로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차별점 네 가지를 요약합니다. 무조건 이의신청 권유가 아니라 근거, 기한, 증거, 위험을 분리하는 안전한 접근이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이용 섹션으로 넘어갑니다. 입력부터 리포트까지 사용자가 어떤 경험을 하게 되는지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사고자료 처리 흐름입니다. 공식 포털, 보험사, 법률 플랫폼, 생성형 AI가 따로 제공하던 조각을 사건 중심으로 묶는다고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입력부터 내부 분석 모듈, 리포트 저장까지의 흐름입니다. 파일 검사와 분석 통합이 신뢰성의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고지서 인식과 이의 검토입니다. OCR은 필드 추출, Appeal 분석은 가능성과 리스크 분리라는 역할 차이를 분명히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법령·사례 검색입니다. 교통 판례, 과실비율 판례, 심의사례를 활용하되 정답 비율이 아니라 판례·심의사례의 근거와 차이를 보여준다고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상담 리포트 관리는 발표에서 사용자 가치가 가장 잘 보이는 부분입니다. 보험사 대화나 전문가 상담 전 정리된 자료가 되는 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 기능과 AI 분석 구조 섹션입니다. 문서, 영상, 법률 데이터를 연결하되 민감 데이터 보호를 함께 다룹니다.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기술 보강 슬라이드입니다. AI 분석 구조를 OCR, RAG, 사례검색, 리포트 생성의 네 단계로 설명하고, 정답 생성이 아니라 근거 조립이라는 관점을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분석 모듈의 역할을 구분합니다. 오류 유형이 다르므로 하나의 거대 모델보다 모듈 분리와 Supervisor 병합이 더 안전하다는 메시지를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 설계입니다. 권한 분리, 서버 측 인증정보 관리, 파일 검사, 개인정보 최소화, AI 입력 검증을 법률/보험 AI의 기본 조건으로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안전장치입니다. 승소 보장, 과실비율 확정, 자동 제출을 하지 않는다는 선을 명확히 하고, 출처와 한계, 추가 확인사항을 반드시 제공한다고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구현 범위와 기대효과 섹션입니다. MVP에 무엇을 넣고 무엇을 제외했는지 현실적으로 정리합니다.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MVP 범위에서는 가능한 기능과 제외 기능을 구분합니다. 자동 제출이나 확정 표현을 제외했다는 점이 오히려 신뢰 설계라는 점을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평가 계획입니다. OCR, 근거 검색, Vision, 분석 통합, 안전장치를 각각 다른 지표로 평가해야 한다고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구현과 다음 단계입니다. 실제 보험사 내부 데이터와 모든 영상 자동 판정은 후순위이며, 지금은 근거 검색과 리포트 흐름 검증에 집중한다고 말합니다.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 핵심 문장입니다. 교통분쟁 AI는 판단을 대신하는 서비스가 아니라 사용자가 근거를 확인하고 다음 행동을 정리하도록 돕는 서비스입니다.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참고자료 슬라이드입니다. 시장 수치, 공식 기준, 법령, 보안 기준의 출처를 짚고 질의응답으로 넘어갑니다.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Q&amp;A에서는 '확정 판정이 아닌 근거 리포트', '보험사 독립성', '개인정보 보호', 'MVP의 한계와 확장 계획' 네 가지 답변 축을 준비하면 좋습니다.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a6693b81a461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9489503fb44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6bce34af704fd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1aac8b7efb4c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121928914740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d8921e6294d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25de2267d4ec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ee867d7974b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f92e9c43d43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834e2c74144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88d6251b5436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E8E465-550B-4FDF-B291-01E9E4AE66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C0A8EA5-ED30-4140-985F-271797DC87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D7775-4518-4DF5-9445-394547BC8B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E6A0E60-2090-4E42-A783-312432F7A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D567F4F-14B4-4D4D-AA0B-BC1C4A29B3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A633FA-241D-4DB6-874A-C35A68C8D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0C49BA3-DCD7-4565-A8B4-22BB7FAD82F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AF8E70-77EF-407B-9D29-B30E6267D0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394A18-8B06-4DE5-A992-451F58DF22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8DD2C8-A1EF-4E86-A7EB-FE05D3FA4B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299CA5-D89D-4287-8D3F-94432779CE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E14E89-843E-4E12-9968-2FECC81452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61D96AC-704F-4E06-82A9-71699580C2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60526A2-5C5C-45B2-AB03-A13D474ECD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0B32873-ED85-47C5-81A2-601AAFC8E9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FF86C8-1226-4EDC-A65D-112EAF3224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0E9723-DB95-4275-AE90-1C39DF7A883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3A5E7C4-A3B6-497D-A4A8-75FDEDCBAD2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96ACE44-E571-4E2A-8727-0883503A38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44BA40A-E598-4519-9FEB-D2EAF69DF6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796AD6-EE3A-42C7-8396-069DACB60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7E938A-7AB5-4C18-B197-B895DC46BA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D62C7C-99B0-427A-8C7B-633BC807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B23F55B-5373-44C5-9EFD-BC3B805903A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B1AC849-7FA1-4349-90B1-C7BFD3F115D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60A944D-125E-48A2-8C35-8416C534962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60DDBE1-4C43-4F86-8476-2D99024D51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CBD16814-D058-49D0-A1F7-4BC6A0BB93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404AD2B-D2DE-4A26-BA7C-85CA895F0A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2102F97-1996-4AB5-AAD1-61095CB3D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40085FE-0129-4DBA-8053-B307F960DD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263654-1F33-4F9C-957B-C54D73910B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93C4BDB-8610-4E0D-BD0C-66B5DCCDC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4319625-FFFD-488D-A798-DB9E911DB5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261EA7E5-B9EA-44DC-B22E-E335EC3DBE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3CDACE7-7BDA-4DEB-846F-0D87963E7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C614B1-5BF0-4703-B32E-596C8C49B0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D215A4B-0D87-450D-B44E-F5CB513A16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47BAD6A-5D44-40DF-88E3-29472C7EE0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F9D7E9F-CE9F-4DBB-BB73-B36CAEBFB5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47A9785-E71B-43F6-AC03-C95F47321A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19B54C3-F303-4456-963E-90B492A752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1C6985-D8FA-44DE-A79B-60FCB61C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C593D0C-140B-4F85-AC54-EA8D454898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BC593D2-550A-49B1-8421-57A3C2C602D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FB42AAC-AEB7-4FD2-8E84-7816B446EC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C9C517-62BF-4B4E-AA29-0220E9C5BC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D8E27EE-A0FC-45CB-8578-099B52C874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5FD94FF-4ACC-4048-8DC0-B49B80C737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C3A905-8BC0-4088-8EA1-C49F30179D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4BB53A0-D461-4713-AF0F-A60EAFB74A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BDC8431-1B9C-493A-A531-DB81395853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71E7CF-068E-4711-9348-D79F96294A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0F3B39C-D5DB-4CE6-BDD9-9E0B95BC96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14A399-E4A0-4986-AB09-D4C606613C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0B5E51-5790-4FD0-960A-F944894D45C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19B549-0C2C-4E8B-B6C7-176F0589B9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444D2D-BFE3-48D0-85B2-D0EB113F00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5a34bb61464152" /><Relationship Type="http://schemas.openxmlformats.org/officeDocument/2006/relationships/slideLayout" Target="/ppt/slideLayouts/slideLayout1.xml" Id="R06c38fbff4284003" /><Relationship Type="http://schemas.openxmlformats.org/officeDocument/2006/relationships/slideLayout" Target="/ppt/slideLayouts/slideLayout2.xml" Id="R31114e38bb9b483f" /><Relationship Type="http://schemas.openxmlformats.org/officeDocument/2006/relationships/slideLayout" Target="/ppt/slideLayouts/slideLayout3.xml" Id="Rabb6da99b02a420a" /><Relationship Type="http://schemas.openxmlformats.org/officeDocument/2006/relationships/slideLayout" Target="/ppt/slideLayouts/slideLayout4.xml" Id="Rd5239fe60d2449fb" /><Relationship Type="http://schemas.openxmlformats.org/officeDocument/2006/relationships/slideLayout" Target="/ppt/slideLayouts/slideLayout5.xml" Id="R3a0f6131b8454e80" /><Relationship Type="http://schemas.openxmlformats.org/officeDocument/2006/relationships/slideLayout" Target="/ppt/slideLayouts/slideLayout6.xml" Id="R47be7f5e9c7c41a1" /><Relationship Type="http://schemas.openxmlformats.org/officeDocument/2006/relationships/slideLayout" Target="/ppt/slideLayouts/slideLayout7.xml" Id="Rf3d502b7705d4459" /><Relationship Type="http://schemas.openxmlformats.org/officeDocument/2006/relationships/slideLayout" Target="/ppt/slideLayouts/slideLayout8.xml" Id="Rdc0ff63f13d24904" /><Relationship Type="http://schemas.openxmlformats.org/officeDocument/2006/relationships/slideLayout" Target="/ppt/slideLayouts/slideLayout9.xml" Id="R2843efa1d5b04d19" /><Relationship Type="http://schemas.openxmlformats.org/officeDocument/2006/relationships/slideLayout" Target="/ppt/slideLayouts/slideLayout10.xml" Id="Rff12dc7532244451" /><Relationship Type="http://schemas.openxmlformats.org/officeDocument/2006/relationships/slideLayout" Target="/ppt/slideLayouts/slideLayout11.xml" Id="R3928129e40f94b6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40BD951-D60B-4C8E-929F-366353FC7A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E1A1C22-507C-48A4-A6FE-9EAFEFB09A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502A29-747D-4CD1-8B81-8D364FE3D8E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7/7/2026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79F249-CBED-4EC1-9527-476FEBA3ED3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DC49A4-D4C4-4724-A727-15736B7E6B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c38fbff4284003"/>
    <p:sldLayoutId xmlns:r="http://schemas.openxmlformats.org/officeDocument/2006/relationships" id="2147483650" r:id="R31114e38bb9b483f"/>
    <p:sldLayoutId xmlns:r="http://schemas.openxmlformats.org/officeDocument/2006/relationships" id="2147483651" r:id="Rabb6da99b02a420a"/>
    <p:sldLayoutId xmlns:r="http://schemas.openxmlformats.org/officeDocument/2006/relationships" id="2147483652" r:id="Rd5239fe60d2449fb"/>
    <p:sldLayoutId xmlns:r="http://schemas.openxmlformats.org/officeDocument/2006/relationships" id="2147483653" r:id="R3a0f6131b8454e80"/>
    <p:sldLayoutId xmlns:r="http://schemas.openxmlformats.org/officeDocument/2006/relationships" id="2147483654" r:id="R47be7f5e9c7c41a1"/>
    <p:sldLayoutId xmlns:r="http://schemas.openxmlformats.org/officeDocument/2006/relationships" id="2147483655" r:id="Rf3d502b7705d4459"/>
    <p:sldLayoutId xmlns:r="http://schemas.openxmlformats.org/officeDocument/2006/relationships" id="2147483656" r:id="Rdc0ff63f13d24904"/>
    <p:sldLayoutId xmlns:r="http://schemas.openxmlformats.org/officeDocument/2006/relationships" id="2147483657" r:id="R2843efa1d5b04d19"/>
    <p:sldLayoutId xmlns:r="http://schemas.openxmlformats.org/officeDocument/2006/relationships" id="2147483658" r:id="Rff12dc7532244451"/>
    <p:sldLayoutId xmlns:r="http://schemas.openxmlformats.org/officeDocument/2006/relationships" id="2147483659" r:id="R3928129e40f94b60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436a8b35734479" /><Relationship Type="http://schemas.openxmlformats.org/officeDocument/2006/relationships/image" Target="/ppt/media/image.png" Id="Rd98671d8115146db" /><Relationship Type="http://schemas.openxmlformats.org/officeDocument/2006/relationships/notesSlide" Target="/ppt/notesSlides/notesSlide1.xml" Id="R994f832d6f1c4f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3cd49b3f24f4e36" /><Relationship Type="http://schemas.openxmlformats.org/officeDocument/2006/relationships/notesSlide" Target="/ppt/notesSlides/notesSlide2.xml" Id="Rdba5952b467a49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ec3f0f7d56469d" /><Relationship Type="http://schemas.openxmlformats.org/officeDocument/2006/relationships/notesSlide" Target="/ppt/notesSlides/notesSlide3.xml" Id="R90977c11c53b4f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d5f1f1e0def485e" /><Relationship Type="http://schemas.openxmlformats.org/officeDocument/2006/relationships/chart" Target="/ppt/slides/charts/chart1.xml" Id="R8bffeb9bea934a72" /><Relationship Type="http://schemas.openxmlformats.org/officeDocument/2006/relationships/notesSlide" Target="/ppt/notesSlides/notesSlide4.xml" Id="Raf260d57e88c47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910213d25f8472b" /><Relationship Type="http://schemas.openxmlformats.org/officeDocument/2006/relationships/notesSlide" Target="/ppt/notesSlides/notesSlide5.xml" Id="R92d708c7ce2441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204fa6451047f4" /><Relationship Type="http://schemas.openxmlformats.org/officeDocument/2006/relationships/image" Target="/ppt/media/image2.png" Id="R99769fe00ae943da" /><Relationship Type="http://schemas.openxmlformats.org/officeDocument/2006/relationships/notesSlide" Target="/ppt/notesSlides/notesSlide6.xml" Id="R165261c48b6b4a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4e44d84c74eff" /><Relationship Type="http://schemas.openxmlformats.org/officeDocument/2006/relationships/notesSlide" Target="/ppt/notesSlides/notesSlide7.xml" Id="R73afe084f41d41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3c772a18374d6d" /><Relationship Type="http://schemas.openxmlformats.org/officeDocument/2006/relationships/notesSlide" Target="/ppt/notesSlides/notesSlide8.xml" Id="Rc04b34d59cc5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ae8d467e10404f" /><Relationship Type="http://schemas.openxmlformats.org/officeDocument/2006/relationships/image" Target="/ppt/media/image3.png" Id="Rbbb8dc8a66de4683" /><Relationship Type="http://schemas.openxmlformats.org/officeDocument/2006/relationships/image" Target="/ppt/media/image4.png" Id="R3c0a4ef2633b46e9" /><Relationship Type="http://schemas.openxmlformats.org/officeDocument/2006/relationships/image" Target="/ppt/media/image5.png" Id="Re3522f1ff21f4008" /><Relationship Type="http://schemas.openxmlformats.org/officeDocument/2006/relationships/image" Target="/ppt/media/image6.png" Id="R99f8e23934f94056" /><Relationship Type="http://schemas.openxmlformats.org/officeDocument/2006/relationships/image" Target="/ppt/media/image.svg" Id="R902ee9ae5f414a5b" /><Relationship Type="http://schemas.openxmlformats.org/officeDocument/2006/relationships/notesSlide" Target="/ppt/notesSlides/notesSlide9.xml" Id="Rc33586e541a64b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ec5db57a3649d0" /><Relationship Type="http://schemas.openxmlformats.org/officeDocument/2006/relationships/image" Target="/ppt/media/image3.png" Id="R1ce0d6b8d3e94330" /><Relationship Type="http://schemas.openxmlformats.org/officeDocument/2006/relationships/image" Target="/ppt/media/image4.png" Id="Rf287076d812244dd" /><Relationship Type="http://schemas.openxmlformats.org/officeDocument/2006/relationships/image" Target="/ppt/media/image5.png" Id="R68f50fec9b1b4e42" /><Relationship Type="http://schemas.openxmlformats.org/officeDocument/2006/relationships/image" Target="/ppt/media/image7.png" Id="R972e007348344c7f" /><Relationship Type="http://schemas.openxmlformats.org/officeDocument/2006/relationships/image" Target="/ppt/media/image2.svg" Id="R00a3eba95afe4663" /><Relationship Type="http://schemas.openxmlformats.org/officeDocument/2006/relationships/image" Target="/ppt/media/image6.png" Id="Ra2c3d37de26f4d82" /><Relationship Type="http://schemas.openxmlformats.org/officeDocument/2006/relationships/image" Target="/ppt/media/image.svg" Id="Ra11b07831b0e468d" /><Relationship Type="http://schemas.openxmlformats.org/officeDocument/2006/relationships/notesSlide" Target="/ppt/notesSlides/notesSlide10.xml" Id="R8f354d9f4c4947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f9ba726f3544685" /><Relationship Type="http://schemas.openxmlformats.org/officeDocument/2006/relationships/image" Target="/ppt/media/image3.png" Id="R87a3ef29a8bb45ab" /><Relationship Type="http://schemas.openxmlformats.org/officeDocument/2006/relationships/image" Target="/ppt/media/image4.png" Id="R95248f67a0ab4db7" /><Relationship Type="http://schemas.openxmlformats.org/officeDocument/2006/relationships/image" Target="/ppt/media/image5.png" Id="Re7b40f4fc5c94487" /><Relationship Type="http://schemas.openxmlformats.org/officeDocument/2006/relationships/image" Target="/ppt/media/image7.png" Id="Re54a584a23ef48b0" /><Relationship Type="http://schemas.openxmlformats.org/officeDocument/2006/relationships/image" Target="/ppt/media/image2.svg" Id="R156d85e36ec34000" /><Relationship Type="http://schemas.openxmlformats.org/officeDocument/2006/relationships/image" Target="/ppt/media/image6.png" Id="R64cad2e280ff48e3" /><Relationship Type="http://schemas.openxmlformats.org/officeDocument/2006/relationships/image" Target="/ppt/media/image.svg" Id="R44f81545e9e04a4c" /><Relationship Type="http://schemas.openxmlformats.org/officeDocument/2006/relationships/notesSlide" Target="/ppt/notesSlides/notesSlide11.xml" Id="R8e902289a82a4e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f11d80b1454f9c" /><Relationship Type="http://schemas.openxmlformats.org/officeDocument/2006/relationships/image" Target="/ppt/media/image3.png" Id="R7a40c19d351646c7" /><Relationship Type="http://schemas.openxmlformats.org/officeDocument/2006/relationships/image" Target="/ppt/media/image4.png" Id="R0effa184b08841a6" /><Relationship Type="http://schemas.openxmlformats.org/officeDocument/2006/relationships/image" Target="/ppt/media/image5.png" Id="R9a62a3deeb88485b" /><Relationship Type="http://schemas.openxmlformats.org/officeDocument/2006/relationships/image" Target="/ppt/media/image7.png" Id="R6c3a71d942de4e66" /><Relationship Type="http://schemas.openxmlformats.org/officeDocument/2006/relationships/image" Target="/ppt/media/image2.svg" Id="R68b8e717357f42e7" /><Relationship Type="http://schemas.openxmlformats.org/officeDocument/2006/relationships/image" Target="/ppt/media/image6.png" Id="Rf62adb648cd749f5" /><Relationship Type="http://schemas.openxmlformats.org/officeDocument/2006/relationships/image" Target="/ppt/media/image.svg" Id="R0d7883a0236b467c" /><Relationship Type="http://schemas.openxmlformats.org/officeDocument/2006/relationships/notesSlide" Target="/ppt/notesSlides/notesSlide12.xml" Id="Re1f97c673dad45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5f656aa4354ba5" /><Relationship Type="http://schemas.openxmlformats.org/officeDocument/2006/relationships/notesSlide" Target="/ppt/notesSlides/notesSlide13.xml" Id="R3cae014fae5e4f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48f377c2b14f25" /><Relationship Type="http://schemas.openxmlformats.org/officeDocument/2006/relationships/notesSlide" Target="/ppt/notesSlides/notesSlide14.xml" Id="R8a85c9af085c4cf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5a70530b07439f" /><Relationship Type="http://schemas.openxmlformats.org/officeDocument/2006/relationships/notesSlide" Target="/ppt/notesSlides/notesSlide15.xml" Id="Rfb0536365f2049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bc95d9f3fc4e8e" /><Relationship Type="http://schemas.openxmlformats.org/officeDocument/2006/relationships/notesSlide" Target="/ppt/notesSlides/notesSlide16.xml" Id="R924da16214254ac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863acf40bc4379" /><Relationship Type="http://schemas.openxmlformats.org/officeDocument/2006/relationships/notesSlide" Target="/ppt/notesSlides/notesSlide17.xml" Id="R72a1e746d47f4df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e0822c724845eb" /><Relationship Type="http://schemas.openxmlformats.org/officeDocument/2006/relationships/notesSlide" Target="/ppt/notesSlides/notesSlide18.xml" Id="R75f3f5eb8f0149f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eecfd34c9f4eaf" /><Relationship Type="http://schemas.openxmlformats.org/officeDocument/2006/relationships/notesSlide" Target="/ppt/notesSlides/notesSlide19.xml" Id="Ra7eb5b5fae4b4b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4ba91a7c904573" /><Relationship Type="http://schemas.openxmlformats.org/officeDocument/2006/relationships/notesSlide" Target="/ppt/notesSlides/notesSlide20.xml" Id="R13c26b5f9398424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d9be303acd4395" /><Relationship Type="http://schemas.openxmlformats.org/officeDocument/2006/relationships/notesSlide" Target="/ppt/notesSlides/notesSlide21.xml" Id="Rcf2bf4f4cc22402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a33c227d864678" /><Relationship Type="http://schemas.openxmlformats.org/officeDocument/2006/relationships/notesSlide" Target="/ppt/notesSlides/notesSlide22.xml" Id="R359ea03a4c47458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2f516478fd4ef0" /><Relationship Type="http://schemas.openxmlformats.org/officeDocument/2006/relationships/notesSlide" Target="/ppt/notesSlides/notesSlide23.xml" Id="Rb76f2ce4015540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99d616bb6a4bd0" /><Relationship Type="http://schemas.openxmlformats.org/officeDocument/2006/relationships/notesSlide" Target="/ppt/notesSlides/notesSlide24.xml" Id="R1cc6b90bcd0745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dadb30c9d614ba3" /><Relationship Type="http://schemas.openxmlformats.org/officeDocument/2006/relationships/notesSlide" Target="/ppt/notesSlides/notesSlide25.xml" Id="Ra11f7c1419f7495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c9828c1c0b4dfc" /><Relationship Type="http://schemas.openxmlformats.org/officeDocument/2006/relationships/notesSlide" Target="/ppt/notesSlides/notesSlide26.xml" Id="R99e6673a3a3c4c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481c52d07624fe6" /><Relationship Type="http://schemas.openxmlformats.org/officeDocument/2006/relationships/notesSlide" Target="/ppt/notesSlides/notesSlide27.xml" Id="Re8d0fc272ec341d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5bc44945bb443f" /><Relationship Type="http://schemas.openxmlformats.org/officeDocument/2006/relationships/notesSlide" Target="/ppt/notesSlides/notesSlide28.xml" Id="Rada57db2a7a640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ae5e2c94624407" /><Relationship Type="http://schemas.openxmlformats.org/officeDocument/2006/relationships/notesSlide" Target="/ppt/notesSlides/notesSlide29.xml" Id="R767240fe0ed84f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560c550c78445f" /><Relationship Type="http://schemas.openxmlformats.org/officeDocument/2006/relationships/notesSlide" Target="/ppt/notesSlides/notesSlide30.xml" Id="Re0c274bab9714f1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7179434169f4007" /><Relationship Type="http://schemas.openxmlformats.org/officeDocument/2006/relationships/notesSlide" Target="/ppt/notesSlides/notesSlide31.xml" Id="Rd5ef76c0ad6c4a9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125873d97fa46f7" /><Relationship Type="http://schemas.openxmlformats.org/officeDocument/2006/relationships/notesSlide" Target="/ppt/notesSlides/notesSlide32.xml" Id="R0f79aa36089b420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cfbb40aa8c42b6" /><Relationship Type="http://schemas.openxmlformats.org/officeDocument/2006/relationships/notesSlide" Target="/ppt/notesSlides/notesSlide33.xml" Id="R1d0596bbc4144fe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a5de6b4026f4181" /><Relationship Type="http://schemas.openxmlformats.org/officeDocument/2006/relationships/image" Target="/ppt/media/image8.png" Id="Rc4112688ab0f4e26" /><Relationship Type="http://schemas.openxmlformats.org/officeDocument/2006/relationships/notesSlide" Target="/ppt/notesSlides/notesSlide34.xml" Id="Rac6c8e2b507345a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70483efaaf545af" /><Relationship Type="http://schemas.openxmlformats.org/officeDocument/2006/relationships/notesSlide" Target="/ppt/notesSlides/notesSlide35.xml" Id="R5c80c0c6ee634f0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e46dc7e46f43e3" /><Relationship Type="http://schemas.openxmlformats.org/officeDocument/2006/relationships/notesSlide" Target="/ppt/notesSlides/notesSlide36.xml" Id="R6aa9f0c96de6463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41e075544ef4cec" /><Relationship Type="http://schemas.openxmlformats.org/officeDocument/2006/relationships/notesSlide" Target="/ppt/notesSlides/notesSlide37.xml" Id="R7eaa9c34d5cf480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d7832215cf4a50" /><Relationship Type="http://schemas.openxmlformats.org/officeDocument/2006/relationships/notesSlide" Target="/ppt/notesSlides/notesSlide38.xml" Id="Raa9c3c3b225e43f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f88d7e89a14b80" /><Relationship Type="http://schemas.openxmlformats.org/officeDocument/2006/relationships/notesSlide" Target="/ppt/notesSlides/notesSlide39.xml" Id="Re190951e1488419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25187dc76884fd6" /><Relationship Type="http://schemas.openxmlformats.org/officeDocument/2006/relationships/notesSlide" Target="/ppt/notesSlides/notesSlide40.xml" Id="R9e09cc1dad9640a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d88ec02e2d4ad3" /><Relationship Type="http://schemas.openxmlformats.org/officeDocument/2006/relationships/notesSlide" Target="/ppt/notesSlides/notesSlide41.xml" Id="Rf77517f912c042f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dc6d85670749e1" /><Relationship Type="http://schemas.openxmlformats.org/officeDocument/2006/relationships/notesSlide" Target="/ppt/notesSlides/notesSlide42.xml" Id="R6e73bb61f52044d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8185d4af18b494d" /><Relationship Type="http://schemas.openxmlformats.org/officeDocument/2006/relationships/notesSlide" Target="/ppt/notesSlides/notesSlide43.xml" Id="R56dbcf30cf714121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3b1ce9735b4327" /><Relationship Type="http://schemas.openxmlformats.org/officeDocument/2006/relationships/notesSlide" Target="/ppt/notesSlides/notesSlide44.xml" Id="R11be1b4620b440c3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1"/>
    </mc:Choice>
    <mc:Fallback>
      <c:style val="1"/>
    </mc:Fallback>
  </mc:AlternateContent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분쟁청구 건수</c:v>
                </c:pt>
              </c:strCache>
            </c:strRef>
          </c:tx>
          <c:spPr>
            <a:solidFill xmlns:a="http://schemas.openxmlformats.org/drawingml/2006/main">
              <a:schemeClr val="dk1">
                <a:tint val="88500"/>
              </a:schemeClr>
            </a:solidFill>
            <a:ln xmlns:a="http://schemas.openxmlformats.org/drawingml/2006/main">
              <a:noFill/>
            </a:ln>
          </c:spPr>
          <c:invertIfNegative val="0"/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97" b="0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leaderLines>
              <c:spPr>
                <a:ln xmlns:a="http://schemas.openxmlformats.org/drawingml/2006/main" w="9525" cmpd="sng">
                  <a:solidFill>
                    <a:schemeClr val="tx1">
                      <a:lumMod val="35000"/>
                      <a:lumOff val="65000"/>
                    </a:schemeClr>
                  </a:solidFill>
                </a:ln>
              </c:spPr>
            </c:leaderLines>
          </c:dLbls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Sheet1!$B$2:$B$13</c:f>
              <c:numCache>
                <c:formatCode>#,##0</c:formatCode>
                <c:ptCount val="12"/>
                <c:pt idx="0">
                  <c:v>26093</c:v>
                </c:pt>
                <c:pt idx="1">
                  <c:v>30206</c:v>
                </c:pt>
                <c:pt idx="2">
                  <c:v>43480</c:v>
                </c:pt>
                <c:pt idx="3">
                  <c:v>52590</c:v>
                </c:pt>
                <c:pt idx="4">
                  <c:v>61401</c:v>
                </c:pt>
                <c:pt idx="5">
                  <c:v>75597</c:v>
                </c:pt>
                <c:pt idx="6">
                  <c:v>102456</c:v>
                </c:pt>
                <c:pt idx="7">
                  <c:v>104077</c:v>
                </c:pt>
                <c:pt idx="8">
                  <c:v>113804</c:v>
                </c:pt>
                <c:pt idx="9">
                  <c:v>120965</c:v>
                </c:pt>
                <c:pt idx="10">
                  <c:v>136225</c:v>
                </c:pt>
                <c:pt idx="11">
                  <c:v>156812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22764400"/>
        <c:axId val="1431180720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청구 건수 전년 대비 증가율 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5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dk1">
                  <a:tint val="55000"/>
                </a:schemeClr>
              </a:solidFill>
              <a:ln xmlns:a="http://schemas.openxmlformats.org/drawingml/2006/main" w="9525">
                <a:solidFill>
                  <a:schemeClr val="dk1">
                    <a:tint val="5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16.2</c:v>
                </c:pt>
                <c:pt idx="1">
                  <c:v>16</c:v>
                </c:pt>
                <c:pt idx="2">
                  <c:v>43.7</c:v>
                </c:pt>
                <c:pt idx="3">
                  <c:v>20.9</c:v>
                </c:pt>
                <c:pt idx="4">
                  <c:v>16.8</c:v>
                </c:pt>
                <c:pt idx="5">
                  <c:v>23.1</c:v>
                </c:pt>
                <c:pt idx="6">
                  <c:v>35.5</c:v>
                </c:pt>
                <c:pt idx="7">
                  <c:v>1.6</c:v>
                </c:pt>
                <c:pt idx="8">
                  <c:v>9.4</c:v>
                </c:pt>
                <c:pt idx="9">
                  <c:v>6.3</c:v>
                </c:pt>
                <c:pt idx="10">
                  <c:v>12.6</c:v>
                </c:pt>
                <c:pt idx="11">
                  <c:v>15.1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분쟁청구 건수/대물배상수리 건수</c:v>
                </c:pt>
              </c:strCache>
            </c:strRef>
          </c:tx>
          <c:spPr>
            <a:ln xmlns:a="http://schemas.openxmlformats.org/drawingml/2006/main" w="28575">
              <a:solidFill>
                <a:schemeClr val="dk1">
                  <a:tint val="75000"/>
                </a:schemeClr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chemeClr val="tx1">
                  <a:lumMod val="50000"/>
                  <a:lumOff val="50000"/>
                </a:schemeClr>
              </a:solidFill>
              <a:ln xmlns:a="http://schemas.openxmlformats.org/drawingml/2006/main" w="9525">
                <a:solidFill>
                  <a:schemeClr val="dk1">
                    <a:tint val="75000"/>
                  </a:schemeClr>
                </a:solidFill>
              </a:ln>
            </c:spPr>
          </c:marker>
          <c:cat>
            <c:numRef>
              <c:f>Sheet1!$A$2:$A$13</c:f>
              <c:numCache>
                <c:formatCode>General</c:formatCod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numCache>
            </c:num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0.9</c:v>
                </c:pt>
                <c:pt idx="1">
                  <c:v>1</c:v>
                </c:pt>
                <c:pt idx="2">
                  <c:v>1.4</c:v>
                </c:pt>
                <c:pt idx="3">
                  <c:v>1.7</c:v>
                </c:pt>
                <c:pt idx="4">
                  <c:v>2</c:v>
                </c:pt>
                <c:pt idx="5">
                  <c:v>2.4</c:v>
                </c:pt>
                <c:pt idx="6">
                  <c:v>3.2</c:v>
                </c:pt>
                <c:pt idx="7">
                  <c:v>3.6</c:v>
                </c:pt>
                <c:pt idx="8">
                  <c:v>4</c:v>
                </c:pt>
                <c:pt idx="9">
                  <c:v>4.3</c:v>
                </c:pt>
                <c:pt idx="10">
                  <c:v>4.7</c:v>
                </c:pt>
                <c:pt idx="11">
                  <c:v>5.4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22781104"/>
        <c:axId val="1431186960"/>
      </c:lineChart>
      <c:catAx>
        <c:axId val="1622764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>
                <a:lumMod val="15000"/>
                <a:lumOff val="85000"/>
              </a:schemeClr>
            </a:solidFill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431180720"/>
        <c:crosses val="autoZero"/>
        <c:lblAlgn val="ctr"/>
        <c:lblOffset val="100"/>
        <c:noMultiLvlLbl val="0"/>
      </c:catAx>
      <c:valAx>
        <c:axId val="1431180720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64400"/>
        <c:crosses val="autoZero"/>
        <c:crossBetween val="between"/>
      </c:valAx>
      <c:valAx>
        <c:axId val="1431186960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ln xmlns:a="http://schemas.openxmlformats.org/drawingml/2006/main">
            <a:noFill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197" b="0" i="0" u="none">
                <a:solidFill>
                  <a:schemeClr val="bg1"/>
                </a:solidFill>
                <a:latin typeface="+mn-lt"/>
                <a:ea typeface="+mn-lt"/>
                <a:cs typeface="+mn-lt"/>
              </a:defRPr>
            </a:pPr>
          </a:p>
        </c:txPr>
        <c:crossAx val="1622781104"/>
        <c:crosses val="max"/>
        <c:crossBetween val="between"/>
      </c:valAx>
      <c:catAx>
        <c:axId val="162278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431186960"/>
        <c:crosses val="autoZero"/>
        <c:lblAlgn val="ctr"/>
        <c:lblOffset val="100"/>
        <c:noMultiLvlLbl val="0"/>
      </c:catAx>
      <c:spPr>
        <a:noFill xmlns:a="http://schemas.openxmlformats.org/drawingml/2006/main"/>
        <a:ln xmlns:a="http://schemas.openxmlformats.org/drawingml/2006/main" w="25400">
          <a:noFill/>
        </a:ln>
      </c:spPr>
    </c:plotArea>
    <c:legend>
      <c:legendPos val="b"/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197" b="0" i="0" u="none">
              <a:solidFill>
                <a:schemeClr val="bg1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5BFC80C-0A60-4E79-8E4D-6C28EC11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716280"/>
            <a:ext cx="713232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 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기반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93034EB-5CDC-4990-9DAF-072FA99A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808" y="1388114"/>
            <a:ext cx="7132320" cy="7755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및 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4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솔루션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7989464-E5F3-4916-BD6A-5C138589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96" y="2430186"/>
            <a:ext cx="786384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과실비율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/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대응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·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법률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근거를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사건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중심으로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재구성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F39419-907E-4AE2-B1B6-C59106C7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6153912"/>
            <a:ext cx="4572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SKN27 FINAL 3Team</a:t>
            </a:r>
          </a:p>
        </p:txBody>
      </p:sp>
      <p:pic>
        <p:nvPicPr>
          <p:cNvPr id="21" name="그림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11166477" y="-123979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9808718" y="776661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3" name="그림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8286195" y="1781763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4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6802038" y="2768622"/>
            <a:ext cx="2520944" cy="1585335"/>
          </a:xfrm>
          <a:prstGeom xmlns:a="http://schemas.openxmlformats.org/drawingml/2006/main" prst="rect">
            <a:avLst/>
          </a:prstGeom>
        </p:spPr>
      </p:pic>
      <p:pic>
        <p:nvPicPr>
          <p:cNvPr id="2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5785567" y="3432453"/>
            <a:ext cx="2520945" cy="1585335"/>
          </a:xfrm>
          <a:prstGeom xmlns:a="http://schemas.openxmlformats.org/drawingml/2006/main" prst="rect">
            <a:avLst/>
          </a:prstGeom>
        </p:spPr>
      </p:pic>
      <p:pic>
        <p:nvPicPr>
          <p:cNvPr id="26" name="그림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11193085" y="324063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7" name="그림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10153665" y="3923815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8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9091412" y="4624282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29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8005692" y="5347900"/>
            <a:ext cx="1836305" cy="1836305"/>
          </a:xfrm>
          <a:prstGeom xmlns:a="http://schemas.openxmlformats.org/drawingml/2006/main" prst="rect">
            <a:avLst/>
          </a:prstGeom>
        </p:spPr>
      </p:pic>
      <p:pic>
        <p:nvPicPr>
          <p:cNvPr id="30" name="그림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8671d8115146db">
            <a:duotone>
              <a:schemeClr val="bg2">
                <a:shade val="45000"/>
                <a:satMod val="135000"/>
              </a:scheme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3388278" flipH="0" flipV="0">
            <a:off x="6966272" y="6033837"/>
            <a:ext cx="1836305" cy="18363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1044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38687E1-2B11-4D68-A1D3-2772F7BA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05" y="553141"/>
            <a:ext cx="3888042" cy="867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CONTENTS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E57556-2E19-40DC-8168-86FA29F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555" y="1964426"/>
            <a:ext cx="17443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8C06455-5322-402F-BEFF-D27C9FDE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087" y="220313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E44938-CB96-4D96-9BD9-C560DCBB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7754" y="2734049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분쟁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증가와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소비자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격차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0771E2F-8E22-41FC-A3BB-ADF1CB11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488" y="3102175"/>
            <a:ext cx="1251308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6F7F429-C1FA-475D-9310-D8B9CE35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854" y="33588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겪는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93BD936-23EE-4789-A23E-E4535EA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854" y="3926123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고지서·과실비율·보험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대응에서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반복되는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어려움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E51FBF5-3225-458C-B5F3-76E21ECC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388" y="4342068"/>
            <a:ext cx="115350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2D6509E-E406-452B-8730-E575515E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928" y="4594776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서비스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이용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과정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463516-8B4D-419E-8029-58DEA37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854" y="509492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사고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내용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입력부터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근거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리포트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생성까지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5A50D5E-D555-4D6C-8286-1AE1E17C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45" y="4278461"/>
            <a:ext cx="1338697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127C8A-1B2F-4FE1-8425-9D954A02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4547525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핵심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기능과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구조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B8D26FB-9CFD-4172-871E-B33757F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5082215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문서·영상·법률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데이터를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연결하는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과정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7E32FC0B-DBCC-469B-9424-FA8E370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270" y="5407175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07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CEDB4D1-486B-4B05-AA6E-4ADE3295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810" y="5655892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범위와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0F79D8A-CC64-4C7B-B0CD-232CFE10D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810" y="6186568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MVP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계획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향후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확장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방향</a:t>
            </a:r>
          </a:p>
        </p:txBody>
      </p:sp>
      <p:sp>
        <p:nvSpPr>
          <p:cNvPr id="2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B71B375-37A8-DEF2-A6A0-1EA9265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09538" y="1470916"/>
            <a:ext cx="3056406" cy="857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0FC8564-B5F4-4AA1-9545-C731E96B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45" y="2029634"/>
            <a:ext cx="1523892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75000"/>
                  </a:schemeClr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BF6965C-87D9-46B9-893A-2A3FFD3B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2240571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프로젝트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소개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5D1792E-FB24-4752-B01F-C9222EE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2738041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목표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F973777-73C4-4EB3-9E03-494BA8D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245" y="3107109"/>
            <a:ext cx="1744396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bg1">
                    <a:lumMod val="85000"/>
                  </a:schemeClr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2CEAFEF-71AC-45BA-9733-173DFDD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4" y="3291774"/>
            <a:ext cx="369879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시장과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차별점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56249C7-0A4F-4E3E-B736-B6A9F0FC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24873" y="3840118"/>
            <a:ext cx="4894587" cy="2523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기존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한계와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교통분쟁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AI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서비스의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해결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0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방식</a:t>
            </a:r>
          </a:p>
        </p:txBody>
      </p:sp>
    </p:spTree>
    <p:extLst>
      <p:ext uri="{BB962C8B-B14F-4D97-AF65-F5344CB8AC3E}">
        <p14:creationId xmlns:p14="http://schemas.microsoft.com/office/powerpoint/2010/main" val="77743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8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84A3388-FD74-637E-363E-51A0E04F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622421-7A3C-4787-B909-F69FDBCD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6417F05-E3F1-4055-A5E9-CAEFC7AB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70446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E78819-1B7C-485D-ABFB-56CE1ACB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분쟁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증가와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소비자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정보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00" b="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격차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78641D5-0885-4A4F-8AD3-CEDF328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DA466D9-90D4-9CC2-567D-7F8182AC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분쟁청구 건수의 장기 증가 추세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소비자 인식과 기준의 격차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사고 판단의 중요한 변수들</a:t>
            </a:r>
          </a:p>
        </p:txBody>
      </p:sp>
    </p:spTree>
    <p:extLst>
      <p:ext uri="{BB962C8B-B14F-4D97-AF65-F5344CB8AC3E}">
        <p14:creationId xmlns:p14="http://schemas.microsoft.com/office/powerpoint/2010/main" val="17107938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8D5201-EDDD-4280-A2D4-A94F0FF1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13A57E2-7AAA-4665-A1DE-B36103DB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분쟁 증가 추세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16E277B-0B3D-4615-AE6F-44D94982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04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DFFE523-3B4B-48FD-B541-5AE01663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1714067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156,812건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5420034-E096-4C20-8324-92D7C231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21688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2024년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건수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897BE4-BCDE-4F1A-93C2-DFA66AF5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964" y="2519427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약 3만 건 대비 5배 이상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CE95F79-45B9-4FB8-BE2D-060AACCF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8271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82F861E-479F-4CBA-91E5-7B0DFBC1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5.4%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7376876-E2B2-4566-B67A-FB43DF2D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대물 수리 대비 비율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03C7B18-7ABC-4C61-9776-726F074E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501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2014년 1.0% → 2024년 5.4%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EBE80A0-6A56-4BC2-8429-77F52F42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738" y="1559307"/>
            <a:ext cx="219456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4E9F1AC-DAB9-46A4-8893-98F448D9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1694403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5.2배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A747B1B-DD81-4716-AA5A-5E614995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188179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 건수 증가폭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47A55DE-8BAE-4BE8-89AC-43EB5D6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378" y="2489931"/>
            <a:ext cx="19202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00" b="0">
                <a:solidFill>
                  <a:srgbClr val="AFAFAF"/>
                </a:solidFill>
                <a:latin typeface="Malgun Gothic"/>
                <a:ea typeface="Malgun Gothic"/>
                <a:cs typeface="Malgun Gothic"/>
              </a:rPr>
              <a:t>2014년 대비 2024년 기준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E480A21-95BD-4CC4-8196-2F48558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4/40</a:t>
            </a:r>
          </a:p>
        </p:txBody>
      </p:sp>
      <p:sp>
        <p:nvSpPr>
          <p:cNvPr id="46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95E8BF-A003-0367-F5E3-A139BCD0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206" y="1559307"/>
            <a:ext cx="261275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94D2583-3944-F435-BFAC-92B831B8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1684815"/>
            <a:ext cx="19202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10년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718A7123-F98A-CA88-7154-CEEC91E6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6" y="2158927"/>
            <a:ext cx="192024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지속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증가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흐름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142B629E-2B47-F512-CD2F-7142C6C3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4365" y="2450846"/>
            <a:ext cx="2741234" cy="1985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보험금·보험료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할증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영향으로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분쟁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확대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B537376B-43EB-4743-8989-D40D583D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graphicFrame>
        <p:nvGraphicFramePr>
          <p:cNvPr id="75" name="차트 20"/>
          <p:cNvGraphicFramePr/>
          <p:nvPr/>
        </p:nvGraphicFramePr>
        <p:xfrm>
          <a:off xmlns:a="http://schemas.openxmlformats.org/drawingml/2006/main" x="2164714" y="3205841"/>
          <a:ext xmlns:a="http://schemas.openxmlformats.org/drawingml/2006/main" cx="7588687" cy="3268111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ffeb9bea934a72"/>
          </a:graphicData>
        </a:graphic>
      </p:graphicFrame>
    </p:spTree>
    <p:extLst>
      <p:ext uri="{BB962C8B-B14F-4D97-AF65-F5344CB8AC3E}">
        <p14:creationId xmlns:p14="http://schemas.microsoft.com/office/powerpoint/2010/main" val="1739705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3E555E-F461-EAF1-3F9A-9824D0CE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9DDF49-FEC5-2518-DB14-81798FC4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38C3967-EF04-83FC-7B84-342AED6F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A8F383-2F56-D545-0E98-864B7D5F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19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04AAFD-F605-CDC0-5167-E1CC31A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4215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BE8E6D-BE89-E79C-3535-45AA71B2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1906280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34.9%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9C9031-B49A-99AE-AED8-6AED7CCA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400056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공정하지 않다고 인식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52882EE-D76C-3875-DED7-DFDA2BBF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9698" y="2701808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최근 3년 사고 경험자 기준</a:t>
            </a:r>
          </a:p>
        </p:txBody>
      </p:sp>
      <p:sp>
        <p:nvSpPr>
          <p:cNvPr id="27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0B1C6B8-BD5D-7693-9867-C3C30A14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3407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6BEC7AD-4D03-27A0-934E-3A34D1B9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1886616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9.3~57.8%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7A20005-2279-AF80-6A5E-D2528117C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380392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기본과실 정답률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50DEE9B-1896-40A7-BE7D-88AB3DAA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9727" y="2682144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사고도표별 편차가 큼</a:t>
            </a:r>
          </a:p>
        </p:txBody>
      </p:sp>
      <p:sp>
        <p:nvSpPr>
          <p:cNvPr id="35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AFD9A1-1095-9F5F-C854-44D14CD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2599" y="1761352"/>
            <a:ext cx="24688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75000"/>
              <a:lumOff val="25000"/>
              <a:alpha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C9CB86D-7F30-4729-9D4F-765B4D30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1876784"/>
            <a:ext cx="21945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33.2%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79BF904-A00C-8331-99B1-1FC1C77A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370560"/>
            <a:ext cx="2194560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조사 부족 인식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AB85649D-3CEE-D40D-F759-80CABBAA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255" y="2672312"/>
            <a:ext cx="219456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경험자 응답 기준</a:t>
            </a:r>
          </a:p>
        </p:txBody>
      </p:sp>
      <p:sp>
        <p:nvSpPr>
          <p:cNvPr id="5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813CA99-5A79-86AB-2177-CBBC0FB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456432"/>
            <a:ext cx="530352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9DF09D1-A02E-65F3-E234-1678AC7F4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593592"/>
            <a:ext cx="49377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관점의 문제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9B3093A-32BA-350F-FEE7-E6C6C5A2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986784"/>
            <a:ext cx="4937759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“왜 내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과실이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잡혔는지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”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설명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블랙박스가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있어도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무엇이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쟁점인지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알기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보험사·분쟁심의·법원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판단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기준을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구분하기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6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어려움</a:t>
            </a:r>
          </a:p>
        </p:txBody>
      </p:sp>
      <p:sp>
        <p:nvSpPr>
          <p:cNvPr id="5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CA603F2-C4DD-89EB-3DFC-CC6A6B28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456432"/>
            <a:ext cx="4983480" cy="2240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079FB0B-3519-7BA2-B9C7-7184EF6A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9359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연결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9F6F799-7042-AB23-833E-ED39FBAB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986784"/>
            <a:ext cx="46177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사고자료를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단위로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기준·판례·심의사례를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함께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결과가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아니라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근거·한계·다음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행동을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보여제공</a:t>
            </a:r>
          </a:p>
        </p:txBody>
      </p:sp>
    </p:spTree>
    <p:extLst>
      <p:ext uri="{BB962C8B-B14F-4D97-AF65-F5344CB8AC3E}">
        <p14:creationId xmlns:p14="http://schemas.microsoft.com/office/powerpoint/2010/main" val="21573199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896E4F-7737-A9AE-CFB0-53F347D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F298DC2-B993-C1AB-2FCC-2C8CA5D0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인식 격차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4DBB4E-BBF3-2C95-885B-5620B918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5/40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D8D3120A-9FA9-EB33-2221-2B5B9FEF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968BF49-CB2A-AD1D-25D8-AE5BD78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2405" y="2997843"/>
            <a:ext cx="213712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뉴스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기사 추가하기</a:t>
            </a:r>
          </a:p>
        </p:txBody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69fe00ae943da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8E4F73-8D53-4270-B6D5-B3F27EAA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0683C0-DA77-4E87-98F5-1BFA3F15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시장 신호는 분쟁의 양보다</a:t>
            </a:r>
          </a:p>
          <a:p xmlns:a="http://schemas.openxmlformats.org/drawingml/2006/main">
            <a:pPr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근거 탐색 비용에 있다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2CFFE2-0F9B-4FBE-8A1C-6FC41326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9C9C9"/>
                </a:solidFill>
              </a:defRPr>
            </a:pPr>
            <a:r>
              <a:rPr sz="1200" b="1">
                <a:solidFill>
                  <a:srgbClr val="C9C9C9"/>
                </a:solidFill>
              </a:rPr>
              <a:t>01  문제 배경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1588DA-958F-4BD4-80C7-6FA84197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C84B4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CCF158-49D4-40CD-8014-7C6FF6B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95B52"/>
                </a:solidFill>
              </a:defRPr>
            </a:pPr>
            <a:r>
              <a:rPr sz="1875" b="1">
                <a:solidFill>
                  <a:srgbClr val="E95B52"/>
                </a:solidFill>
              </a:rPr>
              <a:t>156,812건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4A9082-1A0B-4058-B4A3-F79A65B0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098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2024년 과실비율 분쟁 건수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26D127F-5642-4F95-9CCB-667FDF35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241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2014년 약 3만 건 대비 5배 이상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BE93C91-C499-4226-BB82-509C227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44C1C8-6FBA-428F-BAEE-8575672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433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34.9%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5E0EA1-B264-41A7-9C08-C66218E7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337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공정하지 않다고 인식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AFAFDF-4512-4ED3-BE3C-764B916A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사고 경험자 기준 인식 격차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755831-0B80-4CDD-A754-0B6DAA62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514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B1B1B"/>
          </a:solidFill>
          <a:ln xmlns:a="http://schemas.openxmlformats.org/drawingml/2006/main" w="9525">
            <a:solidFill>
              <a:srgbClr val="3E5557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1D4CABB-59A2-4BEA-841A-B82312B6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8D5D0"/>
                </a:solidFill>
              </a:defRPr>
            </a:pPr>
            <a:r>
              <a:rPr sz="1875" b="1">
                <a:solidFill>
                  <a:srgbClr val="78D5D0"/>
                </a:solidFill>
              </a:rPr>
              <a:t>3개 근거축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D8F5C3-D655-4FAC-B60E-3459AB54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577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인정기준·판례·심의사례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E8EAB48-3A25-49D3-BA81-DD7BD5EF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C7C7"/>
                </a:solidFill>
              </a:defRPr>
            </a:pPr>
            <a:r>
              <a:rPr sz="1050" b="0">
                <a:solidFill>
                  <a:srgbClr val="C7C7C7"/>
                </a:solidFill>
              </a:rPr>
              <a:t>사용자 사건 단위 연결이 핵심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9DC996-7DAA-493A-BF78-94D48A3F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D8D8"/>
                </a:solidFill>
              </a:defRPr>
            </a:pPr>
            <a:r>
              <a:rPr sz="1275" b="0">
                <a:solidFill>
                  <a:srgbClr val="D8D8D8"/>
                </a:solidFill>
              </a:rPr>
              <a:t>핵심 해석 | 시장은 '사고 건수'보다 보험사 설명을 검증하고 상담 전 근거를 정리하려는 사전 검토 수요로 좁혀야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948305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E51685E-A373-9C93-296A-FA71515A5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24D8A30-7532-AAEA-A488-BF185BC1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 판단 변수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4BB14DD-70FE-EC3F-4F0A-F36E0B59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6/40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AF1E2385-6557-07BF-FA00-BF0BFCA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01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배경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C3F9286-6287-ACCE-E348-3F9F076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FD937C-6DF9-2433-C49C-8606107B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악천후·도로상태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5492637-672E-375B-E9C0-702775E1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비·눈·안개는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면책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사유가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아니라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감속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의무와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연결될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 수 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있음</a:t>
            </a: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62BB3E5-23CE-BF8B-C2F2-9E4D890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187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46F040D-9E1A-1D7E-0C3B-ED545D6F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5592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블랙박스의 역설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1F855C1-493B-653B-93B3-26FDC6F0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67406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영상은 강한 증거지만 화각·속도·시야 차이가 오히려 불리하게 작용가능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8B8E362-D156-23C8-5D70-B0D2245F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387189B-7937-530F-D258-038E6BF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유사 사고의 다른 판단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26C3FAA-22C8-63DC-431A-47742116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비슷한 사고라도 사실관계와 판단 주체에 따라 결론이 달라질 가능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4DFB651-38CE-FD01-21DA-09293C03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747566"/>
            <a:ext cx="498348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2477329-2673-32DF-3E1B-430DA3C5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884725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고의성 개입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48E87F9-D31F-312D-EA60-9F863449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296205"/>
            <a:ext cx="4617720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보복운전·보험사기는 일반 과실비율 판단과 분리해야 함</a:t>
            </a:r>
          </a:p>
        </p:txBody>
      </p:sp>
      <p:sp>
        <p:nvSpPr>
          <p:cNvPr id="39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D8E2284-6980-8DAE-2DDB-54E2EFAB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34779"/>
            <a:ext cx="1060704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6402B6-01FB-E385-B633-676B2129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709099"/>
            <a:ext cx="10607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필요한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것은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“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단정하는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AI”가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아니라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,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변수를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구조화하고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근거를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보여주는</a:t>
            </a: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AI</a:t>
            </a:r>
          </a:p>
        </p:txBody>
      </p:sp>
    </p:spTree>
    <p:extLst>
      <p:ext uri="{BB962C8B-B14F-4D97-AF65-F5344CB8AC3E}">
        <p14:creationId xmlns:p14="http://schemas.microsoft.com/office/powerpoint/2010/main" val="3421746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4012FF-5FDB-40BD-5D8D-480978A2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6DC837D-4090-99EC-784F-9F19C3DC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B5447ED-BBCA-CBEA-5E1C-C004FBD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프로젝트 소개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2062F4F-03E1-13D6-B071-B9FC098D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해결하고자 하는 문제와 서비스 목표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34FEF05-0B42-DD6E-CC3F-64CEF315E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C00956-C47C-5967-C32D-0FEB485B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판단 전 사건 구조화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근거 기반 답변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다음 행동으로 연결되는 리포트 결과</a:t>
            </a:r>
          </a:p>
        </p:txBody>
      </p:sp>
    </p:spTree>
    <p:extLst>
      <p:ext uri="{BB962C8B-B14F-4D97-AF65-F5344CB8AC3E}">
        <p14:creationId xmlns:p14="http://schemas.microsoft.com/office/powerpoint/2010/main" val="40719706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5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8dc8a66de46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66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7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8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69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0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1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2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22f1ff21f40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3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22f1ff21f40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4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a4ef2633b46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EA1127-6FDC-A3E4-CE5B-72607560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136712-3791-3095-AD92-358850C7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59B21C1-9B51-CF51-D4B7-C3337F48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4CAE9DA-430C-76EB-7C5E-8364753C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79" name="그래픽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f8e23934f94056">
            <a:extLst>
              <a:ext uri="{96DAC541-7B7A-43D3-8B79-37D633B846F1}">
                <asvg:svgBlip xmlns:asvg="http://schemas.microsoft.com/office/drawing/2016/SVG/main" r:embed="R902ee9ae5f414a5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067239" y="486844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6175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e0d6b8d3e943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72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3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4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5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6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7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78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0fec9b1b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79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0fec9b1b4e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0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076d8122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637CBD5-3F21-6889-765F-75F1CAE7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33F003-0A73-36A7-176C-CF07DC3E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AAF99DD-3453-5D32-5EAC-A5E5632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71D7B50-4534-08BE-66C1-30993814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85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e007348344c7f">
            <a:extLst>
              <a:ext uri="{96DAC541-7B7A-43D3-8B79-37D633B846F1}">
                <asvg:svgBlip xmlns:asvg="http://schemas.microsoft.com/office/drawing/2016/SVG/main" r:embed="R00a3eba95afe466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3C4E866-CD7B-9E12-D9C7-DD00A29F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123608-88C7-35AF-ACF9-09108E9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판단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전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D59A20EA-AA9B-3894-7849-6B943A0B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설명·사진·영상에서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위반유형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장소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기한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사고유형을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먼저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분리</a:t>
            </a:r>
          </a:p>
        </p:txBody>
      </p:sp>
      <p:pic>
        <p:nvPicPr>
          <p:cNvPr id="89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c3d37de26f4d82">
            <a:extLst>
              <a:ext uri="{96DAC541-7B7A-43D3-8B79-37D633B846F1}">
                <asvg:svgBlip xmlns:asvg="http://schemas.microsoft.com/office/drawing/2016/SVG/main" r:embed="Ra11b07831b0e46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877515"/>
            <a:ext cx="914400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8061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9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3ef29a8bb45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0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1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2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3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4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5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6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40f4fc5c944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7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40f4fc5c944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88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f67a0ab4d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9F7982-C547-CEF1-600A-5248219B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A9F9F4B-0C5B-0FD0-0E76-3FE9CD5C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C565667-F374-42FA-EDBD-1D5180E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8D1949BD-B9DA-6BA7-E46B-7AAE8662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93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a584a23ef48b0">
            <a:extLst>
              <a:ext uri="{96DAC541-7B7A-43D3-8B79-37D633B846F1}">
                <asvg:svgBlip xmlns:asvg="http://schemas.microsoft.com/office/drawing/2016/SVG/main" r:embed="R156d85e36ec340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94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a584a23ef48b0">
            <a:extLst>
              <a:ext uri="{96DAC541-7B7A-43D3-8B79-37D633B846F1}">
                <asvg:svgBlip xmlns:asvg="http://schemas.microsoft.com/office/drawing/2016/SVG/main" r:embed="R156d85e36ec3400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51B855D-95CC-EAF7-A2D7-37F0A0AF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B4ECFD-3D77-0B92-B851-3D0AF0B7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판단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전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801C8CE-6488-DA92-EC2D-C63DF40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설명·사진·영상에서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위반유형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장소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기한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사고유형을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먼저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EBEA2AB-4F0E-FE1D-BAAC-F5FA2BC7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E2BCAFEF-2B1A-2346-B432-72EF02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근거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기반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31E732AD-ED7D-D96C-E2AC-10A3F629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과실비율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인정기준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판례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심의사례를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연결하고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출처를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남김</a:t>
            </a:r>
          </a:p>
        </p:txBody>
      </p:sp>
      <p:pic>
        <p:nvPicPr>
          <p:cNvPr id="101" name="그래픽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ad2e280ff48e3">
            <a:extLst>
              <a:ext uri="{96DAC541-7B7A-43D3-8B79-37D633B846F1}">
                <asvg:svgBlip xmlns:asvg="http://schemas.microsoft.com/office/drawing/2016/SVG/main" r:embed="R44f81545e9e04a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cad2e280ff48e3">
            <a:extLst>
              <a:ext uri="{96DAC541-7B7A-43D3-8B79-37D633B846F1}">
                <asvg:svgBlip xmlns:asvg="http://schemas.microsoft.com/office/drawing/2016/SVG/main" r:embed="R44f81545e9e04a4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12192000" y="3202924"/>
            <a:ext cx="973947" cy="91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3956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chemeClr val="bg1">
            <a:lumMod val="8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6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0c19d351646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372729" y="3202924"/>
            <a:ext cx="2972777" cy="2579920"/>
          </a:xfrm>
          <a:prstGeom xmlns:a="http://schemas.openxmlformats.org/drawingml/2006/main" prst="rect">
            <a:avLst/>
          </a:prstGeom>
        </p:spPr>
      </p:pic>
      <p:pic>
        <p:nvPicPr>
          <p:cNvPr id="87" name="그림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001377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8" name="그림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558481" y="3362793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89" name="그림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12117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0" name="그림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564066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1" name="그림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06961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2" name="그림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-140152" y="5060144"/>
            <a:ext cx="1557105" cy="569404"/>
          </a:xfrm>
          <a:prstGeom xmlns:a="http://schemas.openxmlformats.org/drawingml/2006/main" prst="rect">
            <a:avLst/>
          </a:prstGeom>
        </p:spPr>
      </p:pic>
      <p:pic>
        <p:nvPicPr>
          <p:cNvPr id="93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2a3deeb88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255873" y="2985501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4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2a3deeb8848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533807" y="5629548"/>
            <a:ext cx="3524055" cy="382293"/>
          </a:xfrm>
          <a:prstGeom xmlns:a="http://schemas.openxmlformats.org/drawingml/2006/main" prst="rect">
            <a:avLst/>
          </a:prstGeom>
        </p:spPr>
      </p:pic>
      <p:pic>
        <p:nvPicPr>
          <p:cNvPr id="95" name="그림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fa184b088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744180" y="3362793"/>
            <a:ext cx="1557105" cy="569404"/>
          </a:xfrm>
          <a:prstGeom xmlns:a="http://schemas.openxmlformats.org/drawingml/2006/main" prst="rect">
            <a:avLst/>
          </a:prstGeom>
        </p:spPr>
      </p:pic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2B6D46-2B01-8D0E-20F7-33D0637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E6DA06-0B84-347A-3DE4-6B824F97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판단 전 사건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A9F2340-48E2-CDD0-C119-E9C1D6AB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8/40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AC8E56B-358D-EB94-1EDF-C070BA8B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pic>
        <p:nvPicPr>
          <p:cNvPr id="100" name="그래픽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a71d942de4e66">
            <a:extLst>
              <a:ext uri="{96DAC541-7B7A-43D3-8B79-37D633B846F1}">
                <asvg:svgBlip xmlns:asvg="http://schemas.microsoft.com/office/drawing/2016/SVG/main" r:embed="R68b8e717357f42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59755" y="4322494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1" name="그래픽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a71d942de4e66">
            <a:extLst>
              <a:ext uri="{96DAC541-7B7A-43D3-8B79-37D633B846F1}">
                <asvg:svgBlip xmlns:asvg="http://schemas.microsoft.com/office/drawing/2016/SVG/main" r:embed="R68b8e717357f42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4619" y="2681940"/>
            <a:ext cx="829205" cy="829205"/>
          </a:xfrm>
          <a:prstGeom xmlns:a="http://schemas.openxmlformats.org/drawingml/2006/main" prst="rect">
            <a:avLst/>
          </a:prstGeom>
        </p:spPr>
      </p:pic>
      <p:pic>
        <p:nvPicPr>
          <p:cNvPr id="102" name="그래픽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a71d942de4e66">
            <a:extLst>
              <a:ext uri="{96DAC541-7B7A-43D3-8B79-37D633B846F1}">
                <asvg:svgBlip xmlns:asvg="http://schemas.microsoft.com/office/drawing/2016/SVG/main" r:embed="R68b8e717357f42e7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2771" y="4322494"/>
            <a:ext cx="829205" cy="829205"/>
          </a:xfrm>
          <a:prstGeom xmlns:a="http://schemas.openxmlformats.org/drawingml/2006/main" prst="rect">
            <a:avLst/>
          </a:prstGeom>
        </p:spPr>
      </p:pic>
      <p:sp>
        <p:nvSpPr>
          <p:cNvPr id="5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BAF1DAC-5884-D36B-7368-D8D7070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022" y="2630641"/>
            <a:ext cx="3063240" cy="167747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8FE64C86-9DE4-1287-95A7-7ED8E443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2806805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01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판단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전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구조화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BA213B4A-59DB-DE86-1650-0638B4D1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902" y="34290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고지서·사고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설명·사진·영상에서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위반유형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장소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기한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사고유형을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먼저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분리</a:t>
            </a:r>
          </a:p>
        </p:txBody>
      </p:sp>
      <p:sp>
        <p:nvSpPr>
          <p:cNvPr id="60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0571826-3CEE-5619-D11D-FC2409CA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298" y="2569847"/>
            <a:ext cx="3063240" cy="170299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0D8D3C7E-F9AF-AFCD-8584-1CD6BD6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18" y="2751832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02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근거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기반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2000" b="1">
                <a:latin typeface="Noto Sans CJK KR"/>
                <a:ea typeface="Noto Sans CJK KR"/>
                <a:cs typeface="Noto Sans CJK KR"/>
              </a:rPr>
              <a:t>답변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29033B77-E921-81D0-38C0-84F4D637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00" y="3309900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 b="0">
                <a:latin typeface="Noto Sans CJK KR"/>
                <a:ea typeface="Noto Sans CJK KR"/>
                <a:cs typeface="Noto Sans CJK KR"/>
              </a:rPr>
              <a:t>법령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과실비율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인정기준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판례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심의사례를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연결하고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출처를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남김</a:t>
            </a:r>
          </a:p>
        </p:txBody>
      </p:sp>
      <p:sp>
        <p:nvSpPr>
          <p:cNvPr id="66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BECAFB-9AF5-E640-B5AA-05171DE7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488" y="826439"/>
            <a:ext cx="3063240" cy="1872233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>
              <a:lumMod val="7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024FCBA-647F-D5A7-048F-E70E8AA3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009899"/>
            <a:ext cx="2697480" cy="344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latin typeface="Noto Sans CJK KR"/>
                <a:ea typeface="Noto Sans CJK KR"/>
                <a:cs typeface="Noto Sans CJK KR"/>
              </a:rPr>
              <a:t>03 행동으로 연결</a:t>
            </a: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C026309-EC44-9D40-5D8D-BB6928D9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2368" y="1631886"/>
            <a:ext cx="269748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20">
                <a:latin typeface="Noto Sans CJK KR"/>
                <a:ea typeface="Noto Sans CJK KR"/>
                <a:cs typeface="Noto Sans CJK KR"/>
              </a:rPr>
              <a:t>이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의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가능성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리스크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추가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증거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문의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초안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,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리포트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다운로드까지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 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이어집니다</a:t>
            </a:r>
            <a:r>
              <a:rPr sz="1620" b="0">
                <a:latin typeface="Noto Sans CJK KR"/>
                <a:ea typeface="Noto Sans CJK KR"/>
                <a:cs typeface="Noto Sans CJK KR"/>
              </a:rPr>
              <a:t>.</a:t>
            </a:r>
          </a:p>
        </p:txBody>
      </p:sp>
      <p:pic>
        <p:nvPicPr>
          <p:cNvPr id="112" name="그래픽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adb648cd749f5">
            <a:extLst>
              <a:ext uri="{96DAC541-7B7A-43D3-8B79-37D633B846F1}">
                <asvg:svgBlip xmlns:asvg="http://schemas.microsoft.com/office/drawing/2016/SVG/main" r:embed="R0d7883a0236b46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9772890" y="3202924"/>
            <a:ext cx="973947" cy="914400"/>
          </a:xfrm>
          <a:prstGeom xmlns:a="http://schemas.openxmlformats.org/drawingml/2006/main" prst="rect">
            <a:avLst/>
          </a:prstGeom>
        </p:spPr>
      </p:pic>
      <p:pic>
        <p:nvPicPr>
          <p:cNvPr id="113" name="그래픽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adb648cd749f5">
            <a:extLst>
              <a:ext uri="{96DAC541-7B7A-43D3-8B79-37D633B846F1}">
                <asvg:svgBlip xmlns:asvg="http://schemas.microsoft.com/office/drawing/2016/SVG/main" r:embed="R0d7883a0236b467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87469" y="4877515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3FB278-3BA6-A4AC-62AB-DABF357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962" y="6096809"/>
            <a:ext cx="9921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latin typeface="Noto Sans CJK KR"/>
                <a:ea typeface="Noto Sans CJK KR"/>
                <a:cs typeface="Noto Sans CJK KR"/>
              </a:rPr>
              <a:t>교통분쟁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AI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서비스의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결과물은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사용자가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스스로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검토·상담·대응할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수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있는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사건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 </a:t>
            </a:r>
            <a:r>
              <a:rPr sz="1800" b="1">
                <a:latin typeface="Noto Sans CJK KR"/>
                <a:ea typeface="Noto Sans CJK KR"/>
                <a:cs typeface="Noto Sans CJK KR"/>
              </a:rPr>
              <a:t>리포트</a:t>
            </a:r>
          </a:p>
        </p:txBody>
      </p:sp>
    </p:spTree>
    <p:extLst>
      <p:ext uri="{BB962C8B-B14F-4D97-AF65-F5344CB8AC3E}">
        <p14:creationId xmlns:p14="http://schemas.microsoft.com/office/powerpoint/2010/main" val="25476506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3E284E-075C-6CAC-9720-D82D4D71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44FD64-7DEE-6FE7-5B8E-28A8412B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리포트 구성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8C1EF19-C3C5-A39B-949F-05FC43834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9/40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3E22DA6-FD55-2D5B-0650-06C8559C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2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프로젝트 배경</a:t>
            </a:r>
          </a:p>
        </p:txBody>
      </p:sp>
      <p:sp>
        <p:nvSpPr>
          <p:cNvPr id="68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D6DD98-573C-9495-2ADE-E8B178B8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D1975AF4-B63D-B786-D7DB-5FCD456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수집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8258694-B0A3-1C54-F9DC-906FBAD1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고지서·사진·영상·상황 설명</a:t>
            </a: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D3891155-E6E8-C91E-2CB5-CE72AA56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76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34C3F-BE1D-FA9D-1774-A24C93AF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674B008A-3317-B85C-39A7-63195E86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사건 구조화</a:t>
            </a: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A8C7546A-2946-24C1-1A8E-174DCE21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사고유형·증거·기한·장소</a:t>
            </a: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81381A7B-1ABE-AF28-81F9-893178BF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8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FA5F52-7A6F-9D03-0976-426B6B1E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D6E764E8-E9F5-5C1E-754C-303F062E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B95C4FA1-45AA-6566-2611-9B5F9B8A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법령·판례·심의사례·인정기준</a:t>
            </a: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3B8DF3E4-0106-8333-B84B-AEB2680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92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328BEAF-C235-CC06-DA7F-BC8F0394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4" name="TextBox 93">
            <a:extLst xmlns:a="http://schemas.openxmlformats.org/drawingml/2006/main">
              <a:ext uri="{FF2B5EF4-FFF2-40B4-BE49-F238E27FC236}">
                <a16:creationId xmlns:a16="http://schemas.microsoft.com/office/drawing/2014/main" id="{53A0A1F6-D2E2-80AB-1130-D9BA5AFA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한계 표시</a:t>
            </a:r>
          </a:p>
        </p:txBody>
      </p:sp>
      <p:sp>
        <p:nvSpPr>
          <p:cNvPr id="96" name="TextBox 95">
            <a:extLst xmlns:a="http://schemas.openxmlformats.org/drawingml/2006/main">
              <a:ext uri="{FF2B5EF4-FFF2-40B4-BE49-F238E27FC236}">
                <a16:creationId xmlns:a16="http://schemas.microsoft.com/office/drawing/2014/main" id="{51358A9E-CB2D-18E7-8AD2-18618C2C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부족한 증거·리스크·단정 방지</a:t>
            </a:r>
          </a:p>
        </p:txBody>
      </p:sp>
      <p:sp>
        <p:nvSpPr>
          <p:cNvPr id="98" name="TextBox 97">
            <a:extLst xmlns:a="http://schemas.openxmlformats.org/drawingml/2006/main">
              <a:ext uri="{FF2B5EF4-FFF2-40B4-BE49-F238E27FC236}">
                <a16:creationId xmlns:a16="http://schemas.microsoft.com/office/drawing/2014/main" id="{3B1712FF-0617-1F8E-1C5B-5D3484D6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542032"/>
            <a:ext cx="228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00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CFAF75-FEDA-6651-7076-E34CC09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74519"/>
            <a:ext cx="1874519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TextBox 101">
            <a:extLst xmlns:a="http://schemas.openxmlformats.org/drawingml/2006/main">
              <a:ext uri="{FF2B5EF4-FFF2-40B4-BE49-F238E27FC236}">
                <a16:creationId xmlns:a16="http://schemas.microsoft.com/office/drawing/2014/main" id="{5A73005C-45CE-7123-7BD6-71388D2F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084831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리포트</a:t>
            </a:r>
          </a:p>
        </p:txBody>
      </p:sp>
      <p:sp>
        <p:nvSpPr>
          <p:cNvPr id="104" name="TextBox 103">
            <a:extLst xmlns:a="http://schemas.openxmlformats.org/drawingml/2006/main">
              <a:ext uri="{FF2B5EF4-FFF2-40B4-BE49-F238E27FC236}">
                <a16:creationId xmlns:a16="http://schemas.microsoft.com/office/drawing/2014/main" id="{E7A7AAFC-B581-FBFB-7D7B-B674184E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542032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문의·체크리스트·다운로드</a:t>
            </a:r>
          </a:p>
        </p:txBody>
      </p:sp>
      <p:sp>
        <p:nvSpPr>
          <p:cNvPr id="106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A80384FF-39C1-042F-2D56-CA0F39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8" name="TextBox 107">
            <a:extLst xmlns:a="http://schemas.openxmlformats.org/drawingml/2006/main">
              <a:ext uri="{FF2B5EF4-FFF2-40B4-BE49-F238E27FC236}">
                <a16:creationId xmlns:a16="http://schemas.microsoft.com/office/drawing/2014/main" id="{C84091CA-9A5B-1B55-0793-54A9D4A7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가치</a:t>
            </a:r>
          </a:p>
        </p:txBody>
      </p:sp>
      <p:sp>
        <p:nvSpPr>
          <p:cNvPr id="110" name="TextBox 109">
            <a:extLst xmlns:a="http://schemas.openxmlformats.org/drawingml/2006/main">
              <a:ext uri="{FF2B5EF4-FFF2-40B4-BE49-F238E27FC236}">
                <a16:creationId xmlns:a16="http://schemas.microsoft.com/office/drawing/2014/main" id="{3AC8EFD2-A58E-5D9A-7C5F-17E193A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전, 내 사건의 쟁점과 필요한 근거를 먼저 확인가능</a:t>
            </a:r>
          </a:p>
        </p:txBody>
      </p:sp>
      <p:sp>
        <p:nvSpPr>
          <p:cNvPr id="112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2D33682-3C3D-C455-AF61-972D2024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51960"/>
            <a:ext cx="5166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9E80A16-04E3-E7B4-E0FA-ACA225BF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89120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가치</a:t>
            </a:r>
          </a:p>
        </p:txBody>
      </p:sp>
      <p:sp>
        <p:nvSpPr>
          <p:cNvPr id="116" name="TextBox 115">
            <a:extLst xmlns:a="http://schemas.openxmlformats.org/drawingml/2006/main">
              <a:ext uri="{FF2B5EF4-FFF2-40B4-BE49-F238E27FC236}">
                <a16:creationId xmlns:a16="http://schemas.microsoft.com/office/drawing/2014/main" id="{03F48085-88E7-E09E-8995-C66251A8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800600"/>
            <a:ext cx="4800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정보·판례·사고자료를 하나의 사건 흐름으로 연결</a:t>
            </a:r>
          </a:p>
        </p:txBody>
      </p:sp>
    </p:spTree>
    <p:extLst>
      <p:ext uri="{BB962C8B-B14F-4D97-AF65-F5344CB8AC3E}">
        <p14:creationId xmlns:p14="http://schemas.microsoft.com/office/powerpoint/2010/main" val="514774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714ED74-1FDE-4459-61C0-D3F454C2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0DA54-7229-9DA1-87A6-E8EC0A52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D19AED7-ECAB-7DD4-E231-9424184B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사용자 문제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8E6B218-98C5-B790-43DA-6F1365F4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2435244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고지서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과실비율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보험 대응의 어려움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C841B-3DA2-97E6-519C-96FED63B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10/40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13D885-86EF-30B3-FBF5-9152DBD4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처분 종류와 절차 구분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사용자 실패 장면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시나리오 기반 기능 연결</a:t>
            </a:r>
          </a:p>
        </p:txBody>
      </p:sp>
    </p:spTree>
    <p:extLst>
      <p:ext uri="{BB962C8B-B14F-4D97-AF65-F5344CB8AC3E}">
        <p14:creationId xmlns:p14="http://schemas.microsoft.com/office/powerpoint/2010/main" val="292453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C4D2236-CBB1-88AF-83AC-22A1906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EF2A8B8-5AF2-E667-3FC2-4E7CAD1B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 이후 분쟁 영역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6EB740B-7505-5746-AE2F-5E7B1B47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11/40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2EBCDA6F-4A62-A27F-FA94-1AA36AF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885944-6583-47D7-529A-DB8CA232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100105-3A98-0FD7-25B6-5498E7F6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과태료/범칙금 고지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76D4C0-674E-05CA-3A8F-5D5E59E5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사유, 기한, 이의제기 가능성을 모름 → 문서 인식·기한·유형 분기</a:t>
            </a:r>
          </a:p>
        </p:txBody>
      </p:sp>
      <p:sp>
        <p:nvSpPr>
          <p:cNvPr id="11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BB3F23-E45C-A03B-E847-46F1884D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20162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4BA2B8-0311-5123-3C82-BB662786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153412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교통사고 과실비율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125D5C7-0E59-10A6-FF38-82A8595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2564892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보험사나 상대방 주장과 내 생각이 다름 → 유사 판례·심의사례 검색</a:t>
            </a:r>
          </a:p>
        </p:txBody>
      </p:sp>
      <p:sp>
        <p:nvSpPr>
          <p:cNvPr id="17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BE7DE78-76CC-6266-6C91-A6DE28A6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7BC9B08-4369-3302-8A46-6471CB8E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 근거 확인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96F9193-B6B2-11DD-BDC3-21F560AF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6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조문과 법률 용어를 직접 찾기 어려움 → 일상어를 법률 용어로 변환</a:t>
            </a:r>
          </a:p>
        </p:txBody>
      </p:sp>
      <p:sp>
        <p:nvSpPr>
          <p:cNvPr id="2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AB6A411-8B03-222B-253A-B95DB87E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5965" y="3845052"/>
            <a:ext cx="49834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C918A8A-B580-CD74-4C7F-05C9914D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3982211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상담/리포트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BE9868D0-CFA0-6A1C-42D7-BA041514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845" y="4393691"/>
            <a:ext cx="4617720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3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말로 설명한 사건을 문서로 정리하기 어려움 → 증거·한계·다음 조치 구조화</a:t>
            </a:r>
          </a:p>
        </p:txBody>
      </p:sp>
    </p:spTree>
    <p:extLst>
      <p:ext uri="{BB962C8B-B14F-4D97-AF65-F5344CB8AC3E}">
        <p14:creationId xmlns:p14="http://schemas.microsoft.com/office/powerpoint/2010/main" val="20725901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3D792D-9BD9-F072-C3C8-4C1A93CD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0B322AA-0861-B199-9ADA-4CD27995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과태료·범칙금·벌점 차이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CD24FC-2578-EA13-ACC2-DA8BBD1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12/40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721B06E0-CF76-7D38-F206-D1E40CFB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0BE978D-4C4D-C5D2-1464-8928C56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22F83B3-4340-1011-3D59-E7349C3E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과태료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5689A19-6B4A-2667-E6E3-D0A8297F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행정질서 위반 금전 제재. 의견제출·이의신청 가능성, 기한, 고지서 문서 인식 분석이 중요</a:t>
            </a:r>
          </a:p>
        </p:txBody>
      </p:sp>
      <p:sp>
        <p:nvSpPr>
          <p:cNvPr id="18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3EFB880-8345-AB2B-C76C-435E58C5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E8CBD15-C314-982C-D0C4-F41B4CAE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범칙금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3B49291-0990-83DD-D64F-F8912467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운전자 특정 및 교통법규 위반 처리와 연결됨 벌점 리스크가 있어 단정형 문서 생성을 제한함</a:t>
            </a:r>
          </a:p>
        </p:txBody>
      </p:sp>
      <p:sp>
        <p:nvSpPr>
          <p:cNvPr id="29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AB3A3A5-144F-A418-3B88-B52B95B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46ED982-8CB4-ED2F-E031-943E8768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사고 과실비율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910604-43DC-E915-8B15-E65D449C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 당사자 간 책임 비율 보험금, 구상, 분쟁심의, 소송 가능성과 연결됨</a:t>
            </a:r>
          </a:p>
        </p:txBody>
      </p:sp>
      <p:sp>
        <p:nvSpPr>
          <p:cNvPr id="3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3D7CB6C-846E-4E62-7238-FFF23CC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52484"/>
            <a:ext cx="2514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88D64311-AD39-7E34-B816-07A9B443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189644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법률사고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9C211A-FB9F-19A6-C432-2F1B0762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601124"/>
            <a:ext cx="2148840" cy="21305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기한 도과, 잘못된 진술, 개인정보 노출 등 불이익을 만드는 상황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CA017827-6A5E-5FFE-E09C-2A62A4C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710084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설계 원칙 | 억울함보다 객관적 근거·기한·증거·절차상 문제가 있는지 먼저 판단함</a:t>
            </a:r>
          </a:p>
        </p:txBody>
      </p:sp>
    </p:spTree>
    <p:extLst>
      <p:ext uri="{BB962C8B-B14F-4D97-AF65-F5344CB8AC3E}">
        <p14:creationId xmlns:p14="http://schemas.microsoft.com/office/powerpoint/2010/main" val="1652769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48AB14-7D6B-4D76-B554-E84BC9F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ABA113A-2641-0C8B-E197-ED6E7858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질문 구조화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FF06328-3520-7807-9F39-2CB83371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13/40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929CA77B-8DF2-711F-0F23-987B5451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5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B13A3C4-19E0-5709-457A-680A375C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37207A5-9505-8CD5-BC4E-66B88AF7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고지서 해석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CD0F03B-9079-34EC-41C8-911F50F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909B85-2469-55F7-0EAD-6AC3AD5A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과실 근거 확인</a:t>
            </a:r>
          </a:p>
        </p:txBody>
      </p:sp>
      <p:sp>
        <p:nvSpPr>
          <p:cNvPr id="16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68EE7E7-DCE0-EA78-3F04-0BE9C62B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597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9ADA08A-B6D6-BBF7-0BD1-E1211190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996932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증거 부족 판단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003BE8-E1CF-8D8E-C46D-BB05DA4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CFAEB2F-484C-F3D0-0871-76B74C6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유사 사례 검색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5E0DE4B-3D93-E521-B44D-00DB671B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A3B7DF2-745F-E243-F18D-482E9052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리스크 판단</a:t>
            </a:r>
          </a:p>
        </p:txBody>
      </p:sp>
      <p:sp>
        <p:nvSpPr>
          <p:cNvPr id="34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FE7D787-D09A-D9C5-7100-21C9DE3A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59972"/>
            <a:ext cx="310896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17CCCD0-2E97-1399-0E73-9F5EE9D5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59713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문서화</a:t>
            </a:r>
          </a:p>
        </p:txBody>
      </p:sp>
      <p:sp>
        <p:nvSpPr>
          <p:cNvPr id="43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4CA8366-888B-70FD-5852-B1E22870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3052"/>
            <a:ext cx="10515600" cy="274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0DEDE30-4EAB-2C4F-3893-3FEBEDFD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700252"/>
            <a:ext cx="10332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 AI 서비스는 “사용자의 질문”을 “검토 가능한 사건 구조”로 바꾸는 데서 시작함</a:t>
            </a:r>
          </a:p>
        </p:txBody>
      </p:sp>
    </p:spTree>
    <p:extLst>
      <p:ext uri="{BB962C8B-B14F-4D97-AF65-F5344CB8AC3E}">
        <p14:creationId xmlns:p14="http://schemas.microsoft.com/office/powerpoint/2010/main" val="407843653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D8015B3-1789-79EE-90A9-D692CCAD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7644E5E-CDCF-F774-30DF-FA7E3C66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과태료 고지서 사례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3C46A1E-B8F8-3663-D17B-5FA32780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14/40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5731F10C-38DB-395B-A899-7E8991B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B502-BC43-4752-0649-F9A67A13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2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1D3C00A-4973-241A-B416-3EFBA0B2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4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“불법주정차 과태료 고지서를 받았는데, 차를 도난당한 상태였고 이의신청을 해도 되는지 모르겠다.”</a:t>
            </a:r>
          </a:p>
        </p:txBody>
      </p:sp>
      <p:sp>
        <p:nvSpPr>
          <p:cNvPr id="12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65585A5-EB81-708C-6E02-FC09564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D04B6CF-4CE7-6226-FEDD-D20A8847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업로드</a:t>
            </a:r>
          </a:p>
        </p:txBody>
      </p:sp>
      <p:sp>
        <p:nvSpPr>
          <p:cNvPr id="18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403FD80-C7C2-9C37-3197-9027A223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266B315-6720-3F47-DA1F-9B6250D5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문서 인식 필드 추출</a:t>
            </a:r>
          </a:p>
        </p:txBody>
      </p:sp>
      <p:sp>
        <p:nvSpPr>
          <p:cNvPr id="25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D8D2B88-07DC-0848-1DE0-EBF840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5125A5C-0246-9FA3-16EC-AA399571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31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784C0EE-2E46-C5A9-AAB1-E31402B4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917892F-EAB3-FB87-3A6A-36C5BF7D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사유·기한 검토</a:t>
            </a:r>
          </a:p>
        </p:txBody>
      </p:sp>
      <p:sp>
        <p:nvSpPr>
          <p:cNvPr id="3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5908D75-6BC3-3148-628B-73CFD17A2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2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B2244F-D04B-64E5-2472-A94DA6B84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2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리포트 생성</a:t>
            </a:r>
          </a:p>
        </p:txBody>
      </p:sp>
      <p:sp>
        <p:nvSpPr>
          <p:cNvPr id="41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0C3E43BD-C969-DFE8-5F29-1E841ACA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254BF0D-F583-BF26-BD45-DF9481EF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75A2BAB6-5C3E-4C27-AA0F-3060A413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위반유형, 기한, 법조문, 금액을 읽기 어려움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도난·부득이한 사유·본인 운전 인정형 진술을 구분하기 어려움</a:t>
            </a:r>
          </a:p>
        </p:txBody>
      </p:sp>
      <p:sp>
        <p:nvSpPr>
          <p:cNvPr id="50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50AA1C5-27BF-3DBD-FC0B-907C8EF9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2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0C156D7C-24A6-7EBA-787F-A54095D3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7DBAF422-7980-1B44-07BF-B92B21AC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4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결과, 법적 리스크, 인정 가능성, 부족한 정보, 다음 조치를 분리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검토 가치와 한계를 표시</a:t>
            </a:r>
          </a:p>
        </p:txBody>
      </p:sp>
    </p:spTree>
    <p:extLst>
      <p:ext uri="{BB962C8B-B14F-4D97-AF65-F5344CB8AC3E}">
        <p14:creationId xmlns:p14="http://schemas.microsoft.com/office/powerpoint/2010/main" val="27922374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ECA8E2B-605D-D509-1AEF-42FD2BF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15/40</a:t>
            </a:r>
          </a:p>
        </p:txBody>
      </p:sp>
      <p:sp>
        <p:nvSpPr>
          <p:cNvPr id="5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F01EE2-4BA5-0304-3BD2-3EDCC3F0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7493"/>
            <a:ext cx="10744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42D7D5-85EF-9AC8-9A8F-AA15EABC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27805"/>
            <a:ext cx="102412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“상대 차량이 진로변경을 했는데 보험사는 제 과실도 크다고 함 비슷한 사례가 있나요?”</a:t>
            </a:r>
          </a:p>
        </p:txBody>
      </p:sp>
      <p:sp>
        <p:nvSpPr>
          <p:cNvPr id="11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4F001AC-3A43-60C9-5207-220DB281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D3D3CED-336B-72C0-0DBD-52EE60D5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사고 설명 입력</a:t>
            </a:r>
          </a:p>
        </p:txBody>
      </p:sp>
      <p:sp>
        <p:nvSpPr>
          <p:cNvPr id="17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9E51C6F-4049-DB43-0A25-B3DA9D59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AEDE6E0-B6DA-1FCB-1143-4D5273CC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사고유형 구조화</a:t>
            </a:r>
          </a:p>
        </p:txBody>
      </p:sp>
      <p:sp>
        <p:nvSpPr>
          <p:cNvPr id="23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2D6A39-1CD1-809E-403D-176AB8B6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45E803A2-E865-098D-5000-081D344E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1808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유사 사례 검색</a:t>
            </a:r>
          </a:p>
        </p:txBody>
      </p:sp>
      <p:sp>
        <p:nvSpPr>
          <p:cNvPr id="29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1BCCA58-1915-C6FF-E35F-3395493B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482F0265-6201-5E6C-539D-288FCD109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5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근거/한계 비교</a:t>
            </a:r>
          </a:p>
        </p:txBody>
      </p:sp>
      <p:sp>
        <p:nvSpPr>
          <p:cNvPr id="35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4FB1F75-F3F3-20E4-199C-F8436C0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4624" y="3006213"/>
            <a:ext cx="18288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8A0BE42-3F13-B98C-C8B3-CEC503AE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3" y="3143373"/>
            <a:ext cx="1463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문의 초안</a:t>
            </a:r>
          </a:p>
        </p:txBody>
      </p:sp>
      <p:sp>
        <p:nvSpPr>
          <p:cNvPr id="4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A43B6BA-6611-3185-42E8-FFEF2F70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20827AB-5B71-3A56-6B07-7D73E2E4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 실패 지점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C6A5EA62-BA3B-15AC-EE1A-5C5D153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인정기준, 판례, 심의사례가 흩어져 있음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장소, 방향, 신호, 정지 여부가 빠지면 유사 사례 판단이 어려움</a:t>
            </a:r>
          </a:p>
        </p:txBody>
      </p:sp>
      <p:sp>
        <p:nvSpPr>
          <p:cNvPr id="54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3473EE3-A256-5B06-FB9D-877FB04C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973"/>
            <a:ext cx="5166360" cy="1463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85F81EC-2873-3765-B8AE-85B3EF48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652133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 출력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B9F1669-AFB3-DCE0-2085-CAFE7E2A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5045325"/>
            <a:ext cx="4800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사례, 사실관계 차이, 부족한 증거, 보험사 질문 문구를 정리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460B29-A568-2B88-50D5-93640D95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79E4D6B-D932-4E0F-79F9-54AB5882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 과실비율 사례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737F6C7-8DC0-5E65-C366-4A8697AF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</p:spTree>
    <p:extLst>
      <p:ext uri="{BB962C8B-B14F-4D97-AF65-F5344CB8AC3E}">
        <p14:creationId xmlns:p14="http://schemas.microsoft.com/office/powerpoint/2010/main" val="136236534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4E4B1D6-659C-87FC-658C-C425FEA7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AE31569-693E-771E-D5A9-D50FDAF6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DB56009-C748-8154-7401-197E9077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데이터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위험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982C94-825E-4503-9865-A3C806D4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236236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3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문제 정의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4D932A4-4C4A-B76C-4A6C-26AA32EE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83C43C4-7F2D-F4F7-663C-7B36BE60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입력 데이터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2AA0C02-0C32-1D3D-7C73-6EE6A4DF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차량번호, 고지서 사진, 이름, 주소, 사고 위치, 블랙박스 영상이 동시에 들어올 가능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65DBDCA-8A90-82BC-12F3-4FB94746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A44BE96-CCBF-118A-9A95-11C51786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LLM 위험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85D7AB8-3BC9-496E-484A-C7132104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원문이 프롬프트·로그·출력에 그대로 노출되거나 문서 내 지시가 모델을 오염시킬 가능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B5DB382-EFF8-1475-16E3-0396FAD9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5771"/>
            <a:ext cx="297180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A6CCB8B-8AE0-1BBC-AB53-B9E27ED3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7293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설계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97C76BA-DE0C-ADC9-487E-0C24C1D6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84411"/>
            <a:ext cx="260604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회원 권한 분리, 업로드 파일 검사, 개인정보 최소 저장, 근거·한계 표시를 적용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944294C-09E6-A35C-B88F-FCAE2A8ED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337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법률/보험 AI 서비스의 핵심 | 답변 품질 + 데이터 보호</a:t>
            </a:r>
          </a:p>
        </p:txBody>
      </p:sp>
    </p:spTree>
    <p:extLst>
      <p:ext uri="{BB962C8B-B14F-4D97-AF65-F5344CB8AC3E}">
        <p14:creationId xmlns:p14="http://schemas.microsoft.com/office/powerpoint/2010/main" val="20526968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7BC2984-567D-01AD-02EB-BD07784C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091EA95-1E87-7FBA-7D96-E336E2C0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E4D8CB-C6FB-5594-7E67-56E96D71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2453445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경쟁사와 차별점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235C1F-A2A8-E8FD-A480-E60707D2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17/40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77E67D9-9FA9-1773-5FEF-4FD0F200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기존 경쟁사 기능 범위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부족한 시장 영역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우리 서비스 차별점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4FE47A-4D0E-F96D-D1FD-059D6E0D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3030351"/>
            <a:ext cx="2847322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기존 서비스의 한계와 </a:t>
            </a:r>
            <a:r>
              <a:rPr sz="1200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차별점</a:t>
            </a:r>
          </a:p>
        </p:txBody>
      </p:sp>
    </p:spTree>
    <p:extLst>
      <p:ext uri="{BB962C8B-B14F-4D97-AF65-F5344CB8AC3E}">
        <p14:creationId xmlns:p14="http://schemas.microsoft.com/office/powerpoint/2010/main" val="222271267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0D53647-4C79-8516-0CBA-0BB947F9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rgbClr val="5F5F5C"/>
                </a:solidFill>
                <a:latin typeface="Noto Sans CJK KR"/>
                <a:ea typeface="Noto Sans CJK KR"/>
                <a:cs typeface="Noto Sans CJK KR"/>
              </a:rPr>
              <a:t>18/40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7D3C909-F3E8-E909-92D9-1FA1C7E6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7D74AF3F-6B43-53AF-3851-DB981DD1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 서비스 현황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A7D0C73-D5A9-0E30-9BB3-9FF76ECE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CA29625-8135-9C68-3B7D-9646EC14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7F86B6-C159-696F-CF75-E834FC5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시장에 이미 있는 기능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C6E9D58-B52F-E150-A076-D910AA96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과태료·범칙금 조회/납부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보험사 앱·콜센터 사고 접수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손상/청구 중심 보험 AI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 검색·법률문서 생성 리걸테크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D3313EE-4716-EF48-84EB-898D6780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5078"/>
            <a:ext cx="5212080" cy="2743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6F30F2E-CF1A-A9DE-5C2F-0C59114A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272238"/>
            <a:ext cx="4846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아직 부족한 조합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0CFEBB6-6739-A008-A19D-7B431FD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65430"/>
            <a:ext cx="484632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+ 이의 가능성 판단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블랙박스/사고자료 + 과실 근거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판례·인정기준 근거 검색 + 출처 제시</a:t>
            </a:r>
          </a:p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소비자용 사건 리포트 통합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AC5DDD4-85E9-8384-2903-9F5C3153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2678"/>
            <a:ext cx="10789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핵심 | 개별 기능은 있으나, 자기 사건 기반 근거 리포트 제공 서비스는 부족</a:t>
            </a:r>
          </a:p>
        </p:txBody>
      </p:sp>
    </p:spTree>
    <p:extLst>
      <p:ext uri="{BB962C8B-B14F-4D97-AF65-F5344CB8AC3E}">
        <p14:creationId xmlns:p14="http://schemas.microsoft.com/office/powerpoint/2010/main" val="158885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50359BF-DD17-C1A0-7143-5F5EE104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19/40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F416C8-96B7-1A3A-DFB2-28A492FF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D6C8A7-32A1-1DA2-3CB1-C4C494F7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서비스 한계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2F684F49-B6D8-9265-D6D5-3881EE94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E49986-5D8E-4AA3-A3BB-1F87995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F289BF-ADA7-7706-49D5-E6AAB1D2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공공·공식 포털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6BAB9D-37C5-822D-992F-802C6709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조회·납부와 공식 기준 제공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69D20614-F526-77C0-6A60-C3CE5EB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B302B31-86E6-B74B-D05D-CD9045BC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정보포털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747881-65D2-F64C-C567-8CA10515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인정기준·심의사례 제공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F2D499A-C5B6-748B-258E-034189B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77816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D0DC2AA-DD1C-88FC-F41C-F4CBE02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191532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AI/앱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259AB557-A97F-930D-7B04-FD52F045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19" y="2326801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청구·보상 처리와 연결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A0E2EB3A-8255-F25E-0A2C-4788EB3E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CB867C-35C7-5FF3-5501-2CFA780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D642C64-8369-3654-896F-740DE35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검색·문서작성·전문가 연결</a:t>
            </a:r>
          </a:p>
        </p:txBody>
      </p:sp>
      <p:sp>
        <p:nvSpPr>
          <p:cNvPr id="34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2C619F5-8FA9-AC8D-E3DE-C714A155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3195482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D0669E2-0E60-80F5-6E94-164CFF9F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2642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일반 AI/검색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B9805A1-978C-9667-C71E-8399C269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44122"/>
            <a:ext cx="28803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접근성은 높지만 검증 약함</a:t>
            </a:r>
          </a:p>
        </p:txBody>
      </p:sp>
      <p:sp>
        <p:nvSpPr>
          <p:cNvPr id="4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D7ED3AF-FE46-8081-057A-3ED73A67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0002"/>
            <a:ext cx="996696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303E07F-DABF-B170-976D-1636121D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298602"/>
            <a:ext cx="9692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공통 한계 | 사고자료 구조화 → 근거·한계·다음 행동 리포트 연결 부족</a:t>
            </a:r>
          </a:p>
        </p:txBody>
      </p:sp>
    </p:spTree>
    <p:extLst>
      <p:ext uri="{BB962C8B-B14F-4D97-AF65-F5344CB8AC3E}">
        <p14:creationId xmlns:p14="http://schemas.microsoft.com/office/powerpoint/2010/main" val="19440613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9722855-364C-5CB0-530A-0ACEE7A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D3CBB8-CFAE-376E-06BD-D7674FC9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498B069-511D-5F2E-009C-1C84348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경쟁사 기능 비교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343A39A-8188-9CC6-682B-1DCE597C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84B9D2-DFC4-292F-8E3B-62C886E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플레이어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986BB6D-EAB2-816B-0CBD-FDF2C3BE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004308"/>
            <a:ext cx="2468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강점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92B26E-EEFA-A29A-102E-F9DDD9C4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004308"/>
            <a:ext cx="5120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비어 있는 부분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1044307-BE31-4DBE-CD34-B2522A54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5788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FACF11E-DDC1-CDCB-1B31-5C70E7D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25516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DoNotPay / 딱지앱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695D724-6E00-BCBD-D798-8C855453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525516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문서·티켓 대응 일부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4A3ABF6-8B41-3641-A9A9-E59BCFBB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2525516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영상 과실·판례 근거 부족</a:t>
            </a:r>
          </a:p>
        </p:txBody>
      </p:sp>
      <p:sp>
        <p:nvSpPr>
          <p:cNvPr id="25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752506B-C07D-873C-6C9F-E17DF5F9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4156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7104CF8-5748-56AC-F588-870F9D29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83884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보험사·손상 AI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B500F2D-69B1-39D6-BC5B-DAE75D56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183884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청구/손상 자동화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DCD2DD9-9173-6EF6-8A14-071BB426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183884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내부·청구 고객 중심</a:t>
            </a:r>
          </a:p>
        </p:txBody>
      </p:sp>
      <p:sp>
        <p:nvSpPr>
          <p:cNvPr id="41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D1AB739-3F48-F273-16F9-BFFE6D7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2524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2AD41BE-7CF3-C3CA-F493-2D09B4F7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2252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EE44E74-CA88-9250-D6C0-B8ADBF58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42252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 판례 검색·문서 작성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FA910C5-97BC-A89B-76D5-A8731F17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842252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사고자료·과실분쟁 특화 부족</a:t>
            </a:r>
          </a:p>
        </p:txBody>
      </p:sp>
      <p:sp>
        <p:nvSpPr>
          <p:cNvPr id="5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300439A0-0FC5-3BA0-51AF-4884C62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0892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7DCCDF-41A0-DBA9-1858-DF278FAA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500620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포털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23B1D4E-C1E4-23CE-3FD7-9D4F8F32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4500620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공식 기준·심의사례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C0F9CD72-53E4-8DD8-4083-24ECDADE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500620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사건 리포트로 연결 안 됨</a:t>
            </a:r>
          </a:p>
        </p:txBody>
      </p:sp>
      <p:sp>
        <p:nvSpPr>
          <p:cNvPr id="59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7520216-79D5-0ADD-396D-4254032F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9259"/>
            <a:ext cx="1069848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F624704A-3E8D-5337-125A-7A95210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58987"/>
            <a:ext cx="24688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919C103D-EA82-2E73-5516-23BAE064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5158987"/>
            <a:ext cx="2560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문서 인식+영상 분석+근거 검색+리포트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998E531-5DCE-7347-DF9F-D68EE6A3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5158987"/>
            <a:ext cx="4892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019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개인 운전자용 통합 분석</a:t>
            </a:r>
          </a:p>
        </p:txBody>
      </p:sp>
    </p:spTree>
    <p:extLst>
      <p:ext uri="{BB962C8B-B14F-4D97-AF65-F5344CB8AC3E}">
        <p14:creationId xmlns:p14="http://schemas.microsoft.com/office/powerpoint/2010/main" val="39537566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F9C1A92-0A79-93FF-5E4B-FE635881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9500B03-C77B-1B44-E3AE-E72607CF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874F44C-92A5-C96E-3B7F-C2C85740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우리 서비스의 위치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C08603A-0D8B-FD15-0026-70C5C479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3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BA2DCF4-FB80-A84C-52E5-DDBC5884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D834A80-AC86-6EB5-6D7F-EAE10F8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리걸테크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291CD05-22AD-82B4-825C-7512F0A4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판례·문서 중심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BCC2AF-EF36-D188-2CB7-27CECF5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5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56544E0-D64A-BF1E-54A3-4E3AAC10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2B9E7D8-4BA1-3F8D-38B7-B8AB40ABD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보험사 AI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3BD60E4-F539-5BC3-3EB9-774C284B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청구·손상 중심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B237A81-6E3B-7B13-8290-6597500C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E752A9B-F628-8C65-6010-D050933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E3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3CA8329-E72B-0EBE-E149-7AAD726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우리 서비스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A0B3896-B46E-8484-F0E1-635EC8CE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중심 근거 패키지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9A75DEA-6580-664C-404A-CABD8742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8346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D1DB3CA-051D-A2B1-454A-9D59A175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423160"/>
            <a:ext cx="196596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5CAFB7B-35FD-8F74-B630-F2E81753D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587752"/>
            <a:ext cx="1783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187B721-1C2E-056B-EE57-95AC4BF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2926080"/>
            <a:ext cx="1737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전문가 상담 전 셀프 점검</a:t>
            </a:r>
          </a:p>
        </p:txBody>
      </p:sp>
      <p:sp>
        <p:nvSpPr>
          <p:cNvPr id="48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76DF57E-5735-763B-C579-420C9602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26280"/>
            <a:ext cx="105156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277E142B-B4A0-33BF-2EB5-DCAFBC63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63440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차별화 축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D35CF495-C9A2-0AF0-DE64-516B8B5D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74920"/>
            <a:ext cx="10149840" cy="2103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보험사 독립 + 이의 가치 사전 판단 + 판례·인정기준 근거 검색 + 과태료까지 묶은 멀티에이전트</a:t>
            </a:r>
          </a:p>
        </p:txBody>
      </p:sp>
    </p:spTree>
    <p:extLst>
      <p:ext uri="{BB962C8B-B14F-4D97-AF65-F5344CB8AC3E}">
        <p14:creationId xmlns:p14="http://schemas.microsoft.com/office/powerpoint/2010/main" val="35545247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29ACE2F6-43E2-3D7A-F184-88F18505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2DAB00-B043-431A-5968-BFC42B42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460BE685-2D53-5A98-B44C-BB548980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기존 경쟁사와의 차이점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3257EEF7-243A-3C69-21A8-CBBFA402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595309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04 시장과 차별점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673C00A-1143-5C6A-DAD6-299DBAE3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E7B385-F304-5508-47B5-7F830BFA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보험사와 분리된 소비자용 서비스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72DCABD-20B2-014D-F4B2-927ACCF6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특정 보험사 고객에 한정되지 않음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사고자료 기반 근거 확인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9C063A6-3B40-8DC2-4C16-2D9BC555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2233400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FFDE949-0D0C-7803-8024-6FBA0B3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370560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이의 제기 전 검토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987780F-BDA1-6B78-5B76-1329A7E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2782040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무조건 이의신청 권유 X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근거·기한·증거·위험 분리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DFB37E4-7F13-FEF4-5FEC-82A9956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8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E031F4-1433-49ED-8188-C4680C4B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3. 판례·기준 근거 연결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037E0AF-8E3B-3DCC-9C2E-1E263BE5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6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법령·인정기준·판례·심의사례 출처 제시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5C06E11-8702-E729-6179-4289D0A2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466" y="4107919"/>
            <a:ext cx="4983480" cy="13898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A5E197D-C7E0-EE35-3D91-6C14DAE5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245079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자가 대응 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FD0D1302-2464-D02C-F3A0-89F071233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346" y="4656559"/>
            <a:ext cx="46177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대리·자동제출·승소 보장 표현 제외</a:t>
            </a:r>
          </a:p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사용자 직접 검토용 리포트 제공</a:t>
            </a:r>
          </a:p>
        </p:txBody>
      </p:sp>
    </p:spTree>
    <p:extLst>
      <p:ext uri="{BB962C8B-B14F-4D97-AF65-F5344CB8AC3E}">
        <p14:creationId xmlns:p14="http://schemas.microsoft.com/office/powerpoint/2010/main" val="243115214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04EB74A-2610-9CA6-0E27-39E7F524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492ACBD-3F99-5EB8-2C15-881986E8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82D1AE-4442-4F08-2031-86D23C10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44CFCB1-B7DC-B5D4-8BC1-9783CB26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2435244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사고 내용 입력부터 근거 리포트 생성까지의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46F2E7-ECA9-587B-753D-0D06DEB9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23/40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B66779E-95BB-A94B-2129-7E75FC15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확정 판정이 아닌 근거 패키지 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입력부터 리포트까지의 흐름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문서 인식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·근거 검색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사례검색 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2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리포트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107687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7C10D20-FB5E-193D-A9C3-617793D1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24/40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1A9976-172C-F204-089B-C613C77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CB261389-ED66-E44D-BDD8-4832759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latin typeface="Malgun Gothic"/>
                <a:ea typeface="Malgun Gothic"/>
                <a:cs typeface="Malgun Gothic"/>
              </a:rPr>
              <a:t>사고자료 처리 흐름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6C581DB-A96C-0F32-33D3-2B53E149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6A5AEA-3878-A915-F3E9-ECBB3466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1EB6A0-F694-5718-3D05-D9A44A99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입력 자동화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67BCDD-F675-F146-9A22-909118F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 문서 인식, 사고 설명, 블랙박스/현장 사진 업로드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54CE486-D977-7B38-960F-D66D8BF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153FCDE-5975-3F8D-87A8-AF7B2170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사고상황 구조화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500E087-C94A-CDBF-25D5-80C97917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사고유형, 도로유형, 당사자 행동, 증거 목록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0F87E05-E813-0867-0145-8A2C82D9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6031F80-8D98-B826-B819-5C1A5A52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근거 검색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86D6DF6-3E16-63D5-0DC7-89EA611A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법령, 과실비율 기준, 판례, 심의사례 복합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EE5C255-9E3C-D0C3-D023-28A9D486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44328"/>
            <a:ext cx="2331720" cy="3017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31685C0-F3EB-910B-237D-B948754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081488"/>
            <a:ext cx="19659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행동 연결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2909CF3C-E3D3-E05E-2FF2-6DC67D45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492968"/>
            <a:ext cx="1965960" cy="2359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4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증거 체크리스트, 보험사 문의 초안, 이의신청 검토 리포트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9FF5F0-21DD-C405-4E72-E865EED3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1928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공식 포털·보험사·법률 플랫폼·생성형 AI가 따로 제공하던 조각을 사건 중심으로 통합함</a:t>
            </a:r>
          </a:p>
        </p:txBody>
      </p:sp>
    </p:spTree>
    <p:extLst>
      <p:ext uri="{BB962C8B-B14F-4D97-AF65-F5344CB8AC3E}">
        <p14:creationId xmlns:p14="http://schemas.microsoft.com/office/powerpoint/2010/main" val="6169411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0665B134-8C52-A895-C384-71029450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A3CCA4-4756-D906-6EC3-F08FAAC9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8B9593BD-C3AD-BAA2-D4BC-02CE33AB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 입력부터 리포트까지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B04EA428-DD3C-3038-1515-2ED374FF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4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32BE9F-E46B-A1DD-0463-C8399C50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3249BC3-F509-74CD-7362-256F99CA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1. 상황 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76151B-EAE8-683A-FF68-FDC78D40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3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036AA7F-9B36-CEC3-D0E0-BEEC8CA4E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B8A43E-A909-50FF-4CE6-9855B403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888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2. 자료 업로드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4BC8DE5-FD8D-4745-8CE9-A9C838A8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57549E-409D-F107-402A-41D36631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644708-83F6-128C-48D0-21D04B2A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3. 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BDCC8D3-EC17-3BE5-1136-B0BEB3DC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1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D3F26F8-6D68-9739-C4B0-68FFEA83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FFE31424-F846-46A8-A861-C67BAE12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4. 분석 모듈 분석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7EE3AF3-5F03-EC4B-7F49-A6C523E1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4696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0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F57A08BF-5ADF-9FA8-1AEC-4FEB920C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2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5A783F1-0862-B6E1-5BCC-6AD264E1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5. 근거 리포트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8784FA03-ED7C-3DEE-8513-AB4F3989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224" y="215798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4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3896C8-A222-8101-B094-7B81E761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1874519"/>
            <a:ext cx="150876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A57774F-9FE8-0FBF-8F28-A8E06159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76272"/>
            <a:ext cx="1325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6. 이력 저장</a:t>
            </a:r>
          </a:p>
        </p:txBody>
      </p:sp>
      <p:sp>
        <p:nvSpPr>
          <p:cNvPr id="51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EFB665DC-0BBC-6EAD-8C90-244F7A4A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1D3A295-7B48-6E24-5583-D03A8EC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사용자가 보는 것</a:t>
            </a: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663B06B-9800-3919-615D-3417D5A8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사고 설명 또는 고지 내용 입력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영상·사진·문서·고지서 업로드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근거·한계·다음 행동 리포트</a:t>
            </a:r>
          </a:p>
        </p:txBody>
      </p:sp>
      <p:sp>
        <p:nvSpPr>
          <p:cNvPr id="57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C04395-46FF-78F4-2ED4-FE022AAF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0480"/>
            <a:ext cx="5074920" cy="1371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16F5986-26D1-6D6E-066C-71BA950A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97764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시스템 내부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6C627819-B19F-2849-6A13-E559A65F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370832"/>
            <a:ext cx="4709159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문서 인식·DL·근거 검색·과실비율 분석 모듈 분리 분석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분석 통합가 병합하고 한계를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4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저장·다운로드·이력 권한 통제</a:t>
            </a:r>
          </a:p>
        </p:txBody>
      </p:sp>
    </p:spTree>
    <p:extLst>
      <p:ext uri="{BB962C8B-B14F-4D97-AF65-F5344CB8AC3E}">
        <p14:creationId xmlns:p14="http://schemas.microsoft.com/office/powerpoint/2010/main" val="41675063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20C14BE-EC82-A84D-9E85-34C20D73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301ED5-1FDD-A24C-CD3C-C2D12A1C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0E2F8AF-37A3-3017-C197-4FCD158C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고지서 인식과 이의 검토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C14CE82-85F0-A161-707B-B366DC7D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187DD5-6501-6FE6-0E9A-FEB8B17F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1B3E884-68DC-F381-CB4C-2416BFC6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1 고지서 문서 인식</a:t>
            </a:r>
          </a:p>
        </p:txBody>
      </p:sp>
      <p:sp>
        <p:nvSpPr>
          <p:cNvPr id="9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26C84F2-7AE6-02BF-B228-8D655361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AF100D0-D189-F11A-5127-5687854A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2 필드 추출</a:t>
            </a:r>
          </a:p>
        </p:txBody>
      </p:sp>
      <p:sp>
        <p:nvSpPr>
          <p:cNvPr id="15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3BF61C3-6980-6F8B-692B-A231E8E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CA748E9-BD6F-82C4-5025-1B58C12B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3 처분 유형 분기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21DF9C8-7655-4A61-2F21-AC105BA0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A5AC75-A2C2-C36F-77F6-E8F89F18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4 가능성/위험 분리</a:t>
            </a:r>
          </a:p>
        </p:txBody>
      </p:sp>
      <p:sp>
        <p:nvSpPr>
          <p:cNvPr id="27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C335F87-89F5-9923-803C-D9953901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11478"/>
            <a:ext cx="17373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FF2849BE-2BBF-E7B0-F68D-39EB6F55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248638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8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5 결과 리포트</a:t>
            </a:r>
          </a:p>
        </p:txBody>
      </p:sp>
      <p:sp>
        <p:nvSpPr>
          <p:cNvPr id="33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78AB55B-8A51-A089-12A0-312AE333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20E20DB-F04D-636C-4790-BBF29081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A61514F0-0A08-40A3-D20A-A36516C5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위반일시, 장소, 위반유형, 금액, 기한 추출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누락 필드는 사용자에게 추가 확인 요청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원문 전체가 아니라 필드 중심 처리</a:t>
            </a:r>
          </a:p>
        </p:txBody>
      </p:sp>
      <p:sp>
        <p:nvSpPr>
          <p:cNvPr id="44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5F95691-8D94-08A6-927C-AB7DBE2D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74518"/>
            <a:ext cx="5074920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96977CF7-613E-3BC3-B90E-683A500A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711678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Appeal 분석 모듈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6B59BF3-087B-4A3D-5C45-E0A54C0D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104870"/>
            <a:ext cx="4709159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도난, 제3자 운전 주장, 본인 운전 인정형 위험 패턴 구분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법적 가능성과 리스크 분리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7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기한 불명확 시 경고와 한계 표시</a:t>
            </a:r>
          </a:p>
        </p:txBody>
      </p:sp>
    </p:spTree>
    <p:extLst>
      <p:ext uri="{BB962C8B-B14F-4D97-AF65-F5344CB8AC3E}">
        <p14:creationId xmlns:p14="http://schemas.microsoft.com/office/powerpoint/2010/main" val="343287320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83F27B7E-3991-071F-F5F1-A90AE1F2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C0C12-6849-B478-8974-743D7D6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735397B-B1F5-B218-6D4E-FF7DE6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 근거 검색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FF88D66A-2C64-59DF-B679-4A6D97F4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60F8F91-23D4-5681-7416-D0CA9B07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4048824-819C-D278-2095-9A42601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법령 근거 검색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EA221EC-220D-2A15-461D-76A44C1B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사용자의 일상어를 법률 용어로 확장함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조문 단위 chunk와 keyword/vector search로 관련 법령을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조문, 적용 한계, 추가 확인 사항을 남김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9E203E1-0856-F975-FD3C-C26744DB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813561"/>
            <a:ext cx="507492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67E24AB-7BDC-C25F-CC2F-E0488B5A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950720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과실비율 사례검색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58CC1D4-0994-8600-A60C-99B23717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343913"/>
            <a:ext cx="4709159" cy="1965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교통 판례 3,562건, 과실비율 판례 973건, 심의사례 226건을 활용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유사 사례 목록, 사실관계 차이, 부족한 증거를 함께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정답 비율이 아니라 판단의 출발점을 제공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960F18BB-C514-0FA1-3B36-43E947F5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8281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판례·심의사례·인정기준은 성격이 다르므로 source를 구분해서 보여줘야 함</a:t>
            </a:r>
          </a:p>
        </p:txBody>
      </p:sp>
    </p:spTree>
    <p:extLst>
      <p:ext uri="{BB962C8B-B14F-4D97-AF65-F5344CB8AC3E}">
        <p14:creationId xmlns:p14="http://schemas.microsoft.com/office/powerpoint/2010/main" val="315505726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31202B7-7849-EAC2-66D1-F53CFD8F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5D21113-4364-2EEB-00C3-7928A280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E2B43FD-3F8A-6ED9-9A5E-5C61519C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상담 리포트 관리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1E2CFD03-5A5D-806D-A78E-27DB09F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1415772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05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서비스 이용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ACFE13D-718D-B604-5127-CCDFAC97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723542-B768-D927-C288-2D12BEAC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사건 요약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38DC020-7684-4CE0-4EE3-969C50B9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사고유형, 당사자 주장, 제출 자료를 한눈에 확인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76DD4BD-79B5-533C-2EBD-CBA40A77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79094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2823E8-1E25-1A68-E512-92D44EB9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810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자료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15784CE-F5DA-7CE5-3CA2-A370B23C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3958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법령, 판례, 심의사례, 과실기준을 출처와 함께 정리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0CB76E-0247-2AFD-F2EF-6BA64AD1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A27AE82-4CC0-FE61-9348-87640BBC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한계·주의사항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4A6B14-B28C-0B96-E092-56426AA5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부족한 증거와 단정할 수 없는 부분을 표시</a:t>
            </a:r>
          </a:p>
        </p:txBody>
      </p:sp>
      <p:sp>
        <p:nvSpPr>
          <p:cNvPr id="28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C73F3A6-8FD5-2E0B-E8EA-EC649436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482586"/>
            <a:ext cx="498348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C9DD3B1-D0A0-CFAC-24E9-CFF5D31B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19746"/>
            <a:ext cx="4617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다음 행동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568D350-3C07-4389-E211-0E6D71F7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031226"/>
            <a:ext cx="46177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보험사 문의 문구, 추가 증거 체크리스트, 다운로드 제공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B030574A-E485-FD1B-36D0-DFA5CD25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9986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사용자가 보험사와 대화하거나 전문가 상담을 받을 때 정리된 자료가 됨</a:t>
            </a:r>
          </a:p>
        </p:txBody>
      </p:sp>
    </p:spTree>
    <p:extLst>
      <p:ext uri="{BB962C8B-B14F-4D97-AF65-F5344CB8AC3E}">
        <p14:creationId xmlns:p14="http://schemas.microsoft.com/office/powerpoint/2010/main" val="108048695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9CDB27-2941-7051-E670-20DF93CB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91DED4F-62D9-A598-6733-0ACEDFB7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F1BBB26-855A-A8CD-5BAA-552C77BE9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핵심 기능과</a:t>
            </a:r>
          </a:p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7615BBB-120B-29DD-7332-53711415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406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문서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영상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·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법률 데이터를 연결하는 </a:t>
            </a:r>
          </a:p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분석 과정 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7CBBC96-D3AA-A1CD-C196-7BA02C3B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29/40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1EBFBFC-952A-A90C-A5C9-44DF9DE0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35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None/>
            </a:pPr>
            <a:r>
              <a:rPr sz="2000" b="1">
                <a:solidFill>
                  <a:srgbClr val="E6E6E6"/>
                </a:solidFill>
              </a:rPr>
              <a:t>이미지·문서 분석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근거 검색과 결과 통합</a:t>
            </a:r>
          </a:p>
          <a:p xmlns:a="http://schemas.openxmlformats.org/drawingml/2006/main">
            <a:r>
              <a:rPr sz="2000" b="1">
                <a:solidFill>
                  <a:srgbClr val="E6E6E6"/>
                </a:solidFill>
              </a:rPr>
              <a:t>민감 데이터 보호</a:t>
            </a:r>
          </a:p>
        </p:txBody>
      </p:sp>
    </p:spTree>
    <p:extLst>
      <p:ext uri="{BB962C8B-B14F-4D97-AF65-F5344CB8AC3E}">
        <p14:creationId xmlns:p14="http://schemas.microsoft.com/office/powerpoint/2010/main" val="286180580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9AA8577-8BF2-8390-F721-06194156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30/40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EC5A431-9D8E-867D-6D9D-6358D9A62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145F02FD-4921-57A5-9870-DC298883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분석 구조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67F58160-7E73-AF48-7871-08A9BD53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AA5891-6326-9867-F794-3522C81F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293A27B-2FE3-F17C-BFEF-9DE9DB62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입력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84032E-1C1D-72CE-0D80-247D8CE2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텍스트·이미지·영상·고지서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98A04F-13C5-1112-197E-D5DD351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350DF2B-120C-0A1C-1F8A-DDA70F83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전처리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A73F84F-50D2-4076-EBB0-84903046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인식·파일 검사·항목 정리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1628ADA-1660-4964-BDC2-89F23C50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51315FC-21B0-87D4-C403-C3C87E1A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BEBEBE"/>
                </a:solidFill>
                <a:latin typeface="Malgun Gothic"/>
                <a:ea typeface="Malgun Gothic"/>
                <a:cs typeface="Malgun Gothic"/>
              </a:rPr>
              <a:t>검색/분석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D9AAEC7-3269-5D61-1DD0-10BA913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법령·사례·영상 분석</a:t>
            </a:r>
          </a:p>
        </p:txBody>
      </p:sp>
      <p:sp>
        <p:nvSpPr>
          <p:cNvPr id="33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B4DA6D-320E-E392-1D93-FD450E2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D1C7DDED-B1F4-3098-E27D-68025064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통합 판단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7986E664-0210-5EFF-4F97-6E95B16F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12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라우팅·병합·한계 표시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5AB0D3E-CB89-2250-FB7C-5F774D4A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180305"/>
            <a:ext cx="173736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F0A214F-55E7-9BBE-A9DC-CDECF864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17465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출력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DE8BBFCF-E1B1-E1A5-07FA-D11272C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728945"/>
            <a:ext cx="13716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리포트</a:t>
            </a:r>
          </a:p>
        </p:txBody>
      </p:sp>
      <p:sp>
        <p:nvSpPr>
          <p:cNvPr id="47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6F68FB6-C7ED-B8B7-8AEB-8E9D60E5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79214F6C-FFB0-3D6B-5FBB-09BF326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결과 저장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DBAE8A39-D216-CDF5-0DDA-32F3586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이력, 업로드 자료, 분석 진행 상태를 관리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사용자는 리포트와 이전 상담 내용을 다시 확인</a:t>
            </a:r>
          </a:p>
        </p:txBody>
      </p:sp>
      <p:sp>
        <p:nvSpPr>
          <p:cNvPr id="53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C77304-CFEB-22EF-6F4B-9D5FDD2F0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83425"/>
            <a:ext cx="50749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661FD2BB-6DC7-5A0D-28A3-0BE920E55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420585"/>
            <a:ext cx="470915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검색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B2A35622-614C-9945-8560-5DF14B9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813777"/>
            <a:ext cx="4709159" cy="9143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법령·판례·과실비율 기준을 검색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근거와 한계를 함께 리포트에 표시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12688ab0f4e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A6F3BB6-E325-4459-881C-C36F7170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2EFA5ED-C05C-493D-90BE-DC6E532CD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685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AI 분석 구조는</a:t>
            </a:r>
          </a:p>
          <a:p xmlns:a="http://schemas.openxmlformats.org/drawingml/2006/main">
            <a:pPr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정답 생성이 아니라 근거 조립이다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7B2EA0-13AB-4E7D-B570-1454D53E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9C9C9"/>
                </a:solidFill>
              </a:defRPr>
            </a:pPr>
            <a:r>
              <a:rPr sz="1125" b="1">
                <a:solidFill>
                  <a:srgbClr val="C9C9C9"/>
                </a:solidFill>
              </a:rPr>
              <a:t>06  핵심 기능과 AI 분석 구조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2F4384-1925-456C-BFC5-FADAF6F0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1DB1D2-D3BC-4ECD-B3E1-D8125FD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1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166DAF-6134-4E06-9D26-3988636C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입력 정리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DF3F063-F8FB-4B3A-8A92-CDB667E0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고지서·사진·영상·사고 설명을 사건 필드로 분리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AF11FDB-4088-465A-816C-F4A67FD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4B696B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4816D35-47B3-4C93-86F2-C3ABA29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9D5D0"/>
                </a:solidFill>
              </a:defRPr>
            </a:pPr>
            <a:r>
              <a:rPr sz="1800" b="1">
                <a:solidFill>
                  <a:srgbClr val="79D5D0"/>
                </a:solidFill>
              </a:rPr>
              <a:t>2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12F8C07-E375-4C7B-AFC5-2F44EB5C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근거 검색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E3C5BE3-AB5C-4F5A-9F69-9D354A19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법령, 인정기준, 판례, 심의사례를 source별로 검색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7C15C3-ACA5-4752-92DA-B07C343B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4844C7-013C-4951-8BEF-1DBEE121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93F7BC0-247D-4515-9EC2-27DCC8B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분석 통합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1EC15E8-4B65-4003-99CD-A0554B99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Supervisor가 모듈 결과와 한계를 병합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0DC336-ACDF-44A6-A529-DFEF6AAF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19700"/>
            <a:ext cx="2400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3A3A3A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BF3B501-1B56-4454-A94D-29EDE321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4102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95B52"/>
                </a:solidFill>
              </a:defRPr>
            </a:pPr>
            <a:r>
              <a:rPr sz="1800" b="1">
                <a:solidFill>
                  <a:srgbClr val="E95B52"/>
                </a:solidFill>
              </a:rPr>
              <a:t>4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9F7BCA-D1ED-45E8-B0F9-6E423ECB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39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리포트화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877CE5D-1812-41D9-B6B6-5844EC47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6769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CCCCC"/>
                </a:solidFill>
              </a:defRPr>
            </a:pPr>
            <a:r>
              <a:rPr sz="975" b="0">
                <a:solidFill>
                  <a:srgbClr val="CCCCCC"/>
                </a:solidFill>
              </a:rPr>
              <a:t>근거, 부족 증거, 다음 행동을 사용자 문서로 제공</a:t>
            </a:r>
          </a:p>
        </p:txBody>
      </p:sp>
    </p:spTree>
    <p:extLst>
      <p:ext uri="{BB962C8B-B14F-4D97-AF65-F5344CB8AC3E}">
        <p14:creationId xmlns:p14="http://schemas.microsoft.com/office/powerpoint/2010/main" val="34196544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1D5A5655-E82E-A099-A1C6-5446B08B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31/40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CA0C07-F82A-82AF-2F66-333F11DD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BB78A165-8507-B064-2DB9-923F93A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분석 모듈 역할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AB6E2FF-5AD6-B0D5-4CE8-43AB8092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7AF45E4-5F50-6B6F-E0D9-99A47618C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1BAF64-CCF5-35DC-9C9B-5EAB3C04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 분석 모듈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4E6D36-BC86-C281-451A-69EF0311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고지서·문서 필드 추출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A6E4FA0-AD08-6DF2-3A72-C3B8D9C2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73BC8EF-47BA-0DEE-4898-DF1AF199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 분석 모듈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30E75B-73DA-2BA9-35D0-C4E688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프레임·객체·사고상황 후보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189BC91-337C-A4AB-9742-9BAE94B5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85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AB31630-1C04-1D8B-41BF-55E29880C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65758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Law 근거 검색 분석 모듈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631E584-85D7-B817-3753-2A8DCEC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4772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법령·판례·심의사례 검색</a:t>
            </a:r>
          </a:p>
        </p:txBody>
      </p:sp>
      <p:sp>
        <p:nvSpPr>
          <p:cNvPr id="30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A7C64E5-6169-A173-461C-7CDB34FB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BAC7246-194B-CCC3-E93F-707403DD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Fault 분석 모듈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7E87B1C-0247-C0B5-5339-947EF419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사고유형·쟁점·수정요소</a:t>
            </a:r>
          </a:p>
        </p:txBody>
      </p:sp>
      <p:sp>
        <p:nvSpPr>
          <p:cNvPr id="39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E7032DC-E981-1D9B-B6A8-F054ED8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AAE65C10-2C0D-2347-0A92-26F154A2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Report 분석 모듈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5E0CBC43-E6F0-F863-AF0B-B54C3D0D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초안·체크리스트·리포트</a:t>
            </a:r>
          </a:p>
        </p:txBody>
      </p:sp>
      <p:sp>
        <p:nvSpPr>
          <p:cNvPr id="52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B38097F-9ABB-15A6-A534-192D9CEF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8798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990445C8-58BE-E800-76CA-82806B94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665957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 분석 모듈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03151DCE-4135-6185-FD8A-1AD7DF03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077438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5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입력 분류·라우팅·결과 병합·한계 표시</a:t>
            </a:r>
          </a:p>
        </p:txBody>
      </p:sp>
      <p:sp>
        <p:nvSpPr>
          <p:cNvPr id="6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A3741E6-B331-88AA-21F7-ED998456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3318"/>
            <a:ext cx="1056132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DB8A8A-ECE1-52A6-D15B-80CD30B8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4798"/>
            <a:ext cx="10561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법률, 보험, 영상, 문서 분석은 오류 유형이 다르기 때문에 역할 분리가 더 안정적</a:t>
            </a:r>
          </a:p>
        </p:txBody>
      </p:sp>
    </p:spTree>
    <p:extLst>
      <p:ext uri="{BB962C8B-B14F-4D97-AF65-F5344CB8AC3E}">
        <p14:creationId xmlns:p14="http://schemas.microsoft.com/office/powerpoint/2010/main" val="57738186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92C7304-A754-553B-7C54-12E4BA29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32/40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678BCAB-C548-C92A-273D-161DDCA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9B8E52F-423A-AD67-D168-3A7A81B9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 설계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547C11D-A71E-6FB2-0171-B63E79B7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326874D-0AFD-610C-655A-66DA5798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BD3641C-AACE-24EF-5D23-8D40962B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권한 분리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9BA88F-41E5-0D44-A1D3-6D29A963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로그인 여부에 따라 저장·다운로드 권한을 다르게 적용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D391FC68-410D-3E34-DB86-57FDB7EC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F78C476-C0BA-0602-A37A-593D37EC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계정 보호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689D73-EDFD-9FF1-A45E-09F5C858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인증 정보는 서버에서 안전하게 관리</a:t>
            </a:r>
          </a:p>
        </p:txBody>
      </p:sp>
      <p:sp>
        <p:nvSpPr>
          <p:cNvPr id="2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759F51-5325-1552-D31B-D546C6E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875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210471F-78C1-2AF4-B5D1-7E70C75F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124752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파일 검사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046A61B-D02C-2422-F479-595EBDDC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5362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업로드 파일을 검사한 뒤 AI 분석에 전달</a:t>
            </a:r>
          </a:p>
        </p:txBody>
      </p:sp>
      <p:sp>
        <p:nvSpPr>
          <p:cNvPr id="31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58412E-C515-47D7-ACFA-75943F7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18B55FA-E08A-53E3-E408-796CAFC4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 최소화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4928952-3213-8EE1-7F48-F171E481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 정보만 저장하고 민감한 원문 노출을 줄임</a:t>
            </a:r>
          </a:p>
        </p:txBody>
      </p:sp>
      <p:sp>
        <p:nvSpPr>
          <p:cNvPr id="40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882D7E9-789E-4FB0-BFA2-C1125A10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146AC91-1DEE-401A-492F-BB3A0AF5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 입력 검증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B1DA210E-8B02-6548-9FB0-2785202F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문서 안의 악성 지시가 답변을 오염시키지 않도록 분리</a:t>
            </a:r>
          </a:p>
        </p:txBody>
      </p:sp>
      <p:sp>
        <p:nvSpPr>
          <p:cNvPr id="49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3594BB1-A814-9E55-EFC6-333CEA12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7792"/>
            <a:ext cx="315468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25BDA974-D9B6-C0D3-A96F-6E8CA90A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3724951"/>
            <a:ext cx="2788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7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책임 제한</a:t>
            </a: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77F7027B-21C0-BBA1-0A44-8FFB5FAA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4136432"/>
            <a:ext cx="2788920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3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근거·한계·전문가 상담 안내 포함</a:t>
            </a:r>
          </a:p>
        </p:txBody>
      </p:sp>
    </p:spTree>
    <p:extLst>
      <p:ext uri="{BB962C8B-B14F-4D97-AF65-F5344CB8AC3E}">
        <p14:creationId xmlns:p14="http://schemas.microsoft.com/office/powerpoint/2010/main" val="235864682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C576DCF-5215-A46F-F56B-D9A43921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33/40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868A09-922B-5EFD-0F3C-8CA4B04B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23FF589-05AA-EB1D-A59A-E7D7222A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근거 기반 안전장치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CB089523-E867-44FC-7573-C36152BF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441694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06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핵심 기능과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분석 구조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71AAEE5-DDA4-C9FF-FFF1-023CEE0C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068997-D808-9437-6466-D2271F5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하지 않는 것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EEA34A-9D04-1853-B8AC-33983203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 보장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과실비율 확정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제출·대리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변호사처럼 단정하는 표현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27B340-C516-3E8F-D6DC-63B2B743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79032"/>
            <a:ext cx="324612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9788A49-AC4F-987D-B0FA-F9F5E2AD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216191"/>
            <a:ext cx="28803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반드시 하는 것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BED0C63-AAA4-60EE-F72B-6B8C5F0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609384"/>
            <a:ext cx="288036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출처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판단 근거와 한계 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추가 확인사항 제시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사용자 직접 확인 절차 안내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26216B2-A80C-25F3-772D-25BCAE15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2079032"/>
            <a:ext cx="29718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8D7934-8EF5-8B16-8E9E-7A9998AE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216191"/>
            <a:ext cx="26060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표현 방식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69CC4B9-AABA-1B2C-4501-94FBB709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59" y="2609384"/>
            <a:ext cx="260604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“가능성 있음”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“검토가 필요함”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6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“부족 자료 안내”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4A2CD0C-A964-7A43-BB18-1CFC03C8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235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확정 판정 X | 기준·유사 사례·부족한 증거·다음 행동 제시</a:t>
            </a:r>
          </a:p>
        </p:txBody>
      </p:sp>
    </p:spTree>
    <p:extLst>
      <p:ext uri="{BB962C8B-B14F-4D97-AF65-F5344CB8AC3E}">
        <p14:creationId xmlns:p14="http://schemas.microsoft.com/office/powerpoint/2010/main" val="12428057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B26C8F3-7EB5-A9E4-AB64-673A0B94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5186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FF1564A-19FA-7025-8258-FDE21C1F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97" y="735726"/>
            <a:ext cx="8229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0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83696D8-CCC3-11F5-091E-8D3044AA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3" y="1640885"/>
            <a:ext cx="3436671" cy="12680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구현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4000" b="1">
                <a:solidFill>
                  <a:srgbClr val="E6E6E6"/>
                </a:solidFill>
                <a:latin typeface="Malgun Gothic"/>
                <a:ea typeface="Malgun Gothic"/>
                <a:cs typeface="Malgun Gothic"/>
              </a:rPr>
              <a:t>범위와 기대효과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628EC2A-1B03-734C-E90C-78B11FBB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212" y="3050797"/>
            <a:ext cx="3436671" cy="22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MVP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기능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검증 계획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200">
                <a:solidFill>
                  <a:srgbClr val="AAAAAA"/>
                </a:solidFill>
                <a:latin typeface="Malgun Gothic"/>
                <a:ea typeface="Malgun Gothic"/>
                <a:cs typeface="Malgun Gothic"/>
              </a:rPr>
              <a:t>향후 확장 방향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53ABC2F-7F0E-7C95-A00E-72E545FC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34/40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B94F91-FBBC-EFB1-548C-F88D9770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9524" y="3429000"/>
            <a:ext cx="5069386" cy="22760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MVP </a:t>
            </a:r>
            <a:r>
              <a:rPr sz="2000" b="1">
                <a:solidFill>
                  <a:srgbClr val="E6E6E6"/>
                </a:solidFill>
              </a:rPr>
              <a:t>포함 및 제외 범위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분석 모듈 </a:t>
            </a:r>
            <a:r>
              <a:rPr sz="2000" b="1">
                <a:solidFill>
                  <a:srgbClr val="E6E6E6"/>
                </a:solidFill>
              </a:rPr>
              <a:t>별 평가지표</a:t>
            </a:r>
          </a:p>
          <a:p xmlns:a="http://schemas.openxmlformats.org/drawingml/2006/main">
            <a:pPr marL="342900" indent="-342900">
              <a:lnSpc>
                <a:spcPct val="250000"/>
              </a:lnSpc>
              <a:buChar char="•"/>
            </a:pPr>
            <a:r>
              <a:rPr sz="2000" b="1">
                <a:solidFill>
                  <a:srgbClr val="E6E6E6"/>
                </a:solidFill>
              </a:rPr>
              <a:t>현재 한계와 향후 확장 계획</a:t>
            </a:r>
            <a:r>
              <a:rPr sz="2000" b="1">
                <a:solidFill>
                  <a:srgbClr val="E6E6E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81113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6CC153E-47DF-49E4-9E0F-1DCD511B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35/40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F80A37-CC2F-8BF2-9B79-F66AE185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3476D41-8227-9C42-6077-1245078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MVP 구현 범위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7E7EA93E-67B7-9A95-303A-E947F461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AFE901B-483F-592A-E6F8-EC9FFD8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AD4209-C966-31B2-78BC-1B8C69FD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MVP에 포함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75FCFC6-417E-C389-4F62-8E1EAA68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고지서 문서 인식 및 과태료/범칙금 유형 확인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사고 설명 + 이미지/영상 구조화 결과 생성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법령·과실비율 기준·유사사례 근거 검색 검색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이의제기 가능성 높음/중간/낮음 라벨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부족한 증거 체크리스트와 참고용 리포트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CD18615-97F2-0B1B-2E53-83637AE9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31722"/>
            <a:ext cx="5166360" cy="3337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6A2CDDF-7752-0854-2F4D-2AE9A5F6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468882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후순위 / 제외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26BA59-46AE-B2A5-3FC0-E645637D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2074"/>
            <a:ext cx="4800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자동 제출 또는 대리 신청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승소/과실비율 확정 표현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전문가 연결 수익화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모든 영상 상황 자동 판정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5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자문처럼 보이는 단정 문구</a:t>
            </a:r>
          </a:p>
        </p:txBody>
      </p:sp>
    </p:spTree>
    <p:extLst>
      <p:ext uri="{BB962C8B-B14F-4D97-AF65-F5344CB8AC3E}">
        <p14:creationId xmlns:p14="http://schemas.microsoft.com/office/powerpoint/2010/main" val="393586588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94D1064-057D-20E4-4BA3-EE502EB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36/40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DEB490-A897-96E9-6F45-0B065F52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BC5B1AB-5628-B542-4E0A-75FCEEFF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기능별 평가 계획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4A6F3484-F834-55CE-6DCD-87A790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90A2AD6-E1D5-00C6-544F-383F5627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751096E-998D-80C6-EEC4-BCEB7915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문서 인식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2C1E345-48CC-4221-9509-6C0BEBB9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필드 정확도, CER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핵심값이 맞는가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3424DF-6E05-AB78-9655-71703117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F4B55D7-E4B8-C85B-F4DB-27833FBD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A3FFE49-3377-718F-E44D-362B806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Recall@k, MRR, Faithfulness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근거 문서를 찾는가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4EAE8D0-82E9-F34E-E663-1A6FEE99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70CCD7D-030E-C1B9-1F30-AFF719C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Vision/DL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A215532-4504-CBD5-CAF6-76509B7A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mAP, 장면 후보 정확도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상황을 구조화하는가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894C9F-3B21-63EF-3EB1-FE4829A0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79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FBC811-F50E-0E87-3D91-56683658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분석 통합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0B6C7C6-807A-7607-2DD3-1BCC6D90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5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라우팅 정확도, E2E 성공률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올바른 분석 모듈를 호출하는가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0D71E48-0245-3EDC-F891-D4EFC32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65672"/>
            <a:ext cx="173736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F27474C-3173-2252-25E8-CCB62AD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002832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안전장치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7154643-041C-657C-6C3C-9738712C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19" y="2396024"/>
            <a:ext cx="1371600" cy="2194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단정 표현 차단률, limitations 포함률</a:t>
            </a:r>
          </a:p>
          <a:p xmlns:a="http://schemas.openxmlformats.org/drawingml/2006/main">
            <a:pPr>
              <a:spcAft>
                <a:spcPts val="700"/>
              </a:spcAft>
              <a:buNone/>
            </a:pPr>
            <a:r>
              <a:rPr sz="132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• 법률 리스크를 줄이는가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2F9A5EED-CCF3-D484-0035-567FD2F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31832"/>
            <a:ext cx="10789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5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최소 목표 | 분석 모듈마다 숫자 1개 + 실패/한계 예시 1개 + 근거 포함 결과 1개</a:t>
            </a:r>
          </a:p>
        </p:txBody>
      </p:sp>
    </p:spTree>
    <p:extLst>
      <p:ext uri="{BB962C8B-B14F-4D97-AF65-F5344CB8AC3E}">
        <p14:creationId xmlns:p14="http://schemas.microsoft.com/office/powerpoint/2010/main" val="39601915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78B63FC-0B13-6DED-BD97-594AFF1C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37/40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AAB7D1-4F15-460E-143F-BEFDC020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A45ECE0-7AD3-8925-7EFB-3C2E3DB6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구현과 다음 단계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E7851612-E02F-D66B-1FCD-A5B2C385C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4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8E5539C-12E6-643D-89C6-3C5D1AB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767B3C-43B4-E1AB-8B27-55428540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현재 강조할 것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C84D907-32D9-33BC-5818-555B33BF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고지서 문서 인식 기반 처분 정보 추출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법령·과실비율 사례 검색 기반 답변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상담 결과 리포트와 이력 확인 흐름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업로드 파일 검사와 개인정보 보호 설계</a:t>
            </a:r>
          </a:p>
        </p:txBody>
      </p:sp>
      <p:sp>
        <p:nvSpPr>
          <p:cNvPr id="13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994EB2E-087E-74F6-43F7-A221609C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80478"/>
            <a:ext cx="5166360" cy="24231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E83C979-1B95-C683-A381-96C94368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17637"/>
            <a:ext cx="4800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한계와 Next Step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0D5EA99-BDA2-E120-9AC7-4F937CE6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110830"/>
            <a:ext cx="480060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보험사 내부 데이터는 아직 활용하지 않음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모든 영상 상황 자동 판정은 후순위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법률 자문·대리 제출이 아닌 자가 대응 도구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실제 사고 샘플 기반 E2E 데모 보강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정량 평가 수치와 리포트 품질 표시 강화</a:t>
            </a:r>
          </a:p>
        </p:txBody>
      </p:sp>
    </p:spTree>
    <p:extLst>
      <p:ext uri="{BB962C8B-B14F-4D97-AF65-F5344CB8AC3E}">
        <p14:creationId xmlns:p14="http://schemas.microsoft.com/office/powerpoint/2010/main" val="33024021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8D62189-8C58-443A-13D8-46B8CE11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38/40</a:t>
            </a:r>
          </a:p>
        </p:txBody>
      </p:sp>
      <p:sp>
        <p:nvSpPr>
          <p:cNvPr id="61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37E76C-1723-016B-4183-92D51D19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" y="425395"/>
            <a:ext cx="45719" cy="89134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918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A8F1CD41-2F02-3A6D-FFA1-D897AD48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AI가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필요한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이유</a:t>
            </a: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D9679A91-74AC-9FEB-6FE9-87EF66CA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00" y="414234"/>
            <a:ext cx="2196435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07 </a:t>
            </a:r>
            <a:r>
              <a:rPr sz="1400" b="1">
                <a:solidFill>
                  <a:srgbClr val="B0B0B0"/>
                </a:solidFill>
                <a:latin typeface="Malgun Gothic"/>
                <a:ea typeface="Malgun Gothic"/>
                <a:cs typeface="Malgun Gothic"/>
              </a:rPr>
              <a:t>구현 범위와 기대효과</a:t>
            </a:r>
          </a:p>
        </p:txBody>
      </p:sp>
      <p:sp>
        <p:nvSpPr>
          <p:cNvPr id="3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6FB915D-DD67-0A6E-C25D-F99CFD37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E95A45D-0C36-0AFB-E717-5F51DC54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분쟁 증가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37E52D3-A5EE-8DAC-D44E-55FDD575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12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8D4EB5B-3EE2-0FAD-2372-5E875027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3AAE824-7683-B192-8F17-AB0E9135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탐색 비용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EC127E0-99B6-E858-DF28-D5D328A4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1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0A08C8B-4C84-854C-434C-A838433F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AB428B8-5C88-8B33-06F1-37C0B7FF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사건 구조화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60E71F9-6CB1-A613-07FD-E5F6CC72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27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31C72AC8-D6CD-E0D5-BC8C-1A1A95BB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376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654980-A649-1438-B216-1DA1F383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검색/분석 모듈 분석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F827B37-BFC7-4397-0711-69A1D76C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2258864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>
                <a:solidFill>
                  <a:srgbClr val="B4B4B0"/>
                </a:solidFill>
                <a:latin typeface="Noto Sans CJK KR"/>
                <a:ea typeface="Noto Sans CJK KR"/>
                <a:cs typeface="Noto Sans CJK KR"/>
              </a:rPr>
              <a:t>→</a:t>
            </a:r>
          </a:p>
        </p:txBody>
      </p:sp>
      <p:sp>
        <p:nvSpPr>
          <p:cNvPr id="33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5A2A98A-8906-2D12-35A0-89162983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57112"/>
            <a:ext cx="169164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86FDEC9-E85B-3E11-8385-450B0AF1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2094272"/>
            <a:ext cx="1325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53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근거 리포트</a:t>
            </a:r>
          </a:p>
        </p:txBody>
      </p:sp>
      <p:sp>
        <p:nvSpPr>
          <p:cNvPr id="37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0BF945D-F627-5BA1-2826-08D5C75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94472"/>
            <a:ext cx="10469880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92423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EF5595E-1802-7133-BDED-30707C20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31632"/>
            <a:ext cx="10104119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프로젝트 한 문장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E69ED8A-493F-DE05-BCFE-9149C12D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43111"/>
            <a:ext cx="10104119" cy="758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1800" b="0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교통분쟁 AI 서비스는 교통사고·과태료·보험 분쟁에서 사용자가 전문가 상담 전 스스로 근거를 확인하고 다음 행동을 정리하도록 돕는 AI 상담·분석 서비스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D4F8E17-CAF4-A0AD-1AC0-B9BA22F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60432"/>
            <a:ext cx="104698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정답을 대신 내려주는 서비스가 아니라, 근거를 정리해 판단을 돕는 서비스</a:t>
            </a:r>
          </a:p>
        </p:txBody>
      </p:sp>
    </p:spTree>
    <p:extLst>
      <p:ext uri="{BB962C8B-B14F-4D97-AF65-F5344CB8AC3E}">
        <p14:creationId xmlns:p14="http://schemas.microsoft.com/office/powerpoint/2010/main" val="405461284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AF21AA1F-1EDC-9866-6F00-6B977E80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862" y="-12191"/>
            <a:ext cx="12313185" cy="195986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073CF9-FB27-4BF9-959B-A61D6EBA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6266" y="3855130"/>
            <a:ext cx="8678444" cy="1421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보험연구원·한국보험신문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분쟁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증가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및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국민인식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IT동아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/Daum: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교통사고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판단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변수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자동차사고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과실비율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정보포털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공식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기준·심의사례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국가법령정보센터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도로교통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관련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법령</a:t>
            </a:r>
          </a:p>
          <a:p xmlns:a="http://schemas.openxmlformats.org/drawingml/2006/main"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•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개인정보보호위원회·OWASP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LLM Top 10: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보안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기준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E1C8AB-9C9E-489C-A045-BFA67D8A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Malgun Gothic"/>
                <a:ea typeface="Malgun Gothic"/>
                <a:cs typeface="Malgun Gothic"/>
              </a:rPr>
              <a:t>39/40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4621449-F1B2-B05C-0F95-3662F64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85" y="766370"/>
            <a:ext cx="9784080" cy="529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200" b="1">
                <a:solidFill>
                  <a:srgbClr val="F5F5F5"/>
                </a:solidFill>
                <a:latin typeface="Malgun Gothic"/>
                <a:ea typeface="Malgun Gothic"/>
                <a:cs typeface="Malgun Gothic"/>
              </a:rPr>
              <a:t>cja</a:t>
            </a:r>
          </a:p>
        </p:txBody>
      </p:sp>
    </p:spTree>
    <p:extLst>
      <p:ext uri="{BB962C8B-B14F-4D97-AF65-F5344CB8AC3E}">
        <p14:creationId xmlns:p14="http://schemas.microsoft.com/office/powerpoint/2010/main" val="44600657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chemeClr val="tx1">
            <a:lumMod val="85000"/>
            <a:lumOff val="1500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52AFD0D-6D4A-4F5D-8B4E-897C6040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634" y="1833151"/>
            <a:ext cx="4572000" cy="139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88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Q&amp;A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B7DA0A3-C9B6-456B-A01D-AB98AFF8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3633699"/>
            <a:ext cx="6766560" cy="6524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교통분쟁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AI 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상담·분석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 </a:t>
            </a:r>
            <a:r>
              <a:rPr sz="4000" b="1">
                <a:solidFill>
                  <a:srgbClr val="F4F4F2"/>
                </a:solidFill>
                <a:latin typeface="Noto Sans CJK KR"/>
                <a:ea typeface="Noto Sans CJK KR"/>
                <a:cs typeface="Noto Sans CJK KR"/>
              </a:rPr>
              <a:t>서비스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197156-6C4F-4090-8844-E139F41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6473952"/>
            <a:ext cx="731520" cy="1677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8288" tIns="18288" rIns="18288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>
                <a:solidFill>
                  <a:schemeClr val="bg1">
                    <a:lumMod val="65000"/>
                  </a:schemeClr>
                </a:solidFill>
                <a:latin typeface="Noto Sans CJK KR"/>
                <a:ea typeface="Noto Sans CJK KR"/>
                <a:cs typeface="Noto Sans CJK KR"/>
              </a:rPr>
              <a:t>40/40</a:t>
            </a:r>
          </a:p>
        </p:txBody>
      </p:sp>
    </p:spTree>
    <p:extLst>
      <p:ext uri="{BB962C8B-B14F-4D97-AF65-F5344CB8AC3E}">
        <p14:creationId xmlns:p14="http://schemas.microsoft.com/office/powerpoint/2010/main" val="122005079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2026-07-08T06:12:04.4950000Z</dcterms:created>
  <dcterms:modified xsi:type="dcterms:W3CDTF">2026-07-08T06:12:04.4950000Z</dcterms:modified>
</coreProperties>
</file>