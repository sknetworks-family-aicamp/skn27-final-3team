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2ffce9f3694727" /><Relationship Type="http://schemas.openxmlformats.org/officeDocument/2006/relationships/extended-properties" Target="/docProps/app.xml" Id="Rd934bfdc97124c26" /><Relationship Type="http://schemas.openxmlformats.org/officeDocument/2006/relationships/officeDocument" Target="/ppt/presentation.xml" Id="Re863e899de9246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3d32d11a474724"/>
  </p:sldMasterIdLst>
  <p:notesMasterIdLst>
    <p:notesMasterId xmlns:r="http://schemas.openxmlformats.org/officeDocument/2006/relationships" r:id="R326945b3b9b2443c"/>
  </p:notesMasterIdLst>
  <p:sldIdLst>
    <p:sldId xmlns:r="http://schemas.openxmlformats.org/officeDocument/2006/relationships" id="256" r:id="R4e4ba63869b94fb3"/>
    <p:sldId xmlns:r="http://schemas.openxmlformats.org/officeDocument/2006/relationships" id="257" r:id="R91a3fc79ae854e79"/>
    <p:sldId xmlns:r="http://schemas.openxmlformats.org/officeDocument/2006/relationships" id="258" r:id="R520da66ec2594fa3"/>
    <p:sldId xmlns:r="http://schemas.openxmlformats.org/officeDocument/2006/relationships" id="259" r:id="R93437349477d4599"/>
    <p:sldId xmlns:r="http://schemas.openxmlformats.org/officeDocument/2006/relationships" id="260" r:id="Rd41adaa1191f478a"/>
    <p:sldId xmlns:r="http://schemas.openxmlformats.org/officeDocument/2006/relationships" id="261" r:id="R733b0f137a6c47d1"/>
    <p:sldId xmlns:r="http://schemas.openxmlformats.org/officeDocument/2006/relationships" id="262" r:id="R69aa41e70e1f4294"/>
    <p:sldId xmlns:r="http://schemas.openxmlformats.org/officeDocument/2006/relationships" id="263" r:id="R3a0d0f109172443f"/>
    <p:sldId xmlns:r="http://schemas.openxmlformats.org/officeDocument/2006/relationships" id="264" r:id="Rf5c342af89e94a25"/>
    <p:sldId xmlns:r="http://schemas.openxmlformats.org/officeDocument/2006/relationships" id="265" r:id="Rb5f448de86624c62"/>
    <p:sldId xmlns:r="http://schemas.openxmlformats.org/officeDocument/2006/relationships" id="266" r:id="R5ea4b3dc824e48ae"/>
    <p:sldId xmlns:r="http://schemas.openxmlformats.org/officeDocument/2006/relationships" id="267" r:id="R465f19b6ad2a42c6"/>
    <p:sldId xmlns:r="http://schemas.openxmlformats.org/officeDocument/2006/relationships" id="268" r:id="R3b3b295852c44ffa"/>
    <p:sldId xmlns:r="http://schemas.openxmlformats.org/officeDocument/2006/relationships" id="269" r:id="Ra89f427a1ab74daf"/>
    <p:sldId xmlns:r="http://schemas.openxmlformats.org/officeDocument/2006/relationships" id="270" r:id="R5bf3a752a07a4b3c"/>
    <p:sldId xmlns:r="http://schemas.openxmlformats.org/officeDocument/2006/relationships" id="271" r:id="R7db62feeecc6418b"/>
    <p:sldId xmlns:r="http://schemas.openxmlformats.org/officeDocument/2006/relationships" id="272" r:id="Ra9db3865d8c84998"/>
    <p:sldId xmlns:r="http://schemas.openxmlformats.org/officeDocument/2006/relationships" id="273" r:id="Rc58eee505c4d477b"/>
    <p:sldId xmlns:r="http://schemas.openxmlformats.org/officeDocument/2006/relationships" id="274" r:id="R22f0d61a34f74ac0"/>
    <p:sldId xmlns:r="http://schemas.openxmlformats.org/officeDocument/2006/relationships" id="275" r:id="R83e44e37917f4c19"/>
    <p:sldId xmlns:r="http://schemas.openxmlformats.org/officeDocument/2006/relationships" id="276" r:id="R2ce2f16e926b4d04"/>
    <p:sldId xmlns:r="http://schemas.openxmlformats.org/officeDocument/2006/relationships" id="277" r:id="Ra138b3c6bbce4d56"/>
    <p:sldId xmlns:r="http://schemas.openxmlformats.org/officeDocument/2006/relationships" id="278" r:id="R2b2d8c59026046c8"/>
    <p:sldId xmlns:r="http://schemas.openxmlformats.org/officeDocument/2006/relationships" id="279" r:id="R477c2e6ef6bd48dc"/>
    <p:sldId xmlns:r="http://schemas.openxmlformats.org/officeDocument/2006/relationships" id="280" r:id="R81f9821aa4354fd1"/>
    <p:sldId xmlns:r="http://schemas.openxmlformats.org/officeDocument/2006/relationships" id="281" r:id="R50fb8b4b7d274999"/>
    <p:sldId xmlns:r="http://schemas.openxmlformats.org/officeDocument/2006/relationships" id="282" r:id="R4ee922cf38c249d7"/>
    <p:sldId xmlns:r="http://schemas.openxmlformats.org/officeDocument/2006/relationships" id="283" r:id="Re929a3da351449ce"/>
    <p:sldId xmlns:r="http://schemas.openxmlformats.org/officeDocument/2006/relationships" id="284" r:id="Rb671f20454124cb0"/>
    <p:sldId xmlns:r="http://schemas.openxmlformats.org/officeDocument/2006/relationships" id="285" r:id="Rc79b8ff09f9d4fb1"/>
    <p:sldId xmlns:r="http://schemas.openxmlformats.org/officeDocument/2006/relationships" id="286" r:id="R422338d6cc644972"/>
    <p:sldId xmlns:r="http://schemas.openxmlformats.org/officeDocument/2006/relationships" id="287" r:id="Re11e6634c3c04a2c"/>
    <p:sldId xmlns:r="http://schemas.openxmlformats.org/officeDocument/2006/relationships" id="288" r:id="R2b12be8ea8fa4bef"/>
    <p:sldId xmlns:r="http://schemas.openxmlformats.org/officeDocument/2006/relationships" id="289" r:id="R70fe6707d8bc402e"/>
    <p:sldId xmlns:r="http://schemas.openxmlformats.org/officeDocument/2006/relationships" id="290" r:id="R5e060f1f30d14614"/>
    <p:sldId xmlns:r="http://schemas.openxmlformats.org/officeDocument/2006/relationships" id="291" r:id="R9f6c525d994340d1"/>
    <p:sldId xmlns:r="http://schemas.openxmlformats.org/officeDocument/2006/relationships" id="292" r:id="Raf9248eaec8e4949"/>
    <p:sldId xmlns:r="http://schemas.openxmlformats.org/officeDocument/2006/relationships" id="293" r:id="R3a1cfbdfe75d474a"/>
    <p:sldId xmlns:r="http://schemas.openxmlformats.org/officeDocument/2006/relationships" id="294" r:id="R77fa8506a4de46f9"/>
    <p:sldId xmlns:r="http://schemas.openxmlformats.org/officeDocument/2006/relationships" id="295" r:id="R1d8dc9aeb9b74718"/>
    <p:sldId xmlns:r="http://schemas.openxmlformats.org/officeDocument/2006/relationships" id="296" r:id="R174d6dd6be944406"/>
    <p:sldId xmlns:r="http://schemas.openxmlformats.org/officeDocument/2006/relationships" id="297" r:id="Re3c6616e4e134d3d"/>
    <p:sldId xmlns:r="http://schemas.openxmlformats.org/officeDocument/2006/relationships" id="298" r:id="R2a1e221f08d74661"/>
    <p:sldId xmlns:r="http://schemas.openxmlformats.org/officeDocument/2006/relationships" id="299" r:id="R3b1a227cc9714a6b"/>
    <p:sldId xmlns:r="http://schemas.openxmlformats.org/officeDocument/2006/relationships" id="300" r:id="R528c57353c1643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10c3168dbe478a" /><Relationship Type="http://schemas.openxmlformats.org/officeDocument/2006/relationships/slideMaster" Target="/ppt/slideMasters/slideMaster1.xml" Id="R7a3d32d11a474724" /><Relationship Type="http://schemas.openxmlformats.org/officeDocument/2006/relationships/notesMaster" Target="/ppt/notesMasters/notesMaster1.xml" Id="R326945b3b9b2443c" /><Relationship Type="http://schemas.openxmlformats.org/officeDocument/2006/relationships/presProps" Target="/ppt/presProps.xml" Id="Rda9212c891964737" /><Relationship Type="http://schemas.openxmlformats.org/officeDocument/2006/relationships/tableStyles" Target="/ppt/tableStyles.xml" Id="Rb9f2cdec4fb343ba" /><Relationship Type="http://schemas.openxmlformats.org/officeDocument/2006/relationships/slide" Target="/ppt/slides/slide1.xml" Id="R4e4ba63869b94fb3" /><Relationship Type="http://schemas.openxmlformats.org/officeDocument/2006/relationships/slide" Target="/ppt/slides/slide2.xml" Id="R91a3fc79ae854e79" /><Relationship Type="http://schemas.openxmlformats.org/officeDocument/2006/relationships/slide" Target="/ppt/slides/slide3.xml" Id="R520da66ec2594fa3" /><Relationship Type="http://schemas.openxmlformats.org/officeDocument/2006/relationships/slide" Target="/ppt/slides/slide4.xml" Id="R93437349477d4599" /><Relationship Type="http://schemas.openxmlformats.org/officeDocument/2006/relationships/slide" Target="/ppt/slides/slide5.xml" Id="Rd41adaa1191f478a" /><Relationship Type="http://schemas.openxmlformats.org/officeDocument/2006/relationships/slide" Target="/ppt/slides/slide6.xml" Id="R733b0f137a6c47d1" /><Relationship Type="http://schemas.openxmlformats.org/officeDocument/2006/relationships/slide" Target="/ppt/slides/slide7.xml" Id="R69aa41e70e1f4294" /><Relationship Type="http://schemas.openxmlformats.org/officeDocument/2006/relationships/slide" Target="/ppt/slides/slide8.xml" Id="R3a0d0f109172443f" /><Relationship Type="http://schemas.openxmlformats.org/officeDocument/2006/relationships/slide" Target="/ppt/slides/slide9.xml" Id="Rf5c342af89e94a25" /><Relationship Type="http://schemas.openxmlformats.org/officeDocument/2006/relationships/slide" Target="/ppt/slides/slide10.xml" Id="Rb5f448de86624c62" /><Relationship Type="http://schemas.openxmlformats.org/officeDocument/2006/relationships/slide" Target="/ppt/slides/slide11.xml" Id="R5ea4b3dc824e48ae" /><Relationship Type="http://schemas.openxmlformats.org/officeDocument/2006/relationships/slide" Target="/ppt/slides/slide12.xml" Id="R465f19b6ad2a42c6" /><Relationship Type="http://schemas.openxmlformats.org/officeDocument/2006/relationships/slide" Target="/ppt/slides/slide13.xml" Id="R3b3b295852c44ffa" /><Relationship Type="http://schemas.openxmlformats.org/officeDocument/2006/relationships/slide" Target="/ppt/slides/slide14.xml" Id="Ra89f427a1ab74daf" /><Relationship Type="http://schemas.openxmlformats.org/officeDocument/2006/relationships/slide" Target="/ppt/slides/slide15.xml" Id="R5bf3a752a07a4b3c" /><Relationship Type="http://schemas.openxmlformats.org/officeDocument/2006/relationships/slide" Target="/ppt/slides/slide16.xml" Id="R7db62feeecc6418b" /><Relationship Type="http://schemas.openxmlformats.org/officeDocument/2006/relationships/slide" Target="/ppt/slides/slide17.xml" Id="Ra9db3865d8c84998" /><Relationship Type="http://schemas.openxmlformats.org/officeDocument/2006/relationships/slide" Target="/ppt/slides/slide18.xml" Id="Rc58eee505c4d477b" /><Relationship Type="http://schemas.openxmlformats.org/officeDocument/2006/relationships/slide" Target="/ppt/slides/slide19.xml" Id="R22f0d61a34f74ac0" /><Relationship Type="http://schemas.openxmlformats.org/officeDocument/2006/relationships/slide" Target="/ppt/slides/slide20.xml" Id="R83e44e37917f4c19" /><Relationship Type="http://schemas.openxmlformats.org/officeDocument/2006/relationships/slide" Target="/ppt/slides/slide21.xml" Id="R2ce2f16e926b4d04" /><Relationship Type="http://schemas.openxmlformats.org/officeDocument/2006/relationships/slide" Target="/ppt/slides/slide22.xml" Id="Ra138b3c6bbce4d56" /><Relationship Type="http://schemas.openxmlformats.org/officeDocument/2006/relationships/slide" Target="/ppt/slides/slide23.xml" Id="R2b2d8c59026046c8" /><Relationship Type="http://schemas.openxmlformats.org/officeDocument/2006/relationships/slide" Target="/ppt/slides/slide24.xml" Id="R477c2e6ef6bd48dc" /><Relationship Type="http://schemas.openxmlformats.org/officeDocument/2006/relationships/slide" Target="/ppt/slides/slide25.xml" Id="R81f9821aa4354fd1" /><Relationship Type="http://schemas.openxmlformats.org/officeDocument/2006/relationships/slide" Target="/ppt/slides/slide26.xml" Id="R50fb8b4b7d274999" /><Relationship Type="http://schemas.openxmlformats.org/officeDocument/2006/relationships/slide" Target="/ppt/slides/slide27.xml" Id="R4ee922cf38c249d7" /><Relationship Type="http://schemas.openxmlformats.org/officeDocument/2006/relationships/slide" Target="/ppt/slides/slide28.xml" Id="Re929a3da351449ce" /><Relationship Type="http://schemas.openxmlformats.org/officeDocument/2006/relationships/slide" Target="/ppt/slides/slide29.xml" Id="Rb671f20454124cb0" /><Relationship Type="http://schemas.openxmlformats.org/officeDocument/2006/relationships/slide" Target="/ppt/slides/slide30.xml" Id="Rc79b8ff09f9d4fb1" /><Relationship Type="http://schemas.openxmlformats.org/officeDocument/2006/relationships/slide" Target="/ppt/slides/slide31.xml" Id="R422338d6cc644972" /><Relationship Type="http://schemas.openxmlformats.org/officeDocument/2006/relationships/slide" Target="/ppt/slides/slide32.xml" Id="Re11e6634c3c04a2c" /><Relationship Type="http://schemas.openxmlformats.org/officeDocument/2006/relationships/slide" Target="/ppt/slides/slide33.xml" Id="R2b12be8ea8fa4bef" /><Relationship Type="http://schemas.openxmlformats.org/officeDocument/2006/relationships/slide" Target="/ppt/slides/slide34.xml" Id="R70fe6707d8bc402e" /><Relationship Type="http://schemas.openxmlformats.org/officeDocument/2006/relationships/slide" Target="/ppt/slides/slide35.xml" Id="R5e060f1f30d14614" /><Relationship Type="http://schemas.openxmlformats.org/officeDocument/2006/relationships/slide" Target="/ppt/slides/slide36.xml" Id="R9f6c525d994340d1" /><Relationship Type="http://schemas.openxmlformats.org/officeDocument/2006/relationships/slide" Target="/ppt/slides/slide37.xml" Id="Raf9248eaec8e4949" /><Relationship Type="http://schemas.openxmlformats.org/officeDocument/2006/relationships/slide" Target="/ppt/slides/slide38.xml" Id="R3a1cfbdfe75d474a" /><Relationship Type="http://schemas.openxmlformats.org/officeDocument/2006/relationships/slide" Target="/ppt/slides/slide39.xml" Id="R77fa8506a4de46f9" /><Relationship Type="http://schemas.openxmlformats.org/officeDocument/2006/relationships/slide" Target="/ppt/slides/slide40.xml" Id="R1d8dc9aeb9b74718" /><Relationship Type="http://schemas.openxmlformats.org/officeDocument/2006/relationships/slide" Target="/ppt/slides/slide41.xml" Id="R174d6dd6be944406" /><Relationship Type="http://schemas.openxmlformats.org/officeDocument/2006/relationships/slide" Target="/ppt/slides/slide42.xml" Id="Re3c6616e4e134d3d" /><Relationship Type="http://schemas.openxmlformats.org/officeDocument/2006/relationships/slide" Target="/ppt/slides/slide43.xml" Id="R2a1e221f08d74661" /><Relationship Type="http://schemas.openxmlformats.org/officeDocument/2006/relationships/slide" Target="/ppt/slides/slide44.xml" Id="R3b1a227cc9714a6b" /><Relationship Type="http://schemas.openxmlformats.org/officeDocument/2006/relationships/slide" Target="/ppt/slides/slide45.xml" Id="R528c57353c1643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a60856ef8e4b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e53b7c7871448c" /><Relationship Type="http://schemas.openxmlformats.org/officeDocument/2006/relationships/notesMaster" Target="/ppt/notesMasters/notesMaster1.xml" Id="R7899d399f4404e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7ae0a730ba4fbc" /><Relationship Type="http://schemas.openxmlformats.org/officeDocument/2006/relationships/notesMaster" Target="/ppt/notesMasters/notesMaster1.xml" Id="R0dc9fa350a3c4c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ba4feada5d42bc" /><Relationship Type="http://schemas.openxmlformats.org/officeDocument/2006/relationships/notesMaster" Target="/ppt/notesMasters/notesMaster1.xml" Id="Rf0a43bd4500545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8ecf9f3a0a4490" /><Relationship Type="http://schemas.openxmlformats.org/officeDocument/2006/relationships/notesMaster" Target="/ppt/notesMasters/notesMaster1.xml" Id="R3f8ef2f4f49c47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7136d93a0a4c0e" /><Relationship Type="http://schemas.openxmlformats.org/officeDocument/2006/relationships/notesMaster" Target="/ppt/notesMasters/notesMaster1.xml" Id="Rfbeda3ef9db448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b2203337154c05" /><Relationship Type="http://schemas.openxmlformats.org/officeDocument/2006/relationships/notesMaster" Target="/ppt/notesMasters/notesMaster1.xml" Id="Rd0c8278bfc0440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b90ca47db94406" /><Relationship Type="http://schemas.openxmlformats.org/officeDocument/2006/relationships/notesMaster" Target="/ppt/notesMasters/notesMaster1.xml" Id="Rf73266375e9d4e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751bdd74b749a2" /><Relationship Type="http://schemas.openxmlformats.org/officeDocument/2006/relationships/notesMaster" Target="/ppt/notesMasters/notesMaster1.xml" Id="R8249c6f160a941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70117f50aa46ea" /><Relationship Type="http://schemas.openxmlformats.org/officeDocument/2006/relationships/notesMaster" Target="/ppt/notesMasters/notesMaster1.xml" Id="R1903aec5916043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0ee4e3871f4c77" /><Relationship Type="http://schemas.openxmlformats.org/officeDocument/2006/relationships/notesMaster" Target="/ppt/notesMasters/notesMaster1.xml" Id="Ra35e851cb6c345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1b784c637f4819" /><Relationship Type="http://schemas.openxmlformats.org/officeDocument/2006/relationships/notesMaster" Target="/ppt/notesMasters/notesMaster1.xml" Id="R18f51df932e346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5011836fb245a6" /><Relationship Type="http://schemas.openxmlformats.org/officeDocument/2006/relationships/notesMaster" Target="/ppt/notesMasters/notesMaster1.xml" Id="R005fdc646f9f49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16553ed7ec409a" /><Relationship Type="http://schemas.openxmlformats.org/officeDocument/2006/relationships/notesMaster" Target="/ppt/notesMasters/notesMaster1.xml" Id="Rdf6384b8c66642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610220f5814193" /><Relationship Type="http://schemas.openxmlformats.org/officeDocument/2006/relationships/notesMaster" Target="/ppt/notesMasters/notesMaster1.xml" Id="R7fa70acf705142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d7fd6835f44a41" /><Relationship Type="http://schemas.openxmlformats.org/officeDocument/2006/relationships/notesMaster" Target="/ppt/notesMasters/notesMaster1.xml" Id="R6cf77ad3cda348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4cf5537fe64b08" /><Relationship Type="http://schemas.openxmlformats.org/officeDocument/2006/relationships/notesMaster" Target="/ppt/notesMasters/notesMaster1.xml" Id="Rd209496b999a4d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bab9c7d6184bd4" /><Relationship Type="http://schemas.openxmlformats.org/officeDocument/2006/relationships/notesMaster" Target="/ppt/notesMasters/notesMaster1.xml" Id="R4f24c8995e3f46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97794b90f74504" /><Relationship Type="http://schemas.openxmlformats.org/officeDocument/2006/relationships/notesMaster" Target="/ppt/notesMasters/notesMaster1.xml" Id="R3dfd0052fc2d498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5d085ee49742fd" /><Relationship Type="http://schemas.openxmlformats.org/officeDocument/2006/relationships/notesMaster" Target="/ppt/notesMasters/notesMaster1.xml" Id="Re93aedfb290247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3e56fa1ef7644ac" /><Relationship Type="http://schemas.openxmlformats.org/officeDocument/2006/relationships/notesMaster" Target="/ppt/notesMasters/notesMaster1.xml" Id="R85dfc026466547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fcd53ca3824552" /><Relationship Type="http://schemas.openxmlformats.org/officeDocument/2006/relationships/notesMaster" Target="/ppt/notesMasters/notesMaster1.xml" Id="R90ef04ed406e413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b9a0ae786d447e" /><Relationship Type="http://schemas.openxmlformats.org/officeDocument/2006/relationships/notesMaster" Target="/ppt/notesMasters/notesMaster1.xml" Id="Ra83b9224921c49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4be8078299a47c8" /><Relationship Type="http://schemas.openxmlformats.org/officeDocument/2006/relationships/notesMaster" Target="/ppt/notesMasters/notesMaster1.xml" Id="R1dd16a72a26b40a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7ba6149929147f7" /><Relationship Type="http://schemas.openxmlformats.org/officeDocument/2006/relationships/notesMaster" Target="/ppt/notesMasters/notesMaster1.xml" Id="R7b834a4b81254f9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dfbee71a6c4028" /><Relationship Type="http://schemas.openxmlformats.org/officeDocument/2006/relationships/notesMaster" Target="/ppt/notesMasters/notesMaster1.xml" Id="R83b3547a822644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3475ff0f96041f4" /><Relationship Type="http://schemas.openxmlformats.org/officeDocument/2006/relationships/notesMaster" Target="/ppt/notesMasters/notesMaster1.xml" Id="R19641b45d74c411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7bdcf34e76647c8" /><Relationship Type="http://schemas.openxmlformats.org/officeDocument/2006/relationships/notesMaster" Target="/ppt/notesMasters/notesMaster1.xml" Id="R08317664bd3a498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62898efd6464a98" /><Relationship Type="http://schemas.openxmlformats.org/officeDocument/2006/relationships/notesMaster" Target="/ppt/notesMasters/notesMaster1.xml" Id="R54f461fc8ac5486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ce8365c4b214408" /><Relationship Type="http://schemas.openxmlformats.org/officeDocument/2006/relationships/notesMaster" Target="/ppt/notesMasters/notesMaster1.xml" Id="Ra3262cdf03a946c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a94f19cf0f941ba" /><Relationship Type="http://schemas.openxmlformats.org/officeDocument/2006/relationships/notesMaster" Target="/ppt/notesMasters/notesMaster1.xml" Id="Rf414109403ad41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147b30d700d4cfd" /><Relationship Type="http://schemas.openxmlformats.org/officeDocument/2006/relationships/notesMaster" Target="/ppt/notesMasters/notesMaster1.xml" Id="R2a5698aa766641c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a5153aedeff4951" /><Relationship Type="http://schemas.openxmlformats.org/officeDocument/2006/relationships/notesMaster" Target="/ppt/notesMasters/notesMaster1.xml" Id="R860b7960b11442c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96c40e7a2ae441b" /><Relationship Type="http://schemas.openxmlformats.org/officeDocument/2006/relationships/notesMaster" Target="/ppt/notesMasters/notesMaster1.xml" Id="R0851ad8ac7494e4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b33b94be7d44920" /><Relationship Type="http://schemas.openxmlformats.org/officeDocument/2006/relationships/notesMaster" Target="/ppt/notesMasters/notesMaster1.xml" Id="R0302d564e2794b5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99336aa61fd4e4a" /><Relationship Type="http://schemas.openxmlformats.org/officeDocument/2006/relationships/notesMaster" Target="/ppt/notesMasters/notesMaster1.xml" Id="Recc4f9075c184b9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d6a2132f7cd46d9" /><Relationship Type="http://schemas.openxmlformats.org/officeDocument/2006/relationships/notesMaster" Target="/ppt/notesMasters/notesMaster1.xml" Id="Ra63f6b90f1a7466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feefc0c67a24f0f" /><Relationship Type="http://schemas.openxmlformats.org/officeDocument/2006/relationships/notesMaster" Target="/ppt/notesMasters/notesMaster1.xml" Id="R49f96c212bbe46b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907b6940f304bac" /><Relationship Type="http://schemas.openxmlformats.org/officeDocument/2006/relationships/notesMaster" Target="/ppt/notesMasters/notesMaster1.xml" Id="Rdcd7e046830e4d9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74242740fb54ce8" /><Relationship Type="http://schemas.openxmlformats.org/officeDocument/2006/relationships/notesMaster" Target="/ppt/notesMasters/notesMaster1.xml" Id="R32d7d384287b4b4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23e317f4dde43c5" /><Relationship Type="http://schemas.openxmlformats.org/officeDocument/2006/relationships/notesMaster" Target="/ppt/notesMasters/notesMaster1.xml" Id="R4d1e149ae0c24aa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b1114602aa64d3e" /><Relationship Type="http://schemas.openxmlformats.org/officeDocument/2006/relationships/notesMaster" Target="/ppt/notesMasters/notesMaster1.xml" Id="Rc7889492276d491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47d4266c17a43d9" /><Relationship Type="http://schemas.openxmlformats.org/officeDocument/2006/relationships/notesMaster" Target="/ppt/notesMasters/notesMaster1.xml" Id="Re3c16f61090b43d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daa66bd581743e0" /><Relationship Type="http://schemas.openxmlformats.org/officeDocument/2006/relationships/notesMaster" Target="/ppt/notesMasters/notesMaster1.xml" Id="Rf51da21e0a71475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9e50c7ddab2481d" /><Relationship Type="http://schemas.openxmlformats.org/officeDocument/2006/relationships/notesMaster" Target="/ppt/notesMasters/notesMaster1.xml" Id="R7480f029934b43d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0ecd73f23ca4d53" /><Relationship Type="http://schemas.openxmlformats.org/officeDocument/2006/relationships/notesMaster" Target="/ppt/notesMasters/notesMaster1.xml" Id="R13dd93bdadfa4f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장에서는 이 서비스가 단순 챗봇이 아니라 교통사고, 과태료, 보험 대응, 법률 근거를 하나의 사건 흐름으로 정리하는 솔루션이라는 점을 열어줍니다.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목차는 문제 배경에서 출발해 사용자 문제, 시장과 차별점, 이용 과정, AI 분석 구조, 구현 범위 순서로 이어집니다. 발표할 때는 기능 나열보다 왜 이 흐름이 필요한지에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섹션은 과실비율 분쟁이 늘고 사용자가 기준을 이해하기 어렵다는 문제를 제기합니다. 이후 슬라이드에서 수치와 인식 격차로 근거를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2024년 분쟁 건수와 10년 증가 흐름을 말하며, 단순 사고 증가가 아니라 보험금과 보험료 할증으로 이어지는 이해관계가 분쟁을 키운다고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공정성, 기본과실, 조사 부족에서 느끼는 정보 격차를 짚습니다. 여기서 우리 서비스는 결론을 대신 내리는 것이 아니라 근거와 한계를 보여주는 도구라고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보강 슬라이드입니다. 분쟁 건수, 사용자 인식 격차, 흩어진 근거원을 한 장으로 묶어 시장을 '교통사고 전체'가 아니라 상담 전 근거 검토 수요로 정의합니다.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과실비율은 날씨, 도로 상태, 블랙박스 화각, 유사사고 차이, 고의성 여부처럼 변수가 많습니다. 따라서 AI도 확정 판정보다 변수 구조화와 근거 제시가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소개로 전환합니다. 판단 전 사건 구조화, 근거 기반 답변, 다음 행동 리포트라는 세 가지 가치를 짧게 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구조화의 필요성을 여는 장입니다. 사고나 고지서를 바로 판단하기 전에 어떤 정보가 들어왔는지 분리해야 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고지서, 사고 설명, 사진, 영상에서 위반유형, 장소, 기한, 증거, 사고유형을 먼저 추출한다는 점을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구조화된 정보가 법령, 과실비율 인정기준, 판례, 심의사례 검색으로 이어진다는 연결을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결과물은 이의 가능성, 리스크, 추가 증거, 문의 초안, 다운로드 가능한 리포트입니다. 사용자가 상담 전 스스로 검토할 수 있게 하는 것이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수집부터 리포트까지의 파이프라인을 요약합니다. 사용자 가치는 쟁점과 근거 확인, 서비스 가치는 흩어진 자료의 사건 단위 연결입니다.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문제 섹션입니다. 고지서, 과실비율, 보험 대응에서 실제 사용자가 반복적으로 겪는 실패 장면을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과실비율, 법률 근거, 상담 리포트가 각각 다른 문제처럼 보이지만 모두 사건 구조화와 근거 검색으로 연결된다고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범칙금, 벌점, 사고 과실비율을 구분합니다. 특히 범칙금과 벌점은 리스크가 있어 단정형 문서 생성을 제한해야 한다는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질문을 바로 답하지 않고 검토 가능한 사건 구조로 바꾼다는 메시지를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 고지서 사례입니다. OCR 추출과 처분 유형 분기, 가능성 및 위험 분리를 통해 사용자가 무엇을 확인해야 하는지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보험 과실비율 분쟁 사례입니다. 정답 비율보다 유사 사례, 사실관계 차이, 부족한 증거, 보험사 질문 문구가 사용자에게 더 실용적입니다.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법률/보험 AI에서 품질만큼 중요한 것이 데이터 보호입니다. 차량번호, 고지서, 주소, 영상이 함께 들어오므로 권한 분리와 파일 검사가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시장과 차별점으로 넘어갑니다. 이미 있는 서비스와 아직 비어 있는 조합을 비교할 준비를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기능은 시장에 있지만, 고지서 문서 인식부터 사고자료 구조화, 근거 검색, 리포트까지 한 번에 이어지는 조합은 부족하다고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포털, 보험사 앱, 리걸테크, 일반 AI의 강점과 한계를 공정하게 말합니다. 우리 서비스는 사건자료 기반 리포트 연결에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경쟁 기능 비교에서는 보험사 독립성, 영상/문서/법령 연결, 개인 운전자용 리포트라는 차이를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우리 서비스의 위치는 전문가 상담 전 셀프 점검입니다. 보험사 AI나 판례 검색과 경쟁하기보다 빈 구간을 메우는 서비스로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차별점 네 가지를 요약합니다. 무조건 이의신청 권유가 아니라 근거, 기한, 증거, 위험을 분리하는 안전한 접근이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이용 섹션으로 넘어갑니다. 입력부터 리포트까지 사용자가 어떤 경험을 하게 되는지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사고자료 처리 흐름입니다. 공식 포털, 보험사, 법률 플랫폼, 생성형 AI가 따로 제공하던 조각을 사건 중심으로 묶는다고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입력부터 내부 분석 모듈, 리포트 저장까지의 흐름입니다. 파일 검사와 분석 통합이 신뢰성의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 인식과 이의 검토입니다. OCR은 필드 추출, Appeal 분석은 가능성과 리스크 분리라는 역할 차이를 분명히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법령·사례 검색입니다. 교통 판례, 과실비율 판례, 심의사례를 활용하되 정답 비율이 아니라 판례·심의사례의 근거와 차이를 보여준다고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상담 리포트 관리는 발표에서 사용자 가치가 가장 잘 보이는 부분입니다. 보험사 대화나 전문가 상담 전 정리된 자료가 되는 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기능과 AI 분석 구조 섹션입니다. 문서, 영상, 법률 데이터를 연결하되 민감 데이터 보호를 함께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보강 슬라이드입니다. AI 분석 구조를 OCR, RAG, 사례검색, 리포트 생성의 네 단계로 설명하고, 정답 생성이 아니라 근거 조립이라는 관점을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분석 모듈의 역할을 구분합니다. 오류 유형이 다르므로 하나의 거대 모델보다 모듈 분리와 Supervisor 병합이 더 안전하다는 메시지를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보안 설계입니다. 권한 분리, 서버 측 인증정보 관리, 파일 검사, 개인정보 최소화, AI 입력 검증을 법률/보험 AI의 기본 조건으로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안전장치입니다. 승소 보장, 과실비율 확정, 자동 제출을 하지 않는다는 선을 명확히 하고, 출처와 한계, 추가 확인사항을 반드시 제공한다고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범위와 기대효과 섹션입니다. MVP에 무엇을 넣고 무엇을 제외했는지 현실적으로 정리합니다.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범위에서는 가능한 기능과 제외 기능을 구분합니다. 자동 제출이나 확정 표현을 제외했다는 점이 오히려 신뢰 설계라는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계획입니다. OCR, 근거 검색, Vision, 분석 통합, 안전장치를 각각 다른 지표로 평가해야 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구현과 다음 단계입니다. 실제 보험사 내부 데이터와 모든 영상 자동 판정은 후순위이며, 지금은 근거 검색과 리포트 흐름 검증에 집중한다고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핵심 문장입니다. 교통분쟁 AI는 판단을 대신하는 서비스가 아니라 사용자가 근거를 확인하고 다음 행동을 정리하도록 돕는 서비스입니다.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 슬라이드입니다. 시장 수치, 공식 기준, 법령, 보안 기준의 출처를 짚고 질의응답으로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Q&amp;A에서는 '확정 판정이 아닌 근거 리포트', '보험사 독립성', '개인정보 보호', 'MVP의 한계와 확장 계획' 네 가지 답변 축을 준비하면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89be6d2724e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3ff5731a74c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d522e43d84a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4050b19ac4e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7b5a410b041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2d8b7df2143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e994acd0e48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e87cea3b64bd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38c99c0a674e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000556e64483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19a9fd16a4d7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E8E465-550B-4FDF-B291-01E9E4AE66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C0A8EA5-ED30-4140-985F-271797DC87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5D7775-4518-4DF5-9445-394547BC8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6A0E60-2090-4E42-A783-312432F7A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567F4F-14B4-4D4D-AA0B-BC1C4A29B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A633FA-241D-4DB6-874A-C35A68C8D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C49BA3-DCD7-4565-A8B4-22BB7FAD82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AF8E70-77EF-407B-9D29-B30E6267D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394A18-8B06-4DE5-A992-451F58DF2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8DD2C8-A1EF-4E86-A7EB-FE05D3FA4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299CA5-D89D-4287-8D3F-94432779C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E14E89-843E-4E12-9968-2FECC81452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1D96AC-704F-4E06-82A9-71699580C2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0526A2-5C5C-45B2-AB03-A13D474ECD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B32873-ED85-47C5-81A2-601AAFC8E9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FF86C8-1226-4EDC-A65D-112EAF322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0E9723-DB95-4275-AE90-1C39DF7A88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A5E7C4-A3B6-497D-A4A8-75FDEDCBAD2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6ACE44-E571-4E2A-8727-0883503A38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44BA40A-E598-4519-9FEB-D2EAF69DF6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796AD6-EE3A-42C7-8396-069DACB60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7E938A-7AB5-4C18-B197-B895DC46B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D62C7C-99B0-427A-8C7B-633BC8076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B23F55B-5373-44C5-9EFD-BC3B805903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B1AC849-7FA1-4349-90B1-C7BFD3F115D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0A944D-125E-48A2-8C35-8416C534962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60DDBE1-4C43-4F86-8476-2D99024D51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D16814-D058-49D0-A1F7-4BC6A0BB93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404AD2B-D2DE-4A26-BA7C-85CA895F0A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102F97-1996-4AB5-AAD1-61095CB3D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40085FE-0129-4DBA-8053-B307F960D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7263654-1F33-4F9C-957B-C54D73910B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93C4BDB-8610-4E0D-BD0C-66B5DCCDC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4319625-FFFD-488D-A798-DB9E911DB5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61EA7E5-B9EA-44DC-B22E-E335EC3DBE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3CDACE7-7BDA-4DEB-846F-0D87963E7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C614B1-5BF0-4703-B32E-596C8C49B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215A4B-0D87-450D-B44E-F5CB513A16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7BAD6A-5D44-40DF-88E3-29472C7EE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9D7E9F-CE9F-4DBB-BB73-B36CAEBFB5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7A9785-E71B-43F6-AC03-C95F47321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9B54C3-F303-4456-963E-90B492A75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1C6985-D8FA-44DE-A79B-60FCB61C4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C593D0C-140B-4F85-AC54-EA8D454898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C593D2-550A-49B1-8421-57A3C2C602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42AAC-AEB7-4FD2-8E84-7816B446EC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C9C517-62BF-4B4E-AA29-0220E9C5BC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8E27EE-A0FC-45CB-8578-099B52C87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FD94FF-4ACC-4048-8DC0-B49B80C73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3A905-8BC0-4088-8EA1-C49F30179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BB53A0-D461-4713-AF0F-A60EAFB74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DC8431-1B9C-493A-A531-DB81395853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71E7CF-068E-4711-9348-D79F96294A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0F3B39C-D5DB-4CE6-BDD9-9E0B95BC9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14A399-E4A0-4986-AB09-D4C606613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0B5E51-5790-4FD0-960A-F944894D45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19B549-0C2C-4E8B-B6C7-176F0589B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444D2D-BFE3-48D0-85B2-D0EB113F00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5f723a02d4eb3" /><Relationship Type="http://schemas.openxmlformats.org/officeDocument/2006/relationships/slideLayout" Target="/ppt/slideLayouts/slideLayout1.xml" Id="R7c77cff2f7a44a80" /><Relationship Type="http://schemas.openxmlformats.org/officeDocument/2006/relationships/slideLayout" Target="/ppt/slideLayouts/slideLayout2.xml" Id="R7d682058523647fa" /><Relationship Type="http://schemas.openxmlformats.org/officeDocument/2006/relationships/slideLayout" Target="/ppt/slideLayouts/slideLayout3.xml" Id="R6ecde6359f7d416a" /><Relationship Type="http://schemas.openxmlformats.org/officeDocument/2006/relationships/slideLayout" Target="/ppt/slideLayouts/slideLayout4.xml" Id="Rd0d7c696f4194b83" /><Relationship Type="http://schemas.openxmlformats.org/officeDocument/2006/relationships/slideLayout" Target="/ppt/slideLayouts/slideLayout5.xml" Id="R136dc19e586241ec" /><Relationship Type="http://schemas.openxmlformats.org/officeDocument/2006/relationships/slideLayout" Target="/ppt/slideLayouts/slideLayout6.xml" Id="R31fca51ccc7c4037" /><Relationship Type="http://schemas.openxmlformats.org/officeDocument/2006/relationships/slideLayout" Target="/ppt/slideLayouts/slideLayout7.xml" Id="R99774b5a28e249a3" /><Relationship Type="http://schemas.openxmlformats.org/officeDocument/2006/relationships/slideLayout" Target="/ppt/slideLayouts/slideLayout8.xml" Id="R5fb80383ae83463b" /><Relationship Type="http://schemas.openxmlformats.org/officeDocument/2006/relationships/slideLayout" Target="/ppt/slideLayouts/slideLayout9.xml" Id="Rab78824db7a4428d" /><Relationship Type="http://schemas.openxmlformats.org/officeDocument/2006/relationships/slideLayout" Target="/ppt/slideLayouts/slideLayout10.xml" Id="R096ec90af97a45f0" /><Relationship Type="http://schemas.openxmlformats.org/officeDocument/2006/relationships/slideLayout" Target="/ppt/slideLayouts/slideLayout11.xml" Id="R68d84880fb284a9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0BD951-D60B-4C8E-929F-366353FC7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1A1C22-507C-48A4-A6FE-9EAFEFB09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502A29-747D-4CD1-8B81-8D364FE3D8E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79F249-CBED-4EC1-9527-476FEBA3ED3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DC49A4-D4C4-4724-A727-15736B7E6B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77cff2f7a44a80"/>
    <p:sldLayoutId xmlns:r="http://schemas.openxmlformats.org/officeDocument/2006/relationships" id="2147483650" r:id="R7d682058523647fa"/>
    <p:sldLayoutId xmlns:r="http://schemas.openxmlformats.org/officeDocument/2006/relationships" id="2147483651" r:id="R6ecde6359f7d416a"/>
    <p:sldLayoutId xmlns:r="http://schemas.openxmlformats.org/officeDocument/2006/relationships" id="2147483652" r:id="Rd0d7c696f4194b83"/>
    <p:sldLayoutId xmlns:r="http://schemas.openxmlformats.org/officeDocument/2006/relationships" id="2147483653" r:id="R136dc19e586241ec"/>
    <p:sldLayoutId xmlns:r="http://schemas.openxmlformats.org/officeDocument/2006/relationships" id="2147483654" r:id="R31fca51ccc7c4037"/>
    <p:sldLayoutId xmlns:r="http://schemas.openxmlformats.org/officeDocument/2006/relationships" id="2147483655" r:id="R99774b5a28e249a3"/>
    <p:sldLayoutId xmlns:r="http://schemas.openxmlformats.org/officeDocument/2006/relationships" id="2147483656" r:id="R5fb80383ae83463b"/>
    <p:sldLayoutId xmlns:r="http://schemas.openxmlformats.org/officeDocument/2006/relationships" id="2147483657" r:id="Rab78824db7a4428d"/>
    <p:sldLayoutId xmlns:r="http://schemas.openxmlformats.org/officeDocument/2006/relationships" id="2147483658" r:id="R096ec90af97a45f0"/>
    <p:sldLayoutId xmlns:r="http://schemas.openxmlformats.org/officeDocument/2006/relationships" id="2147483659" r:id="R68d84880fb284a96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3081503c61479e" /><Relationship Type="http://schemas.openxmlformats.org/officeDocument/2006/relationships/image" Target="/ppt/media/image.png" Id="R2d4c1c2ef82d4f00" /><Relationship Type="http://schemas.openxmlformats.org/officeDocument/2006/relationships/notesSlide" Target="/ppt/notesSlides/notesSlide1.xml" Id="Reed60d03254e4e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47c17e7c4049b3" /><Relationship Type="http://schemas.openxmlformats.org/officeDocument/2006/relationships/notesSlide" Target="/ppt/notesSlides/notesSlide2.xml" Id="R2640e4b910154d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31489eb1584016" /><Relationship Type="http://schemas.openxmlformats.org/officeDocument/2006/relationships/notesSlide" Target="/ppt/notesSlides/notesSlide3.xml" Id="Rc831a1ad706645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49cef508b84012" /><Relationship Type="http://schemas.openxmlformats.org/officeDocument/2006/relationships/chart" Target="/ppt/slides/charts/chart1.xml" Id="R72bb226382804c16" /><Relationship Type="http://schemas.openxmlformats.org/officeDocument/2006/relationships/notesSlide" Target="/ppt/notesSlides/notesSlide4.xml" Id="R7de6ca9d791347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6a8a168cd247f6" /><Relationship Type="http://schemas.openxmlformats.org/officeDocument/2006/relationships/notesSlide" Target="/ppt/notesSlides/notesSlide5.xml" Id="R580092bccf784e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94f877c57547e0" /><Relationship Type="http://schemas.openxmlformats.org/officeDocument/2006/relationships/image" Target="/ppt/media/image2.png" Id="R3d4f9422299d470d" /><Relationship Type="http://schemas.openxmlformats.org/officeDocument/2006/relationships/notesSlide" Target="/ppt/notesSlides/notesSlide6.xml" Id="R23e45b89428c49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40d415147a41f3" /><Relationship Type="http://schemas.openxmlformats.org/officeDocument/2006/relationships/notesSlide" Target="/ppt/notesSlides/notesSlide7.xml" Id="R205c4ffdbc8a41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d59a6992774bc4" /><Relationship Type="http://schemas.openxmlformats.org/officeDocument/2006/relationships/notesSlide" Target="/ppt/notesSlides/notesSlide8.xml" Id="R1459ff7b3e414a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20778a02d94905" /><Relationship Type="http://schemas.openxmlformats.org/officeDocument/2006/relationships/image" Target="/ppt/media/image3.png" Id="R460785286aa9472a" /><Relationship Type="http://schemas.openxmlformats.org/officeDocument/2006/relationships/image" Target="/ppt/media/image4.png" Id="R4d151c8549c440d3" /><Relationship Type="http://schemas.openxmlformats.org/officeDocument/2006/relationships/image" Target="/ppt/media/image5.png" Id="R9cecd6d24bd440cb" /><Relationship Type="http://schemas.openxmlformats.org/officeDocument/2006/relationships/notesSlide" Target="/ppt/notesSlides/notesSlide9.xml" Id="R2919b41e30c743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da3f59cb49498f" /><Relationship Type="http://schemas.openxmlformats.org/officeDocument/2006/relationships/image" Target="/ppt/media/image3.png" Id="R9f36044f24074cc8" /><Relationship Type="http://schemas.openxmlformats.org/officeDocument/2006/relationships/image" Target="/ppt/media/image4.png" Id="Reec64111d73e4527" /><Relationship Type="http://schemas.openxmlformats.org/officeDocument/2006/relationships/image" Target="/ppt/media/image5.png" Id="Reb686421025f4510" /><Relationship Type="http://schemas.openxmlformats.org/officeDocument/2006/relationships/image" Target="/ppt/media/image6.png" Id="R3fcab418d7494e05" /><Relationship Type="http://schemas.openxmlformats.org/officeDocument/2006/relationships/image" Target="/ppt/media/image.svg" Id="R1a92f727fe074a0b" /><Relationship Type="http://schemas.openxmlformats.org/officeDocument/2006/relationships/image" Target="/ppt/media/image7.png" Id="R720d8216fc734dbe" /><Relationship Type="http://schemas.openxmlformats.org/officeDocument/2006/relationships/image" Target="/ppt/media/image2.svg" Id="R1d9fb38c01094887" /><Relationship Type="http://schemas.openxmlformats.org/officeDocument/2006/relationships/notesSlide" Target="/ppt/notesSlides/notesSlide10.xml" Id="R68348d8fa75e4d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52299f133f44bc" /><Relationship Type="http://schemas.openxmlformats.org/officeDocument/2006/relationships/image" Target="/ppt/media/image3.png" Id="R12b03374f1cd4310" /><Relationship Type="http://schemas.openxmlformats.org/officeDocument/2006/relationships/image" Target="/ppt/media/image4.png" Id="Rfa7a93021701458a" /><Relationship Type="http://schemas.openxmlformats.org/officeDocument/2006/relationships/image" Target="/ppt/media/image5.png" Id="R7dca13af7b544c21" /><Relationship Type="http://schemas.openxmlformats.org/officeDocument/2006/relationships/image" Target="/ppt/media/image6.png" Id="Re8a8fe60d1524a40" /><Relationship Type="http://schemas.openxmlformats.org/officeDocument/2006/relationships/image" Target="/ppt/media/image.svg" Id="R571ec679ae8d44f0" /><Relationship Type="http://schemas.openxmlformats.org/officeDocument/2006/relationships/image" Target="/ppt/media/image7.png" Id="R8c12fdb009434053" /><Relationship Type="http://schemas.openxmlformats.org/officeDocument/2006/relationships/image" Target="/ppt/media/image2.svg" Id="R52148ba4a5db45ab" /><Relationship Type="http://schemas.openxmlformats.org/officeDocument/2006/relationships/notesSlide" Target="/ppt/notesSlides/notesSlide11.xml" Id="Rc8d20859454c4c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6e490ad2514cba" /><Relationship Type="http://schemas.openxmlformats.org/officeDocument/2006/relationships/image" Target="/ppt/media/image3.png" Id="Rc86eb6bbfc3b4acd" /><Relationship Type="http://schemas.openxmlformats.org/officeDocument/2006/relationships/image" Target="/ppt/media/image4.png" Id="R407c26094e864efb" /><Relationship Type="http://schemas.openxmlformats.org/officeDocument/2006/relationships/image" Target="/ppt/media/image5.png" Id="Rb52d912bfda24b0a" /><Relationship Type="http://schemas.openxmlformats.org/officeDocument/2006/relationships/image" Target="/ppt/media/image6.png" Id="R569fec4d97734628" /><Relationship Type="http://schemas.openxmlformats.org/officeDocument/2006/relationships/image" Target="/ppt/media/image.svg" Id="R42724fbe4ea148ff" /><Relationship Type="http://schemas.openxmlformats.org/officeDocument/2006/relationships/image" Target="/ppt/media/image7.png" Id="Rdacc9e98982e40ea" /><Relationship Type="http://schemas.openxmlformats.org/officeDocument/2006/relationships/image" Target="/ppt/media/image2.svg" Id="R588ceb505d27420d" /><Relationship Type="http://schemas.openxmlformats.org/officeDocument/2006/relationships/notesSlide" Target="/ppt/notesSlides/notesSlide12.xml" Id="Rc9a7d93ea3af42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5d8c27666e43ee" /><Relationship Type="http://schemas.openxmlformats.org/officeDocument/2006/relationships/notesSlide" Target="/ppt/notesSlides/notesSlide13.xml" Id="R34be10ed814346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d6ca1771c5464f" /><Relationship Type="http://schemas.openxmlformats.org/officeDocument/2006/relationships/notesSlide" Target="/ppt/notesSlides/notesSlide14.xml" Id="R2d438788711744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2e506c92234dfa" /><Relationship Type="http://schemas.openxmlformats.org/officeDocument/2006/relationships/notesSlide" Target="/ppt/notesSlides/notesSlide15.xml" Id="Rc5ee456c15df47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6560f970b644f9" /><Relationship Type="http://schemas.openxmlformats.org/officeDocument/2006/relationships/notesSlide" Target="/ppt/notesSlides/notesSlide16.xml" Id="R79a07c31e6a34c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16f91510404e98" /><Relationship Type="http://schemas.openxmlformats.org/officeDocument/2006/relationships/notesSlide" Target="/ppt/notesSlides/notesSlide17.xml" Id="Rd62ce19ba04c4e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f36d7e76eb4cde" /><Relationship Type="http://schemas.openxmlformats.org/officeDocument/2006/relationships/notesSlide" Target="/ppt/notesSlides/notesSlide18.xml" Id="R0849ee32003749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68f791a6874f8b" /><Relationship Type="http://schemas.openxmlformats.org/officeDocument/2006/relationships/notesSlide" Target="/ppt/notesSlides/notesSlide19.xml" Id="Rc9a3dc300e8b4d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55cc9fb0bc4c0b" /><Relationship Type="http://schemas.openxmlformats.org/officeDocument/2006/relationships/notesSlide" Target="/ppt/notesSlides/notesSlide20.xml" Id="Re8b8acce00574a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38e1b406cd4c28" /><Relationship Type="http://schemas.openxmlformats.org/officeDocument/2006/relationships/notesSlide" Target="/ppt/notesSlides/notesSlide21.xml" Id="R7430e03b7c154c5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c706c9fac549f2" /><Relationship Type="http://schemas.openxmlformats.org/officeDocument/2006/relationships/notesSlide" Target="/ppt/notesSlides/notesSlide22.xml" Id="R94bf1a04c8604e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4c9daa3c8f4693" /><Relationship Type="http://schemas.openxmlformats.org/officeDocument/2006/relationships/notesSlide" Target="/ppt/notesSlides/notesSlide23.xml" Id="R690bb5e1591d40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d70ae50d7544dc" /><Relationship Type="http://schemas.openxmlformats.org/officeDocument/2006/relationships/notesSlide" Target="/ppt/notesSlides/notesSlide24.xml" Id="R40c8856c9871418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df275527664a83" /><Relationship Type="http://schemas.openxmlformats.org/officeDocument/2006/relationships/notesSlide" Target="/ppt/notesSlides/notesSlide25.xml" Id="Re1726edb7ed047d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4427758ac144ba" /><Relationship Type="http://schemas.openxmlformats.org/officeDocument/2006/relationships/notesSlide" Target="/ppt/notesSlides/notesSlide26.xml" Id="R02c55d279d7c43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c56b21a9204af3" /><Relationship Type="http://schemas.openxmlformats.org/officeDocument/2006/relationships/notesSlide" Target="/ppt/notesSlides/notesSlide27.xml" Id="Rb8a8b6343fc145b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9418ebb65f4cf7" /><Relationship Type="http://schemas.openxmlformats.org/officeDocument/2006/relationships/notesSlide" Target="/ppt/notesSlides/notesSlide28.xml" Id="R4587c77e5ede49a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c0c0c477c6410e" /><Relationship Type="http://schemas.openxmlformats.org/officeDocument/2006/relationships/notesSlide" Target="/ppt/notesSlides/notesSlide29.xml" Id="R9c9815e8a856494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449db313964a1e" /><Relationship Type="http://schemas.openxmlformats.org/officeDocument/2006/relationships/notesSlide" Target="/ppt/notesSlides/notesSlide30.xml" Id="Rdd1917e018a94b9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f8dfb58cfb425a" /><Relationship Type="http://schemas.openxmlformats.org/officeDocument/2006/relationships/notesSlide" Target="/ppt/notesSlides/notesSlide31.xml" Id="Rc13433ababcb45f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e45abc690049d2" /><Relationship Type="http://schemas.openxmlformats.org/officeDocument/2006/relationships/notesSlide" Target="/ppt/notesSlides/notesSlide32.xml" Id="R966ba9b5c8ac424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8ed9266c4b47f8" /><Relationship Type="http://schemas.openxmlformats.org/officeDocument/2006/relationships/notesSlide" Target="/ppt/notesSlides/notesSlide33.xml" Id="Rbfa6ff494d254e9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048d09793f4512" /><Relationship Type="http://schemas.openxmlformats.org/officeDocument/2006/relationships/image" Target="/ppt/media/image8.png" Id="Rfb982b48d67d4c6b" /><Relationship Type="http://schemas.openxmlformats.org/officeDocument/2006/relationships/notesSlide" Target="/ppt/notesSlides/notesSlide34.xml" Id="Rcde7ccb4090c488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c4be881f84f17" /><Relationship Type="http://schemas.openxmlformats.org/officeDocument/2006/relationships/notesSlide" Target="/ppt/notesSlides/notesSlide35.xml" Id="R0be6c31626b84b1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f2bf973f4e4fe2" /><Relationship Type="http://schemas.openxmlformats.org/officeDocument/2006/relationships/notesSlide" Target="/ppt/notesSlides/notesSlide36.xml" Id="R9dff3262b03b471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e1c4dfda8f4818" /><Relationship Type="http://schemas.openxmlformats.org/officeDocument/2006/relationships/notesSlide" Target="/ppt/notesSlides/notesSlide37.xml" Id="R5ba744fd60e547e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6afc1aa85d494f" /><Relationship Type="http://schemas.openxmlformats.org/officeDocument/2006/relationships/notesSlide" Target="/ppt/notesSlides/notesSlide38.xml" Id="R818343aee88e42c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3d5856d8944cf9" /><Relationship Type="http://schemas.openxmlformats.org/officeDocument/2006/relationships/notesSlide" Target="/ppt/notesSlides/notesSlide39.xml" Id="R5e0c86c8800a4c2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0a3153bc374714" /><Relationship Type="http://schemas.openxmlformats.org/officeDocument/2006/relationships/notesSlide" Target="/ppt/notesSlides/notesSlide40.xml" Id="Re2f3a33303ea442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078d6e6b0b462e" /><Relationship Type="http://schemas.openxmlformats.org/officeDocument/2006/relationships/notesSlide" Target="/ppt/notesSlides/notesSlide41.xml" Id="R31b2d86c221e4be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04a22c842a4d4a" /><Relationship Type="http://schemas.openxmlformats.org/officeDocument/2006/relationships/notesSlide" Target="/ppt/notesSlides/notesSlide42.xml" Id="Rb41cf3fa0f974ca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1ed372bcc646f4" /><Relationship Type="http://schemas.openxmlformats.org/officeDocument/2006/relationships/notesSlide" Target="/ppt/notesSlides/notesSlide43.xml" Id="Rb25f6120a2514fb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ec6884707b4a8c" /><Relationship Type="http://schemas.openxmlformats.org/officeDocument/2006/relationships/notesSlide" Target="/ppt/notesSlides/notesSlide44.xml" Id="Rda9e0ccf3033487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321fe6edf04034" /><Relationship Type="http://schemas.openxmlformats.org/officeDocument/2006/relationships/notesSlide" Target="/ppt/notesSlides/notesSlide45.xml" Id="R2b7728049e9f42db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1"/>
    </mc:Choice>
    <mc:Fallback>
      <c:style val="1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분쟁청구 건수</c:v>
                </c:pt>
              </c:strCache>
            </c:strRef>
          </c:tx>
          <c:spPr>
            <a:solidFill xmlns:a="http://schemas.openxmlformats.org/drawingml/2006/main">
              <a:schemeClr val="dk1">
                <a:tint val="88500"/>
              </a:schemeClr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Sheet1!$B$2:$B$13</c:f>
              <c:numCache>
                <c:formatCode>#,##0</c:formatCode>
                <c:ptCount val="12"/>
                <c:pt idx="0">
                  <c:v>26093</c:v>
                </c:pt>
                <c:pt idx="1">
                  <c:v>30206</c:v>
                </c:pt>
                <c:pt idx="2">
                  <c:v>43480</c:v>
                </c:pt>
                <c:pt idx="3">
                  <c:v>52590</c:v>
                </c:pt>
                <c:pt idx="4">
                  <c:v>61401</c:v>
                </c:pt>
                <c:pt idx="5">
                  <c:v>75597</c:v>
                </c:pt>
                <c:pt idx="6">
                  <c:v>102456</c:v>
                </c:pt>
                <c:pt idx="7">
                  <c:v>104077</c:v>
                </c:pt>
                <c:pt idx="8">
                  <c:v>113804</c:v>
                </c:pt>
                <c:pt idx="9">
                  <c:v>120965</c:v>
                </c:pt>
                <c:pt idx="10">
                  <c:v>136225</c:v>
                </c:pt>
                <c:pt idx="11">
                  <c:v>156812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764400"/>
        <c:axId val="14311807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청구 건수 전년 대비 증가율 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5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dk1">
                  <a:tint val="55000"/>
                </a:schemeClr>
              </a:solidFill>
              <a:ln xmlns:a="http://schemas.openxmlformats.org/drawingml/2006/main" w="9525">
                <a:solidFill>
                  <a:schemeClr val="dk1">
                    <a:tint val="5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16.2</c:v>
                </c:pt>
                <c:pt idx="1">
                  <c:v>16</c:v>
                </c:pt>
                <c:pt idx="2">
                  <c:v>43.7</c:v>
                </c:pt>
                <c:pt idx="3">
                  <c:v>20.9</c:v>
                </c:pt>
                <c:pt idx="4">
                  <c:v>16.8</c:v>
                </c:pt>
                <c:pt idx="5">
                  <c:v>23.1</c:v>
                </c:pt>
                <c:pt idx="6">
                  <c:v>35.5</c:v>
                </c:pt>
                <c:pt idx="7">
                  <c:v>1.6</c:v>
                </c:pt>
                <c:pt idx="8">
                  <c:v>9.4</c:v>
                </c:pt>
                <c:pt idx="9">
                  <c:v>6.3</c:v>
                </c:pt>
                <c:pt idx="10">
                  <c:v>12.6</c:v>
                </c:pt>
                <c:pt idx="11">
                  <c:v>15.1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분쟁청구 건수/대물배상수리 건수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7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tx1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dk1">
                    <a:tint val="7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0.9</c:v>
                </c:pt>
                <c:pt idx="1">
                  <c:v>1</c:v>
                </c:pt>
                <c:pt idx="2">
                  <c:v>1.4</c:v>
                </c:pt>
                <c:pt idx="3">
                  <c:v>1.7</c:v>
                </c:pt>
                <c:pt idx="4">
                  <c:v>2</c:v>
                </c:pt>
                <c:pt idx="5">
                  <c:v>2.4</c:v>
                </c:pt>
                <c:pt idx="6">
                  <c:v>3.2</c:v>
                </c:pt>
                <c:pt idx="7">
                  <c:v>3.6</c:v>
                </c:pt>
                <c:pt idx="8">
                  <c:v>4</c:v>
                </c:pt>
                <c:pt idx="9">
                  <c:v>4.3</c:v>
                </c:pt>
                <c:pt idx="10">
                  <c:v>4.7</c:v>
                </c:pt>
                <c:pt idx="11">
                  <c:v>5.4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22781104"/>
        <c:axId val="1431186960"/>
      </c:lineChart>
      <c:catAx>
        <c:axId val="162276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431180720"/>
        <c:crosses val="autoZero"/>
        <c:lblAlgn val="ctr"/>
        <c:lblOffset val="100"/>
        <c:noMultiLvlLbl val="0"/>
      </c:catAx>
      <c:valAx>
        <c:axId val="143118072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64400"/>
        <c:crosses val="autoZero"/>
        <c:crossBetween val="between"/>
      </c:valAx>
      <c:valAx>
        <c:axId val="14311869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81104"/>
        <c:crosses val="max"/>
        <c:crossBetween val="between"/>
      </c:valAx>
      <c:catAx>
        <c:axId val="16227811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31186960"/>
        <c:crosses val="autoZero"/>
        <c:lblAlgn val="ctr"/>
        <c:lblOffset val="100"/>
        <c:noMultiLvlLbl val="0"/>
      </c:catAx>
      <c:spPr>
        <a:noFill xmlns:a="http://schemas.openxmlformats.org/drawingml/2006/main"/>
        <a:ln xmlns:a="http://schemas.openxmlformats.org/drawingml/2006/main" w="25400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bg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BFC80C-0A60-4E79-8E4D-6C28EC1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716280"/>
            <a:ext cx="713232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AI 기반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3034EB-5CDC-4990-9DAF-072FA99A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1388114"/>
            <a:ext cx="7132320" cy="775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 분쟁 및 법률 솔루션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989464-E5F3-4916-BD6A-5C138589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96" y="2430186"/>
            <a:ext cx="786384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과실비율·과태료/범칙금·보험 대응·법률 근거를 사건 중심으로 재구성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F39419-907E-4AE2-B1B6-C59106C7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15391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SKN27 FINAL 3Team</a:t>
            </a:r>
          </a:p>
        </p:txBody>
      </p:sp>
      <p:pic>
        <p:nvPicPr>
          <p:cNvPr id="37" name="그림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c1c2ef82d4f0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8663566" y="1810792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38" name="그림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c1c2ef82d4f0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7375352" y="2667022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39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c1c2ef82d4f0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6148424" y="3483253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40" name="그림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c1c2ef82d4f0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10153665" y="392381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41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c1c2ef82d4f00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9091412" y="4624282"/>
            <a:ext cx="1836305" cy="183630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902E5-8C27-4DB9-B700-D167AFA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3DB85-E1DC-4F8A-A954-4ABEC7A7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838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AI 기반 교통분쟁 상담·분석 서비스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417EE-5D04-4469-9C67-56B32A5F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9C9C9"/>
                </a:solidFill>
              </a:defRPr>
            </a:pPr>
            <a:r>
              <a:rPr sz="1800" b="0">
                <a:solidFill>
                  <a:srgbClr val="C9C9C9"/>
                </a:solidFill>
              </a:rPr>
              <a:t>시장 pain point에서 기능 설계와 Agent 아키텍처까지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DD4B2-8826-4B04-8EE3-9E3CC42E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AAAC0-5A08-47AD-AB18-5B1E72BD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083E0-A986-404F-8ABB-A66AE1D8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문제 먼저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B1187-ACAC-42FF-9536-0C555947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초반에는 앱 설명을 빼고 시장과 사용자 문제를 먼저 증명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2A467-3433-436C-BDCF-AE641C9E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623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DA34B-25DE-42A0-873E-28BD8832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48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경쟁사로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93BA5-C822-4FBF-AAEE-9A49DD5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48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시장에 있는 기능과 실제로 비어 있는 pain point를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28E78D-95D5-4671-97AA-2954193F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DB8E01-3F4A-43C2-B5DD-A784C73A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A6FF"/>
                </a:solidFill>
              </a:defRPr>
            </a:pPr>
            <a:r>
              <a:rPr sz="1875" b="1">
                <a:solidFill>
                  <a:srgbClr val="B8A6FF"/>
                </a:solidFill>
              </a:rPr>
              <a:t>기능과 기술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FA9E31-26FF-4D8A-9699-AD5D8F0B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48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페르소나 흐름과 Agent·보안 설계로 연결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2AA020-62F2-40F1-8D75-47C405A3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E9696"/>
                </a:solidFill>
              </a:defRPr>
            </a:pPr>
            <a:r>
              <a:rPr sz="1200" b="1">
                <a:solidFill>
                  <a:srgbClr val="8E9696"/>
                </a:solidFill>
              </a:rPr>
              <a:t>SKN27 FINAL 3Team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7277B8-73FA-4E14-9F79-5A2D4E7F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F96A92-3E47-4F8F-8A7F-5B2FAE1E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1/45</a:t>
            </a:r>
          </a:p>
        </p:txBody>
      </p:sp>
    </p:spTree>
    <p:extLst>
      <p:ext uri="{BB962C8B-B14F-4D97-AF65-F5344CB8AC3E}">
        <p14:creationId xmlns:p14="http://schemas.microsoft.com/office/powerpoint/2010/main" val="853104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8687E1-2B11-4D68-A1D3-2772F7B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05" y="553141"/>
            <a:ext cx="3888042" cy="867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CONTENTS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E57556-2E19-40DC-8168-86FA29F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55" y="1964426"/>
            <a:ext cx="17443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C06455-5322-402F-BEFF-D27C9FD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87" y="220313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E44938-CB96-4D96-9BD9-C560DCB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54" y="2734049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과실비율 분쟁 증가와 소비자 정보 격차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771E2F-8E22-41FC-A3BB-ADF1CB11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88" y="3102175"/>
            <a:ext cx="1251308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6F7F429-C1FA-475D-9310-D8B9CE3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33588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겪는 문제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3BD936-23EE-4789-A23E-E4535EA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3926123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고지서·과실비율·보험 대응에서 반복되는 어려움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E51FBF5-3225-458C-B5F3-76E21ECC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88" y="4342068"/>
            <a:ext cx="115350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D6509E-E406-452B-8730-E575515E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928" y="4594776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서비스 이용 과정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B463516-8B4D-419E-8029-58DEA37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509492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A50D5E-D555-4D6C-8286-1AE1E17C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4278461"/>
            <a:ext cx="13386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127C8A-1B2F-4FE1-8425-9D954A0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4547525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핵심 기능과 AI 분석 구조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8D26FB-9CFD-4172-871E-B33757F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5082215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문서·영상·법률 데이터를 연결하는 AI 분석 과정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E32FC0B-DBCC-469B-9424-FA8E3703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70" y="5407175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CEDB4D1-486B-4B05-AA6E-4ADE329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" y="5655892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F79D8A-CC64-4C7B-B0CD-232CFE1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" y="618656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MVP 기능, 검증 계획, 향후 확장 방향</a:t>
            </a:r>
          </a:p>
        </p:txBody>
      </p:sp>
      <p:sp>
        <p:nvSpPr>
          <p:cNvPr id="2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71B375-37A8-DEF2-A6A0-1EA9265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09538" y="1470916"/>
            <a:ext cx="3056406" cy="85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C8564-B5F4-4AA1-9545-C731E96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2029634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F6965C-87D9-46B9-893A-2A3FFD3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22405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D1792E-FB24-4752-B01F-C9222EE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2738041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교통분쟁 AI 서비스의 목표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973777-73C4-4EB3-9E03-494BA8D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3107109"/>
            <a:ext cx="1744396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CEAFEF-71AC-45BA-9733-173DFDD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329177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시장과 차별점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6249C7-0A4F-4E3E-B736-B6A9F0F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3" y="3840118"/>
            <a:ext cx="4894587" cy="252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기존 서비스의 한계와 교통분쟁 AI 서비스의 해결 방식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C1E4E492-E947-425F-969E-2CDC2A27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F388207F-6659-4EB3-95C5-018D383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3A3965DC-507A-4427-B5EC-68718CC2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3EA548D1-C9A4-4F5B-A220-C85C6C4B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기능 나열보다 사용자가 왜 이 서비스를 필요로 하는지 먼저 보여줍니다.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97E5F709-7BA3-4E40-90FD-CD70C77E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1EED2CE2-DD44-4748-AC98-7FD29D8A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01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3E25AB9F-978E-48AC-8A23-2EC5CAF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47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문제 배경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90A362B2-3319-459F-BE74-C380B456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146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분쟁 증가와 정보 격차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F35B1DA6-BF5A-4B5A-8EF5-9C4B365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E26C91AB-5B5F-4C88-AF0A-C1C9570B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74A31ED2-B1A8-40A2-8BDF-A3517192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37E8B635-CEB9-4F7D-A643-DC03247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909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사건 구조화와 근거 답변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D649DDA1-EC1A-4B51-AA52-E3B3055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0B09FA96-CFBA-494F-AEEA-B2BBF5D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BCC8B0C8-34E9-4320-9832-C6720B8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 문제</a:t>
            </a:r>
          </a:p>
        </p:txBody>
      </p:sp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B1362F8A-E8F7-42ED-909D-ABDA59E1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실제 실패 장면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61687461-9BB4-458D-9D46-D652B94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74CD2FB1-6372-4E95-B3C4-59401FD5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DAC32243-6914-4C8C-B202-7D1B986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49" name="직사각형 48">
            <a:extLst xmlns:a="http://schemas.openxmlformats.org/drawingml/2006/main">
              <a:ext uri="{FF2B5EF4-FFF2-40B4-BE49-F238E27FC236}">
                <a16:creationId xmlns:a16="http://schemas.microsoft.com/office/drawing/2014/main" id="{6AABBE72-44B9-4C52-AF49-1EEBCD9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비어 있는 서비스 조합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284F7EF4-A6C2-DEBA-FD9F-D562FAE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20927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52F35FF-31EF-5806-44E9-51DD4ED1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22832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98BC18D-81D6-FCDB-6534-7D8CDC4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22261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서비스 이용 과정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F016C79-C3E0-4C27-8979-61B96A8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24928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입력부터 리포트까지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FF081F76-E99E-ACA3-05F7-8259DB26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29690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F01B166-5C71-DBD2-2AED-8A596D41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31595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B4E22657-5FF9-1D58-A0E0-FD3589F6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1024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 분석 구조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075874A-AA1E-F107-03BA-B37F155B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3691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모듈 분리와 안전장치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A5E33E9C-774E-E3DE-37CC-5E2F36D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38453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988E985-49A7-D58E-EB14-524BC364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40358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07</a:t>
            </a:r>
          </a:p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C32579B-1DD6-7ED8-A7CF-EB6F6D13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9787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구현 범위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12C97307-4DBB-EF48-AB55-86F8974A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42454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MVP와 평가 계획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9B9923E-CB82-47A2-8C49-6F6318A3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6094DB5-5DBD-4A4B-9054-AB400AA4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CONTENTS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707CCE-6F91-408F-BA18-50F2A387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발표 흐름은 문제를 먼저 증명하고, 그 다음 기능과 기술을 설명한다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5509E7F-EF73-427C-A921-3889F5E9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앱 설명은 경쟁사 pain point가 확인된 뒤에 등장하도록 순서를 재구성했습니다.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F717AEE-200A-43CB-A45D-5A30DE90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2E235C-52EA-4D40-A94C-3F956775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5A823BF-E49A-42E2-AAA9-795914BF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01  시장조사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0960B61-460E-4DAE-810B-177B5B9A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분쟁 증가와 정보 격차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ACBD787-5479-45ED-9BEF-900D7245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4CE11B-5681-4F69-80EB-E0E99DA8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02  배경·문제정의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4265E3E-366A-427B-B176-C7058C9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사용자가 왜 막히는가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FB582F5-F182-48D8-A045-E9AE9A0B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F083BB-6812-46BF-A8F9-00CF0CE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03  경쟁사 분석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B2809A5-74B3-4107-86E1-F521FE54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실제 시장의 빈칸 확인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D5EAE82-D354-4373-A9C2-2BB46736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B855471-DCFF-4A3E-ABA5-3372CC92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04  기능 설계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577AF0D-320F-4603-8AC6-1069AD32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pain point를 기능으로 변환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D71B280-5B84-413A-91E6-66478CC7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434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80206CD-9BA5-4519-8C97-6CA77E52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958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05  페르소나 흐름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67A94F9-575F-44D0-97B3-6962921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38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2명의 사용자가 앱을 쓰는 과정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A932B94-3ED8-45C8-A0F4-58F9E4E5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434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754B294-7B2A-4EE1-89C8-E2253EB7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958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06  AI·보안 설계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7D0837-0A1B-4DA0-9D23-A05D2356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38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Agent 구조와 안전장치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F8CA095-D14F-4249-8DF0-485497BC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434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E675BA2-A799-4C19-BBF1-FCC2FB0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07  Q&amp;A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A6A7768-11FB-49E5-9450-8C44B9CA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38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질문 대응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0034F7A-61D3-48F5-80C8-505831CF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15A8216-C8A3-4CB3-BA91-DBC61D6B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2/45</a:t>
            </a:r>
          </a:p>
        </p:txBody>
      </p:sp>
    </p:spTree>
    <p:extLst>
      <p:ext uri="{BB962C8B-B14F-4D97-AF65-F5344CB8AC3E}">
        <p14:creationId xmlns:p14="http://schemas.microsoft.com/office/powerpoint/2010/main" val="77743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4A3388-FD74-637E-363E-51A0E04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622421-7A3C-4787-B909-F69FDBC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417F05-E3F1-4055-A5E9-CAEFC7A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70446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E78819-1B7C-485D-ABFB-56CE1AC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과실비율 분쟁 증가와 소비자 정보 격차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78641D5-0885-4A4F-8AD3-CEDF328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A466D9-90D4-9CC2-567D-7F8182A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분쟁청구 건수의 장기 증가 추세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소비자 인식과 기준의 격차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사고 판단의 중요한 변수들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13442-C2BC-4041-98B1-3BC2C8B6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4995E-A502-4F64-89F1-B73F9AA9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2204E-F0C0-4B41-A50F-796F304E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시장조사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F4704-B207-4EE3-B720-A372D132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교통분쟁은 단순 사고 처리가 아니라 정보 비대칭 문제로 커지고 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D3F4E-F35A-4CE7-960B-0BFF551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D9001-6518-4EC5-BB9F-89886B5C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7C1E6-39DA-47FA-89E9-7306BBC1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분쟁 증가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A7CDA-F35A-47E6-BE18-9E29C12E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과실비율 판단을 둘러싼 갈등 확대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9F035-D1AA-4319-8B1D-ABAD676F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EC7BE-94E1-4F5B-852A-1C93FC19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인식 격차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DA3FA-AFB3-4D56-8F0F-587E7FC3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공식 기준과 소비자 이해 사이의 차이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FF3E4-4CF5-4D08-B7E7-90AAD42E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45178-C082-4AC9-BF07-130EF4B3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변수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EFF50-8210-4CA9-8621-21F9A4ED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상황별 변수 때문에 같은 사고도 다르게 해석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A4691-6B3C-48EA-B259-C2ADFD87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74A11E-82D1-4552-BC0E-1A8F9390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3/45</a:t>
            </a:r>
          </a:p>
        </p:txBody>
      </p:sp>
    </p:spTree>
    <p:extLst>
      <p:ext uri="{BB962C8B-B14F-4D97-AF65-F5344CB8AC3E}">
        <p14:creationId xmlns:p14="http://schemas.microsoft.com/office/powerpoint/2010/main" val="1710793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8D5201-EDDD-4280-A2D4-A94F0FF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3A57E2-7AAA-4665-A1DE-B36103D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분쟁 증가 추세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6E277B-0B3D-4615-AE6F-44D94982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4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FFE523-3B4B-48FD-B541-5AE01663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1714067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156,812건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420034-E096-4C20-8324-92D7C23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21688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2024년 분쟁 건수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897BE4-BCDE-4F1A-93C2-DFA66AF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519427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약 3만 건 대비 5배 이상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E95F79-45B9-4FB8-BE2D-060AACCF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271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2F861E-479F-4CBA-91E5-7B0DFBC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5.4%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376876-E2B2-4566-B67A-FB43DF2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대물 수리 대비 비율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3C7B18-7ABC-4C61-9776-726F074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1.0% → 2024년 5.4%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BE80A0-6A56-4BC2-8429-77F52F4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738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E9F1AC-DAB9-46A4-8893-98F448D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5.2배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747B1B-DD81-4716-AA5A-5E61499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분쟁 건수 증가폭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7A55DE-8BAE-4BE8-89AC-43EB5D6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FAFAF"/>
                </a:solidFill>
                <a:latin typeface="Malgun Gothic"/>
                <a:ea typeface="Malgun Gothic"/>
                <a:cs typeface="Malgun Gothic"/>
              </a:rPr>
              <a:t>2014년 대비 2024년 기준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E480A21-95BD-4CC4-8196-2F48558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4/40</a:t>
            </a:r>
          </a:p>
        </p:txBody>
      </p:sp>
      <p:sp>
        <p:nvSpPr>
          <p:cNvPr id="4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95E8BF-A003-0367-F5E3-A139BCD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206" y="1559307"/>
            <a:ext cx="261275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94D2583-3944-F435-BFAC-92B831B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1684815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10년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718A7123-F98A-CA88-7154-CEEC91E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215892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지속 증가 흐름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42B629E-2B47-F512-CD2F-7142C6C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5" y="2450846"/>
            <a:ext cx="2741234" cy="19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보험금·보험료 할증 영향으로 분쟁 확대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537376B-43EB-4743-8989-D40D583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graphicFrame>
        <p:nvGraphicFramePr>
          <p:cNvPr id="112" name="차트 20"/>
          <p:cNvGraphicFramePr/>
          <p:nvPr/>
        </p:nvGraphicFramePr>
        <p:xfrm>
          <a:off xmlns:a="http://schemas.openxmlformats.org/drawingml/2006/main" x="2164714" y="3205841"/>
          <a:ext xmlns:a="http://schemas.openxmlformats.org/drawingml/2006/main" cx="7588687" cy="3268111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bb226382804c16"/>
          </a:graphicData>
        </a:graphic>
      </p:graphicFrame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E996F813-D520-41CB-8570-89CFD5C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BC1C328D-8B8C-470C-BC9B-B5DCA3B1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5CC77B7-AD15-46F5-844D-61C77C37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분쟁은 10년 동안 구조적으로 커졌다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12AEE09A-71E9-440F-8A0F-459030D2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보험금과 보험료 할증이 걸리면서 사용자는 설명 가능한 근거를 요구합니다.</a:t>
            </a:r>
          </a:p>
        </p:txBody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4C6D946F-8315-4D34-9244-0F774522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6EB72203-A3D8-46E2-A9D9-3F34CCAA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227D536C-4FD2-4EDA-A88F-87A41E9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2024년 분쟁 건수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1E34C2C8-FF26-4ED1-BA44-DD6DCDED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약 3만 건 대비 5배 이상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B523674C-58AD-4539-AE06-13B302B7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32FAED6-E30B-49CA-A8C6-739B8AE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5.4%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D98514C9-B600-4EB7-B836-1670E45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대물 수리 대비 비율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FBD3CC5-4019-41E5-A8A8-2685AF82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1.0%에서 상승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9BBBB5FA-A98A-40B5-9DBD-17EBBB40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F64344C-CE90-4E64-8385-E9A04A38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5.2배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C061B65A-3494-4204-B300-59A0824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10년 증가폭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771297CF-0FCF-4F5F-A76E-53356040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분쟁이 장기 증가 흐름으로 고착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97D1A47D-6D11-4712-9BB3-E1B6454E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8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E1A3D52A-80AA-4B97-A7DA-FE4B768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해석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9F100415-266F-4E8D-9C56-C05589E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29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숫자는 단순한 사고 증가가 아니라, 사용자가 보험사 설명을 검증하고 자기 사건의 근거를 찾으려는 수요가 커졌다는 신호입니다.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0763BA-2B30-44BE-82C7-3201020F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C0B331-7026-4887-9979-A9305EFE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7A86BCA-DD58-48CD-BF0F-60C804DD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분쟁 증가 추세는 정보 탐색 비용 증가를 뜻한다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3C6A6F5-1827-40D8-B7C8-153772D3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수치 자체보다 중요한 것은 소비자가 기준, 증거, 절차를 혼자 연결해야 한다는 점입니다.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28DAA1-7DF4-456B-A7B6-68290C25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6FFF0A-9A64-40F3-AA22-65FE6DCF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88423F5-CC28-4BB2-91A3-AD0A8A52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분쟁이 늘어나는 시장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E0BD873-744E-4ED2-BA28-3DDB6796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사고 이후 책임 비율과 보험 처리에 대한 이견이 반복적으로 발생합니다.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DDA4C38-0175-4A7F-BF71-76A57187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F39C390-B6CC-45AC-AD92-4774A246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근거가 흩어진 시장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E1C24EF-03BA-428E-AE8D-92523E19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공식 기준, 심의사례, 보험사 설명, 법령 정보를 서로 다른 경로에서 찾아야 합니다.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31F09A0-B04C-4E13-9818-4D1CD413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98494F6-092E-4216-BD91-C0E731AE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소비자가 직접 번역하는 시장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AEBB8C8-0134-407C-848F-DF9CCA2A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일상어 질문을 법률 용어와 과실비율 기준으로 바꾸는 과정에서 실패가 생깁니다.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1CA5557-2DA3-43BE-86B3-2284BEC1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14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따라서 문제는 ‘사고가 많다’가 아니라 ‘내 사고에 맞는 근거를 찾기 어렵다’입니다.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F5E5AB6-7572-4E3C-BB71-4E5089BE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0A573D1-28B5-4C82-81D1-6FA9A226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4/45</a:t>
            </a:r>
          </a:p>
        </p:txBody>
      </p:sp>
    </p:spTree>
    <p:extLst>
      <p:ext uri="{BB962C8B-B14F-4D97-AF65-F5344CB8AC3E}">
        <p14:creationId xmlns:p14="http://schemas.microsoft.com/office/powerpoint/2010/main" val="1739705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3E555E-F461-EAF1-3F9A-9824D0C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9DDF49-FEC5-2518-DB14-81798FC4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38C3967-EF04-83FC-7B84-342AED6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A8F383-2F56-D545-0E98-864B7D5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1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04AAFD-F605-CDC0-5167-E1CC31A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15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BE8E6D-BE89-E79C-3535-45AA71B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190628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34.9%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9C9031-B49A-99AE-AED8-6AED7CCA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400056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공정하지 않다고 인식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52882EE-D76C-3875-DED7-DFDA2BBF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701808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최근 3년 사고 경험자 기준</a:t>
            </a:r>
          </a:p>
        </p:txBody>
      </p:sp>
      <p:sp>
        <p:nvSpPr>
          <p:cNvPr id="27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B1C6B8-BD5D-7693-9867-C3C30A1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407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6BEC7AD-4D03-27A0-934E-3A34D1B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1886616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9.3~57.8%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A20005-2279-AF80-6A5E-D252811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380392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기본과실 정답률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50DEE9B-1896-40A7-BE7D-88AB3DA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682144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사고도표별 편차가 큼</a:t>
            </a:r>
          </a:p>
        </p:txBody>
      </p:sp>
      <p:sp>
        <p:nvSpPr>
          <p:cNvPr id="3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AFD9A1-1095-9F5F-C854-44D14CD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599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9CB86D-7F30-4729-9D4F-765B4D3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1876784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33.2%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79BF904-A00C-8331-99B1-1FC1C77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370560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조사 부족 인식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85649D-3CEE-D40D-F759-80CABBAA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672312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경험자 응답 기준</a:t>
            </a:r>
          </a:p>
        </p:txBody>
      </p:sp>
      <p:sp>
        <p:nvSpPr>
          <p:cNvPr id="5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813CA99-5A79-86AB-2177-CBBC0FB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56432"/>
            <a:ext cx="53035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9DF09D1-A02E-65F3-E234-1678AC7F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593592"/>
            <a:ext cx="49377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관점의 문제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9B3093A-32BA-350F-FEE7-E6C6C5A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986784"/>
            <a:ext cx="493775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“왜 내 과실이 잡혔는지” 설명 부족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블랙박스가 있어도 무엇이 쟁점인지 알기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보험사·분쟁심의·법원 판단 기준을 구분하기 어려움</a:t>
            </a:r>
          </a:p>
        </p:txBody>
      </p:sp>
      <p:sp>
        <p:nvSpPr>
          <p:cNvPr id="5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CA603F2-C4DD-89EB-3DFC-CC6A6B2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56432"/>
            <a:ext cx="498348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079FB0B-3519-7BA2-B9C7-7184EF6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935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연결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59F6F799-7042-AB23-833E-ED39FBA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86784"/>
            <a:ext cx="46177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사고자료를 사건 단위로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공식 기준·판례·심의사례를 함께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결과가 아니라 근거·한계·다음 행동을 보여제공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BD750B17-647B-4E3E-9744-49E6BB99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FDFD130D-D1E3-49E9-A082-4AA7CE7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4912519-8DDB-4A41-A5D3-958E36FB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과실 판단의 기준과 설명을 함께 놓친다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7BEA1430-FF85-42B4-93C6-299DE7C5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공정성 인식, 정답률 편차, 조사 부족 인식이 같은 문제를 가리킵니다.</a:t>
            </a:r>
          </a:p>
        </p:txBody>
      </p:sp>
      <p:sp>
        <p:nvSpPr>
          <p:cNvPr id="68" name="사각형: 둥근 모서리 67">
            <a:extLst xmlns:a="http://schemas.openxmlformats.org/drawingml/2006/main">
              <a:ext uri="{FF2B5EF4-FFF2-40B4-BE49-F238E27FC236}">
                <a16:creationId xmlns:a16="http://schemas.microsoft.com/office/drawing/2014/main" id="{89B69303-B3B4-4619-BBDE-71E9785D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BC3F5CBB-D4F0-44BC-8726-BD749FF2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34.9%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149F1E5-8DAB-4C64-8100-0C619E32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1A3326A-C66E-447D-8FFD-C1519152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최근 3년 사고 경험자 기준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66ABE9A5-01EF-43E4-AB6C-3D6A82FA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264DC7F4-844D-4A0A-8A01-3C95062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9.3~57.8%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F94390C-A025-47D3-A6C0-E8F3F43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기본과실 정답률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5DFD4FDF-EFD2-4791-8CD0-E0EC2740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사고도표별 편차가 큼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53D20B98-37D4-4297-91A3-4DFCAB49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D77A6280-EA15-4518-B388-69C177C9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33.2%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610C6C1-7AF4-4096-8F6B-28D4354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조사 부족 인식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179271FF-BD01-451E-9005-658EEDE0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경험자 응답 기준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4E2C8AD1-6FBF-43DC-9DD8-9EC08DE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사각형: 둥근 모서리 80">
            <a:extLst xmlns:a="http://schemas.openxmlformats.org/drawingml/2006/main">
              <a:ext uri="{FF2B5EF4-FFF2-40B4-BE49-F238E27FC236}">
                <a16:creationId xmlns:a16="http://schemas.microsoft.com/office/drawing/2014/main" id="{8234A599-383F-4824-95CE-DFA2155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0583BB0D-3B9A-4B63-B73F-7333EC6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 문제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2DC6143-7A6C-467E-920A-330BB3AA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서비스 연결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57998A41-6D27-4188-855F-A5DE359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왜 내 과실이 잡혔는지 설명이 부족함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ED076591-ED6C-46E8-BBCC-4400AA4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블랙박스가 있어도 쟁점 파악이 어려움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E9D0FD30-4EE0-4024-A4C7-27E2AFBD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보험사·분쟁심의·법원 기준을 구분하기 어려움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1CE096E-3F56-4613-BF93-3BE6107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사고자료를 사건 단위로 정리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59DD906-6F5B-4A24-B047-A3DD8B1C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공식 기준·판례·심의사례를 함께 검색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714AAF7-4AA4-4DAD-81FA-B9195B6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행동을 리포트로 제공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7F662AD-7DFE-4231-B61F-C87406A7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6CCE9C-982C-42AA-9769-7A50E6D6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8027B4-0DE2-4882-BF8E-CCB01DFF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소비자는 과실비율을 숫자보다 공정성 문제로 받아들인다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B9EE507-40AB-49D9-9E50-BCFDC144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기준을 모르면 결과가 맞아도 납득하기 어렵고, 기준을 알아도 내 사고에 적용하기 어렵습니다.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45C7DBD-E7A4-4FD8-8E85-D6B9E457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D4BD777-41DE-42F0-A8A9-454B6D80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95B52"/>
                </a:solidFill>
              </a:defRPr>
            </a:pPr>
            <a:r>
              <a:rPr sz="4800" b="1">
                <a:solidFill>
                  <a:srgbClr val="E95B52"/>
                </a:solidFill>
              </a:rPr>
              <a:t>34.9%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A33253A-9E55-418E-BC3D-8059B00C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최근 사고 경험자 중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과실비율이 공정하지 않다고 인식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E085F8-5792-4214-A58E-73D40702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43150"/>
            <a:ext cx="5676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11850DE-690D-467E-AC8D-00091F2B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사용자가 느끼는 불공정의 원인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EF59987-F338-4A99-B5A9-72D21E05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81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E5410A-A06A-42DE-AE44-09188EB9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813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 설명이 내 사고의 장면과 잘 맞는지 확인하기 어렵다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5B47B2A-93CB-46BA-ADE5-C4CF92EB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0632047-264E-4545-9C7A-BE96F10F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비슷한 사고 사례를 찾아도 차이가 무엇인지 비교하기 어렵다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557501B-B0D0-4F79-A2F3-1B8E2B5D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15F038B-CF0B-4EE2-814A-783B2479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법령·심의사례·블랙박스 증거가 한 번에 연결되지 않는다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DA7CCEC-D254-4331-8138-294FF577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990FCFA-32E3-4A88-8C1C-15B040E0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5/45</a:t>
            </a:r>
          </a:p>
        </p:txBody>
      </p:sp>
    </p:spTree>
    <p:extLst>
      <p:ext uri="{BB962C8B-B14F-4D97-AF65-F5344CB8AC3E}">
        <p14:creationId xmlns:p14="http://schemas.microsoft.com/office/powerpoint/2010/main" val="2157319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896E4F-7737-A9AE-CFB0-53F347D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F298DC2-B993-C1AB-2FCC-2C8CA5D0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4DBB4E-BBF3-2C95-885B-5620B91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D8D3120A-9FA9-EB33-2221-2B5B9FE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68BF49-CB2A-AD1D-25D8-AE5BD78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405" y="2997843"/>
            <a:ext cx="213712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뉴스 기사 추가하기</a:t>
            </a:r>
          </a:p>
        </p:txBody>
      </p:sp>
      <p:pic>
        <p:nvPicPr>
          <p:cNvPr id="99" name="그림 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f9422299d470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E8E4F73-8D53-4270-B6D5-B3F27EAA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4E0683C0-DA77-4E87-98F5-1BFA3F1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시장 신호는 분쟁의 양보다</a:t>
            </a:r>
          </a:p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근거 탐색 비용에 있다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32CFFE2-0F9B-4FBE-8A1C-6FC4132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9C9C9"/>
                </a:solidFill>
              </a:defRPr>
            </a:pPr>
            <a:r>
              <a:rPr sz="1200" b="1">
                <a:solidFill>
                  <a:srgbClr val="C9C9C9"/>
                </a:solidFill>
              </a:rPr>
              <a:t>01  문제 배경</a:t>
            </a: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6B1588DA-958F-4BD4-80C7-6FA84197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C84B42"/>
            </a:solidFill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DBCCF158-49D4-40CD-8014-7C6FF6B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B44A9082-1A0B-4058-B4A3-F79A65B0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9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2024년 과실비율 분쟁 건수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326D127F-5642-4F95-9CCB-667FDF3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2014년 약 3만 건 대비 5배 이상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FBE93C91-C499-4226-BB82-509C227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3F44C1C8-6FBA-428F-BAEE-8575672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34.9%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D35E0EA1-B264-41A7-9C08-C66218E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13AFAFDF-4512-4ED3-BE3C-764B916A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사고 경험자 기준 인식 격차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44755831-0B80-4CDD-A754-0B6DAA6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11D4CABB-59A2-4BEA-841A-B82312B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86" y="4761593"/>
            <a:ext cx="2041071" cy="420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3개 근거축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6D8F5C3-D655-4FAC-B60E-3459AB54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인정기준·판례·심의사례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BE8EAB48-3A25-49D3-BA81-DD7BD5E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사용자 사건 단위 연결이 핵심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EA9DC996-7DAA-493A-BF78-94D48A3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핵심 해석 | 시장은 '사고 건수'보다 보험사 설명을 검증하고 상담 전 근거를 정리하려는 사전 검토 수요로 좁혀야 합니다.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72A6185-2E41-4E7B-8283-C67DCF88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14F166-C941-4D3A-BE8E-24CC2AFC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10F9DE-3542-4ED8-A183-DF3D0177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분쟁 증가 추세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D43B7F-C558-48DD-BC12-4E7C7365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이 장표에서만 핵심 수치를 제시하고, 뒤에서는 같은 숫자를 반복하지 않습니다.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F68DACB-8B8A-4334-9010-AA625786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0487E73-C5D3-4055-9BAA-7866C700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4CC9E4F-59ED-4FB2-80E4-F7F36B03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2024년 분쟁 건수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E5B822-9FDD-4BFB-B996-08CE2B50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2014년 약 3만 건 대비 5배 이상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F419143-472B-41FC-8489-F9C803C5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6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2014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A44A163-B18C-4CC9-A144-2DC5FAC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13CCA6-1C04-4EDE-A4D7-0B2AEAFF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약 3만 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4498FD3-DD42-45AC-8C09-78CD929D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33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2017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04041F9-A956-46D8-8B11-A4EB7C30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90900"/>
            <a:ext cx="14744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33BA7D-0760-48E1-B8ED-CF0422C4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분쟁 증가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DF453D5-80E8-478F-803C-3FBDD890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2020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6E4AEA5-985B-4A4A-A0C4-0B667993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237553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E7994AF-B5E7-4F2A-937D-90A596F2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81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기준 탐색 확대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744F0F0-4B4C-444F-B1A7-2778BECB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67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2024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86C6A78-06BC-4B8A-B7BA-1EA9C253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244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05F1903-7802-4DE8-8883-A76FB1FD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48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156,812건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8252606-B012-426C-AF9A-E2A66D90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AD4D849-BB4B-4471-A4E7-7FAC110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6/45</a:t>
            </a:r>
          </a:p>
        </p:txBody>
      </p:sp>
    </p:spTree>
    <p:extLst>
      <p:ext uri="{BB962C8B-B14F-4D97-AF65-F5344CB8AC3E}">
        <p14:creationId xmlns:p14="http://schemas.microsoft.com/office/powerpoint/2010/main" val="1394830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51685E-A373-9C93-296A-FA71515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4D8A30-7532-AAEA-A488-BF185BC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판단 변수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4BB14DD-70FE-EC3F-4F0A-F36E0B59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6/40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AF1E2385-6557-07BF-FA00-BF0BFCAD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3F9286-6287-ACCE-E348-3F9F076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FD937C-6DF9-2433-C49C-8606107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악천후·도로상태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492637-672E-375B-E9C0-702775E1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비·눈·안개는 면책 사유가 아니라 감속 의무와 연결될 수 있음.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62BB3E5-23CE-BF8B-C2F2-9E4D890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6F040D-9E1A-1D7E-0C3B-ED545D6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블랙박스의 역설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F855C1-493B-653B-93B3-26FDC6F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영상은 강한 증거지만 화각·속도·시야 차이가 오히려 불리하게 작용가능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8B8E362-D156-23C8-5D70-B0D2245F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87189B-7937-530F-D258-038E6BF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유사 사고의 다른 판단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26C3FAA-22C8-63DC-431A-4774211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비슷한 사고라도 사실관계와 판단 주체에 따라 결론이 달라질 가능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4DFB651-38CE-FD01-21DA-09293C0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477329-2673-32DF-3E1B-430DA3C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고의성 개입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48E87F9-D31F-312D-EA60-9F86344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보복운전·보험사기는 일반 과실비율 판단과 분리해야 함</a:t>
            </a:r>
          </a:p>
        </p:txBody>
      </p:sp>
      <p:sp>
        <p:nvSpPr>
          <p:cNvPr id="3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D8E2284-6980-8DAE-2DDB-54E2EFA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34779"/>
            <a:ext cx="10607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D6402B6-01FB-E385-B633-676B212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09099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필요한 것은 “정답을 단정하는 AI”가 아니라, 변수를 구조화하고 근거를 보여주는 AI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71ABE57-5B19-4C9F-86DF-4BDFFA3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FEE0325B-2E8D-4E84-AB5B-18D9975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BA57DBBE-F149-45B8-944C-4D2B4C68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94"/>
            <a:ext cx="7972879" cy="747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비슷해 보이는 사고도 도로·증거·행동·고의성에 따라 결론이 달라집니다.</a:t>
            </a:r>
          </a:p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0C8D85E7-D4E7-49D6-80DB-3E0AE1D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68383E5A-EC70-46F5-B0E5-CC4F953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악천후·도로상태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2AD49F4B-80A9-41F5-B11E-5268D87C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비·눈·안개는 감속 의무와 연결될 수 있음</a:t>
            </a:r>
          </a:p>
        </p:txBody>
      </p:sp>
      <p:sp>
        <p:nvSpPr>
          <p:cNvPr id="61" name="사각형: 둥근 모서리 60">
            <a:extLst xmlns:a="http://schemas.openxmlformats.org/drawingml/2006/main">
              <a:ext uri="{FF2B5EF4-FFF2-40B4-BE49-F238E27FC236}">
                <a16:creationId xmlns:a16="http://schemas.microsoft.com/office/drawing/2014/main" id="{ACE46758-51A8-45F8-BBBD-6817BAFF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6E3ACE54-52BD-40B9-9EB8-33F34B96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블랙박스의 역설</a:t>
            </a:r>
          </a:p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AB1DC82E-ABB4-44A5-B2C1-3E89212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화각·속도·시야 차이가 불리하게 작용할 수 있음</a:t>
            </a:r>
          </a:p>
        </p:txBody>
      </p:sp>
      <p:sp>
        <p:nvSpPr>
          <p:cNvPr id="64" name="사각형: 둥근 모서리 63">
            <a:extLst xmlns:a="http://schemas.openxmlformats.org/drawingml/2006/main">
              <a:ext uri="{FF2B5EF4-FFF2-40B4-BE49-F238E27FC236}">
                <a16:creationId xmlns:a16="http://schemas.microsoft.com/office/drawing/2014/main" id="{1D6F381D-342A-4DE5-A594-AF09777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9F93C533-44DB-457B-A0EE-2A583F8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유사 사고의 차이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49A47ACF-7EF8-4991-B781-9B0579A4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사실관계와 판단 주체가 결론을 바꿈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9CD09F90-ACDB-4BC3-A502-798305F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E6413C3-1670-4D28-9C55-2DDC21C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고의성 개입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644EE29-0A2D-4534-AB45-CBEEBA0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보복운전·보험사기는 일반 과실 판단과 분리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60BDFB7C-E9F6-4BDA-BE79-3A54222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578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필요한 AI는 확정 판정이 아니라, 변수를 정리하고 근거를 보여주는 분석 흐름입니다.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F1CE1F-FE0D-49B3-B1FA-1AC31CF4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EDA6A5-DF39-4D0A-B0D2-2A1FD0B1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4064356-C63C-49D5-BB51-A15163F8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판단은 사고 장면 하나로 끝나지 않는다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AB9479-FB49-4289-82D8-28C61543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도로 상태, 신호, 차선, 속도, 시야, 영상 각도처럼 작은 차이가 결과를 바꿉니다.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282D186-E9BE-4F4D-8074-7D3A5F83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2B388A-790A-4CA5-A5E2-98C549D9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FBF7BA6-565C-4D7D-A391-3D0D5140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도로·날씨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28F9D3B-5381-4C1B-926C-30192561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악천후와 도로 상태는 감속 의무와 주의의무 판단에 영향을 줍니다.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88DC5B-14CD-48C2-953A-C4CD7F26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8531AA-D31B-44F6-9FFC-98FCF8FF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블랙박스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51E8E4-A8C0-4C5A-8C34-3E1225D1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48050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영상은 강한 증거지만 화각과 속도감 때문에 해석 차이가 생깁니다.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DA56579-86F8-4328-B51F-7510BC24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415C1F6-DB37-4F45-9E68-5E8E1031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유사 사고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C2F92EB-4BAA-4185-B3E7-A4480EA8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48050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비슷해 보여도 신호, 차선 변경, 정지 여부가 다르면 판단이 달라집니다.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370453-AE48-427C-8672-4F7CD45E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A9E693E-308D-4C79-90C2-C2CBA1FF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7/45</a:t>
            </a:r>
          </a:p>
        </p:txBody>
      </p:sp>
    </p:spTree>
    <p:extLst>
      <p:ext uri="{BB962C8B-B14F-4D97-AF65-F5344CB8AC3E}">
        <p14:creationId xmlns:p14="http://schemas.microsoft.com/office/powerpoint/2010/main" val="3421746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4012FF-5FDB-40BD-5D8D-480978A2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DC837D-4090-99EC-784F-9F19C3DC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5447ED-BBCA-CBEA-5E1C-C004FBD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062F4F-03E1-13D6-B071-B9FC098D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해결하고자 하는 문제와 서비스 목표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34FEF05-0B42-DD6E-CC3F-64CEF315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C00956-C47C-5967-C32D-0FEB485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판단 전 사건 구조화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근거 기반 답변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다음 행동으로 연결되는 리포트 결과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7D52B1D-127F-4DD4-ABA6-B1CFF7D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789EE76B-538B-4E00-8B33-0B4B54A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02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FF59BE2-557C-481B-97A4-E98D8998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D403CF4-06DE-4BCE-826B-CABC135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판단 전 구조화, 근거 기반 답변, 다음 행동 리포트로 이어집니다.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3B19C2DD-2E7D-4A80-A036-21565F5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EC8F9298-14D4-483C-AAA5-9C6F180C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2741C47-BD3C-4888-B71C-8F19ADA1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사건 구조화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5EB6653-AC99-4A66-BBDE-0D5689FB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자료를 바로 판단하지 않고 필드로 분리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42385CE7-DF32-4275-A59F-E42E7BF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26E9B9A-E34A-488B-A8D7-4FD09D1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답변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A1482142-9098-4031-830F-2C37BDD0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출처를 함께 제시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504716EA-3E7D-4C16-A8D9-CA8A66F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CFEFCC45-8111-480A-8889-094A7D11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행동 연결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0BCE343D-4A28-44B2-8D95-9BB39AB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문의 초안과 체크리스트까지 제공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76E20D-EAA3-465D-959F-4BB0F6B8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B88C0-7E93-48C2-9E83-E329F9FE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DB248-7512-4F62-89DD-CECCCBA1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배경·문제정의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52E69-A1C7-45BC-9990-581F9FED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초반부에서는 앱 기능이 아니라 사용자가 왜 막히는지를 먼저 설명합니다.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8D5A4F-FC19-4A07-B44D-34CA31FA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C9D9D6-D991-4B5E-B6F6-53CA343B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5B0DFA-A9EE-41F1-935E-4FB2DA83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절차 불확실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936D7-E36E-48B4-B99E-837A54E4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무엇을 먼저 해야 하는지 모름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FAAA1D-B02B-490B-A2F8-11AA2DC5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C0AA10-229E-4CC0-8C5B-40B13076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근거 탐색 부담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273081-2DF8-4B51-B86E-AD4C7B0F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공식 기준과 내 사고를 연결하기 어려움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4758-D491-4A58-A897-FD237B61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ACDB27-CAAC-4530-9816-86A03EAE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대응 문서 부담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552677-FFAF-4C20-AAFD-F71F6EC9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보험사·기관에 설명할 말이 정리되지 않음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E0AC96-7693-4554-8AE7-FD44B57E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679E31-57B1-4775-846D-4C1AB2C9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8/45</a:t>
            </a:r>
          </a:p>
        </p:txBody>
      </p:sp>
    </p:spTree>
    <p:extLst>
      <p:ext uri="{BB962C8B-B14F-4D97-AF65-F5344CB8AC3E}">
        <p14:creationId xmlns:p14="http://schemas.microsoft.com/office/powerpoint/2010/main" val="4071970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785286aa947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93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51c8549c440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4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51c8549c440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5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51c8549c440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6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51c8549c440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7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cd6d24bd440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98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cd6d24bd440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EA1127-6FDC-A3E4-CE5B-7260756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136712-3791-3095-AD92-358850C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59B21C1-9B51-CF51-D4B7-C3337F48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4CAE9DA-430C-76EB-7C5E-8364753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83B6DC-C0B3-4AB6-A7D4-C92E6BC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B58387-5295-4CBB-9806-9092A741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9F7DCD-064E-4F69-BD1B-6673072E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사고 이후 사용자는 판단보다 순서에서 먼저 막힌다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CEDC6E-CEF1-4BA3-9FAF-8B7915A2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처분 종류, 제출 기한, 보험사 대응, 증거 정리가 동시에 밀려오기 때문입니다.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CA1553-71BA-4732-B80C-DC02749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DB62119-6573-4C44-837E-9D4B59B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833986-388C-4404-8B4A-5DA0BC76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A86A80-19F2-4695-8F30-B32D43C0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 확인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기한·금액·처분 종류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A2153D-894D-49B5-8E47-D453AD0D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5BF18B-1357-4938-A12C-9C15792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8ADA0E-74B2-4108-82A2-17EC1F1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853183-2596-4566-A50B-E7F8B98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설명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내 주장과 상대 주장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92A7B8-1C9B-40C1-9FD4-09471887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A35FE05-0DF7-45D9-839E-80C0F55C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F6105CA-B4EC-403A-86E2-8DD68CF7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1BE265-D2E0-477E-BC0E-6CD7C9AC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증거 정리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사진·영상·위치·시간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23B235B-955D-4FE5-AF80-1451A032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60C2837-544E-4231-B471-86D7A6F2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8FDA4B7-50A5-4E45-AB04-27121F2A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FCC1688-19F3-4F58-9722-D4924012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확인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법령·기준·사례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7EC3405-23CE-4E44-A782-C686B9C3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714C301-F79B-44BF-9EE0-C40BEB3D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B29A5CA-4746-4529-B8F9-FCE33F4C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220A303-9E67-4936-86F0-F88D7AA3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대응 결정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문의·이의·상담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81E675E-60E4-4D67-8430-4BD6DDD2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24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사용자는 이 과정을 순서대로 밟는 것이 아니라, 대부분 동시에 떠안습니다.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A74A1CA-5D15-47D6-A34B-51E1C076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E29AE67-F2AA-4070-BAE8-F357363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9/45</a:t>
            </a:r>
          </a:p>
        </p:txBody>
      </p:sp>
    </p:spTree>
    <p:extLst>
      <p:ext uri="{BB962C8B-B14F-4D97-AF65-F5344CB8AC3E}">
        <p14:creationId xmlns:p14="http://schemas.microsoft.com/office/powerpoint/2010/main" val="1014617579"/>
      </p:ext>
    </p:extLst>
  </p:cSld>
</p:sld>
</file>

<file path=ppt/slides/slide10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drawing/2016/SVG/main" xmlns:ns5="http://schemas.microsoft.com/office/powerpoint/2010/main" xmlns:p="http://schemas.openxmlformats.org/presentationml/2006/main">
  <p:cSld>
    <p:bg>
      <p:bgPr>
        <a:solidFill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8" name="그림 4"/>
          <p:cNvPicPr>
            <a:picLocks noChangeAspect="1"/>
          </p:cNvPicPr>
          <p:nvPr/>
        </p:nvPicPr>
        <p:blipFill>
          <a:blip ns2:embed="R9f36044f24074cc8"/>
          <a:stretch>
            <a:fillRect l="0" t="0" r="0" b="0"/>
          </a:stretch>
        </p:blipFill>
        <p:spPr>
          <a:xfrm>
            <a:off x="5372729" y="3202924"/>
            <a:ext cx="2972777" cy="2579920"/>
          </a:xfrm>
          <a:prstGeom prst="rect">
            <a:avLst/>
          </a:prstGeom>
        </p:spPr>
      </p:pic>
      <p:pic>
        <p:nvPicPr>
          <p:cNvPr id="99" name="그림 18"/>
          <p:cNvPicPr>
            <a:picLocks noChangeAspect="1"/>
          </p:cNvPicPr>
          <p:nvPr/>
        </p:nvPicPr>
        <p:blipFill>
          <a:blip ns2:embed="Reec64111d73e4527"/>
          <a:stretch>
            <a:fillRect l="0" t="0" r="0" b="0"/>
          </a:stretch>
        </p:blipFill>
        <p:spPr>
          <a:xfrm>
            <a:off x="8001377" y="3362793"/>
            <a:ext cx="1557105" cy="569404"/>
          </a:xfrm>
          <a:prstGeom prst="rect">
            <a:avLst/>
          </a:prstGeom>
        </p:spPr>
      </p:pic>
      <p:pic>
        <p:nvPicPr>
          <p:cNvPr id="100" name="그림 21"/>
          <p:cNvPicPr>
            <a:picLocks noChangeAspect="1"/>
          </p:cNvPicPr>
          <p:nvPr/>
        </p:nvPicPr>
        <p:blipFill>
          <a:blip ns2:embed="Reec64111d73e4527"/>
          <a:stretch>
            <a:fillRect l="0" t="0" r="0" b="0"/>
          </a:stretch>
        </p:blipFill>
        <p:spPr>
          <a:xfrm>
            <a:off x="9558481" y="3362793"/>
            <a:ext cx="1557105" cy="569404"/>
          </a:xfrm>
          <a:prstGeom prst="rect">
            <a:avLst/>
          </a:prstGeom>
        </p:spPr>
      </p:pic>
      <p:pic>
        <p:nvPicPr>
          <p:cNvPr id="101" name="그림 24"/>
          <p:cNvPicPr>
            <a:picLocks noChangeAspect="1"/>
          </p:cNvPicPr>
          <p:nvPr/>
        </p:nvPicPr>
        <p:blipFill>
          <a:blip ns2:embed="Reec64111d73e4527"/>
          <a:stretch>
            <a:fillRect l="0" t="0" r="0" b="0"/>
          </a:stretch>
        </p:blipFill>
        <p:spPr>
          <a:xfrm>
            <a:off x="4121171" y="5060144"/>
            <a:ext cx="1557105" cy="569404"/>
          </a:xfrm>
          <a:prstGeom prst="rect">
            <a:avLst/>
          </a:prstGeom>
        </p:spPr>
      </p:pic>
      <p:pic>
        <p:nvPicPr>
          <p:cNvPr id="102" name="그림 27"/>
          <p:cNvPicPr>
            <a:picLocks noChangeAspect="1"/>
          </p:cNvPicPr>
          <p:nvPr/>
        </p:nvPicPr>
        <p:blipFill>
          <a:blip ns2:embed="Reec64111d73e4527"/>
          <a:stretch>
            <a:fillRect l="0" t="0" r="0" b="0"/>
          </a:stretch>
        </p:blipFill>
        <p:spPr>
          <a:xfrm>
            <a:off x="2564066" y="5060144"/>
            <a:ext cx="1557105" cy="569404"/>
          </a:xfrm>
          <a:prstGeom prst="rect">
            <a:avLst/>
          </a:prstGeom>
        </p:spPr>
      </p:pic>
      <p:pic>
        <p:nvPicPr>
          <p:cNvPr id="103" name="그림 31"/>
          <p:cNvPicPr>
            <a:picLocks noChangeAspect="1"/>
          </p:cNvPicPr>
          <p:nvPr/>
        </p:nvPicPr>
        <p:blipFill>
          <a:blip ns2:embed="Reec64111d73e4527"/>
          <a:stretch>
            <a:fillRect l="0" t="0" r="0" b="0"/>
          </a:stretch>
        </p:blipFill>
        <p:spPr>
          <a:xfrm>
            <a:off x="1006961" y="5060144"/>
            <a:ext cx="1557105" cy="569404"/>
          </a:xfrm>
          <a:prstGeom prst="rect">
            <a:avLst/>
          </a:prstGeom>
        </p:spPr>
      </p:pic>
      <p:pic>
        <p:nvPicPr>
          <p:cNvPr id="105" name="그림 37"/>
          <p:cNvPicPr>
            <a:picLocks noChangeAspect="1"/>
          </p:cNvPicPr>
          <p:nvPr/>
        </p:nvPicPr>
        <p:blipFill>
          <a:blip ns2:embed="Reb686421025f4510"/>
          <a:stretch>
            <a:fillRect l="0" t="0" r="0" b="0"/>
          </a:stretch>
        </p:blipFill>
        <p:spPr>
          <a:xfrm>
            <a:off x="5255873" y="2985501"/>
            <a:ext cx="3524055" cy="382293"/>
          </a:xfrm>
          <a:prstGeom prst="rect">
            <a:avLst/>
          </a:prstGeom>
        </p:spPr>
      </p:pic>
      <p:pic>
        <p:nvPicPr>
          <p:cNvPr id="106" name="그림 39"/>
          <p:cNvPicPr>
            <a:picLocks noChangeAspect="1"/>
          </p:cNvPicPr>
          <p:nvPr/>
        </p:nvPicPr>
        <p:blipFill>
          <a:blip ns2:embed="Reb686421025f4510"/>
          <a:stretch>
            <a:fillRect l="0" t="0" r="0" b="0"/>
          </a:stretch>
        </p:blipFill>
        <p:spPr>
          <a:xfrm>
            <a:off x="1533807" y="5629548"/>
            <a:ext cx="3524055" cy="3822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ns3:creationId id="{7637CBD5-3F21-6889-765F-75F1CAE72E4F}"/>
              </a:ext>
            </a:extLst>
          </p:cNvPr>
          <p:cNvSpPr>
            <a:spLocks noGrp="1"/>
          </p:cNvSpPr>
          <p:nvPr/>
        </p:nvSpPr>
        <p:spPr>
          <a:xfrm>
            <a:off x="498348" y="425395"/>
            <a:ext cx="45719" cy="8913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ns3:creationId id="{5E33F003-0A73-36A7-176C-CF07DC3E7CC1}"/>
              </a:ext>
            </a:extLst>
          </p:cNvPr>
          <p:cNvSpPr>
            <a:spLocks noGrp="1"/>
          </p:cNvSpPr>
          <p:nvPr/>
        </p:nvSpPr>
        <p:spPr>
          <a:xfrm>
            <a:off x="745285" y="766370"/>
            <a:ext cx="978408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>
              <a:ext uri="{FF2B5EF4-FFF2-40B4-BE49-F238E27FC236}">
                <ns3:creationId id="{CAAF99DD-3453-5D32-5EAC-A5E56326600F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73152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>
              <a:ext uri="{FF2B5EF4-FFF2-40B4-BE49-F238E27FC236}">
                <ns3:creationId id="{771D7B50-4534-08BE-66C1-309938144CAC}"/>
              </a:ext>
            </a:extLst>
          </p:cNvPr>
          <p:cNvSpPr>
            <a:spLocks noGrp="1"/>
          </p:cNvSpPr>
          <p:nvPr/>
        </p:nvSpPr>
        <p:spPr>
          <a:xfrm>
            <a:off x="688600" y="414234"/>
            <a:ext cx="15953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11" name="그래픽 50"/>
          <p:cNvPicPr>
            <a:picLocks noChangeAspect="1"/>
          </p:cNvPicPr>
          <p:nvPr/>
        </p:nvPicPr>
        <p:blipFill>
          <a:blip ns2:embed="R3fcab418d7494e05">
            <a:extLst>
              <a:ext uri="{96DAC541-7B7A-43D3-8B79-37D633B846F1}">
                <ns4:svgBlip ns2:embed="R1a92f727fe074a0b"/>
              </a:ext>
            </a:extLst>
          </a:blip>
          <a:stretch>
            <a:fillRect l="0" t="0" r="0" b="0"/>
          </a:stretch>
        </p:blipFill>
        <p:spPr>
          <a:xfrm>
            <a:off x="1212771" y="4322494"/>
            <a:ext cx="829205" cy="829205"/>
          </a:xfrm>
          <a:prstGeom prst="rect">
            <a:avLst/>
          </a:prstGeom>
        </p:spPr>
      </p:pic>
      <p:sp>
        <p:nvSpPr>
          <p:cNvPr id="54" name="Rounded Rectangle 5">
            <a:extLst>
              <a:ext uri="{FF2B5EF4-FFF2-40B4-BE49-F238E27FC236}">
                <ns3:creationId id="{33C4E866-CD7B-9E12-D9C7-DD00A29F1261}"/>
              </a:ext>
            </a:extLst>
          </p:cNvPr>
          <p:cNvSpPr>
            <a:spLocks noGrp="1"/>
          </p:cNvSpPr>
          <p:nvPr/>
        </p:nvSpPr>
        <p:spPr>
          <a:xfrm>
            <a:off x="185022" y="2630641"/>
            <a:ext cx="3063240" cy="167747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TextBox 55">
            <a:extLst>
              <a:ext uri="{FF2B5EF4-FFF2-40B4-BE49-F238E27FC236}">
                <ns3:creationId id="{48123608-88C7-35AF-ACF9-09108E91C375}"/>
              </a:ext>
            </a:extLst>
          </p:cNvPr>
          <p:cNvSpPr>
            <a:spLocks noGrp="1"/>
          </p:cNvSpPr>
          <p:nvPr/>
        </p:nvSpPr>
        <p:spPr>
          <a:xfrm>
            <a:off x="688600" y="2806805"/>
            <a:ext cx="2697480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>
              <a:ext uri="{FF2B5EF4-FFF2-40B4-BE49-F238E27FC236}">
                <ns3:creationId id="{D59A20EA-AA9B-3894-7849-6B943A0B4CF9}"/>
              </a:ext>
            </a:extLst>
          </p:cNvPr>
          <p:cNvSpPr>
            <a:spLocks noGrp="1"/>
          </p:cNvSpPr>
          <p:nvPr/>
        </p:nvSpPr>
        <p:spPr>
          <a:xfrm>
            <a:off x="367902" y="3429000"/>
            <a:ext cx="2697480" cy="78483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pic>
        <p:nvPicPr>
          <p:cNvPr id="115" name="그래픽 5"/>
          <p:cNvPicPr>
            <a:picLocks noChangeAspect="1"/>
          </p:cNvPicPr>
          <p:nvPr/>
        </p:nvPicPr>
        <p:blipFill>
          <a:blip ns2:embed="R720d8216fc734dbe">
            <a:extLst>
              <a:ext uri="{96DAC541-7B7A-43D3-8B79-37D633B846F1}">
                <ns4:svgBlip ns2:embed="R1d9fb38c01094887"/>
              </a:ext>
            </a:extLst>
          </a:blip>
          <a:stretch>
            <a:fillRect l="0" t="0" r="0" b="0"/>
          </a:stretch>
        </p:blipFill>
        <p:spPr>
          <a:xfrm>
            <a:off x="1212771" y="4877515"/>
            <a:ext cx="914400" cy="914400"/>
          </a:xfrm>
          <a:prstGeom prst="rect">
            <a:avLst/>
          </a:prstGeom>
        </p:spPr>
      </p:pic>
      <p:sp>
        <p:nvSpPr>
          <p:cNvPr id="71" name="">
            <a:extLst>
              <a:ext uri="{FF2B5EF4-FFF2-40B4-BE49-F238E27FC236}">
                <ns3:creationId id="{27DE6C06-AE3F-42E7-AB46-2D00FC4070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72" name="">
            <a:extLst>
              <a:ext uri="{FF2B5EF4-FFF2-40B4-BE49-F238E27FC236}">
                <ns3:creationId id="{99087701-55C7-402A-B9AB-FFD8D9FFFB4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73" name="">
            <a:extLst>
              <a:ext uri="{FF2B5EF4-FFF2-40B4-BE49-F238E27FC236}">
                <ns3:creationId id="{9B358356-BEB4-425F-A72B-16E9EE7EA709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고지서 문제는 금액보다 ‘내가 인정해도 되는가’에서 시작된다</a:t>
            </a:r>
          </a:p>
        </p:txBody>
      </p:sp>
      <p:sp>
        <p:nvSpPr>
          <p:cNvPr id="74" name="">
            <a:extLst>
              <a:ext uri="{FF2B5EF4-FFF2-40B4-BE49-F238E27FC236}">
                <ns3:creationId id="{8911DBAE-1D17-4E0F-95D5-842840ADBD07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과태료와 범칙금은 금액뿐 아니라 운전자 특정, 벌점, 이의 가능성까지 달라집니다.</a:t>
            </a:r>
          </a:p>
        </p:txBody>
      </p:sp>
      <p:sp>
        <p:nvSpPr>
          <p:cNvPr id="75" name="">
            <a:extLst>
              <a:ext uri="{FF2B5EF4-FFF2-40B4-BE49-F238E27FC236}">
                <ns3:creationId id="{A51DF2DD-A3FA-4ABC-9F7F-45FA32ABF003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257300" cy="38100"/>
          </a:xfrm>
          <a:prstGeom prst="rect">
            <a:avLst/>
          </a:prstGeom>
          <a:solidFill>
            <a:srgbClr val="E95B52"/>
          </a:solidFill>
          <a:ln w="0">
            <a:noFill/>
            <a:prstDash val="solid"/>
          </a:ln>
        </p:spPr>
      </p:sp>
      <p:sp>
        <p:nvSpPr>
          <p:cNvPr id="76" name="">
            <a:extLst>
              <a:ext uri="{FF2B5EF4-FFF2-40B4-BE49-F238E27FC236}">
                <ns3:creationId id="{55AC85C0-8B54-4A0F-882C-B161C7824689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067300" cy="3105150"/>
          </a:xfrm>
          <a:prstGeom prst="roundRect">
            <a:avLst>
              <a:gd name="adj" fmla="val 2454"/>
            </a:avLst>
          </a:prstGeom>
          <a:solidFill>
            <a:srgbClr val="141414"/>
          </a:solidFill>
          <a:ln w="9525">
            <a:solidFill>
              <a:srgbClr val="E95B52"/>
            </a:solidFill>
            <a:prstDash val="solid"/>
          </a:ln>
        </p:spPr>
      </p:sp>
      <p:sp>
        <p:nvSpPr>
          <p:cNvPr id="77" name="">
            <a:extLst>
              <a:ext uri="{FF2B5EF4-FFF2-40B4-BE49-F238E27FC236}">
                <ns3:creationId id="{C54323E1-744B-4237-9883-C769E8CF5246}"/>
              </a:ext>
            </a:extLst>
          </p:cNvPr>
          <p:cNvSpPr>
            <a:spLocks noGrp="1"/>
          </p:cNvSpPr>
          <p:nvPr/>
        </p:nvSpPr>
        <p:spPr>
          <a:xfrm>
            <a:off x="6438900" y="2381250"/>
            <a:ext cx="5067300" cy="3105150"/>
          </a:xfrm>
          <a:prstGeom prst="roundRect">
            <a:avLst>
              <a:gd name="adj" fmla="val 2454"/>
            </a:avLst>
          </a:prstGeom>
          <a:solidFill>
            <a:srgbClr val="141414"/>
          </a:solidFill>
          <a:ln w="9525">
            <a:solidFill>
              <a:srgbClr val="79D5D0"/>
            </a:solidFill>
            <a:prstDash val="solid"/>
          </a:ln>
        </p:spPr>
      </p:sp>
      <p:sp>
        <p:nvSpPr>
          <p:cNvPr id="78" name="">
            <a:extLst>
              <a:ext uri="{FF2B5EF4-FFF2-40B4-BE49-F238E27FC236}">
                <ns3:creationId id="{B4698E5A-4132-4337-871B-8BCBA0A9797C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사용자가 보는 것</a:t>
            </a:r>
          </a:p>
        </p:txBody>
      </p:sp>
      <p:sp>
        <p:nvSpPr>
          <p:cNvPr id="79" name="">
            <a:extLst>
              <a:ext uri="{FF2B5EF4-FFF2-40B4-BE49-F238E27FC236}">
                <ns3:creationId id="{47863C7B-093A-457D-BF64-730DAEEE2769}"/>
              </a:ext>
            </a:extLst>
          </p:cNvPr>
          <p:cNvSpPr>
            <a:spLocks noGrp="1"/>
          </p:cNvSpPr>
          <p:nvPr/>
        </p:nvSpPr>
        <p:spPr>
          <a:xfrm>
            <a:off x="6743700" y="26860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실제로 어려운 것</a:t>
            </a:r>
          </a:p>
        </p:txBody>
      </p:sp>
      <p:sp>
        <p:nvSpPr>
          <p:cNvPr id="80" name="">
            <a:extLst>
              <a:ext uri="{FF2B5EF4-FFF2-40B4-BE49-F238E27FC236}">
                <ns3:creationId id="{BF304C2A-0824-4450-83E5-4ACFA0B95499}"/>
              </a:ext>
            </a:extLst>
          </p:cNvPr>
          <p:cNvSpPr>
            <a:spLocks noGrp="1"/>
          </p:cNvSpPr>
          <p:nvPr/>
        </p:nvSpPr>
        <p:spPr>
          <a:xfrm>
            <a:off x="1009650" y="3238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1" name="">
            <a:extLst>
              <a:ext uri="{FF2B5EF4-FFF2-40B4-BE49-F238E27FC236}">
                <ns3:creationId id="{00F2C5AD-B56A-4D4A-AC47-AFF74A8A1050}"/>
              </a:ext>
            </a:extLst>
          </p:cNvPr>
          <p:cNvSpPr>
            <a:spLocks noGrp="1"/>
          </p:cNvSpPr>
          <p:nvPr/>
        </p:nvSpPr>
        <p:spPr>
          <a:xfrm>
            <a:off x="1257300" y="32385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금액과 납부 기한</a:t>
            </a:r>
          </a:p>
        </p:txBody>
      </p:sp>
      <p:sp>
        <p:nvSpPr>
          <p:cNvPr id="82" name="">
            <a:extLst>
              <a:ext uri="{FF2B5EF4-FFF2-40B4-BE49-F238E27FC236}">
                <ns3:creationId id="{E4789ACE-D05C-4831-9E90-B20BC53A15F7}"/>
              </a:ext>
            </a:extLst>
          </p:cNvPr>
          <p:cNvSpPr>
            <a:spLocks noGrp="1"/>
          </p:cNvSpPr>
          <p:nvPr/>
        </p:nvSpPr>
        <p:spPr>
          <a:xfrm>
            <a:off x="1009650" y="37147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3" name="">
            <a:extLst>
              <a:ext uri="{FF2B5EF4-FFF2-40B4-BE49-F238E27FC236}">
                <ns3:creationId id="{4E195D59-7CEF-4C50-91B7-F4EC680C0F88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위반 장소와 위반 유형</a:t>
            </a:r>
          </a:p>
        </p:txBody>
      </p:sp>
      <p:sp>
        <p:nvSpPr>
          <p:cNvPr id="84" name="">
            <a:extLst>
              <a:ext uri="{FF2B5EF4-FFF2-40B4-BE49-F238E27FC236}">
                <ns3:creationId id="{E7786A29-E8DA-4F66-B45B-FB2D4AA19382}"/>
              </a:ext>
            </a:extLst>
          </p:cNvPr>
          <p:cNvSpPr>
            <a:spLocks noGrp="1"/>
          </p:cNvSpPr>
          <p:nvPr/>
        </p:nvSpPr>
        <p:spPr>
          <a:xfrm>
            <a:off x="1009650" y="41910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5" name="">
            <a:extLst>
              <a:ext uri="{FF2B5EF4-FFF2-40B4-BE49-F238E27FC236}">
                <ns3:creationId id="{F9DE4E45-B9EE-41A4-86BE-AE2AD5F58FA7}"/>
              </a:ext>
            </a:extLst>
          </p:cNvPr>
          <p:cNvSpPr>
            <a:spLocks noGrp="1"/>
          </p:cNvSpPr>
          <p:nvPr/>
        </p:nvSpPr>
        <p:spPr>
          <a:xfrm>
            <a:off x="1257300" y="41910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처분기관 안내 문구</a:t>
            </a:r>
          </a:p>
        </p:txBody>
      </p:sp>
      <p:sp>
        <p:nvSpPr>
          <p:cNvPr id="86" name="">
            <a:extLst>
              <a:ext uri="{FF2B5EF4-FFF2-40B4-BE49-F238E27FC236}">
                <ns3:creationId id="{5F5929E2-8CF7-4E81-8107-3F67FCE9373C}"/>
              </a:ext>
            </a:extLst>
          </p:cNvPr>
          <p:cNvSpPr>
            <a:spLocks noGrp="1"/>
          </p:cNvSpPr>
          <p:nvPr/>
        </p:nvSpPr>
        <p:spPr>
          <a:xfrm>
            <a:off x="1009650" y="46672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7" name="">
            <a:extLst>
              <a:ext uri="{FF2B5EF4-FFF2-40B4-BE49-F238E27FC236}">
                <ns3:creationId id="{F38B1D6C-684B-4FB3-B06B-FBB5244D3F52}"/>
              </a:ext>
            </a:extLst>
          </p:cNvPr>
          <p:cNvSpPr>
            <a:spLocks noGrp="1"/>
          </p:cNvSpPr>
          <p:nvPr/>
        </p:nvSpPr>
        <p:spPr>
          <a:xfrm>
            <a:off x="1257300" y="46672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의견제출 또는 이의신청 문구</a:t>
            </a:r>
          </a:p>
        </p:txBody>
      </p:sp>
      <p:sp>
        <p:nvSpPr>
          <p:cNvPr id="88" name="">
            <a:extLst>
              <a:ext uri="{FF2B5EF4-FFF2-40B4-BE49-F238E27FC236}">
                <ns3:creationId id="{A77CA485-093A-4157-88A2-C068D04C13B4}"/>
              </a:ext>
            </a:extLst>
          </p:cNvPr>
          <p:cNvSpPr>
            <a:spLocks noGrp="1"/>
          </p:cNvSpPr>
          <p:nvPr/>
        </p:nvSpPr>
        <p:spPr>
          <a:xfrm>
            <a:off x="6762750" y="3238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89" name="">
            <a:extLst>
              <a:ext uri="{FF2B5EF4-FFF2-40B4-BE49-F238E27FC236}">
                <ns3:creationId id="{82B0F092-0D58-4433-A674-756827976EEC}"/>
              </a:ext>
            </a:extLst>
          </p:cNvPr>
          <p:cNvSpPr>
            <a:spLocks noGrp="1"/>
          </p:cNvSpPr>
          <p:nvPr/>
        </p:nvSpPr>
        <p:spPr>
          <a:xfrm>
            <a:off x="7010400" y="32385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내 상황이 예외 사유에 해당하는지</a:t>
            </a:r>
          </a:p>
        </p:txBody>
      </p:sp>
      <p:sp>
        <p:nvSpPr>
          <p:cNvPr id="90" name="">
            <a:extLst>
              <a:ext uri="{FF2B5EF4-FFF2-40B4-BE49-F238E27FC236}">
                <ns3:creationId id="{2ABBDE79-733C-4C0C-A703-C057D4A80C87}"/>
              </a:ext>
            </a:extLst>
          </p:cNvPr>
          <p:cNvSpPr>
            <a:spLocks noGrp="1"/>
          </p:cNvSpPr>
          <p:nvPr/>
        </p:nvSpPr>
        <p:spPr>
          <a:xfrm>
            <a:off x="6762750" y="37147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1" name="">
            <a:extLst>
              <a:ext uri="{FF2B5EF4-FFF2-40B4-BE49-F238E27FC236}">
                <ns3:creationId id="{68C7FF2F-9CF2-4D7D-8DC2-E6E041E8E7DC}"/>
              </a:ext>
            </a:extLst>
          </p:cNvPr>
          <p:cNvSpPr>
            <a:spLocks noGrp="1"/>
          </p:cNvSpPr>
          <p:nvPr/>
        </p:nvSpPr>
        <p:spPr>
          <a:xfrm>
            <a:off x="7010400" y="37147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인정하면 어떤 불이익이 생기는지</a:t>
            </a:r>
          </a:p>
        </p:txBody>
      </p:sp>
      <p:sp>
        <p:nvSpPr>
          <p:cNvPr id="92" name="">
            <a:extLst>
              <a:ext uri="{FF2B5EF4-FFF2-40B4-BE49-F238E27FC236}">
                <ns3:creationId id="{07FF6D21-0382-4A90-B5F4-42647ADFD647}"/>
              </a:ext>
            </a:extLst>
          </p:cNvPr>
          <p:cNvSpPr>
            <a:spLocks noGrp="1"/>
          </p:cNvSpPr>
          <p:nvPr/>
        </p:nvSpPr>
        <p:spPr>
          <a:xfrm>
            <a:off x="6762750" y="41910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3" name="">
            <a:extLst>
              <a:ext uri="{FF2B5EF4-FFF2-40B4-BE49-F238E27FC236}">
                <ns3:creationId id="{D2597E3C-008E-4685-A5B9-C2D8AD63893D}"/>
              </a:ext>
            </a:extLst>
          </p:cNvPr>
          <p:cNvSpPr>
            <a:spLocks noGrp="1"/>
          </p:cNvSpPr>
          <p:nvPr/>
        </p:nvSpPr>
        <p:spPr>
          <a:xfrm>
            <a:off x="7010400" y="41910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어떤 증거를 먼저 모아야 하는지</a:t>
            </a:r>
          </a:p>
        </p:txBody>
      </p:sp>
      <p:sp>
        <p:nvSpPr>
          <p:cNvPr id="94" name="">
            <a:extLst>
              <a:ext uri="{FF2B5EF4-FFF2-40B4-BE49-F238E27FC236}">
                <ns3:creationId id="{999854D5-3FE7-4EA0-A40C-D3EA7DDF0D4A}"/>
              </a:ext>
            </a:extLst>
          </p:cNvPr>
          <p:cNvSpPr>
            <a:spLocks noGrp="1"/>
          </p:cNvSpPr>
          <p:nvPr/>
        </p:nvSpPr>
        <p:spPr>
          <a:xfrm>
            <a:off x="6762750" y="46672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5" name="">
            <a:extLst>
              <a:ext uri="{FF2B5EF4-FFF2-40B4-BE49-F238E27FC236}">
                <ns3:creationId id="{54720B34-51A8-4832-B2F6-69C4D80434F7}"/>
              </a:ext>
            </a:extLst>
          </p:cNvPr>
          <p:cNvSpPr>
            <a:spLocks noGrp="1"/>
          </p:cNvSpPr>
          <p:nvPr/>
        </p:nvSpPr>
        <p:spPr>
          <a:xfrm>
            <a:off x="7010400" y="46672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기한 안에 무엇을 해야 하는지</a:t>
            </a:r>
          </a:p>
        </p:txBody>
      </p:sp>
      <p:sp>
        <p:nvSpPr>
          <p:cNvPr id="96" name="">
            <a:extLst>
              <a:ext uri="{FF2B5EF4-FFF2-40B4-BE49-F238E27FC236}">
                <ns3:creationId id="{EF831B53-7F38-4786-95E0-9F82949B56BB}"/>
              </a:ext>
            </a:extLst>
          </p:cNvPr>
          <p:cNvSpPr>
            <a:spLocks noGrp="1"/>
          </p:cNvSpPr>
          <p:nvPr/>
        </p:nvSpPr>
        <p:spPr>
          <a:xfrm>
            <a:off x="10553700" y="6172200"/>
            <a:ext cx="1104900" cy="3238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97" name="">
            <a:extLst>
              <a:ext uri="{FF2B5EF4-FFF2-40B4-BE49-F238E27FC236}">
                <ns3:creationId id="{71683D8F-AB7E-47F3-B757-A234D2EA9C11}"/>
              </a:ext>
            </a:extLst>
          </p:cNvPr>
          <p:cNvSpPr>
            <a:spLocks noGrp="1"/>
          </p:cNvSpPr>
          <p:nvPr/>
        </p:nvSpPr>
        <p:spPr>
          <a:xfrm>
            <a:off x="10744200" y="6257925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10/45</a:t>
            </a:r>
          </a:p>
        </p:txBody>
      </p:sp>
    </p:spTree>
    <p:extLst>
      <p:ext uri="{BB962C8B-B14F-4D97-AF65-F5344CB8AC3E}">
        <ns5:creationId val="1247806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03374f1cd4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120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a93021701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1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a93021701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a93021701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3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a93021701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a93021701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5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a13af7b544c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126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a13af7b544c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9F7982-C547-CEF1-600A-5248219B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9F9F4B-0C5B-0FD0-0E76-3FE9CD5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C565667-F374-42FA-EDBD-1D5180E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D1949BD-B9DA-6BA7-E46B-7AAE866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31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8fe60d1524a40">
            <a:extLst>
              <a:ext uri="{96DAC541-7B7A-43D3-8B79-37D633B846F1}">
                <asvg:svgBlip xmlns:asvg="http://schemas.microsoft.com/office/drawing/2016/SVG/main" r:embed="R571ec679ae8d44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32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8fe60d1524a40">
            <a:extLst>
              <a:ext uri="{96DAC541-7B7A-43D3-8B79-37D633B846F1}">
                <asvg:svgBlip xmlns:asvg="http://schemas.microsoft.com/office/drawing/2016/SVG/main" r:embed="R571ec679ae8d44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51B855D-95CC-EAF7-A2D7-37F0A0A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23B4ECFD-3D77-0B92-B851-3D0AF0B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801C8CE-6488-DA92-EC2D-C63DF40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EBEA2AB-4F0E-FE1D-BAAC-F5FA2BC7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E2BCAFEF-2B1A-2346-B432-72EF02D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근거 기반 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31E732AD-ED7D-D96C-E2AC-10A3F629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법령, 과실비율 인정기준, 판례, 심의사례를 연결하고 출처를 남김</a:t>
            </a:r>
          </a:p>
        </p:txBody>
      </p:sp>
      <p:pic>
        <p:nvPicPr>
          <p:cNvPr id="139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2fdb009434053">
            <a:extLst>
              <a:ext uri="{96DAC541-7B7A-43D3-8B79-37D633B846F1}">
                <asvg:svgBlip xmlns:asvg="http://schemas.microsoft.com/office/drawing/2016/SVG/main" r:embed="R52148ba4a5db45a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2550AA-38A9-444D-B9F9-62B0800E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9E51320-BA20-4EBD-BBA0-3D379365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E822AD-BFEB-4142-A87B-0D755D5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문제는 숫자보다 비교 기준이 어렵다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12B3A72-FDF6-423A-9C6A-2FCB0FBC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소비자는 ‘내 사고와 비슷한 사례’가 있어도 어느 부분이 같고 다른지 판단하기 어렵습니다.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DBE697-ADD1-4205-B62A-FD7BAD55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1B2EA46-DDA9-4100-8B14-8D942B4C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5727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9E1B9B4-EDD4-4DDC-BCE6-17DB2942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086A382-5A29-480E-8D25-CFE06D2A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비교 항목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4090C8C-D194-46A6-9021-9E136F05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4C0471-8A7C-4056-94C4-BCEE9CA2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908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사용자 질문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1B13B82-AEA7-44EF-93C1-32ADDC1D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6DEEB4-FF59-4D6C-BCFC-73666C7A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908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필요한 확인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3C27E3-2462-46CC-9F5A-06B628E6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A478AB6-94B6-4145-9A34-957E4DC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막히는 이유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47B823F-1DBF-4BC5-B1AE-499483B2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0AE08C2-CAA1-4060-A0FA-8E653230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사고 유형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AC71804-832D-4394-9806-619594F3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76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A516C30-CEA6-417D-98AE-7D0F66F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9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진로변경인가, 끼어들기인가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C2166A-5A05-42DF-84D4-A54C9681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76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0EC58E-C5AA-4A7F-AAA8-9606116C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09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차선·속도·방향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08EC277-DDF4-489F-9F53-E974A7D2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BECD061-77B4-41A0-98BA-C4881B3B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용어가 다르면 사례 검색 실패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8118DFC-DFAC-4178-B4E4-84924FA0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F9472C8-0FCB-4F08-8D30-F84DFA1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증거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BD711DB-89A8-44FC-9670-788B2154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57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29CFF8-C71C-4178-B48C-7756DF93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90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영상만 있으면 충분한가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9ABDE36-67C9-4C4B-AC6E-482FDA5D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57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01A895A-1014-4A8E-A92E-B411B9B9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90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화각·신호·정지 여부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08EE807-C948-40BC-932B-3C132AD0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66CF34D-A9FE-4B65-80A4-25378F9F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보이는 장면과 법적 쟁점이 다름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FA49269-4F8C-43A6-9512-785CC3EA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9DDDE39-1398-43C9-AC99-ADE6FAE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보험사 주장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6D49301-3344-46DB-ACC0-66ABF07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38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89BEA2-DEA3-45E0-8039-536F34DF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720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상대 주장을 반박할 수 있나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DDBE96A-3237-4F55-BE71-FC1B55F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056315D-9211-4D4A-8842-BD5F62F7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720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유사 사례와 차이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01B7489-443D-4A5D-B176-76180C61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0C82DE5-6A12-4032-9064-856C3296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없이 감정 대응으로 흐름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41773A7-3E01-49F7-85E9-7E2A7C5A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D69BC90-5768-421A-8DF2-18D1C8A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11/45</a:t>
            </a:r>
          </a:p>
        </p:txBody>
      </p:sp>
    </p:spTree>
    <p:extLst>
      <p:ext uri="{BB962C8B-B14F-4D97-AF65-F5344CB8AC3E}">
        <p14:creationId xmlns:p14="http://schemas.microsoft.com/office/powerpoint/2010/main" val="898395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eb6bbfc3b4a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110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c26094e86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1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c26094e86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c26094e86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3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c26094e86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c26094e86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5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d912bfda24b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116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d912bfda24b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2B6D46-2B01-8D0E-20F7-33D0637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E6DA06-0B84-347A-3DE4-6B824F9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A9F2340-48E2-CDD0-C119-E9C1D6A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AC8E56B-358D-EB94-1EDF-C070BA8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21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fec4d97734628">
            <a:extLst>
              <a:ext uri="{96DAC541-7B7A-43D3-8B79-37D633B846F1}">
                <asvg:svgBlip xmlns:asvg="http://schemas.microsoft.com/office/drawing/2016/SVG/main" r:embed="R42724fbe4ea148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22" name="그래픽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fec4d97734628">
            <a:extLst>
              <a:ext uri="{96DAC541-7B7A-43D3-8B79-37D633B846F1}">
                <asvg:svgBlip xmlns:asvg="http://schemas.microsoft.com/office/drawing/2016/SVG/main" r:embed="R42724fbe4ea148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4619" y="2681940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23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fec4d97734628">
            <a:extLst>
              <a:ext uri="{96DAC541-7B7A-43D3-8B79-37D633B846F1}">
                <asvg:svgBlip xmlns:asvg="http://schemas.microsoft.com/office/drawing/2016/SVG/main" r:embed="R42724fbe4ea148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BAF1DAC-5884-D36B-7368-D8D7070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8FE64C86-9DE4-1287-95A7-7ED8E443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BA213B4A-59DB-DE86-1650-0638B4D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0571826-3CEE-5619-D11D-FC2409CA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D8D3C7E-F9AF-AFCD-8584-1CD6BD6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근거 기반 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29033B77-E921-81D0-38C0-84F4D637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법령, 과실비율 인정기준, 판례, 심의사례를 연결하고 출처를 남김</a:t>
            </a:r>
          </a:p>
        </p:txBody>
      </p:sp>
      <p:sp>
        <p:nvSpPr>
          <p:cNvPr id="6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BECAFB-9AF5-E640-B5AA-05171DE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488" y="826439"/>
            <a:ext cx="3063240" cy="1872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024FCBA-647F-D5A7-048F-E70E8AA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009899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03 행동으로 연결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AC026309-EC44-9D40-5D8D-BB6928D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631886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>
                <a:latin typeface="Noto Sans CJK KR"/>
                <a:ea typeface="Noto Sans CJK KR"/>
                <a:cs typeface="Noto Sans CJK KR"/>
              </a:rPr>
              <a:t>이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의 가능성, 리스크, 추가 증거, 문의 초안, 리포트 다운로드까지 이어집니다.</a:t>
            </a:r>
          </a:p>
        </p:txBody>
      </p:sp>
      <p:pic>
        <p:nvPicPr>
          <p:cNvPr id="133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c9e98982e40ea">
            <a:extLst>
              <a:ext uri="{96DAC541-7B7A-43D3-8B79-37D633B846F1}">
                <asvg:svgBlip xmlns:asvg="http://schemas.microsoft.com/office/drawing/2016/SVG/main" r:embed="R588ceb505d2742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9772890" y="3202924"/>
            <a:ext cx="973947" cy="914400"/>
          </a:xfrm>
          <a:prstGeom xmlns:a="http://schemas.openxmlformats.org/drawingml/2006/main" prst="rect">
            <a:avLst/>
          </a:prstGeom>
        </p:spPr>
      </p:pic>
      <p:pic>
        <p:nvPicPr>
          <p:cNvPr id="134" name="그래픽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c9e98982e40ea">
            <a:extLst>
              <a:ext uri="{96DAC541-7B7A-43D3-8B79-37D633B846F1}">
                <asvg:svgBlip xmlns:asvg="http://schemas.microsoft.com/office/drawing/2016/SVG/main" r:embed="R588ceb505d2742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3FB278-3BA6-A4AC-62AB-DABF357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62" y="6096809"/>
            <a:ext cx="9921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latin typeface="Noto Sans CJK KR"/>
                <a:ea typeface="Noto Sans CJK KR"/>
                <a:cs typeface="Noto Sans CJK KR"/>
              </a:rPr>
              <a:t>교통분쟁 AI 서비스의 결과물은 사용자가 스스로 검토·상담·대응할 수 있는 사건 리포트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2614713-E69E-4FC4-B81B-16070591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2CD7C11-4192-4B67-82A8-AABA422A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9F53372-926B-48E9-9C7C-916D2976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보험 대응은 ‘말을 잘하는 문제’가 아니라 근거를 정리하는 문제다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24D277-5FA2-450F-8522-691B22D4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상담 전 단계에서 사건 요약, 증거, 질문 목록이 정리되어야 대화가 흔들리지 않습니다.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0B55F89-8524-49C5-A9AB-79C6AF8D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566E242-DC42-416F-BFE8-596B6174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D5AD761-BDE7-4813-8761-09709E38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주장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16B53A8-AA07-4BBC-A990-B7A8C96C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내가 기억하는 사고 경위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10DE67D-4163-462C-B379-5E0DE6B1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57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65717E-1021-4103-8C10-E2444E18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EBB98D8-CFCB-494F-B432-A9195013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증거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E346510-70D3-45CB-B19E-B0D6B54D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사진·영상·위치·시간 자료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B10D743-32C3-4BB5-A868-8CEEAB34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B9293E2-EB14-45B1-91E8-50CADEB8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1C3B62-5AEA-4199-8245-F9DAC8E4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기준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AC086A3-7A54-4378-A7A7-52C191EF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과실비율 인정기준과 유사 사례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D560D02-DAC7-40C7-88DB-2B4E2BEE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E14A8BA-120D-4878-9424-31E97B68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2F36789-C11F-4848-9DCC-973B3B98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질문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A33A90B-76BD-4068-B36F-306C80A4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보험사에 확인해야 할 쟁점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84F4813-568F-4FC2-B39D-A07AC76C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43500"/>
            <a:ext cx="941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문제의 본질: 자료가 없는 것이 아니라 자료가 ‘상담 가능한 형태’로 정리되지 않는다.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B4B7FB-7321-4DDB-83F2-0B06D15C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E4CEA29-B77D-49DB-8AE1-57A2E478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12/45</a:t>
            </a:r>
          </a:p>
        </p:txBody>
      </p:sp>
    </p:spTree>
    <p:extLst>
      <p:ext uri="{BB962C8B-B14F-4D97-AF65-F5344CB8AC3E}">
        <p14:creationId xmlns:p14="http://schemas.microsoft.com/office/powerpoint/2010/main" val="2547650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3E284E-075C-6CAC-9720-D82D4D7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44FD64-7DEE-6FE7-5B8E-28A8412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리포트 구성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8C1EF19-C3C5-A39B-949F-05FC438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9/40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F3E22DA6-FD55-2D5B-0650-06C8559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sp>
        <p:nvSpPr>
          <p:cNvPr id="6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D6DD98-573C-9495-2ADE-E8B178B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D1975AF4-B63D-B786-D7DB-5FCD456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수집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8258694-B0A3-1C54-F9DC-906FBAD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고지서·사진·영상·상황 설명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D3891155-E6E8-C91E-2CB5-CE72AA56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76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34C3F-BE1D-FA9D-1774-A24C93A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74B008A-3317-B85C-39A7-63195E86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사건 구조화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A8C7546A-2946-24C1-1A8E-174DCE21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사고유형·증거·기한·장소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81381A7B-1ABE-AF28-81F9-893178B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8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FA5F52-7A6F-9D03-0976-426B6B1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D6E764E8-E9F5-5C1E-754C-303F062E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B95C4FA1-45AA-6566-2611-9B5F9B8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법령·판례·심의사례·인정기준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3B8DF3E4-0106-8333-B84B-AEB2680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9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328BEAF-C235-CC06-DA7F-BC8F0394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53A0A1F6-D2E2-80AB-1130-D9BA5AFA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한계 표시</a:t>
            </a: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51358A9E-CB2D-18E7-8AD2-18618C2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부족한 증거·리스크·단정 방지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3B1712FF-0617-1F8E-1C5B-5D3484D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00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0CFAF75-FEDA-6651-7076-E34CC09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5A73005C-45CE-7123-7BD6-71388D2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리포트</a:t>
            </a:r>
          </a:p>
        </p:txBody>
      </p:sp>
      <p:sp>
        <p:nvSpPr>
          <p:cNvPr id="104" name="TextBox 103">
            <a:extLst xmlns:a="http://schemas.openxmlformats.org/drawingml/2006/main">
              <a:ext uri="{FF2B5EF4-FFF2-40B4-BE49-F238E27FC236}">
                <a16:creationId xmlns:a16="http://schemas.microsoft.com/office/drawing/2014/main" id="{E7A7AAFC-B581-FBFB-7D7B-B674184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문의·체크리스트·다운로드</a:t>
            </a:r>
          </a:p>
        </p:txBody>
      </p:sp>
      <p:sp>
        <p:nvSpPr>
          <p:cNvPr id="106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80384FF-39C1-042F-2D56-CA0F397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C84091CA-9A5B-1B55-0793-54A9D4A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가치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3AC8EFD2-A58E-5D9A-7C5F-17E193A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전, 내 사건의 쟁점과 필요한 근거를 먼저 확인가능</a:t>
            </a:r>
          </a:p>
        </p:txBody>
      </p:sp>
      <p:sp>
        <p:nvSpPr>
          <p:cNvPr id="112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2D33682-3C3D-C455-AF61-972D2024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79E80A16-04E3-E7B4-E0FA-ACA225B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가치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03F48085-88E7-E09E-8995-C66251A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정보·판례·사고자료를 하나의 사건 흐름으로 연결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392E09D9-D433-438F-AFE8-E0BA6F4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96D8F478-3838-4969-B8F2-A578F3D2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119" name="직사각형 118">
            <a:extLst xmlns:a="http://schemas.openxmlformats.org/drawingml/2006/main">
              <a:ext uri="{FF2B5EF4-FFF2-40B4-BE49-F238E27FC236}">
                <a16:creationId xmlns:a16="http://schemas.microsoft.com/office/drawing/2014/main" id="{B48B09F3-F0B0-4CB4-BCF0-A5A4EFFE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사건 리포트는 흩어진 자료를 상담 가능한 형태로 바꾼다</a:t>
            </a:r>
          </a:p>
        </p:txBody>
      </p:sp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B56A3902-4348-48F9-974B-72E7EC5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입력, 구조화, 검색, 한계 표시, 다음 행동이 한 흐름으로 이어집니다.</a:t>
            </a:r>
          </a:p>
        </p:txBody>
      </p:sp>
      <p:sp>
        <p:nvSpPr>
          <p:cNvPr id="121" name="사각형: 둥근 모서리 120">
            <a:extLst xmlns:a="http://schemas.openxmlformats.org/drawingml/2006/main">
              <a:ext uri="{FF2B5EF4-FFF2-40B4-BE49-F238E27FC236}">
                <a16:creationId xmlns:a16="http://schemas.microsoft.com/office/drawing/2014/main" id="{5482BA1B-0006-4596-B8CE-83223AB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2" name="직사각형 121">
            <a:extLst xmlns:a="http://schemas.openxmlformats.org/drawingml/2006/main">
              <a:ext uri="{FF2B5EF4-FFF2-40B4-BE49-F238E27FC236}">
                <a16:creationId xmlns:a16="http://schemas.microsoft.com/office/drawing/2014/main" id="{E571353E-A85A-420A-A646-7A0B5F80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123" name="직사각형 122">
            <a:extLst xmlns:a="http://schemas.openxmlformats.org/drawingml/2006/main">
              <a:ext uri="{FF2B5EF4-FFF2-40B4-BE49-F238E27FC236}">
                <a16:creationId xmlns:a16="http://schemas.microsoft.com/office/drawing/2014/main" id="{DF37BB9F-94CC-40DC-9222-DE32A9B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입력 수집</a:t>
            </a:r>
          </a:p>
        </p:txBody>
      </p:sp>
      <p:sp>
        <p:nvSpPr>
          <p:cNvPr id="124" name="직사각형 123">
            <a:extLst xmlns:a="http://schemas.openxmlformats.org/drawingml/2006/main">
              <a:ext uri="{FF2B5EF4-FFF2-40B4-BE49-F238E27FC236}">
                <a16:creationId xmlns:a16="http://schemas.microsoft.com/office/drawing/2014/main" id="{B5AC9345-6FA6-4CED-B2CF-84F610C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고지서·사진·영상·상황 설명</a:t>
            </a:r>
          </a:p>
        </p:txBody>
      </p:sp>
      <p:sp>
        <p:nvSpPr>
          <p:cNvPr id="125" name="사각형: 둥근 모서리 124">
            <a:extLst xmlns:a="http://schemas.openxmlformats.org/drawingml/2006/main">
              <a:ext uri="{FF2B5EF4-FFF2-40B4-BE49-F238E27FC236}">
                <a16:creationId xmlns:a16="http://schemas.microsoft.com/office/drawing/2014/main" id="{565B456F-2F0E-4AA6-8135-B6B3C2A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6" name="직사각형 125">
            <a:extLst xmlns:a="http://schemas.openxmlformats.org/drawingml/2006/main">
              <a:ext uri="{FF2B5EF4-FFF2-40B4-BE49-F238E27FC236}">
                <a16:creationId xmlns:a16="http://schemas.microsoft.com/office/drawing/2014/main" id="{1A9C15A3-A862-42ED-84B3-CC879A1B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127" name="직사각형 126">
            <a:extLst xmlns:a="http://schemas.openxmlformats.org/drawingml/2006/main">
              <a:ext uri="{FF2B5EF4-FFF2-40B4-BE49-F238E27FC236}">
                <a16:creationId xmlns:a16="http://schemas.microsoft.com/office/drawing/2014/main" id="{8FF812BE-3993-4997-899C-0316344E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128" name="직사각형 127">
            <a:extLst xmlns:a="http://schemas.openxmlformats.org/drawingml/2006/main">
              <a:ext uri="{FF2B5EF4-FFF2-40B4-BE49-F238E27FC236}">
                <a16:creationId xmlns:a16="http://schemas.microsoft.com/office/drawing/2014/main" id="{93F14172-7F8A-4622-A82D-61F692DF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사고유형·증거·기한·장소</a:t>
            </a:r>
          </a:p>
        </p:txBody>
      </p:sp>
      <p:sp>
        <p:nvSpPr>
          <p:cNvPr id="129" name="사각형: 둥근 모서리 128">
            <a:extLst xmlns:a="http://schemas.openxmlformats.org/drawingml/2006/main">
              <a:ext uri="{FF2B5EF4-FFF2-40B4-BE49-F238E27FC236}">
                <a16:creationId xmlns:a16="http://schemas.microsoft.com/office/drawing/2014/main" id="{63553B11-F50F-4814-818F-F375D1AB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0" name="직사각형 129">
            <a:extLst xmlns:a="http://schemas.openxmlformats.org/drawingml/2006/main">
              <a:ext uri="{FF2B5EF4-FFF2-40B4-BE49-F238E27FC236}">
                <a16:creationId xmlns:a16="http://schemas.microsoft.com/office/drawing/2014/main" id="{005523E4-BFAD-4507-A81F-A6D10FE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31" name="직사각형 130">
            <a:extLst xmlns:a="http://schemas.openxmlformats.org/drawingml/2006/main">
              <a:ext uri="{FF2B5EF4-FFF2-40B4-BE49-F238E27FC236}">
                <a16:creationId xmlns:a16="http://schemas.microsoft.com/office/drawing/2014/main" id="{37BCAE3F-F75E-40A6-A05A-2406E4C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132" name="직사각형 131">
            <a:extLst xmlns:a="http://schemas.openxmlformats.org/drawingml/2006/main">
              <a:ext uri="{FF2B5EF4-FFF2-40B4-BE49-F238E27FC236}">
                <a16:creationId xmlns:a16="http://schemas.microsoft.com/office/drawing/2014/main" id="{C20227E5-78CC-4F6F-A336-B92E94A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법령·판례·심의사례·인정기준</a:t>
            </a:r>
          </a:p>
        </p:txBody>
      </p:sp>
      <p:sp>
        <p:nvSpPr>
          <p:cNvPr id="133" name="사각형: 둥근 모서리 132">
            <a:extLst xmlns:a="http://schemas.openxmlformats.org/drawingml/2006/main">
              <a:ext uri="{FF2B5EF4-FFF2-40B4-BE49-F238E27FC236}">
                <a16:creationId xmlns:a16="http://schemas.microsoft.com/office/drawing/2014/main" id="{ABD659DC-1124-4303-84AE-4BD04B6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4" name="직사각형 133">
            <a:extLst xmlns:a="http://schemas.openxmlformats.org/drawingml/2006/main">
              <a:ext uri="{FF2B5EF4-FFF2-40B4-BE49-F238E27FC236}">
                <a16:creationId xmlns:a16="http://schemas.microsoft.com/office/drawing/2014/main" id="{0A200ACD-5550-45CF-87D4-3DA39CC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135" name="직사각형 134">
            <a:extLst xmlns:a="http://schemas.openxmlformats.org/drawingml/2006/main">
              <a:ext uri="{FF2B5EF4-FFF2-40B4-BE49-F238E27FC236}">
                <a16:creationId xmlns:a16="http://schemas.microsoft.com/office/drawing/2014/main" id="{624E7866-5FB3-4296-A3A9-D8CAE663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한계 표시</a:t>
            </a:r>
          </a:p>
        </p:txBody>
      </p:sp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1D2F7FFB-0377-4D82-A034-4186904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부족한 증거와 단정 방지</a:t>
            </a:r>
          </a:p>
        </p:txBody>
      </p:sp>
      <p:sp>
        <p:nvSpPr>
          <p:cNvPr id="137" name="사각형: 둥근 모서리 136">
            <a:extLst xmlns:a="http://schemas.openxmlformats.org/drawingml/2006/main">
              <a:ext uri="{FF2B5EF4-FFF2-40B4-BE49-F238E27FC236}">
                <a16:creationId xmlns:a16="http://schemas.microsoft.com/office/drawing/2014/main" id="{7B06DEBE-62BA-4C0C-B9FB-2DF6A2FE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8" name="직사각형 137">
            <a:extLst xmlns:a="http://schemas.openxmlformats.org/drawingml/2006/main">
              <a:ext uri="{FF2B5EF4-FFF2-40B4-BE49-F238E27FC236}">
                <a16:creationId xmlns:a16="http://schemas.microsoft.com/office/drawing/2014/main" id="{2072E395-0B8D-48F9-BDF8-606A5FD1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39" name="직사각형 138">
            <a:extLst xmlns:a="http://schemas.openxmlformats.org/drawingml/2006/main">
              <a:ext uri="{FF2B5EF4-FFF2-40B4-BE49-F238E27FC236}">
                <a16:creationId xmlns:a16="http://schemas.microsoft.com/office/drawing/2014/main" id="{4B644A63-F76E-418B-A8D7-DA7E8BE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140" name="직사각형 139">
            <a:extLst xmlns:a="http://schemas.openxmlformats.org/drawingml/2006/main">
              <a:ext uri="{FF2B5EF4-FFF2-40B4-BE49-F238E27FC236}">
                <a16:creationId xmlns:a16="http://schemas.microsoft.com/office/drawing/2014/main" id="{6A61F2C9-0116-4171-84EA-79024E2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초안·체크리스트·다운로드</a:t>
            </a:r>
          </a:p>
        </p:txBody>
      </p:sp>
      <p:sp>
        <p:nvSpPr>
          <p:cNvPr id="141" name="사각형: 둥근 모서리 140">
            <a:extLst xmlns:a="http://schemas.openxmlformats.org/drawingml/2006/main">
              <a:ext uri="{FF2B5EF4-FFF2-40B4-BE49-F238E27FC236}">
                <a16:creationId xmlns:a16="http://schemas.microsoft.com/office/drawing/2014/main" id="{10143266-3A77-4966-B36F-07C6E0ED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4038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2" name="사각형: 둥근 모서리 141">
            <a:extLst xmlns:a="http://schemas.openxmlformats.org/drawingml/2006/main">
              <a:ext uri="{FF2B5EF4-FFF2-40B4-BE49-F238E27FC236}">
                <a16:creationId xmlns:a16="http://schemas.microsoft.com/office/drawing/2014/main" id="{2601EA61-E8AB-4848-8087-E0B8EF8D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8071"/>
            <a:ext cx="4074885" cy="859971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3" name="직사각형 142">
            <a:extLst xmlns:a="http://schemas.openxmlformats.org/drawingml/2006/main">
              <a:ext uri="{FF2B5EF4-FFF2-40B4-BE49-F238E27FC236}">
                <a16:creationId xmlns:a16="http://schemas.microsoft.com/office/drawing/2014/main" id="{E8987E3B-6C24-421F-B40A-754EEFE0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 가치</a:t>
            </a:r>
          </a:p>
        </p:txBody>
      </p:sp>
      <p:sp>
        <p:nvSpPr>
          <p:cNvPr id="144" name="직사각형 143">
            <a:extLst xmlns:a="http://schemas.openxmlformats.org/drawingml/2006/main">
              <a:ext uri="{FF2B5EF4-FFF2-40B4-BE49-F238E27FC236}">
                <a16:creationId xmlns:a16="http://schemas.microsoft.com/office/drawing/2014/main" id="{C8CA6755-F3F0-4B6B-87B2-373A50B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전문가 상담 전 쟁점과 근거를 먼저 확인</a:t>
            </a:r>
          </a:p>
        </p:txBody>
      </p:sp>
      <p:sp>
        <p:nvSpPr>
          <p:cNvPr id="145" name="직사각형 144">
            <a:extLst xmlns:a="http://schemas.openxmlformats.org/drawingml/2006/main">
              <a:ext uri="{FF2B5EF4-FFF2-40B4-BE49-F238E27FC236}">
                <a16:creationId xmlns:a16="http://schemas.microsoft.com/office/drawing/2014/main" id="{CBDEB124-5E6E-4871-81EC-6A50D09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서비스 가치</a:t>
            </a:r>
          </a:p>
        </p:txBody>
      </p:sp>
      <p:sp>
        <p:nvSpPr>
          <p:cNvPr id="146" name="직사각형 145">
            <a:extLst xmlns:a="http://schemas.openxmlformats.org/drawingml/2006/main">
              <a:ext uri="{FF2B5EF4-FFF2-40B4-BE49-F238E27FC236}">
                <a16:creationId xmlns:a16="http://schemas.microsoft.com/office/drawing/2014/main" id="{02926B55-112C-48AF-8632-1B51729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2443"/>
            <a:ext cx="3513364" cy="30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공식 정보와 사고자료를 사건 흐름으로 연결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E4D22F2-A4A1-4D38-BD70-7646CEFD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61FBEDD-A40B-4C9F-853D-77BB5F6D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57B04B1-4F06-4CE1-9FF5-5E5B4351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정리하면, 사용자는 판단 이전 단계에서 막힌다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0E952E4-EA88-4EAA-B937-EFDC578D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그래서 초반 문제정의는 기능 소개가 아니라 ‘막히는 장면’을 선명하게 보여주는 데 집중합니다.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0B4A1DD-591E-445F-B5D9-B7EA5FF8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63BF95B-EA07-40C8-B9B5-1B5E177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D0607D5-F252-43E1-B06F-7F62B8EC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무엇을 봐야 하지?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C48A0C6-6717-4EF2-B584-A49826F1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고지서의 중요 항목과 기한을 놓칠 수 있음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7ACF6F6-9B76-47D4-81C3-4E1F28C6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C0935FA-1231-428B-8D36-23D9CF40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내 사고가 어떤 유형이지?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654FDB2-EA07-41B8-A7EF-F7B0056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법률 용어와 사고 유형을 스스로 매칭해야 함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EFC756D-0399-47FC-8ABF-D0E090CE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2EC428A-5B5B-4C6A-AF67-BE59FDB5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어떤 근거가 있지?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ED5A3C9-092C-49D1-BCC5-788BC0E7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공식 기준과 유사 사례를 따로 찾아야 함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5ADE44D-628A-45C1-BCB2-6BE8AEE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D4886A0-FF55-4AE7-AF19-49B58FD9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어떻게 말해야 하지?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2E75A6D-E1E3-45A3-BCB8-728B1C65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보험사·기관에 전달할 문장이 정리되지 않음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500CF5D-1630-4719-9665-1D37FEEA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DAFD36A-B468-44CB-9BAB-6394B440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13/45</a:t>
            </a:r>
          </a:p>
        </p:txBody>
      </p:sp>
    </p:spTree>
    <p:extLst>
      <p:ext uri="{BB962C8B-B14F-4D97-AF65-F5344CB8AC3E}">
        <p14:creationId xmlns:p14="http://schemas.microsoft.com/office/powerpoint/2010/main" val="51477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14ED74-1FDE-4459-61C0-D3F454C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B0DA54-7229-9DA1-87A6-E8EC0A5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19AED7-ECAB-7DD4-E231-9424184B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사용자 문제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E6B218-98C5-B790-43DA-6F1365F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고지서 ·과실비율 ·보험 대응의 어려움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6C841B-3DA2-97E6-519C-96FED63B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10/40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13D885-86EF-30B3-FBF5-9152DBD4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처분 종류와 절차 구분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사용자 실패 장면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시나리오 기반 기능 연결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49ECFD2-3BD5-4B9D-A133-174D12FD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4CD3B70-5C97-45CF-8E83-5D9EF4D0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43ACE57-FC70-46C3-B566-C4C06CB2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사용자가 겪는 문제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F6917C8-6B2D-46DD-9129-91BD344D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고지서, 과실비율, 보험 대응에서 실패 장면이 반복됩니다.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6E343A96-C541-4B77-89BA-B008063D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355EFA3-F31B-4B8E-8BEC-8061FC0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15C07271-CF2F-458C-8577-EAE57562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절차 혼동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C2BF2E7-66FE-424B-925A-F9BF53D7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과태료·범칙금·기한을 구분하기 어려움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9EA8EE6A-C177-446E-AE94-2339D51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3E9EFF1-4AAC-43D2-BA78-D762427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부족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4D4CCF7C-C417-4ED8-B9CC-B0A8577F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보험사 주장을 검증할 자료가 흩어짐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6C8EAD5-9B55-4909-BAD3-8A03445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653977E-4FD4-4ED0-82F8-A52CCA9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문서화 부담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5BB72D73-5284-4FF1-9CC9-7279EEE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상담 전 사건을 정리하기 어려움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C35E0-036B-4D5E-B22F-1B666933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5DB6C-C86F-4662-B316-CF4E7ACF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FD2EC-F595-42B6-B638-284E7BF1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사용자가 겪는 문제는 세 문장으로 요약된다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10BBEC-B7D9-40DD-BA3E-BDFA33E5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하단 제목은 발표장에서 바로 와닿도록 실사용자 언어로 교체했습니다.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F39F4-2F97-478D-B993-8C7A4CB0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AF077A-E63B-4C26-958B-58488376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483775-318F-4363-960F-463CB3A3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뭘 먼저 해야 하지?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1DD41D-A7E6-4096-A7DA-60E2A573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고지서를 받았지만 납부, 의견제출, 이의신청 중 어떤 절차가 맞는지 헷갈립니다.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76B311-F18D-405B-98DF-4622BAEB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F1EC9F-B1A3-4EA5-A310-EBD21D0E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내 과실이 맞나?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A13724-F226-4D4D-860E-EFF8A0A0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48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보험사 설명은 들었지만 내 사고 장면과 비슷한 기준인지 스스로 확인하기 어렵습니다.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90BBC4-4FF6-49FD-9A8B-9087C541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08A50B-4BFF-421C-9F63-DE8E0575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어떤 근거가 있지?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3BD2A9-D4DF-445B-8B80-7DEED12E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48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법령, 기준, 사례, 영상이 따로 흩어져 있어 하나의 주장으로 정리하기 어렵습니다.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0FA1C-F2FE-48A1-AB09-16E506EE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41EE44-D8A5-49FE-BF0C-0D867EBE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14/45</a:t>
            </a:r>
          </a:p>
        </p:txBody>
      </p:sp>
    </p:spTree>
    <p:extLst>
      <p:ext uri="{BB962C8B-B14F-4D97-AF65-F5344CB8AC3E}">
        <p14:creationId xmlns:p14="http://schemas.microsoft.com/office/powerpoint/2010/main" val="2924538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4D2236-CBB1-88AF-83AC-22A1906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F2A8B8-5AF2-E667-3FC2-4E7CAD1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 이후 분쟁 영역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6EB740B-7505-5746-AE2F-5E7B1B4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11/40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EBCDA6F-4A62-A27F-FA94-1AA36AF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885944-6583-47D7-529A-DB8CA232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100105-3A98-0FD7-25B6-5498E7F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과태료/범칙금 고지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76D4C0-674E-05CA-3A8F-5D5E59E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사유, 기한, 이의제기 가능성을 모름 → 문서 인식·기한·유형 분기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BB3F23-E45C-A03B-E847-46F1884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4BA2B8-0311-5123-3C82-BB662786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교통사고 과실비율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125D5C7-0E59-10A6-FF38-82A8595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보험사나 상대방 주장과 내 생각이 다름 → 유사 판례·심의사례 검색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BE7DE78-76CC-6266-6C91-A6DE28A6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BC9B08-4369-3302-8A46-6471CB8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 근거 확인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6F9193-B6B2-11DD-BDC3-21F560A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조문과 법률 용어를 직접 찾기 어려움 → 일상어를 법률 용어로 변환</a:t>
            </a:r>
          </a:p>
        </p:txBody>
      </p:sp>
      <p:sp>
        <p:nvSpPr>
          <p:cNvPr id="2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AB6A411-8B03-222B-253A-B95DB87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C918A8A-B580-CD74-4C7F-05C9914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상담/리포트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E9868D0-CFA0-6A1C-42D7-BA04151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말로 설명한 사건을 문서로 정리하기 어려움 → 증거·한계·다음 조치 구조화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46DE922A-53C0-4F52-B3F1-414677F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D6CBA7E-C2A5-4E76-A418-1DDF0F46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9F9F7F35-94BC-4D6B-9E22-3F6EDF95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사고 이후 문제는 네 가지 영역으로 나뉜다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C60C46C8-75CB-4D5E-8298-FB9B674A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사용자의 질문을 먼저 영역별로 분류해야 올바른 분석 모듈을 호출할 수 있습니다.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A8664E80-0B62-444F-A219-E9327426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396B329-0063-4922-9F35-55279C4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영역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AD64E81D-E3B9-47E0-8836-781BBE13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사용자 실패 장면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3D0B850-C799-40C2-9CDB-9130272A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연결 기능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C3A21851-A19D-4D83-A0C8-5D7ABEFF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F91CA95B-0C62-4C3B-A209-45A5F789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과태료/범칙금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D6E1A21-5415-4AE8-8E91-F136CF65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051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고지 사유·기한·이의 가능성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902DE3D7-6014-4828-9D2C-A4208716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문서 인식·유형 분기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240978B9-E7CB-43DA-9E9D-328B510A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6D97843-1915-45C4-9E1D-EEE93B87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교통사고 과실비율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2DDF097A-A005-43FD-8CC3-3306DB74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48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주장과 사용자 인식 차이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5ED08E7-DE03-43F3-86B6-513983F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48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유사 판례·심의사례 검색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869ACB62-FF89-46CE-ACE7-20DA1D1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5471634C-5B21-4229-88F0-42E713A7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법률 근거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F45D615-1F3D-4AF5-BFA4-0C8063D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910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조문과 법률 용어 탐색 어려움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DC06181-3F9E-44B6-BCD8-42DD53C7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91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일상어를 법률 용어로 변환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7429272C-2CC0-4FCF-AF44-EB6F0CA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CD99FD48-3D72-4C7A-B376-81335D70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상담/리포트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DAED4589-6A57-4D21-8B8F-7FE9C6F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339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말로 설명한 사건을 문서화하기 어려움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396DE979-DDD0-486E-846C-6DA5C868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339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증거·한계·다음 조치 구조화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7EB4BE6-7658-4C99-B95E-AAEB2827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09BBA5B-5979-4592-B2F8-8EC397F4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78764C-D16D-4EBE-AC36-530E7E16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과태료·범칙금 문제는 절차와 책임이 다르게 움직인다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5B52D30-F97B-4730-9874-2DD9BC19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사용자가 어려운 이유는 처분 이름이 비슷하지만 결과와 대응 방식이 다르기 때문입니다.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BED084-6DA2-450C-A0A9-39F77B2C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1CCA00F-8160-4CFD-AD99-A81334F8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AB9566F-D580-4D1A-83C1-B81A9D38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8C343E0-BEEB-4C91-97BE-3064B18D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표면적으로 보이는 문제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F392A27-E4EE-4C28-B709-B8D53520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실제로 판단해야 하는 문제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AF2320B-F2FE-40B7-B234-0CB04E40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BD8140A-FE0A-428C-8E43-B4F43AEB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금액이 얼마인지 확인한다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80C300-90B1-4B6E-9B8B-0354DC49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8385B6-C056-4ED5-AB44-E51D6361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언제까지 납부해야 하는지 본다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DE96A2-97C1-4910-B4F4-4FB5CE3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3399FFB-F102-4FE3-9E70-94C0D5D7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어디서 위반했는지 확인한다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46B4F9C-0DC4-4902-B0CB-46C0B390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F9C1DE0-540F-468D-BEAD-8C825F40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운전자 특정 여부와 벌점 가능성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261A834-BC40-42D9-BB12-5AF0247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C90F7F4-A609-4D5D-B0A7-8A648518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도난·긴급상황 같은 사유 인정 가능성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B35D77F-C938-4863-910D-4EF5B253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09FEFEF-7DBE-41DE-87B4-DA832CFE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기한 내 의견제출 또는 이의신청 가능성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536491F-3F8E-420E-A541-1F33F62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2F1DC6-AC4A-4999-A7F4-A7A0A647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15/45</a:t>
            </a:r>
          </a:p>
        </p:txBody>
      </p:sp>
    </p:spTree>
    <p:extLst>
      <p:ext uri="{BB962C8B-B14F-4D97-AF65-F5344CB8AC3E}">
        <p14:creationId xmlns:p14="http://schemas.microsoft.com/office/powerpoint/2010/main" val="2072590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3D792D-9BD9-F072-C3C8-4C1A93CD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B322AA-0861-B199-9ADA-4CD27995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과태료·범칙금·벌점 차이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CD24FC-2578-EA13-ACC2-DA8BBD1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12/40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21B06E0-CF76-7D38-F206-D1E40CF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0BE978D-4C4D-C5D2-1464-8928C56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2F83B3-4340-1011-3D59-E7349C3E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5689A19-6B4A-2667-E6E3-D0A8297F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행정질서 위반 금전 제재. 의견제출·이의신청 가능성, 기한, 고지서 문서 인식 분석이 중요</a:t>
            </a:r>
          </a:p>
        </p:txBody>
      </p:sp>
      <p:sp>
        <p:nvSpPr>
          <p:cNvPr id="18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EFB880-8345-AB2B-C76C-435E58C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E8CBD15-C314-982C-D0C4-F41B4CAE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범칙금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3B49291-0990-83DD-D64F-F891246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운전자 특정 및 교통법규 위반 처리와 연결됨 벌점 리스크가 있어 단정형 문서 생성을 제한함</a:t>
            </a:r>
          </a:p>
        </p:txBody>
      </p:sp>
      <p:sp>
        <p:nvSpPr>
          <p:cNvPr id="29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AB3A3A5-144F-A418-3B88-B52B95B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46ED982-8CB4-ED2F-E031-943E8768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사고 과실비율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E910604-43DC-E915-8B15-E65D449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당사자 간 책임 비율 보험금, 구상, 분쟁심의, 소송 가능성과 연결됨</a:t>
            </a:r>
          </a:p>
        </p:txBody>
      </p:sp>
      <p:sp>
        <p:nvSpPr>
          <p:cNvPr id="3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3D7CB6C-846E-4E62-7238-FFF23CC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8D64311-AD39-7E34-B816-07A9B44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법률사고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09C211A-FB9F-19A6-C432-2F1B076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기한 도과, 잘못된 진술, 개인정보 노출 등 불이익을 만드는 상황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CA017827-6A5E-5FFE-E09C-2A62A4C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100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설계 원칙 | 억울함보다 객관적 근거·기한·증거·절차상 문제가 있는지 먼저 판단함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462A89AD-61C7-4F33-BB06-900775E7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675057FA-7550-426D-B193-7F6F5CF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6EA43A5F-E6CF-4856-A169-348B217B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처분 종류를 구분해야 잘못된 대응을 줄일 수 있다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166CFE64-C86D-4EAB-8BD2-8BEEAE16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과태료, 범칙금, 벌점, 과실비율은 리스크와 다음 절차가 다릅니다.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8449CA5C-8E71-435B-8944-011B0FB8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DDC54D3D-8876-4BA0-867E-6BEA067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87FE295D-030C-44DE-A0A1-CB29595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과태료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73558EE5-47E4-4FB8-B64A-278B0B38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행정질서 위반 금전 제재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FD87E50F-01F5-4F1A-A839-0026A790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기한·고지서 OCR·이의 가능성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CAF0AC86-5FDA-4BE2-AD57-B2ADF88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4A4523D7-0B05-4C57-9B3B-792385FB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범칙금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676DBAE3-7FEB-4251-8261-2BC3A49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운전자 특정 교통법규 위반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1D1DF830-228C-4F9A-852C-BC5B494D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벌점과 진술 리스크 확인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306238FC-E767-4788-88AD-101BFAD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578C516-7B7B-43C8-B655-DB00257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벌점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51AF33A6-B4EC-4AE5-A3E5-7C02725E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면허 행정처분과 연결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6248A64E-096D-47EA-A9CC-C7BD2E6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단정형 문서 생성 제한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41CF45AE-79A0-4793-B1ED-22369284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9DE37118-9D04-419A-BB2F-A08DC40E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사고 과실비율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D094C92-1848-4644-B4E6-873283C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당사자 책임 비율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2A16AA2-622B-4C15-84E0-D11C64B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보험금·분쟁심의·소송 가능성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3DCFE01-1C67-48E3-B4C5-9F19DCA5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설계 원칙: 억울함보다 객관적 근거·기한·증거·절차를 먼저 확인합니다.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3481C3-4B53-4B4C-ABA1-3D30B67C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56BF47-44E2-4F46-A8B6-45F7CE7E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53C576-FBDD-4D1D-821D-344611A9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문제는 ‘내가 억울하다’에서 ‘근거가 있나’로 바뀌어야 한다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D8C8AA-C491-4978-BD9C-47BEEADB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하지만 일반 사용자는 공식 기준과 자기 사고 장면을 연결하는 방법을 잘 모릅니다.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909AA1-FA1C-4CD5-93D9-2CD8A245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4A9009D-E1C4-418B-B9E1-E7466AAE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971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1183A9B-5B57-4483-87A6-D0312C9C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감정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3B7F7F8-BA3A-4219-A5EE-94728ACC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상대 차량이 더 잘못한 것 같은데 보험사는 내 과실도 크다고 말합니다.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8F20E4-85E3-4D53-8BE9-FA8AB88F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EC4D458-568D-472E-AA96-D9A3E255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2971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529D55-C0D1-4BD9-AB4B-36CB002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쟁점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A531066-D93E-47DC-AE81-82D093CC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9950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진로변경, 신호, 정지 여부, 시야 확보처럼 비교해야 할 항목이 많습니다.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4078CA-349B-4A85-975A-38E2DC85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1A7498-ED5E-455B-B496-4D8FA13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971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89A82D-878E-4F49-B4AF-933AD498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근거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1719B59-027A-4116-8804-BCE96901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09950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유사 사례와 다른 점을 확인해야 보험사와 대화가 가능합니다.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4FF9CCD-6F3A-4408-AA99-A4B1F51D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B615DE9-5A71-4F99-9942-AB2F6E7F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16/45</a:t>
            </a:r>
          </a:p>
        </p:txBody>
      </p:sp>
    </p:spTree>
    <p:extLst>
      <p:ext uri="{BB962C8B-B14F-4D97-AF65-F5344CB8AC3E}">
        <p14:creationId xmlns:p14="http://schemas.microsoft.com/office/powerpoint/2010/main" val="1652769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48AB14-7D6B-4D76-B554-E84BC9F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BA113A-2641-0C8B-E197-ED6E785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질문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FF06328-3520-7807-9F39-2CB8337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13/40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9CA77B-8DF2-711F-0F23-987B545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B13A3C4-19E0-5709-457A-680A375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37207A5-9505-8CD5-BC4E-66B88AF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고지서 해석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CD0F03B-9079-34EC-41C8-911F50F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909B85-2469-55F7-0EAD-6AC3AD5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과실 근거 확인</a:t>
            </a:r>
          </a:p>
        </p:txBody>
      </p:sp>
      <p:sp>
        <p:nvSpPr>
          <p:cNvPr id="16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68EE7E7-DCE0-EA78-3F04-0BE9C62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ADA08A-B6D6-BBF7-0BD1-E121119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증거 부족 판단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003BE8-E1CF-8D8E-C46D-BB05DA4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CFAEB2F-484C-F3D0-0871-76B74C6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유사 사례 검색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5E0DE4B-3D93-E521-B44D-00DB671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3B7DF2-745F-E243-F18D-482E905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리스크 판단</a:t>
            </a:r>
          </a:p>
        </p:txBody>
      </p:sp>
      <p:sp>
        <p:nvSpPr>
          <p:cNvPr id="34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FE7D787-D09A-D9C5-7100-21C9DE3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17CCCD0-2E97-1399-0E73-9F5EE9D5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문서화</a:t>
            </a:r>
          </a:p>
        </p:txBody>
      </p:sp>
      <p:sp>
        <p:nvSpPr>
          <p:cNvPr id="4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4CA8366-888B-70FD-5852-B1E2287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3052"/>
            <a:ext cx="1051560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0DEDE30-4EAB-2C4F-3893-3FEBEDF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00252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서비스는 “사용자의 질문”을 “검토 가능한 사건 구조”로 바꾸는 데서 시작함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3D67D8AE-25C9-41E7-8BE5-1B6B67F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46AED9FD-9DCB-49E8-948D-FCC39846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4B2120DE-F7F8-47D4-B01C-1879A396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사용자의 질문은 검토 가능한 사건 구조로 바뀐다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72F17351-7674-4F1A-9E2A-A551961D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질문을 바로 답하지 않고 분석 가능한 항목으로 나누는 것이 첫 단계입니다.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6831806B-9B31-4DF7-9EB7-4562A68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B9B29E06-2FF7-4058-A705-3A42E04B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1429C574-B949-4ED8-806B-24789FB9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F179A07B-DBE6-4B1E-A1E0-ABF47546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고지서 해석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36C89CD8-F7EC-4381-8A87-A1EB2FDC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처분·금액·기한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BB75DB63-E1A4-46D4-AC68-4F0E18C7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9C5FE95-A67C-4C45-8517-C17D372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37B04AED-E043-42BC-881E-0F815A1A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과실 근거 확인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E9E1BA4B-8C08-4CE9-BD28-F539B96C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사고유형·행동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FE1571CA-983E-4509-9C29-E3E2F0A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FD8E1DE-8277-4C58-9C87-54AD0AC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1AFF250E-740A-49F3-92AF-45592D1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증거 부족 판단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0BBA0222-F88C-4127-88BC-FF7B8F76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사진·영상·위치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0FC2C645-C059-47C0-B642-5FF5F8DD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DDD2EE5-73C8-443F-82E3-2216106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1DF9B65-B7CA-40B5-BC65-DA0DD600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유사 사례 검색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A80F5D1C-F3E6-43D6-9A75-0404705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판례·심의사례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C24BF7FD-67CF-4306-ACF3-D2FA3FE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05FA2AD-F135-4596-B64F-6B2C3830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797F03B2-87A4-49DA-8CD2-63C11FF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리스크 판단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CE4DB24-38F4-49A3-9707-D7283343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기한·진술·단정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8296ED25-3BAE-4D5C-A50D-59E42A1B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A7CEAB90-E0D5-4AEA-BCE6-67CE6EBB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E8DF9A2-9102-4DC8-9DA9-3E19482C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문서화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8554DAD0-CC9F-4D8A-82D7-21997BAC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초안·리포트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48DAAC59-2F7A-42A8-95C6-6D8984B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핵심: 교통분쟁 AI는 질문을 '답변'이 아니라 '검토 가능한 사건'으로 바꾸는 데서 시작합니다.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8B8480-F006-4AAC-896A-81EC6FB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FB11BBA-C6DA-4B5C-937B-83E5B264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816700E-2EE0-4B63-AA1A-E21F93BD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사용자 질문은 대부분 필요한 정보가 빠진 상태로 시작된다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DEE33FD-463D-4B67-BEB4-ACD6059E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그래서 질문을 바로 답하기보다 부족한 사실관계를 먼저 드러내야 합니다.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5C57040-6613-4A87-8E89-C9A0BF11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06A4547-9316-438D-95ED-0496CBE8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55CC822-C8A0-47C1-A20E-B7BFCAC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C1B4826-F184-4323-BB79-5553E4A0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일상어 질문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억울한데 어떻게 해요?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307421-6D25-4E5F-A10F-5B089C9C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66E8965-480A-4EFE-BC38-488DD5F6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E59F15E-CB42-4142-A890-A233885D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88644B-3D2A-41BE-BF5F-1304C157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빠진 정보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장소·신호·증거·기한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83F5FC4-30EA-4FDA-BB7E-74E832E6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9480E9E-8CF9-445A-AED4-C57AC126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39AE31-58BC-4852-B8D6-E913B1C0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80D0E0D-1EF3-4BDA-82B9-861F55A9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쟁점 분리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처분·과실·보험 대응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D96EE0-B2E8-4488-91D7-BDEE392A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59D26F5-FC87-4811-8726-6B7F38A0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4C7C0F-1FDC-49C2-AFA2-A98B29C8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9ECD69-F611-485E-BC61-3EB48AA4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탐색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기준·사례·법령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7C6D3C-3D19-4B9D-B398-14D5605A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4C2C85-6C39-441C-BC46-08C81F9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11181A5-A3FA-4169-96E9-0AB83847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515B645-2527-45FE-A7A6-09B1EDCB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다음 행동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문의·자료 보완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CE15C79-B4CF-4636-9CEC-CDCE24C7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E10FC27-BC71-478A-A392-1AB7D120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17/45</a:t>
            </a:r>
          </a:p>
        </p:txBody>
      </p:sp>
    </p:spTree>
    <p:extLst>
      <p:ext uri="{BB962C8B-B14F-4D97-AF65-F5344CB8AC3E}">
        <p14:creationId xmlns:p14="http://schemas.microsoft.com/office/powerpoint/2010/main" val="40784365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8015B3-1789-79EE-90A9-D692CCAD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644E5E-CDCF-F774-30DF-FA7E3C66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과태료 고지서 사례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3C46A1E-B8F8-3663-D17B-5FA3278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14/40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5731F10C-38DB-395B-A899-7E8991B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B502-BC43-4752-0649-F9A67A13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2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1D3C00A-4973-241A-B416-3EFBA0B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4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“불법주정차 과태료 고지서를 받았는데, 차를 도난당한 상태였고 이의신청을 해도 되는지 모르겠다.”</a:t>
            </a:r>
          </a:p>
        </p:txBody>
      </p:sp>
      <p:sp>
        <p:nvSpPr>
          <p:cNvPr id="1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65585A5-EB81-708C-6E02-FC095646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D04B6CF-4CE7-6226-FEDD-D20A884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업로드</a:t>
            </a:r>
          </a:p>
        </p:txBody>
      </p:sp>
      <p:sp>
        <p:nvSpPr>
          <p:cNvPr id="18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403FD80-C7C2-9C37-3197-9027A22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66B315-6720-3F47-DA1F-9B6250D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문서 인식 필드 추출</a:t>
            </a:r>
          </a:p>
        </p:txBody>
      </p:sp>
      <p:sp>
        <p:nvSpPr>
          <p:cNvPr id="25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D8D2B88-07DC-0848-1DE0-EBF840E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125A5C-0246-9FA3-16EC-AA399571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31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784C0EE-2E46-C5A9-AAB1-E31402B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917892F-EAB3-FB87-3A6A-36C5BF7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사유·기한 검토</a:t>
            </a:r>
          </a:p>
        </p:txBody>
      </p:sp>
      <p:sp>
        <p:nvSpPr>
          <p:cNvPr id="3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5908D75-6BC3-3148-628B-73CFD17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6B2244F-D04B-64E5-2472-A94DA6B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리포트 생성</a:t>
            </a:r>
          </a:p>
        </p:txBody>
      </p:sp>
      <p:sp>
        <p:nvSpPr>
          <p:cNvPr id="4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C3E43BD-C969-DFE8-5F29-1E841AC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254BF0D-F583-BF26-BD45-DF9481EF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5A2BAB6-5C3E-4C27-AA0F-3060A41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위반유형, 기한, 법조문, 금액을 읽기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도난·부득이한 사유·본인 운전 인정형 진술을 구분하기 어려움</a:t>
            </a:r>
          </a:p>
        </p:txBody>
      </p:sp>
      <p:sp>
        <p:nvSpPr>
          <p:cNvPr id="50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50AA1C5-27BF-3DBD-FC0B-907C8EF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C156D7C-24A6-7EBA-787F-A54095D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DBAF422-7980-1B44-07BF-B92B21A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결과, 법적 리스크, 인정 가능성, 부족한 정보, 다음 조치를 분리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검토 가치와 한계를 표시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FB33F56F-06FE-4505-852B-C2C6B4B7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1091FF61-19E8-4C1E-A3D1-C50C8FD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79955C5D-CB00-4D1C-A1A1-CFF2F82C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고지서 사례는 OCR보다 위험 분리가 중요하다</a:t>
            </a: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940D432F-879C-489F-8DFE-56754C56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도난·부득이한 사유·본인 운전 인정형 진술은 결과와 리스크를 크게 바꿉니다.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BAF54A8A-F876-42A6-9058-F474AE4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6DC5C19B-92D2-4ED0-BB51-45B93C89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“불법주정차 과태료 고지서를 받았는데,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차를 도난당한 상태였고 이의신청을 해도 되는지 모르겠다.”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8EDCD417-9C1D-47AC-B738-D6D0694B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95FCBF11-2D61-4954-971E-7C9AA7B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15CA2AA0-03F9-4414-91C3-23653796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업로드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EAF99518-2070-4E47-9262-EB5C3B57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D27183EA-FB8D-488B-9B4B-7AB57120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C3A2CB9-1198-4953-8E69-E68E57D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346F260-4FCB-45D9-B531-517B481A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필드 추출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C6CD4B12-0064-49C8-864A-22D93E6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일시·장소·금액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561E6376-3E5E-4134-8B3F-7DDF540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9EB41B25-9A97-4828-8F46-DF78B90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89E69D2C-A8A2-491A-9579-21E9D64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유형 분기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D967EC8C-B30B-44DD-B204-CBBC4AFD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과태료/범칙금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AE2DCB31-F605-4E88-A7F9-9B8398C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209A91A-FFF8-41FA-B448-E0BA260A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F69686D-05F7-4C14-B813-1119ACC0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사유 검토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6C9F6D23-1C04-48F7-ADAF-2FDF93A7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도난·기한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C3957B74-4009-4D53-B385-9605EE1F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969CFEE-B0B9-4164-8D3E-67C24AB8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F627C499-51DE-41E6-B463-2CEE020F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5EDE149-8244-485A-B39A-7CB9309D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위험·다음 조치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9C7BFBEA-0FCF-4FC0-83B9-428260A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CF9B5461-2263-476C-99EA-F6B6F31C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794F5CD2-B388-4C12-AAFF-B6910C37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사용자 실패 지점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D3794ED5-47E3-424C-A9A9-BCEE62E7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서비스 출력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41F518A5-B818-4E80-B3BC-C0739FA4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기한·법조문·금액을 읽기 어려움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C06BF517-492F-43E2-8428-104BB031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진술 리스크를 구분하기 어려움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E9C36768-5886-4118-9CF4-FEA97F56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결과와 법적 리스크 분리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A6C60A62-0D83-425F-9505-9C1A904D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인정 가능성과 부족 정보를 함께 안내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5669B23-0138-4F39-ACD4-2A50961A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BABFDBA-F467-42AC-A690-519DCDA1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917B770-685A-45F2-8165-955A1A65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사례 A: 도난 상태에서 받은 과태료 고지서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452B3CD-EFE7-4411-8C8E-C2230255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돈을 낼지 말지가 아니라, 어떤 사유와 증거가 필요한지에서 막힙니다.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C65B6D3-B5C3-452C-A3CD-500B6FA9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7E819BB-4BCD-4EC6-AD2D-128D1230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“불법주정차 과태료 고지서를 받았는데, 차가 도난당한 상태였습니다.”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37D26A-783E-42E7-9C4A-C94AF4F9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A6B89FB-4EE3-4F09-8F2E-C33B54FF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사용자가 모르는 것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831BE94-7F7C-43C5-B9D7-94571BAC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도난 사유가 인정될 수 있는지, 어떤 서류가 필요한지, 기한을 넘기면 어떻게 되는지 알기 어렵습니다.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C4BBE8-DEEA-4B3B-8D01-0F3EDD43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4375DF7-DB27-414B-80F0-99B26336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필요한 정리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EABF3CE-74F9-4D61-9E0D-3E87056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고지서 핵심 항목, 도난 신고 자료, 제출 기한, 기관 문의 내용을 한 번에 정리해야 합니다.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23A81F2-A0AC-4BDD-AF31-50108AEA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D4375A3-9CE6-4786-9F68-D4E91462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18/45</a:t>
            </a:r>
          </a:p>
        </p:txBody>
      </p:sp>
    </p:spTree>
    <p:extLst>
      <p:ext uri="{BB962C8B-B14F-4D97-AF65-F5344CB8AC3E}">
        <p14:creationId xmlns:p14="http://schemas.microsoft.com/office/powerpoint/2010/main" val="27922374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ECA8E2B-605D-D509-1AEF-42FD2BF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15/40</a:t>
            </a:r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F01EE2-4BA5-0304-3BD2-3EDCC3F0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3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42D7D5-85EF-9AC8-9A8F-AA15EAB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5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“상대 차량이 진로변경을 했는데 보험사는 제 과실도 크다고 함 비슷한 사례가 있나요?”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4F001AC-3A43-60C9-5207-220DB28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3D3CED-336B-72C0-0DBD-52EE60D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사고 설명 입력</a:t>
            </a:r>
          </a:p>
        </p:txBody>
      </p:sp>
      <p:sp>
        <p:nvSpPr>
          <p:cNvPr id="17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9E51C6F-4049-DB43-0A25-B3DA9D5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AEDE6E0-B6DA-1FCB-1143-4D5273CC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사고유형 구조화</a:t>
            </a:r>
          </a:p>
        </p:txBody>
      </p:sp>
      <p:sp>
        <p:nvSpPr>
          <p:cNvPr id="23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22D6A39-1CD1-809E-403D-176AB8B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5E803A2-E865-098D-5000-081D344E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유사 사례 검색</a:t>
            </a:r>
          </a:p>
        </p:txBody>
      </p:sp>
      <p:sp>
        <p:nvSpPr>
          <p:cNvPr id="29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1BCCA58-1915-C6FF-E35F-3395493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82F0265-6201-5E6C-539D-288FCD10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근거/한계 비교</a:t>
            </a:r>
          </a:p>
        </p:txBody>
      </p:sp>
      <p:sp>
        <p:nvSpPr>
          <p:cNvPr id="3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4FB1F75-F3F3-20E4-199C-F8436C0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8A0BE42-3F13-B98C-C8B3-CEC503A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문의 초안</a:t>
            </a:r>
          </a:p>
        </p:txBody>
      </p:sp>
      <p:sp>
        <p:nvSpPr>
          <p:cNvPr id="4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A43B6BA-6611-3185-42E8-FFEF2F7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20827AB-5B71-3A56-6B07-7D73E2E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6A5EA62-BA3B-15AC-EE1A-5C5D1539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인정기준, 판례, 심의사례가 흩어져 있음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장소, 방향, 신호, 정지 여부가 빠지면 유사 사례 판단이 어려움</a:t>
            </a:r>
          </a:p>
        </p:txBody>
      </p:sp>
      <p:sp>
        <p:nvSpPr>
          <p:cNvPr id="54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3473EE3-A256-5B06-FB9D-877FB04C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F85F81EC-2873-3765-B8AE-85B3EF4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B9F1669-AFB3-DCE0-2085-CAFE7E2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사례, 사실관계 차이, 부족한 증거, 보험사 질문 문구를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460B29-A568-2B88-50D5-93640D95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79E4D6B-D932-4E0F-79F9-54AB588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 과실비율 사례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737F6C7-8DC0-5E65-C366-4A8697A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349ED2E-8ADA-4118-B277-6825E3F5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296B13EC-AD66-4398-B7A6-A419D00E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3FA0B9F7-E203-4033-B970-7E6D020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사례는 정답보다 비교 출발점이 필요하다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5DB270E9-8F49-4898-B4A9-0E6E5B87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비슷한 사고라도 장소, 방향, 신호, 정지 여부가 빠지면 판단이 흔들립니다.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C53EC4E3-84C5-4E09-A22B-02E2B5B6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E5872B3C-0BE8-4C48-A4AA-0E001FD9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“상대 차량이 진로변경을 했는데 보험사는 제 과실도 크다고 합니다.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비슷한 사례가 있나요?”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5E112EA8-3179-41C5-844F-68079F2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F9EBD467-F8EE-4463-9FE3-8D076E5E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381D6A8F-1272-41EF-8F1D-19115DE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사고 설명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FB50EA8-99E1-42DA-9C0D-46F2956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사용자 진술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1F50A925-CC3B-4F20-90C1-9728F9E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9B8CB13-4839-4CFC-8E8B-F4DB8FF7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88B77BC-35F6-43B3-9EFB-77FFB665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유형 구조화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E974F15C-1819-4AAF-B595-CAD61D80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진로변경·차로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CE2F0A54-72C8-42F3-A908-24A197D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CB66FD08-B6B1-4826-9483-E17AEE6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ACFD356C-D631-4D0D-B0CB-F843A9A5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사례 검색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FA4298C-C53B-45F2-A5C6-BA3571F9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판례·심의</a:t>
            </a:r>
          </a:p>
        </p:txBody>
      </p:sp>
      <p:sp>
        <p:nvSpPr>
          <p:cNvPr id="84" name="사각형: 둥근 모서리 83">
            <a:extLst xmlns:a="http://schemas.openxmlformats.org/drawingml/2006/main">
              <a:ext uri="{FF2B5EF4-FFF2-40B4-BE49-F238E27FC236}">
                <a16:creationId xmlns:a16="http://schemas.microsoft.com/office/drawing/2014/main" id="{FC39C669-F57F-43AB-8A3F-C0BE9588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4BE06EF1-25AC-4537-BD79-9E38F2AA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957CA9B8-6C8F-4E3B-9705-A33376E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비교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F294798-0DC3-4882-815F-A153BEA1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차이·한계</a:t>
            </a:r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1D1C7166-E112-4E10-AC0F-5220D30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9EF0755E-8F43-40B1-B8EE-2F640C13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9390B8E0-F318-49B8-A8C5-4E8F9E73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문의 초안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A3B20058-4C74-442D-8298-D88A244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보험사 질문</a:t>
            </a:r>
          </a:p>
        </p:txBody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91827C9F-2981-43B3-9D66-A48353A6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138D2F42-A6D8-4BC2-963E-A628CCA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97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서비스 출력: 유사 사례, 사실관계 차이, 부족한 증거, 보험사 질문 문구를 정리합니다.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80A2913-E4D2-4C5A-88ED-C9D52AA1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3E82DCF-2F90-4F2B-9213-F8389408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F4C02E-3DD3-406F-833B-43325091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사례 B: 보험사가 제시한 과실비율이 납득되지 않는 사고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7587872-BF80-42F7-9F1F-37F2360F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비슷한 사례를 찾고 싶지만, 사고 장면의 차이를 비교하기 어렵습니다.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5642587-1629-4261-AE96-9CD1C57B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2E0F3F4-D481-466B-BCD6-C09BA646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“상대 차량이 진로변경을 했는데 보험사는 제 과실도 크다고 합니다.”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31EDA63-582D-4FB9-9DAF-37BECD18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B1E4027-1353-48EC-8716-5C6BDAD5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사용자가 모르는 것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10E31A1-05B2-446D-8F62-EE5D63A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진로변경 사고인지, 끼어들기인지, 영상에서 무엇을 확인해야 하는지 명확하지 않습니다.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047D9B4-1FD0-43D0-B2A9-BEBED927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7DD2EB5-AE35-4BC2-A589-A5148828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필요한 정리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2559343-0668-4A5E-8277-C6362A0C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사고 유형, 쟁점, 유사 사례, 보험사에 물어볼 질문을 구분해야 합니다.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DE2FAC2-5389-4DF4-9767-5706F75A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FFE863D-4A81-4A8B-A415-CD81BEFD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19/45</a:t>
            </a:r>
          </a:p>
        </p:txBody>
      </p:sp>
    </p:spTree>
    <p:extLst>
      <p:ext uri="{BB962C8B-B14F-4D97-AF65-F5344CB8AC3E}">
        <p14:creationId xmlns:p14="http://schemas.microsoft.com/office/powerpoint/2010/main" val="13623653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4E4B1D6-659C-87FC-658C-C425FEA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E31569-693E-771E-D5A9-D50FDAF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DB56009-C748-8154-7401-197E907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데이터 보안 위험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B982C94-825E-4503-9865-A3C806D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4D932A4-4C4A-B76C-4A6C-26AA32EE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83C43C4-7F2D-F4F7-663C-7B36BE6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입력 데이터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AA0C02-0C32-1D3D-7C73-6EE6A4D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차량번호, 고지서 사진, 이름, 주소, 사고 위치, 블랙박스 영상이 동시에 들어올 가능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65DBDCA-8A90-82BC-12F3-4FB9474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44BE96-CCBF-118A-9A95-11C5178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LLM 위험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85D7AB8-3BC9-496E-484A-C7132104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원문이 프롬프트·로그·출력에 그대로 노출되거나 문서 내 지시가 모델을 오염시킬 가능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5DB382-EFF8-1475-16E3-0396FAD9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A6CCB8B-8AE0-1BBC-AB53-B9E27ED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설계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97C76BA-DE0C-ADC9-487E-0C24C1D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회원 권한 분리, 업로드 파일 검사, 개인정보 최소 저장, 근거·한계 표시를 적용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944294C-09E6-A35C-B88F-FCAE2A8E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337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법률/보험 AI 서비스의 핵심 | 답변 품질 + 데이터 보호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07287B5-A898-4517-B401-D026F62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6A416D91-EF97-4BD1-9550-F2F1A6AD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F2C72188-79B8-4A85-9BFF-21936594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법률·보험 AI는 답변 품질만큼 데이터 보호가 중요하다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17C7348-B821-4CE0-8267-551F8EC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 자체가 차량번호, 주소, 고지서, 블랙박스 영상을 포함할 수 있습니다.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204CF6D0-D997-42D8-A78D-B4F95B46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20222670-D2A0-4BD7-9947-E6D7639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36591BF1-1F3C-4F06-B891-C114ACB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위험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2C4F38B0-5828-41C6-BFBF-6648CFD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우리 설계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67D4F2B-0092-4726-A31C-83F90DBD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민감 정보가 프롬프트·로그·출력에 남을 수 있음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6A583749-23DD-4560-BE59-63A5522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문서 안의 악성 지시가 답변을 오염시킬 수 있음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88D118B-CC2B-44FF-8B1D-FE8F395F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 저장은 개인정보 노출 범위를 키움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45C15FCB-95C9-4432-83C9-6FE6E22A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회원 권한과 저장·다운로드 권한 분리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88FFC93-44F1-4E98-AC5F-FEE8891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 후 AI 분석 전달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3B093591-4FEF-4654-9476-51FEF433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필드 중심 처리와 근거·한계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53DFA862-BD8A-4FED-9B56-B1A722E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1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품질 + 보호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9E50EF1-5B35-475A-84B1-B3425901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228AE92-98FC-4C1B-AC73-A2C53F05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F531CA-60D6-422B-89A9-479886DE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교통분쟁 데이터는 민감정보와 외부 지시가 함께 들어온다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7979C78-58D0-416A-A881-4D311D7B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고지서, 차량번호, 위치, 블랙박스 영상은 기능 설계 이전에 보안 전제를 요구합니다.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5EAAB63-C8C0-49DE-8858-010E2B7F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00C24D7-F9D9-443F-82F8-1B7CDCA2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05727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B10C31C-030E-4F1F-A822-682AA85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D2485E3-C20C-4B6F-86AD-FA97E52E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위험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B21A3B7-7B43-49D5-8FD1-98F84B2B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38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56B32F7-8380-4EF4-8416-8A765B5F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예시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FE76011-D2C9-4987-8E5B-CA39289C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38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4B19825-5691-4BF5-90B5-5CC686D1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왜 중요한가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E2E3CC3-517D-4002-B0C7-44BF49F8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3FB49F1-9CB5-4DA7-9B7B-DD44F2D0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설계에서 필요한 통제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A6FE1DA-E166-44DB-BF9E-C43B54AA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0928068-ADFF-4885-8F65-C960D65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개인정보 노출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252C380-92F2-4D2A-848D-60001639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384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434D190-09D2-448F-A84B-27ECC47F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이름·주소·차량번호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32340D-5B08-4A91-892C-B749D285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7C2F67C-E3B9-4CB5-8691-F7558DF3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718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상담 자료가 곧 민감 자료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A0F504A-4A7E-4A2C-BF19-DD6659D0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94CC29A-DC46-48FE-978E-E8CA22AF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최소 저장·마스킹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13182EC-8A2E-437C-8487-25C5BEB2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05FD9EC-E655-4BA4-9B07-4A12C9C6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파일 업로드 위험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F216100-8639-45CB-9F17-591E4632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437BDD0-28D4-4EDB-B32C-3D33B072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문서·이미지·영상 파일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5ECA3E-0E75-4A7D-830D-1FBF226C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9914381-30FD-4592-9A3F-6F156CFF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악성/부적절 파일 유입 가능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2FE51A9-8F26-437A-8D28-2AB04D12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0EC993A-07A9-4D95-8C8A-3CC26EEF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파일 검사·상태 게이트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8E32726-F253-45C3-A2D9-FE201C95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68D274C-A8D5-4102-9A10-D3E2E65A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LLM 오염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2F6899-85C6-42AD-8DE0-BAFFAF6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69B9DF1-D066-4E6E-A456-BC450348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33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안의 지시문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208257E-8549-4C37-AA57-0BF46607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00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E6FCD6A-FA80-422B-B878-A8D80668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33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외부 문서가 답변을 흔들 수 있음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768B548-FA0E-4BAB-A075-B2293EDE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ADC711A-867C-49AD-B372-BE0A0D49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339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프롬프트 분리·출처 검증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B34F8E3-F82F-4780-AE1B-AE191A3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F0EFF07-6FC3-47F5-A29B-639EA07D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20/45</a:t>
            </a:r>
          </a:p>
        </p:txBody>
      </p:sp>
    </p:spTree>
    <p:extLst>
      <p:ext uri="{BB962C8B-B14F-4D97-AF65-F5344CB8AC3E}">
        <p14:creationId xmlns:p14="http://schemas.microsoft.com/office/powerpoint/2010/main" val="20526968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7BC2984-567D-01AD-02EB-BD07784C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91EA95-1E87-7FBA-7D96-E336E2C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E4D8CB-C6FB-5594-7E67-56E96D71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453445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경쟁사와 차별점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235C1F-A2A8-E8FD-A480-E60707D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7E67D9-9FA9-1773-5FEF-4FD0F20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기존 경쟁사 기능 범위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부족한 시장 영역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우리 서비스 차별점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4FE47A-4D0E-F96D-D1FD-059D6E0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3030351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기존 서비스의 한계와 차별점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C817E482-3C34-49F6-9589-9F08FD89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C2B76BF-C5D0-4F15-B522-489BD36B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A567901-FD15-4BE9-871B-0C76AAA9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F90C227F-6343-415E-AD73-DEA54D7C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기존 서비스의 강점 사이에 사건 단위 근거 리포트가 비어 있습니다.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82E86A5-BDCF-45A2-AD00-E6B6C37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29D234A-EE6E-4598-898C-31C23BDB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17D86FC-DE1D-4EDE-8475-EE2DDB2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공식 기준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DA80FC68-EBD1-40A1-BE2E-1D22CCCE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기준은 있지만 개인 사건 연결은 약함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1404AD64-E3D6-4E03-BEF8-11BFE51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D540DC67-D578-4B0F-95DE-D13254FF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0D440309-0EFE-4C1C-825F-02523B5C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접수·청구 중심으로 설계됨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29BE98E9-17EC-4E50-BDDF-661B3BE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592CA07-74D6-40BE-9CAC-2DEB5FA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우리 위치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6407D4ED-EFD1-4301-9C82-384931D5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상담 전 셀프 점검용 근거 패키지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BB3A42-C1D3-423F-83BA-6BEBB8BD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6A813-78B5-4BB7-8686-D0D3D6A0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7D8E03-FDA4-4934-BC7E-F2A92298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경쟁사 분석으로 확인한 Pain 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447A95-4C0C-4877-A19A-B982DB7E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기존 서비스가 잘하는 것과 비어 있는 부분을 나눠서 봅니다.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CC452-6C3B-4473-9216-7DFF2D29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7967DE-B32D-4EF9-B995-49F47447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44BFDE-0DFD-4490-8A5E-B3F2D5A2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공식 포털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DF7767-CAA0-4742-86DC-86BCF83D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조회·납부·기준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F3640C-59EC-47AD-9C82-6DD20535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B48E32-A88C-444A-86F8-C0D2E5CE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EDA467-474A-4724-9259-CE3F6BBD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접수·청구·보상 처리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882071-D407-4DEC-A08C-04D302D3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1BD659-EFE2-478A-A97D-1657D4BE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리걸테크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91BCE7-A35B-4B2C-B4F9-884A6160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검색·문서·전문가 연결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0B186E-EB61-4A2E-8BC7-5249C0BB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DF2971-0903-486D-BD5F-A7168B20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21/45</a:t>
            </a:r>
          </a:p>
        </p:txBody>
      </p:sp>
    </p:spTree>
    <p:extLst>
      <p:ext uri="{BB962C8B-B14F-4D97-AF65-F5344CB8AC3E}">
        <p14:creationId xmlns:p14="http://schemas.microsoft.com/office/powerpoint/2010/main" val="2222712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0D53647-4C79-8516-0CBA-0BB947F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18/40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D3C909-F3E8-E909-92D9-1FA1C7E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7D74AF3F-6B43-53AF-3851-DB981DD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 서비스 현황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A7D0C73-D5A9-0E30-9BB3-9FF76EC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CA29625-8135-9C68-3B7D-9646EC1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7F86B6-C159-696F-CF75-E834FC5A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시장에 이미 있는 기능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C6E9D58-B52F-E150-A076-D910AA9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과태료·범칙금 조회/납부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 앱·콜센터 사고 접수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손상/청구 중심 보험 AI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 검색·법률문서 생성 리걸테크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D3313EE-4716-EF48-84EB-898D678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6F30F2E-CF1A-A9DE-5C2F-0C59114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아직 부족한 조합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0CFEBB6-6739-A008-A19D-7B431FD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+ 이의 가능성 판단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블랙박스/사고자료 + 과실 근거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판례·인정기준 근거 검색 + 출처 제시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소비자용 사건 리포트 통합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C5DDD4-85E9-8384-2903-9F5C315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267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핵심 | 개별 기능은 있으나, 자기 사건 기반 근거 리포트 제공 서비스는 부족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6187418-CA93-466F-92C3-4EB48A8D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27EFAB5-1AD5-40D9-8251-74CC1FA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1AE8A513-EB86-4264-9FF4-076E17DC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시장에는 기능이 있지만 조합이 부족하다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7FE1DED9-54D1-4C94-94CE-58FA45A2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조회, 청구, 판례 검색은 존재하지만 자기 사건 기반 근거 리포트로 이어지지 않습니다.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B40F73C-1791-421E-BDA6-92E6868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9820ED82-2C94-4B05-B5ED-CC7070B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2C86E901-9EC1-412B-BB4E-6AB8831C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E41F7A3-1F8E-4B05-8B5A-256633F4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이미 있는 기능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71233EFE-9F36-4728-9933-2117DE7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아직 부족한 조합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9EB57EA8-19CE-47BC-BE7B-4FEE2F66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과태료·범칙금 조회/납부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444E4D04-0507-426F-B74E-F3D53B6D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 앱·콜센터 사고 접수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0027742B-5166-4814-9B08-C34AF268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손상/청구 중심 보험 AI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B09AEAB-5FA0-45DF-B06D-8130B6C2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판례 검색·법률문서 생성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2C801D9-AD8D-44DA-9D8E-3FC9B6FB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OCR + 이의 가능성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B42F2570-54E1-4701-B58E-C764979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 + 과실 근거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EA423B4-698A-46C5-972C-4F056D25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 검색 + 출처 제시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6CEAB07D-E00D-4682-AEAB-73577870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소비자용 사건 리포트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AB84342-9DFA-4865-AFE2-7414B4F1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7A209C7-C9D0-440A-87DA-605264CA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 분석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21654F-ED5B-45FB-AA1E-0D61EFB8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기존 시장에는 기능이 있지만 사용자의 사건은 끊겨 있다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10F778-F216-4B0E-9201-48CB6E38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공식 포털, 보험사 앱, 법률 검색 서비스가 각각 다른 문제를 해결합니다.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C1B7123-6DE9-4721-8558-276A666B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D93B545-57F7-4089-A49A-C9F1E07D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870AC2F-DD43-4F3E-9D97-1DE950F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공공·공식 포털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FBB82F5-5060-4D7F-91E2-0BCA5C96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조회·납부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공식 기준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F7938E7-FB8C-47DC-BA97-E304B005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59A8294-A721-4524-A166-075B9A53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D7AD2AD-2167-47E2-B7CA-AD8D9438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4A7B700-9561-405B-BBD2-0F38F7B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접수·청구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보상 처리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1B3FFE-BAB5-4B13-B584-7D75F10C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19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3C59B03-4D7D-4280-8A6C-CD8F5743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F844E15-C1DD-4450-AA22-900AA338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리걸테크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57A4D46-2B63-4BC3-BD8F-7D7C89B7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판례 검색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작성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48AD94D-317E-4E93-B05D-A2AA2B2B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EDF07A6-243B-4CF9-AC45-2456B732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EEF3FC1-7B03-444C-955D-3E99FD86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일반 AI/검색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5CFFFDF-9174-4987-AE5D-1F56D88F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정보 탐색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요약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53DA4C1-25A9-48CF-AB7A-F2D14A90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48250"/>
            <a:ext cx="948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빈칸: 한 사람의 사고 자료를 기준·사례·다음 행동까지 이어주는 사건 단위 흐름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6511B63-3319-426A-856C-2C2CEC53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30FE40F-5412-4FE2-8089-691E0D19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22/45</a:t>
            </a:r>
          </a:p>
        </p:txBody>
      </p:sp>
    </p:spTree>
    <p:extLst>
      <p:ext uri="{BB962C8B-B14F-4D97-AF65-F5344CB8AC3E}">
        <p14:creationId xmlns:p14="http://schemas.microsoft.com/office/powerpoint/2010/main" val="1588856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50359BF-DD17-C1A0-7143-5F5EE104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19/40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416C8-96B7-1A3A-DFB2-28A492F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D6C8A7-32A1-1DA2-3CB1-C4C494F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서비스 한계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F684F49-B6D8-9265-D6D5-3881EE94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E49986-5D8E-4AA3-A3BB-1F87995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F289BF-ADA7-7706-49D5-E6AAB1D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공공·공식 포털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6BAB9D-37C5-822D-992F-802C6709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조회·납부와 공식 기준 제공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9D20614-F526-77C0-6A60-C3CE5EB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B302B31-86E6-B74B-D05D-CD9045BC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정보포털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747881-65D2-F64C-C567-8CA10515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인정기준·심의사례 제공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2D499A-C5B6-748B-258E-034189B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0DC2AA-DD1C-88FC-F41C-F4CBE02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AI/앱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9AB557-A97F-930D-7B04-FD52F04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청구·보상 처리와 연결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0E2EB3A-8255-F25E-0A2C-4788EB3E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CB867C-35C7-5FF3-5501-2CFA780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D642C64-8369-3654-896F-740DE35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검색·문서작성·전문가 연결</a:t>
            </a:r>
          </a:p>
        </p:txBody>
      </p:sp>
      <p:sp>
        <p:nvSpPr>
          <p:cNvPr id="34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2C619F5-8FA9-AC8D-E3DE-C714A15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D0669E2-0E60-80F5-6E94-164CFF9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일반 AI/검색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B9805A1-978C-9667-C71E-8399C26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접근성은 높지만 검증 약함</a:t>
            </a:r>
          </a:p>
        </p:txBody>
      </p:sp>
      <p:sp>
        <p:nvSpPr>
          <p:cNvPr id="4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D7ED3AF-FE46-8081-057A-3ED73A6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0002"/>
            <a:ext cx="99669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303E07F-DABF-B170-976D-1636121D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98602"/>
            <a:ext cx="9692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공통 한계 | 사고자료 구조화 → 근거·한계·다음 행동 리포트 연결 부족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1021D48-D80A-47A9-9AC5-F0EC6220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34C63548-3396-480A-A36D-B0D83CD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6A98D1C-B592-4875-B0EC-27FFF29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각 서비스의 강점은 분명하지만 사용자 흐름은 끊긴다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69CF06D-E7C4-4FB2-B6C7-D224FE6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조회, 청구, 검색을 오가며 자기 사건을 직접 연결해야 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A8514AA7-3546-43E2-9698-9B05FFFB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D4FFA978-7F06-496F-9B1C-669219C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E3FAA1D4-13CF-478F-9CA7-A7B267F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공공·공식 포털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B601B332-C149-44BE-A81F-D13EC2F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조회·납부와 공식 기준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F1B75EF-B115-4B52-BB76-77906E44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95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사건 리포트 연결 부족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50E4012D-FA59-4DD5-B5E6-DA976B22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5C53752-A3C5-4F3D-BDF4-BB4246DF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과실비율 포털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13A1E913-1129-4338-A50E-B98C7F1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인정기준·심의사례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E3E814A-72B1-478A-9AE0-BA60C41E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개인 자료 반영 부족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ECCDE625-C7E8-4917-B0F5-6FA9DB7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37AB9105-E2EE-4BF5-923A-1607EFAB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AI/앱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677728F3-A319-4DEB-9E13-CD9E362B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청구·보상 처리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35E2466A-C278-4B95-AD39-A2FF1D8E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52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보험사 내부 흐름 중심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D83FE352-BE0A-4059-8726-DABAB35B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719175FC-483C-4B42-B21F-4F8C34BC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2FDE9F5-D7E9-4EAC-9E3C-97ECD020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 검색·문서작성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B71F17AF-6443-4646-B562-C91F14CC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81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교통분쟁 자료 연결 약함</a:t>
            </a:r>
          </a:p>
        </p:txBody>
      </p:sp>
      <p:sp>
        <p:nvSpPr>
          <p:cNvPr id="87" name="사각형: 둥근 모서리 86">
            <a:extLst xmlns:a="http://schemas.openxmlformats.org/drawingml/2006/main">
              <a:ext uri="{FF2B5EF4-FFF2-40B4-BE49-F238E27FC236}">
                <a16:creationId xmlns:a16="http://schemas.microsoft.com/office/drawing/2014/main" id="{355D3984-2E69-47EA-B322-92312AA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C516C161-F498-47D4-A43F-DDCFC54E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일반 AI/검색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CF629A2-A572-48C1-BF12-47C4B05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28A732F1-F9B5-4E76-B0E8-7BD197E8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1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출처·보안 검증 약함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153D3654-F4FB-4416-AD8A-C5601E61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E4C95B72-BE9A-441C-ABA3-2ADD6B9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경쟁사와 차별점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1D7C37A7-7F5B-4FD4-8DCE-9B330589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기존 서비스의 한계는 기능이 아니라 데이터 연결 방식에 있다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D838F239-B0E7-472A-BDDF-C4BDC4DB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조회, 청구, 검색은 가능하지만 한 사건의 문서·영상·법률 근거를 함께 판단하지는 못합니다.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6DE94D35-A2A1-4CD8-9529-0D4EBF4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사각형: 둥근 모서리 95">
            <a:extLst xmlns:a="http://schemas.openxmlformats.org/drawingml/2006/main">
              <a:ext uri="{FF2B5EF4-FFF2-40B4-BE49-F238E27FC236}">
                <a16:creationId xmlns:a16="http://schemas.microsoft.com/office/drawing/2014/main" id="{F859C4E7-AD53-415B-B7E7-374337B3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673C95F7-B0D0-4A73-B4CB-C9C318F7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공공·공식 포털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79063D83-E4CF-4A24-800C-0093A46E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과태료·범칙금 조회와 납부, 공식 기준 확인에는 강하지만 사고 맥락과 사용자 증거를 함께 해석하지 않습니다.</a:t>
            </a:r>
          </a:p>
        </p:txBody>
      </p:sp>
      <p:sp>
        <p:nvSpPr>
          <p:cNvPr id="99" name="사각형: 둥근 모서리 98">
            <a:extLst xmlns:a="http://schemas.openxmlformats.org/drawingml/2006/main">
              <a:ext uri="{FF2B5EF4-FFF2-40B4-BE49-F238E27FC236}">
                <a16:creationId xmlns:a16="http://schemas.microsoft.com/office/drawing/2014/main" id="{C3CAD656-0372-4288-BDC6-1B7C05C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A7BF749E-F012-4448-AB11-55A8B29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보험사 앱·상담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3B5D96DD-3CD6-465C-9907-2CE042E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사고 접수와 청구 흐름은 제공하지만 보험사 관점의 업무 처리에 가까워 소비자용 근거 패키지가 부족합니다.</a:t>
            </a:r>
          </a:p>
        </p:txBody>
      </p:sp>
      <p:sp>
        <p:nvSpPr>
          <p:cNvPr id="102" name="사각형: 둥근 모서리 101">
            <a:extLst xmlns:a="http://schemas.openxmlformats.org/drawingml/2006/main">
              <a:ext uri="{FF2B5EF4-FFF2-40B4-BE49-F238E27FC236}">
                <a16:creationId xmlns:a16="http://schemas.microsoft.com/office/drawing/2014/main" id="{A845B0C0-5FA1-4D3A-946C-00CBBE3A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A54C082D-263A-4DA5-9E0F-5D08953A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리걸테크·검색</a:t>
            </a:r>
          </a:p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0E9F92E1-7688-4BC8-AD03-83F5B7FD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판례와 문서 검색은 가능하지만 고지서 OCR, 블랙박스 맥락, 과실비율 기준을 자동으로 묶어주지는 않습니다.</a:t>
            </a:r>
          </a:p>
        </p:txBody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C82D533D-0C6B-46F7-88CD-07F0F5C3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기술적 Pain Point</a:t>
            </a:r>
          </a:p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7E4AD665-B21B-4DF3-A9F7-7B11F23E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7" name="직사각형 106">
            <a:extLst xmlns:a="http://schemas.openxmlformats.org/drawingml/2006/main">
              <a:ext uri="{FF2B5EF4-FFF2-40B4-BE49-F238E27FC236}">
                <a16:creationId xmlns:a16="http://schemas.microsoft.com/office/drawing/2014/main" id="{2C22AA74-213B-460D-8E28-FB65EFC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입력 데이터가 문서·텍스트·이미지·영상으로 흩어져 있어 단일 LLM 호출만으로는 판단 근거가 약함</a:t>
            </a:r>
          </a:p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E750C535-2039-44E2-963F-6564D2B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8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8EA06130-7C46-4437-94FF-CE3B698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법령·과실비율 기준·심의사례는 출처 추적이 필요해 RAG 기반 검색과 답변 검증이 필요함</a:t>
            </a:r>
          </a:p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ABF5A348-E046-49D4-8228-8D2C9254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4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1" name="직사각형 110">
            <a:extLst xmlns:a="http://schemas.openxmlformats.org/drawingml/2006/main">
              <a:ext uri="{FF2B5EF4-FFF2-40B4-BE49-F238E27FC236}">
                <a16:creationId xmlns:a16="http://schemas.microsoft.com/office/drawing/2014/main" id="{F17798AE-7EC2-48D5-B178-1416A2BC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388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사용자에게는 확정 판정이 아니라 부족한 증거, 한계, 다음 행동을 분리한 리포트가 필요함</a:t>
            </a:r>
          </a:p>
        </p:txBody>
      </p:sp>
      <p:sp>
        <p:nvSpPr>
          <p:cNvPr id="112" name="직사각형 111">
            <a:extLst xmlns:a="http://schemas.openxmlformats.org/drawingml/2006/main">
              <a:ext uri="{FF2B5EF4-FFF2-40B4-BE49-F238E27FC236}">
                <a16:creationId xmlns:a16="http://schemas.microsoft.com/office/drawing/2014/main" id="{6BC18789-B283-4A17-ADDE-80B4825D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19/41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5023234-9761-4D80-AFAE-FC7E3306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93E344-7A01-4B34-98AE-84851DF2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 분석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74CDBD7-8CE6-49CF-9DAD-A3B65E2B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경쟁사의 pain point는 ‘없다’가 아니라 ‘연결되지 않는다’이다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933A54C-9456-4AC5-8AD9-CAE6A8E8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서비스는 강점이 분명하지만 문서, 영상, 법률 근거, 대응 문장을 한 사건으로 묶지 못합니다.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2408C82-A30C-4F01-852D-0D33E07F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8F4FF25-D473-40B5-9958-3CE53F92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10490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FC82974-029C-41F6-9605-9E88AE82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9B1B8F3-D49D-4108-944F-EA7A986D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8A33D3B-A1D3-4A87-8C2B-CAAAB090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C8E423F-F3C5-4EBE-A2EC-BB48D420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잘하는 일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D150C4E-013E-4EC3-A3FC-92F1AD01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36232C0-BF8B-4A23-A25E-3F15D108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비어 있는 지점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2293038-2F49-4DB0-944D-79B81380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89B5FE-4746-4B48-95FA-B9C26BA0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우리에게 필요한 설계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1B35C88-7E46-445F-AE64-43A2015F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D601F5B-8423-4856-88DF-15FD877F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공식 포털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13B30BF-E854-4A43-BB50-98702D76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76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DFE60CC-0518-40F2-8226-E5D07692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조회·납부·기준 제공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C463E46-9ADE-49C2-9BAD-A81A4902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765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D43E8A8-F020-4595-B529-408662C4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개인 사고 맥락 반영 부족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6D1D50E-5795-438C-9E6B-6A439200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5BFDE37-1F47-4A11-8280-604C7AB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 핵심 필드와 상황 연결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D72A5C8-591D-4E75-8133-36433426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21EF557-A17E-448D-8B81-90BAEA6A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1391F28-A7EF-4CC6-A460-42AE55DD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57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6CB37E4-8911-4010-9F38-5815E331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접수·청구·보상 처리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0C05CE3-4064-4E3D-A353-32D52EA5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576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82DAA6B-C6F7-46EF-9F3B-E7F2C551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소비자 관점 근거 정리 부족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442B666-FD1E-4EF4-A453-6D19561F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6A74498-5602-47C3-BF36-A87906F7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상담 전 근거 패키지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D274FC4-147F-439F-ABC7-3F2EE93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E19F3B0-1708-4A93-9509-7ADD9282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리걸테크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6DDEA53-6659-496B-BE1B-AC6D97DA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8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34DC9D0-060D-4F60-B6C1-F50CC76C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판례·문서·전문가 연결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6BD79F5-DD87-44B7-94EE-94895E67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D790C29-C401-4F97-8A60-AFEE9B95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720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고지서·영상·과실 기준 통합 부족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270B5D7-B214-4210-B0EE-7087A601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EEBD8F2-49AF-40CD-831C-E795374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멀티모달 사건 구조화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083ED06-5EB4-49D6-ACEA-47628AD3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88F1174-A3EA-4368-B753-59A5CC2D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23/45</a:t>
            </a:r>
          </a:p>
        </p:txBody>
      </p:sp>
    </p:spTree>
    <p:extLst>
      <p:ext uri="{BB962C8B-B14F-4D97-AF65-F5344CB8AC3E}">
        <p14:creationId xmlns:p14="http://schemas.microsoft.com/office/powerpoint/2010/main" val="19440613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9722855-364C-5CB0-530A-0ACEE7A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D3CBB8-CFAE-376E-06BD-D7674FC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498B069-511D-5F2E-009C-1C84348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경쟁사 기능 비교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343A39A-8188-9CC6-682B-1DCE597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84B9D2-DFC4-292F-8E3B-62C886E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플레이어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986BB6D-EAB2-816B-0CBD-FDF2C3B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강점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92B26E-EEFA-A29A-102E-F9DDD9C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04308"/>
            <a:ext cx="5120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비어 있는 부분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1044307-BE31-4DBE-CD34-B2522A5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5788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ACF11E-DDC1-CDCB-1B31-5C70E7D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25516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DoNotPay / 딱지앱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95D724-6E00-BCBD-D798-8C855453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25516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문서·티켓 대응 일부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A3ABF6-8B41-3641-A9A9-E59BCFB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25516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 과실·판례 근거 부족</a:t>
            </a:r>
          </a:p>
        </p:txBody>
      </p:sp>
      <p:sp>
        <p:nvSpPr>
          <p:cNvPr id="2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52506B-C07D-873C-6C9F-E17DF5F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4156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7104CF8-5748-56AC-F588-870F9D2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83884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보험사·손상 AI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B500F2D-69B1-39D6-BC5B-DAE75D56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83884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청구/손상 자동화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DCD2DD9-9173-6EF6-8A14-071BB42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83884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내부·청구 고객 중심</a:t>
            </a:r>
          </a:p>
        </p:txBody>
      </p:sp>
      <p:sp>
        <p:nvSpPr>
          <p:cNvPr id="41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D1AB739-3F48-F273-16F9-BFFE6D7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2524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2AD41BE-7CF3-C3CA-F493-2D09B4F7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2252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EE44E74-CA88-9250-D6C0-B8ADBF5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4225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판례 검색·문서 작성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FA910C5-97BC-A89B-76D5-A8731F1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42252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사고자료·과실분쟁 특화 부족</a:t>
            </a:r>
          </a:p>
        </p:txBody>
      </p:sp>
      <p:sp>
        <p:nvSpPr>
          <p:cNvPr id="5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00439A0-0FC5-3BA0-51AF-4884C62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0892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7DCCDF-41A0-DBA9-1858-DF278FA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00620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포털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23B1D4E-C1E4-23CE-3FD7-9D4F8F32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500620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기준·심의사례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C0F9CD72-53E4-8DD8-4083-24ECDAD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00620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사건 리포트로 연결 안 됨</a:t>
            </a:r>
          </a:p>
        </p:txBody>
      </p:sp>
      <p:sp>
        <p:nvSpPr>
          <p:cNvPr id="59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520216-79D5-0ADD-396D-4254032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9259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F624704A-3E8D-5337-125A-7A95210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58987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919C103D-EA82-2E73-5516-23BAE06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58987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 인식+영상 분석+근거 검색+리포트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3998E531-5DCE-7347-DF9F-D68EE6A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58987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운전자용 통합 분석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E7C7B78-D78A-42AC-BF19-419E04F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2F6CEA1E-9FF0-4755-A684-5FD4EE3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72C873E2-789C-4B36-945C-2F9A3E6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기존 서비스는 강하지만, 사건 단위 근거 리포트는 비어 있다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934AC82-09BB-4FC0-B115-852B499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우리 서비스는 문서·영상·법령·사례를 한 사용자 흐름으로 묶는 데 집중합니다.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32FE951-90E8-4914-B5B5-79D82AC8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플레이어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A609D09-A85E-4B2C-BCC9-38FAF31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강점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2426BB87-423C-48E2-B0A9-94250AF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비어 있는 부분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48D4A93C-1D75-4778-93A4-195927A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99A6BE9-9C1E-4BE4-8C58-D6FBE312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공식 포털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69837B87-760C-42AE-8FDE-A2A26BC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기준과 심의사례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6B5D9E95-5AC2-4089-B5C2-0B0A053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개인 사건 리포트 연결 부족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86B8CB59-CFD8-44A0-8D25-DE41FD07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8EB85761-D802-44C1-AB05-9BDF19B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앱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0CFA26A-5AFA-4984-A1A5-D835742D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접수·청구·보상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B29091AE-4409-4C0E-B9FD-252D6EF7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내부 흐름 중심</a:t>
            </a:r>
          </a:p>
        </p:txBody>
      </p:sp>
      <p:sp>
        <p:nvSpPr>
          <p:cNvPr id="84" name="사각형: 둥근 모서리 83">
            <a:extLst xmlns:a="http://schemas.openxmlformats.org/drawingml/2006/main">
              <a:ext uri="{FF2B5EF4-FFF2-40B4-BE49-F238E27FC236}">
                <a16:creationId xmlns:a16="http://schemas.microsoft.com/office/drawing/2014/main" id="{4BB8CA2C-5CA4-4210-91BF-B221BD1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B9172B2C-7242-4B7F-928D-8043E53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1E309E48-FF9F-435D-949F-8EAE756D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판례·문서 작성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637FFB47-34D4-48E5-8C5F-0BF6289F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교통분쟁 특화 자료 부족</a:t>
            </a:r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36047BC2-5392-4FE6-BC03-89D74BFD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6464EA23-8725-4C5B-AC81-53874B35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일반 AI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CC358388-398D-4374-A667-4D1DECC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33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E3748D4E-BBEB-4317-9615-0F32A29D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출처·보안·사건 이력 약함</a:t>
            </a:r>
          </a:p>
        </p:txBody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53CEB821-CCD9-4827-8BDF-13E7449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16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027DB4CC-5AD2-41A5-822D-5C45074A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우리 서비스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311041BF-A1D1-4546-80CB-47BCDEB2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62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문서+영상+근거+리포트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A6E75B2D-8FBC-498A-AB47-03A30EE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소비자 셀프 점검에 초점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BA458B6-B50E-4F93-89ED-CC31B0CC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37A15E6-1F4B-411C-AC32-BA8C1750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 분석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E37A014-BFE3-4CF8-A3DB-E50B0A75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경쟁사 기능 비교는 기능 나열이 아니라 빈칸 찾기다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9191FE9-961C-4AB9-A60D-62004C8D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사용자가 실제로 필요한 것은 조회, 검색, 청구를 오가는 동안 끊긴 맥락을 이어주는 것입니다.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40979FE-22EE-4A0C-AA0C-4593AF54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D76DC30-FD45-49ED-A5C2-D8D7165D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2870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EEF2D31-3E28-49E6-9E47-E428F750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FC468DE-5C95-4500-90CF-A37CA8D5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사용자 과업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2FAE68C-F38D-4AE3-8922-CA701134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BB408B2-2E0A-4D3A-8C8F-EF0278B7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공식 포털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3183387-3D47-477E-BF55-042A921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62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E1D47CC-1D31-48EB-801A-148DEEEC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보험사 앱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29A6809-35F2-4633-A114-4CD6CA20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D2CD694-1DF6-47B4-9AE1-7028CE70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법률/AI 검색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80EA2E9-DF2D-41FC-B338-6CB2730E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B423A03-AE3A-474B-B175-B4F3F5EB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고지서 이해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3DDFF9-4664-4FDB-B402-9E0D137F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D503DB6-1E8B-4FCB-BBD1-61C1B3B9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956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가능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801FF57-3FBD-4F9C-9B07-2E6F4663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981851F-F8DB-4FA8-8BD9-CC3CDD90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956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제한적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4249008-F29E-4DB7-9B06-3E3A61B7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7DEB3D9-3142-49C0-80B8-99DCE31A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입력 필요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60318B6-735B-4865-81C7-4306D929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5017769-A25C-4062-A132-FBA0A0F4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내 사고 맥락 반영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EA9AAAB-D284-425D-A933-B91276C8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9CF3346-DA7D-455F-AB5C-73A7E724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623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부족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FE48337-4FEC-49E1-A1B0-35895E08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6F5864E-2639-43A9-B108-FCD4FFA8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623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 접수 중심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77CE33C-831A-4CD7-97F8-8EC0A43E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0021E7C-084D-4218-A02F-6446EDD7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사용자가 직접 설명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92FB1E2-C2B2-435B-A475-07620DA3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97B5E8D-07FC-4725-9718-B2E01122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유사 사례 비교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2A7ABCF-BF9C-454E-9873-D8A7A792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9C74431-C39C-48FD-92A3-F061CF6E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291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기준 확인 가능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1B0C049-5E70-4208-8DCE-7FC156A3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D6D3309-D29A-49C1-9E63-7A400804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291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제한적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A32BBDD-7E54-4CD6-A4A7-74ACDD4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1031A96-8173-44BA-9899-12F3660A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검색은 가능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6E7B04E-CA62-42C2-AD4C-DDCE258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28F0D78-4C8C-407E-BA15-67AFFAD2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다음 행동 정리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C1DBA2B-6992-4C63-85E8-D7819F61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C945025-4944-40C2-BA27-1F39A489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절차 안내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F046DEC-4FE5-4B5A-9A04-2D97EB94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2A61428-2A63-45F5-813D-E35151D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 업무 중심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EB6D27F-617A-4E4A-AC66-1A46A47A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83FC803-2295-4030-A10A-279A42FE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초안 중심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4BA29CA-9E44-4A28-A222-00E4DC6C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결론: 시장에는 기능이 있지만 ‘내 사건을 상담 가능한 형태로 묶는 기능’이 부족합니다.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F12470-5143-473A-9ED8-7324FC2F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89C41C9-D991-4E5C-9CC9-E0ABC939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24/45</a:t>
            </a:r>
          </a:p>
        </p:txBody>
      </p:sp>
    </p:spTree>
    <p:extLst>
      <p:ext uri="{BB962C8B-B14F-4D97-AF65-F5344CB8AC3E}">
        <p14:creationId xmlns:p14="http://schemas.microsoft.com/office/powerpoint/2010/main" val="39537566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F9C1A92-0A79-93FF-5E4B-FE63588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500B03-C77B-1B44-E3AE-E72607CF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874F44C-92A5-C96E-3B7F-C2C8574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우리 서비스의 위치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C08603A-0D8B-FD15-0026-70C5C47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A2DCF4-FB80-A84C-52E5-DDBC588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834A80-AC86-6EB5-6D7F-EAE10F86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91CD05-22AD-82B4-825C-7512F0A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판례·문서 중심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BBCC2AF-EF36-D188-2CB7-27CECF5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56544E0-D64A-BF1E-54A3-4E3AAC1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2B9E7D8-4BA1-3F8D-38B7-B8AB40A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3BD60E4-F539-5BC3-3EB9-774C284B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청구·손상 중심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B237A81-6E3B-7B13-8290-6597500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752A9B-F628-8C65-6010-D050933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3CA8329-E72B-0EBE-E149-7AAD726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0B3896-B46E-8484-F0E1-635EC8C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중심 근거 패키지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9A75DEA-6580-664C-404A-CABD8742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D1DB3CA-051D-A2B1-454A-9D59A175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5CAFB7B-35FD-8F74-B630-F2E8175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187B721-1C2E-056B-EE57-95AC4BF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 셀프 점검</a:t>
            </a:r>
          </a:p>
        </p:txBody>
      </p:sp>
      <p:sp>
        <p:nvSpPr>
          <p:cNvPr id="48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76DF57E-5735-763B-C579-420C960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05156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277E142B-B4A0-33BF-2EB5-DCAFBC6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6344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차별화 축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D35CF495-C9A2-0AF0-DE64-516B8B5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4920"/>
            <a:ext cx="10149840" cy="2103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독립 + 이의 가치 사전 판단 + 판례·인정기준 근거 검색 + 과태료까지 묶은 멀티에이전트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8203508-7B78-4134-BF1C-2602B0F1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395F5D70-5A02-4F77-85DC-90FBE138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291D9B3-0425-43C9-8694-723112D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우리 서비스의 위치는 상담 전 셀프 점검이다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30C6AAA5-395D-4B44-965E-3453C4C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보험사 AI와 리걸테크 사이에서 사건 중심 근거 패키지를 제공합니다.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89955AA7-5A0B-435A-B335-BCEBB7F5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797BB8E5-DE02-4E89-BD4B-3F5D375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8841D418-45BD-4595-9258-0B1F500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CF2675A5-E8A5-4FD8-9339-11BCF243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D829AFE-7BFB-469F-B73B-93B5E7A1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판례·문서 중심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B720FDCB-A9D2-4D7E-8CB1-8BF2ABF1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996BCBD4-60C7-4BE2-811E-C8FD09DD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3702A57-FEE3-4558-A55E-666DCEF0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보험사 AI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F302B7C9-70B1-47BF-8215-3257F5E4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청구·손상 중심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E33480DF-9207-4C45-993A-3387876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F6A86D3B-10D9-4A39-8A46-C21A9C5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9CBEFFD-1F00-4B74-8879-E3757042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우리 서비스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38DBC4B-3365-413D-B687-F5B4822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사건 중심 근거 패키지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10342379-1EC1-4AFB-A86D-0982FCA1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6492C2A4-CF50-4BB4-9576-0E15EEF3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D48E8CFC-26F6-4E01-AEFC-AAF249B3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18BCF792-C593-49A6-BAAE-4DE1326A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상담 전 셀프 점검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27E730E-0FDF-4F1D-B82F-837994A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차별화 축: 보험사 독립 + 이의 가치 사전 판단 + 판례·인정기준 검색 + 과태료까지 묶은 멀티에이전트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7123655-B299-4CC6-8592-EBD62E3B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EBF6812B-3A8B-4EF8-8A55-37E4F57E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경쟁사와 차별점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FD01B588-2B3B-40AA-A2FB-4DA27DE6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우리 서비스는 상담 전 사건 구조화 에이전트로 포지셔닝한다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D7135D8A-5993-4355-885C-5B1E3E9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경쟁 서비스 사이의 빈칸은 ‘내 사건을 검토 가능한 단위로 바꾸는 기술’입니다.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EB14F635-CF2D-4972-805F-BD0D32D7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사각형: 둥근 모서리 92">
            <a:extLst xmlns:a="http://schemas.openxmlformats.org/drawingml/2006/main">
              <a:ext uri="{FF2B5EF4-FFF2-40B4-BE49-F238E27FC236}">
                <a16:creationId xmlns:a16="http://schemas.microsoft.com/office/drawing/2014/main" id="{3FEC10B7-E6A6-42C2-B2D8-149A842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809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5C3F7288-521A-4A43-8F1A-BA0E54A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리걸테크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02D2C0F2-2CD8-4308-A591-D188348C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판례·문서 중심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전문가/법률 검색</a:t>
            </a:r>
          </a:p>
        </p:txBody>
      </p:sp>
      <p:sp>
        <p:nvSpPr>
          <p:cNvPr id="96" name="직선 연결선 95">
            <a:extLst xmlns:a="http://schemas.openxmlformats.org/drawingml/2006/main">
              <a:ext uri="{FF2B5EF4-FFF2-40B4-BE49-F238E27FC236}">
                <a16:creationId xmlns:a16="http://schemas.microsoft.com/office/drawing/2014/main" id="{DA31AA32-1536-428D-9CF9-E192A3A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385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97" name="사각형: 둥근 모서리 96">
            <a:extLst xmlns:a="http://schemas.openxmlformats.org/drawingml/2006/main">
              <a:ext uri="{FF2B5EF4-FFF2-40B4-BE49-F238E27FC236}">
                <a16:creationId xmlns:a16="http://schemas.microsoft.com/office/drawing/2014/main" id="{4A86499C-9240-4382-BFE4-6B0F16B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76550"/>
            <a:ext cx="1809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FD5C7F63-2B27-4E5C-8889-F28156C4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48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공식 포털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BD21D567-3162-4D7A-A54D-2C8942E1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조회·납부 중심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공식 기준 제공</a:t>
            </a:r>
          </a:p>
        </p:txBody>
      </p:sp>
      <p:sp>
        <p:nvSpPr>
          <p:cNvPr id="100" name="직선 연결선 99">
            <a:extLst xmlns:a="http://schemas.openxmlformats.org/drawingml/2006/main">
              <a:ext uri="{FF2B5EF4-FFF2-40B4-BE49-F238E27FC236}">
                <a16:creationId xmlns:a16="http://schemas.microsoft.com/office/drawing/2014/main" id="{7C029DF0-6963-4077-8F7A-15E61FE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385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101" name="사각형: 둥근 모서리 100">
            <a:extLst xmlns:a="http://schemas.openxmlformats.org/drawingml/2006/main">
              <a:ext uri="{FF2B5EF4-FFF2-40B4-BE49-F238E27FC236}">
                <a16:creationId xmlns:a16="http://schemas.microsoft.com/office/drawing/2014/main" id="{EE19FA54-EB73-45EA-8B86-E949F37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2095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CC65F966-A478-470D-BF4C-997BE2C2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우리 서비스</a:t>
            </a:r>
          </a:p>
        </p:txBody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147F9772-42A6-495D-B3B2-3C654B8B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사건 중심 근거 패키지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멀티 에이전트 분석</a:t>
            </a:r>
          </a:p>
        </p:txBody>
      </p:sp>
      <p:sp>
        <p:nvSpPr>
          <p:cNvPr id="104" name="직선 연결선 103">
            <a:extLst xmlns:a="http://schemas.openxmlformats.org/drawingml/2006/main">
              <a:ext uri="{FF2B5EF4-FFF2-40B4-BE49-F238E27FC236}">
                <a16:creationId xmlns:a16="http://schemas.microsoft.com/office/drawing/2014/main" id="{769A2402-36E5-417E-B4DE-E48F958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38525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105" name="사각형: 둥근 모서리 104">
            <a:extLst xmlns:a="http://schemas.openxmlformats.org/drawingml/2006/main">
              <a:ext uri="{FF2B5EF4-FFF2-40B4-BE49-F238E27FC236}">
                <a16:creationId xmlns:a16="http://schemas.microsoft.com/office/drawing/2014/main" id="{BA1A8339-2B2D-40A7-A6CF-4E5B9A7D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A30A10FA-181B-4A07-B4B3-68763ED2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480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보험사 AI</a:t>
            </a:r>
          </a:p>
        </p:txBody>
      </p:sp>
      <p:sp>
        <p:nvSpPr>
          <p:cNvPr id="107" name="직사각형 106">
            <a:extLst xmlns:a="http://schemas.openxmlformats.org/drawingml/2006/main">
              <a:ext uri="{FF2B5EF4-FFF2-40B4-BE49-F238E27FC236}">
                <a16:creationId xmlns:a16="http://schemas.microsoft.com/office/drawing/2014/main" id="{24A73EB0-8106-4522-BD53-F17E61F4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909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접수·청구 중심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보험 업무 자동화</a:t>
            </a:r>
          </a:p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200DE7C0-C87F-4FF8-9CBB-AC22CFEE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그래서 이런 에이전트를 씁니다</a:t>
            </a:r>
          </a:p>
        </p:txBody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4E1EACF8-02CA-48F8-804A-E46666C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292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297BD0D5-D492-4A14-AC21-EE568336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OCR/문서 에이전트: 고지서의 처분 유형, 금액, 기한, 장소를 구조화</a:t>
            </a:r>
          </a:p>
        </p:txBody>
      </p:sp>
      <p:sp>
        <p:nvSpPr>
          <p:cNvPr id="111" name="직사각형 110">
            <a:extLst xmlns:a="http://schemas.openxmlformats.org/drawingml/2006/main">
              <a:ext uri="{FF2B5EF4-FFF2-40B4-BE49-F238E27FC236}">
                <a16:creationId xmlns:a16="http://schemas.microsoft.com/office/drawing/2014/main" id="{84F77BE3-2C4B-4315-BF4B-382CEDB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340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2" name="직사각형 111">
            <a:extLst xmlns:a="http://schemas.openxmlformats.org/drawingml/2006/main">
              <a:ext uri="{FF2B5EF4-FFF2-40B4-BE49-F238E27FC236}">
                <a16:creationId xmlns:a16="http://schemas.microsoft.com/office/drawing/2014/main" id="{FE33FE38-0D59-4C06-9441-549B3635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사고상황 에이전트: 사용자 설명, 사진, 영상 단서를 사고 유형과 증거 목록으로 변환</a:t>
            </a:r>
          </a:p>
        </p:txBody>
      </p:sp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8F010BD9-5939-42AF-80AA-7D0FB0F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388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4" name="직사각형 113">
            <a:extLst xmlns:a="http://schemas.openxmlformats.org/drawingml/2006/main">
              <a:ext uri="{FF2B5EF4-FFF2-40B4-BE49-F238E27FC236}">
                <a16:creationId xmlns:a16="http://schemas.microsoft.com/office/drawing/2014/main" id="{D5E40F9F-A23E-43B3-88E5-47403F6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293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법률·사례 RAG 에이전트: 법령, 과실비율 기준, 유사 사례를 출처와 함께 검색</a:t>
            </a:r>
          </a:p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42E5C94F-8C9E-49F3-8857-72742399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1436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37B4F74F-BA78-45A1-8B62-BF8AAC3D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34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리포트 에이전트: 가능성, 리스크, 부족 정보, 다음 행동을 분리해 제시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05FE8306-4E9F-4A70-9105-5BB073D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21/41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693D77C-3831-48D9-8CB8-03DB86EA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E6D9460-C43C-4577-83F2-1E91C963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 분석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3B40968-50C1-4DF0-A018-D2624187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우리가 해결할 빈칸은 상담 전 셀프 점검 영역이다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9EC5ECE-3F18-47BD-A50F-39DA073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확정 판정이나 대리 신청이 아니라, 사용자가 근거를 들고 다음 대화로 넘어가게 만드는 영역입니다.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8128580-C985-4707-A33B-025EA11C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9C87550-872E-452E-B947-69241424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819563C-70F1-42C9-B1ED-686845E1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리걸테크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4EF35D3-26D3-4111-A30C-864D2420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판례·문서 중심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B59E85F-6F78-4347-9B82-663FADF1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242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D934058-1B20-44F7-92E5-F4D1062D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040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B7A8ED0-0821-4296-A7D8-0B4E0D68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528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공식 포털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2375137-87FB-4F58-A06D-70886250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957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조회·납부 중심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812FAEC-E720-4BBA-81E0-AE6333F5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242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61E138A-0CDB-4004-B4FA-AED9364D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E3DAA28-1F9F-4E85-ACA0-B1844DE2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432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우리 서비스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9633DD5-2480-40C2-B733-0C2FDE77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1885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사건 중심 근거 패키지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C897ADA-2346-4D02-8311-B208CF13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24275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B2B9053-C54F-4CFE-9A31-12D01710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00400"/>
            <a:ext cx="146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CAE9FFE-633C-445B-9270-5885ABDB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52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보험사 앱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220D051-3313-4421-8413-ECD9F310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957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접수·청구 중심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DDE2FEC-1E75-40FF-A8E7-BC93FFC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F6CE433-9DBD-4F69-A187-D1A87ABC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25/45</a:t>
            </a:r>
          </a:p>
        </p:txBody>
      </p:sp>
    </p:spTree>
    <p:extLst>
      <p:ext uri="{BB962C8B-B14F-4D97-AF65-F5344CB8AC3E}">
        <p14:creationId xmlns:p14="http://schemas.microsoft.com/office/powerpoint/2010/main" val="35545247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9ACE2F6-43E2-3D7A-F184-88F1850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2DAB00-B043-431A-5968-BFC42B4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460BE685-2D53-5A98-B44C-BB54898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경쟁사와의 차이점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257EEF7-243A-3C69-21A8-CBBFA40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73C00A-1143-5C6A-DAD6-299DBAE3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E7B385-F304-5508-47B5-7F830BF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보험사와 분리된 소비자용 서비스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2DCABD-20B2-014D-F4B2-927ACCF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특정 보험사 고객에 한정되지 않음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사고자료 기반 근거 확인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9C063A6-3B40-8DC2-4C16-2D9BC55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FFDE949-0D0C-7803-8024-6FBA0B3D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이의 제기 전 검토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87780F-BDA1-6B78-5B76-1329A7E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무조건 이의신청 권유 X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근거·기한·증거·위험 분리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DFB37E4-7F13-FEF4-5FEC-82A9956B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CE031F4-1433-49ED-8188-C4680C4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판례·기준 근거 연결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037E0AF-8E3B-3DCC-9C2E-1E263BE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법령·인정기준·판례·심의사례 출처 제시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5C06E11-8702-E729-6179-4289D0A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A5E197D-C7E0-EE35-3D91-6C14DAE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자가 대응 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D0D1302-2464-D02C-F3A0-89F0712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대리·자동제출·승소 보장 표현 제외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직접 검토용 리포트 제공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D18A1CA9-B83D-4F51-B632-83490D4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A7E4223E-9984-4413-9089-F927E39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0DDF7BA-7134-4E29-9934-12873E15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차별점은 기능보다 안전한 판단 흐름에 있다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6617C25-84A1-4CA4-B7CC-851B50F9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무조건 이의신청을 권유하지 않고 근거·기한·증거·위험을 분리합니다.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120D7B8B-0D5C-4007-AAB4-155296C2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D0A1CFF0-5D5D-442D-A913-277509C3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FF9B9030-E83B-46C2-8970-52C8127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A761873-8B7A-4C56-9873-8B641018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67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보험사와 분리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F41AE4B2-1956-4602-B2B9-1602075C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특정 보험사 고객에 한정되지 않음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D440325D-A5DD-4662-A319-505F0465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C2F8009-D5D7-492F-99BE-A4406B79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95B52"/>
                </a:solidFill>
              </a:defRPr>
            </a:pPr>
            <a:r>
              <a:rPr sz="2250" b="1">
                <a:solidFill>
                  <a:srgbClr val="E95B52"/>
                </a:solidFill>
              </a:rPr>
              <a:t>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41F8620-072F-4D11-AFCB-B4EB3B8F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이의 전 검토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FDEDEFB6-B8CB-4FB7-B637-240FC1C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근거·기한·증거·위험 분리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A004E58C-D39B-4795-AFB1-C896FB92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0D9DB972-C876-4C21-8C0E-12D37D72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E45408DF-5684-414E-8810-E296406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86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판례·기준 연결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E5AB8CB7-67E8-4934-A5DA-192E2EED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법령·인정기준·심의사례 출처 제시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1D5F7C2B-3FBB-49C8-A00C-B66D7F8E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B8AB00CD-0534-48BA-A9B7-A15A207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A67A4C9C-6ED3-47B2-9580-09E2867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자가 대응 안전장치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09BD0F89-EAC2-41B7-A93B-CAA850B2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자동 제출·승소 보장 표현 제외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A124986-94BE-4030-9F6D-DE310A10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AA25728-010C-484A-8779-59E4FB7F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 분석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7BA3228-B8E6-4E24-9968-07B6FD18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경쟁사 pain point는 기능 요구사항으로 바뀐다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B021A44-7512-4F16-802C-FDA4FE4E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이제부터 앱 기능은 시장의 빈칸을 메우기 위한 설계로 설명합니다.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F8EB23-C3EF-4646-BA43-8681DEE5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A260224-CDD5-45B5-9068-13F9CD11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5727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292E12B-380A-4795-889A-038C5548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BADF55F-C4D1-4AAD-8829-AEAA4E09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경쟁사 빈칸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7496420-B10B-4F27-9954-C759D9AB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57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3608237-9392-4652-804A-A456AC09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사용자 pain point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523A572-6320-4C8D-B4F1-6F3799A1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2246B2-1E25-48D8-B9C8-2F59F0FD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기능 요구사항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3FF32A6-932C-4554-A185-CCD353B4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645CFF9-0103-410B-B0EE-F105F42F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주의할 점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CB37BAB-42AC-43B2-ACD6-5B6A089E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4CF408A-1473-40FD-B7AF-678BDE2E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문서·상황 분리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021734D-0CFA-4B76-93AE-4C64D010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F4D5739-6F9F-4DDF-8013-397EFF56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90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고지서와 사고 설명을 따로 이해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1BD63F6-67F9-4DC9-BB89-1625574A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BD1F5A1-767C-4DDC-B7E1-C862F6D1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90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입력 자료를 사건 단위로 구조화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F1B0E10-23A8-4A32-A28F-4C178015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315126-18E9-4EEF-9F7C-75E93500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자동 판단처럼 보이지 않기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86A5285-42AF-412F-B678-C2C21BD8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D84069A-2A94-44F5-A2FA-520DDB49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근거 출처 부족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6D1147C-7CE1-46D0-9E7D-227E3D09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3919CE5-71B6-473F-B85E-3E5451AF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71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검색 결과를 믿기 어려움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DCF2572-014F-4E9D-9408-C22BFCB8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028AC72-5848-4AD2-BF18-F115FD7B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법령·기준·사례 출처 표시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F9E7200-A46C-4A22-982E-022BE55D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BB119ED-460E-4B49-9268-46AFEA8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7190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출처 없는 답변 제한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6D22C3D-38FF-4E67-B47E-A4C1E56B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9E61C9-00F2-4DCA-BED3-C1C7B6FF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다음 행동 부재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FF5BB45-A1C3-41FD-A9F2-7DF1B824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19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A57FE9E-D0C9-4F9E-8934-EBD8E93E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52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어디에 무엇을 말할지 모름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493023E-C398-4E70-895A-0D31A3D2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9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B245CB4-8125-4A8D-8629-4D0654C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52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초안과 체크리스트 제공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3850D6B-A43B-4E38-957A-7EA36C9E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B577E1F-C18D-4AFE-A8C0-6B0102D6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5295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대리 신청으로 오해 방지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87E4285-B5B1-4BF5-B521-B905ABCC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55D0126-4270-439A-9747-6B7BCA8C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26/45</a:t>
            </a:r>
          </a:p>
        </p:txBody>
      </p:sp>
    </p:spTree>
    <p:extLst>
      <p:ext uri="{BB962C8B-B14F-4D97-AF65-F5344CB8AC3E}">
        <p14:creationId xmlns:p14="http://schemas.microsoft.com/office/powerpoint/2010/main" val="24311521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04EB74A-2610-9CA6-0E27-39E7F52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92ACBD-3F99-5EB8-2C15-881986E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82D1AE-4442-4F08-2031-86D23C1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4CFCB1-B7DC-B5D4-8BC1-9783CB26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2435244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생성까지의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46F2E7-ECA9-587B-753D-0D06DEB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66779E-95BB-A94B-2129-7E75FC1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확정 판정이 아닌 근거 패키지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입력부터 리포트까지의 흐름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문서 인식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·근거 검색 ·사례검색 ·리포트</a:t>
            </a:r>
            <a:r>
              <a:rPr sz="2000" b="1">
                <a:solidFill>
                  <a:srgbClr val="E6E6E6"/>
                </a:solidFill>
              </a:rPr>
              <a:t> 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77D7B10-9108-4A3E-93F2-3CBDA4C8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FAC963D-300C-4B09-A75A-38AFE68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0C74E614-16B1-473F-9297-92133184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서비스 이용 과정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1F767CF4-647B-4627-988B-5B35DAB8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입력부터 리포트까지 사용자가 이해할 수 있는 흐름으로 설계합니다.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F2D7CCE3-B963-46CA-8F2D-C7808195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7A4F9950-65BB-44A7-BE26-F735FA6F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DE452E08-0FCB-4ABA-9348-BF00BC8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입력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59617E8-704C-4F54-8EEF-4BDC854B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 설명·고지서·사진·영상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F9BCC9F2-7263-4CB4-9912-7A25ADCE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83BDF5D6-C4D1-48CB-8606-55191F30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분석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C66F0FED-2CA4-4821-B670-026FCDC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문서 인식·근거 검색·사례 검색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B512DA5-AF25-4BA8-B01A-D1D6562E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4AC3EE5-D3DC-4B8F-B870-26C237B3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출력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E18F7A91-D032-4F2E-9444-BFABD02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근거·한계·다음 행동 리포트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85E3E-B18E-45BB-ACF1-32CDEE32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C985A-2734-4BC0-AF3C-D9544A84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0F6EA0-092B-4F72-B30B-65914D0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해결을 위한 기능 설계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F08B69-907F-44F3-809E-DC76AED8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기능은 많아 보이는 것이 아니라 pain point와 1:1로 연결되어야 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048A7-66C9-4FDD-B469-E679A040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67CA0E-9471-4F78-B942-2BD88F0D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431219-BDC4-4418-AAF2-9E1A0217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입력 정리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A70222-A3C9-48A7-909D-A55CF938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문서·사진·영상·설명 수집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D805B2-9846-4C97-9C37-C6BD5CE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BF7C93-175F-40E5-A3E2-6362361B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근거 연결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C423C3-9663-4161-95BF-6E46DEE3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법령·기준·사례 검색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0664D1-AFDD-4EF0-BC44-14517034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DB940B-C3F8-40DE-9A8C-709565B2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행동 출력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A09278-FB7F-4252-8287-287804F6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리포트·체크리스트·문의 초안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9EE24D-802A-4049-94DB-12782A6D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0CDA4-6440-4723-B1BE-BFD19F02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27/45</a:t>
            </a:r>
          </a:p>
        </p:txBody>
      </p:sp>
    </p:spTree>
    <p:extLst>
      <p:ext uri="{BB962C8B-B14F-4D97-AF65-F5344CB8AC3E}">
        <p14:creationId xmlns:p14="http://schemas.microsoft.com/office/powerpoint/2010/main" val="16810768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7C10D20-FB5E-193D-A9C3-617793D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24/40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1A9976-172C-F204-089B-C613C77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B261389-ED66-E44D-BDD8-4832759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사고자료 처리 흐름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6C581DB-A96C-0F32-33D3-2B53E149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66A5AEA-3878-A915-F3E9-ECBB3466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1EB6A0-F694-5718-3D05-D9A44A9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자동화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67BCDD-F675-F146-9A22-909118F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 문서 인식, 사고 설명, 블랙박스/현장 사진 업로드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54CE486-D977-7B38-960F-D66D8BF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53FCDE-5975-3F8D-87A8-AF7B217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사고상황 구조화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00E087-C94A-CDBF-25D5-80C9791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사고유형, 도로유형, 당사자 행동, 증거 목록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0F87E05-E813-0867-0145-8A2C82D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6031F80-8D98-B826-B819-5C1A5A5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86D6DF6-3E16-63D5-0DC7-89EA611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법령, 과실비율 기준, 판례, 심의사례 복합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EE5C255-9E3C-D0C3-D023-28A9D48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31685C0-F3EB-910B-237D-B948754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행동 연결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909CF3C-E3D3-E05E-2FF2-6DC67D4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증거 체크리스트, 보험사 문의 초안, 이의신청 검토 리포트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39FF5F0-21DD-C405-4E72-E865EED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192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공식 포털·보험사·법률 플랫폼·생성형 AI가 따로 제공하던 조각을 사건 중심으로 통합함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6345971-A3BC-4F6D-8D59-0B62A1F7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BBEB73F-208C-474F-8C67-04877F4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A1CDBDC-8A72-4303-9277-EF98D5BB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사고자료는 입력 자동화에서 행동 연결까지 흘러간다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E183D5E7-F7F3-4F90-9F31-CCBBA867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공식 포털·보험사·법률 플랫폼·생성형 AI의 조각을 사건 중심으로 통합합니다.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503D0FF5-D20D-4F31-92F0-8A4563D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09060EC2-B457-485C-A2EE-35D19CCC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5E59A7B2-66A1-4EC5-98D4-5868F92B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F3FB7A3-B06D-4E56-A671-4AD4E4FF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자동화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0DD5A4F-6375-4DC1-8E60-FABECD7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고지서·설명·사진·영상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E3B6F58C-6EC6-494C-859B-554FDC99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2EFD5F93-8C29-4CAE-A382-365D333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00648D3C-0441-4912-8B40-4691CDA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상황 구조화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AED46D3B-9512-4862-8066-83167EE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유형·도로·행동·증거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9969D775-9B3B-467C-8E63-E3AA0BCD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5D02745F-946E-49DA-9A4D-E2C8966B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6B76C68-B5F9-40DE-BF65-7799C3C1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BE3B6F8E-56DA-406D-866E-05F8BB92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법령·기준·판례·심의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AC89E440-228F-4964-92F5-5ACEF02A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F010C159-6C79-4520-94FA-91AED3C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927CCC8A-66E0-4B76-903E-2D3C68D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행동 연결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3F18D15B-795C-4F4E-917E-F9CC0D75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체크리스트·문의 초안</a:t>
            </a:r>
          </a:p>
        </p:txBody>
      </p:sp>
      <p:sp>
        <p:nvSpPr>
          <p:cNvPr id="87" name="사각형: 둥근 모서리 86">
            <a:extLst xmlns:a="http://schemas.openxmlformats.org/drawingml/2006/main">
              <a:ext uri="{FF2B5EF4-FFF2-40B4-BE49-F238E27FC236}">
                <a16:creationId xmlns:a16="http://schemas.microsoft.com/office/drawing/2014/main" id="{0046D90B-E6E3-46B1-9885-60263906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9258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BDEE2534-E356-4B92-9C9D-5811FA7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86375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결과물은 판단 확정이 아니라 사용자가 다음 대화를 준비할 수 있는 근거 패키지입니다.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BAEF63-E806-4A4F-9A3F-6507D37D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6B4BA8-531A-4506-AB0A-3AAF5D2D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기능 설계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1404B88-243A-460E-B605-92CBA63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기능 설계의 첫 단계는 자료를 사건 단위로 묶는 것이다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24FFA51-52AF-4665-90D2-EB16B81F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사용자가 올린 자료는 바로 답변 재료가 아니라 검토 가능한 사건 데이터로 정리됩니다.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DEFAC9C-BEB8-47D7-AF85-B0333C2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CD1AAF8-0AD9-43FF-B08C-09548397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1C4519F-33C8-4CF1-9421-7B80BFF0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599506-EBEB-4F33-9E08-4F770ED1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입력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고지서·사진·영상·상황 설명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EF1AA1-ABE9-44A5-ACF1-91D0135B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5061425-966E-41D7-8200-8EC6E708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14834A6-9ED3-4B63-857E-DD46A0D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F03E34-5AAE-4E52-B35F-04BFDD8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파일 검사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업로드 상태·민감정보 위험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1FEA6A5-B579-4CCC-BB27-D65738E4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31C0D28-FF4E-438A-9B3B-D5E69E9B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01D2165-1BEC-4164-ADB0-A1D1A3DF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15252CC-28D1-4B7B-925A-C9420C36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사건 구조화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유형·장소·기한·증거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6E25DBE-C294-45BC-ABAB-186EC1AA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1765739-34EC-4904-9258-50E22348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AC678C8-5E10-4150-AC6B-318CAFC0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043CA4C-9A4F-4941-B097-0ACC681E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검색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법령·기준·유사 사례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C5ED93D-A8B8-4F9A-848E-20F6AB84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BB6BE21-D071-43B2-A79B-F09F8C10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EF08B60-07C6-4863-8A3E-682ACFF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095CC77-692E-4309-BE17-CD741E88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결과 정리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리포트·체크리스트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69D7336-82D3-4DAD-B617-671DE8AF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9677957-947F-469A-B870-1FA8647E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28/45</a:t>
            </a:r>
          </a:p>
        </p:txBody>
      </p:sp>
    </p:spTree>
    <p:extLst>
      <p:ext uri="{BB962C8B-B14F-4D97-AF65-F5344CB8AC3E}">
        <p14:creationId xmlns:p14="http://schemas.microsoft.com/office/powerpoint/2010/main" val="6169411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665B134-8C52-A895-C384-71029450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A3CCA4-4756-D906-6EC3-F08FAAC9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8B9593BD-C3AD-BAA2-D4BC-02CE33A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 입력부터 리포트까지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04EA428-DD3C-3038-1515-2ED374F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32BE9F-E46B-A1DD-0463-C8399C50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249BC3-F509-74CD-7362-256F99C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상황 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76151B-EAE8-683A-FF68-FDC78D40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36AA7F-9B36-CEC3-D0E0-BEEC8CA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9B8A43E-A909-50FF-4CE6-9855B403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자료 업로드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BC8DE5-FD8D-4745-8CE9-A9C838A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57549E-409D-F107-402A-41D3663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1644708-83F6-128C-48D0-21D04B2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BDCC8D3-EC17-3BE5-1136-B0BEB3D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1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D3F26F8-6D68-9739-C4B0-68FFEA83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FE31424-F846-46A8-A861-C67BAE1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분석 모듈 분석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7EE3AF3-5F03-EC4B-7F49-A6C523E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57A08BF-5ADF-9FA8-1AEC-4FEB920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5A783F1-0862-B6E1-5BCC-6AD264E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근거 리포트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8784FA03-ED7C-3DEE-8513-AB4F398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33896C8-A222-8101-B094-7B81E76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A57774F-9FE8-0FBF-8F28-A8E0615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이력 저장</a:t>
            </a:r>
          </a:p>
        </p:txBody>
      </p:sp>
      <p:sp>
        <p:nvSpPr>
          <p:cNvPr id="51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FB665DC-0BBC-6EAD-8C90-244F7A4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1D3A295-7B48-6E24-5583-D03A8EC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사용자가 보는 것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663B06B-9800-3919-615D-3417D5A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 설명 또는 고지 내용 입력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영상·사진·문서·고지서 업로드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근거·한계·다음 행동 리포트</a:t>
            </a:r>
          </a:p>
        </p:txBody>
      </p:sp>
      <p:sp>
        <p:nvSpPr>
          <p:cNvPr id="57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AC04395-46FF-78F4-2ED4-FE022AAF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16F5986-26D1-6D6E-066C-71BA950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시스템 내부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C627819-B19F-2849-6A13-E559A65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문서 인식·DL·근거 검색·과실비율 분석 모듈 분리 분석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분석 통합가 병합하고 한계를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저장·다운로드·이력 권한 통제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E83EAC7-1B27-41A4-9B40-0A5AB84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1A694FE-B005-4A94-848A-7E5B300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397665A5-C628-4BD6-8A1C-499B25C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입력하고, 시스템은 근거 리포트로 되돌려준다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D14252F-91E9-41CC-B1F0-AA79B68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보이는 경험과 내부 분석 과정을 분리해 신뢰를 만듭니다.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C14025D1-E123-4C53-A86F-81F8BDC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78C8E7D3-3948-4C30-9D2E-486EE72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1325B1BE-4D37-42D0-9A1E-C066645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상황 입력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F98C5A2-DCF1-4341-804E-CDFC5BD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 설명 또는 고지 내용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47C19721-20D4-4946-AA5E-442F252F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0BEE64E-698A-42B9-8560-371578E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C443BE5C-61DB-4C28-8204-9EB291CB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자료 업로드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1186D6B-0377-4A74-B786-CEC6B17D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영상·사진·문서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F5ABE470-01DE-40AE-9EB4-4B8261C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18DC46B0-6531-40F7-88B3-5E8757E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3036D01-2FFB-4E91-A146-A98F6C6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파일 검사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1CBE0DED-7B5F-47ED-9D7E-2243487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 파일 차단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CAF9C83F-2F49-43ED-BF08-5E33A253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01C0A922-6D77-41B5-BB5D-6ADA655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ED0403BC-24C5-4F82-A716-655557DF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모듈 분석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1BA48D7B-9341-4FED-A2CA-DF4BD0E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OCR·RAG·사례검색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B21A3C2-EAF1-4C30-8345-62CE913E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181B488-B100-4D29-96BC-1F8C692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19DFF00B-7288-4E27-A73B-721624C0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리포트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DA67BC4-30DD-486A-B934-4EFBB3D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근거·한계·다음 행동</a:t>
            </a:r>
          </a:p>
        </p:txBody>
      </p:sp>
      <p:sp>
        <p:nvSpPr>
          <p:cNvPr id="90" name="사각형: 둥근 모서리 89">
            <a:extLst xmlns:a="http://schemas.openxmlformats.org/drawingml/2006/main">
              <a:ext uri="{FF2B5EF4-FFF2-40B4-BE49-F238E27FC236}">
                <a16:creationId xmlns:a16="http://schemas.microsoft.com/office/drawing/2014/main" id="{6C177124-F622-4955-B477-B716E34D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762FDC98-3730-4CBF-9E34-028219FC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D74239F4-3D82-4849-AA42-3F1AFBCC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이력 저장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4A8B7C55-94F3-4B05-AD9A-FF4FB69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다시 보기·다운로드</a:t>
            </a:r>
          </a:p>
        </p:txBody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D7F10F20-9BCC-4FAC-B432-FEE4B789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5" name="사각형: 둥근 모서리 94">
            <a:extLst xmlns:a="http://schemas.openxmlformats.org/drawingml/2006/main">
              <a:ext uri="{FF2B5EF4-FFF2-40B4-BE49-F238E27FC236}">
                <a16:creationId xmlns:a16="http://schemas.microsoft.com/office/drawing/2014/main" id="{DD6E242A-B9C1-45DD-820D-4730E5A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019E7F40-52EF-443C-8EE4-E8472E27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사용자가 보는 것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D0F79A08-B613-43CF-996F-CA6E64D0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시스템 내부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B969D995-2E1D-4FA9-BC50-68A4C26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설명 입력과 자료 업로드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8F1BDB4B-71C4-4948-A271-735FC5F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 확인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8D68E8BE-1B04-467A-B3E2-9DA85DB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모듈별 분석과 결과 병합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E6122E0C-8FE3-4B0C-8DAB-AC4A0F3C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저장·다운로드·이력 관리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C4D5140-8CEC-4B58-A7E0-D24CB14A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6BEA231-CA84-4A9F-A32B-43A1879C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기능 설계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CCDDD4E-1E7C-4709-B7E2-3A3776AC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사용자 입력부터 리포트까지는 다섯 단계로 충분하다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0C740C1-564F-4B84-A6D5-A2375C9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단계가 많아 보이지 않도록 사용자의 화면 흐름에 맞춰 단순화했습니다.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D6AA0BB-0966-4938-BFE3-988DF428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5D76A9A-2A3A-4D48-9997-BF45D4BD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B8272A7-3065-4E1F-B862-25B8ADAE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DEE9DE8-2D0E-42CE-A573-79EEFC4E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질문 입력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일상어로 상황 설명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FE5B4DC-C854-4EC8-90A5-8697B04E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379AF49-DE73-4DB9-A328-BE622E2B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65A1AA2-4C8B-4055-AD3C-0EE136B2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42CACD1-1290-43AC-A759-E946730D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업로드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고지서·사진·영상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B1D6203-1A0D-4434-AC53-E2AB44B0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43CECE9-6310-4B77-90D5-24E57497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D4710EE-257E-4CA8-B904-240D7B99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4456DDB-D3BC-4F87-BD2A-0B84B6B0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분석 대기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스캔·구조화·검색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413A9B8-607B-4879-B839-170B9619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7CB0C04-C9E6-4AB5-B19D-F881E074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4EEFCB0-FE55-465F-BDC7-B41130CB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F80CE47-EB5D-4E9E-BB59-877D6D0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결과 확인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근거와 한계 확인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D2E9F8F-D5BC-42AC-A248-C8214848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3EFAE37-ED43-478D-A275-8B94917C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B849829-DB29-4E69-971A-47D1E8FE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FC83A06-95CC-4FFD-9F73-4FD088E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다음 행동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초안·보완 자료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E64A417-1E7A-4510-92A2-D8544A5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C375264-AF22-4942-B062-411BD455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29/45</a:t>
            </a:r>
          </a:p>
        </p:txBody>
      </p:sp>
    </p:spTree>
    <p:extLst>
      <p:ext uri="{BB962C8B-B14F-4D97-AF65-F5344CB8AC3E}">
        <p14:creationId xmlns:p14="http://schemas.microsoft.com/office/powerpoint/2010/main" val="41675063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20C14BE-EC82-A84D-9E85-34C20D73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301ED5-1FDD-A24C-CD3C-C2D12A1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0E2F8AF-37A3-3017-C197-4FCD158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고지서 인식과 이의 검토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C14CE82-85F0-A161-707B-B366DC7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3187DD5-6501-6FE6-0E9A-FEB8B17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B3E884-68DC-F381-CB4C-2416BFC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문서 인식</a:t>
            </a:r>
          </a:p>
        </p:txBody>
      </p:sp>
      <p:sp>
        <p:nvSpPr>
          <p:cNvPr id="9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26C84F2-7AE6-02BF-B228-8D65536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F100D0-D189-F11A-5127-5687854A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필드 추출</a:t>
            </a:r>
          </a:p>
        </p:txBody>
      </p:sp>
      <p:sp>
        <p:nvSpPr>
          <p:cNvPr id="15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3BF61C3-6980-6F8B-692B-A231E8E4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A748E9-BD6F-82C4-5025-1B58C12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1DF9C8-7655-4A61-2F21-AC105BA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2A5AC75-A2C2-C36F-77F6-E8F89F1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가능성/위험 분리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C335F87-89F5-9923-803C-D995390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F2849BE-2BBF-E7B0-F68D-39EB6F5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결과 리포트</a:t>
            </a:r>
          </a:p>
        </p:txBody>
      </p:sp>
      <p:sp>
        <p:nvSpPr>
          <p:cNvPr id="33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78AB55B-8A51-A089-12A0-312AE33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20E20DB-F04D-636C-4790-BBF2908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61514F0-0A08-40A3-D20A-A36516C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위반일시, 장소, 위반유형, 금액, 기한 추출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누락 필드는 사용자에게 추가 확인 요청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원문 전체가 아니라 필드 중심 처리</a:t>
            </a:r>
          </a:p>
        </p:txBody>
      </p:sp>
      <p:sp>
        <p:nvSpPr>
          <p:cNvPr id="44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5F95691-8D94-08A6-927C-AB7DBE2D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6977CF7-613E-3BC3-B90E-683A500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Appeal 분석 모듈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6B59BF3-087B-4A3D-5C45-E0A54C0D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도난, 제3자 운전 주장, 본인 운전 인정형 위험 패턴 구분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법적 가능성과 리스크 분리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기한 불명확 시 경고와 한계 표시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2EC9AFE-16D7-4BFC-87B3-1C5A33D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CE016421-73D4-489F-8E57-DC11CBB4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D2F43389-0913-4CAC-9165-010DDC16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고지서 인식은 필드 추출과 이의 검토로 나뉜다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28551AC-89D3-4D8E-A932-4B45C57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원문 전체를 그대로 처리하기보다 필요한 필드와 위험 패턴을 분리합니다.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204A925E-A137-461F-99A7-35F9275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A72C5350-1827-4208-B5BD-0B9A511F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EFCEB7CE-A099-4603-8907-8399BF1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7607F43-82AD-4BEA-AED2-5945543C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문서 인식 분석 모듈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147F1860-3709-4390-83A2-91992382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Appeal 분석 모듈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A0EF5C4-1A03-43F7-87EE-FF994916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위반일시·장소·유형·금액·기한 추출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26E6BA89-BF4A-4F13-9133-93A174FD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누락 필드는 추가 확인 요청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C325DB7-160F-4E4B-A1DC-C18B5F74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전체보다 필드 중심 처리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518C5672-7EE8-4CDF-897E-06BB579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도난·제3자 운전 등 사유 구분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471A2E1B-B2A4-4AE7-9DD2-BD168BF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가능성과 리스크 분리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46887629-906D-40CF-B03D-C7A13F65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기한 불명확 시 경고와 한계 표시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7D32497-6EA7-4044-94B6-3A9BA156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D8F52C3-C342-493A-A100-0B15737A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기능 설계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AA4CF1D-24FC-4D46-BB7F-A250B6C9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고지서 기능은 OCR보다 처분 유형과 기한 분리가 중요하다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D5DA6BF-9D53-408C-9658-4D49965E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금액보다 ‘인정해도 되는지’와 ‘언제까지 무엇을 해야 하는지’를 알고 싶어합니다.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4084741-F633-41BF-A1E7-3662A606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E61A1C8-2137-4DFC-A52C-0B3208A1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4EE5EF5-D9BB-4AC4-A50C-AB3CB3E2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381B437-6794-406D-8854-9EFE7740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입력에서 뽑는 정보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AFC7069-9AD3-4DE3-8227-5020E8CD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출력에서 분리하는 정보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AB48C5D-03C0-4E0C-80CA-F578F441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2AF255B-58FA-4E62-BFC4-B2A0FC7F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처분기관, 위반일시, 위반 장소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0E1ED68-5376-4175-9307-AFFCD6C0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21C42A9-5A0F-4E41-A116-E09B0203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과태료·범칙금·벌점 관련 표현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9310244-E68E-4711-BB08-E090A2CD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BE1D58E-5D39-4F13-8E7A-75F3ACB1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금액, 납부기한, 의견제출 안내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6B5BD65-4BB3-4B53-B577-E2F234F5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13901A-A36C-471B-AA0D-DAC2BFBD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가능한 사유와 부족한 증거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CA5CE5F-557A-4ACE-80CA-07479A42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3BE4296-C53F-43DA-B6E2-F9D52240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기한 경고와 문의해야 할 항목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49EB44F-4057-4EC5-934A-D77532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BBA8D9A-A272-4003-A053-96FE16D8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확정 표현이 아닌 검토 결과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73FA5C5-A2F8-4B80-BC25-C1BAD047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76CB902-860F-45C4-ADC1-C06C9D4F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30/45</a:t>
            </a:r>
          </a:p>
        </p:txBody>
      </p:sp>
    </p:spTree>
    <p:extLst>
      <p:ext uri="{BB962C8B-B14F-4D97-AF65-F5344CB8AC3E}">
        <p14:creationId xmlns:p14="http://schemas.microsoft.com/office/powerpoint/2010/main" val="34328732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3F27B7E-3991-071F-F5F1-A90AE1F2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DC0C12-6849-B478-8974-743D7D6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735397B-B1F5-B218-6D4E-FF7DE60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 근거 검색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FF88D66A-2C64-59DF-B679-4A6D97F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0F8F91-23D4-5681-7416-D0CA9B0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4048824-819C-D278-2095-9A42601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법령 근거 검색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A221EC-220D-2A15-461D-76A44C1B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사용자의 일상어를 법률 용어로 확장함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조문 단위 chunk와 keyword/vector search로 관련 법령을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조문, 적용 한계, 추가 확인 사항을 남김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9E203E1-0856-F975-FD3C-C26744DB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7E24AB-7BDC-C25F-CC2F-E0488B5A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사례검색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8CC1D4-0994-8600-A60C-99B23717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교통 판례 3,562건, 과실비율 판례 973건, 심의사례 226건을 활용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 목록, 사실관계 차이, 부족한 증거를 함께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60F18BB-C514-0FA1-3B36-43E947F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828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판례·심의사례·인정기준은 성격이 다르므로 source를 구분해서 보여줘야 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D7C7129-6007-42FA-AAFD-441AF33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94A3F61-6F63-4BA0-8DB7-0B0CF9C0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FEB02AA-8C27-448D-B2EB-C08B513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근거 검색은 source를 나눠야 신뢰가 생긴다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55D4A67-504C-4CB6-86BF-85E33F1E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법령, 판례, 인정기준, 심의사례는 성격이 달라 리포트에서도 구분해 보여줘야 합니다.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771A47F2-8310-46C6-8F83-0997211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12935D57-7F6A-4B06-AD1E-2BF3C488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3,562건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048BCD25-ADCC-4589-83CE-132F35AF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교통 판례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FA5A3AA7-FDBF-47E9-B176-0D4134B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사실관계와 법리 확인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3E1211D-074F-48FD-B264-1B218CEE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825664A-1AA9-4BC4-9D43-018BF6F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973건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3A1556D-F516-4A96-BF00-FCADE65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과실비율 판례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457D67C5-2EC7-4151-8DC7-5A1F764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책임 비율 판단 근거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4412EFF8-D531-4E46-8700-31E1732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303AC949-D8D4-46A0-889B-D8D0BEBC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226건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3F719190-76EE-496F-807B-90772E3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심의사례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A3BCEB26-3852-4710-959A-D09488AA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보험 분쟁 실무 참고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E35B6391-EF04-406C-B711-F13404ED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883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2871057-424E-4D0E-A4E8-8DD3FE84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0537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정답 비율을 단정하지 않고, 유사 사례·사실관계 차이·부족한 증거를 함께 제시합니다.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A89AB4-A28B-4287-AD2F-D1EB3E62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3BBB2C-E73A-4992-9755-F2BA61FE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기능 설계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5BE3F5-D9D2-46D8-A420-C6824A6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법령·사례 검색은 답변 장식이 아니라 신뢰의 근거다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52EE021-F569-42CB-B9D2-D3E883BB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RAG는 ‘그럴듯한 답변’을 만들기보다 출처가 있는 근거를 붙이기 위한 구조입니다.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1A33668-C729-47ED-9F0F-7A47D133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F3B5D57-C8CF-425E-AEE7-210691E8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952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4EAD944-9417-4FC0-8D6B-F454BE4A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법령 근거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5175CBD-7226-4531-A115-BAB08948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도로교통 관련 법령과 행정 기준을 조문 단위로 연결합니다.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8348761-34AF-4794-B448-4BE04E75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2952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A9C1D51-555D-42B3-B8EA-7CAA16C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05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과실비율 기준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0A50BBB-CE70-4939-B9FF-21076752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사고 유형과 쟁점을 기준표·심의사례와 비교합니다.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F745595-1090-4DDA-B899-94D8108D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2952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AEA951F-3BE1-48DE-8681-896CD696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한계 표시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95FE05E-74EA-4CA4-B901-23DAD672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유사하지만 다른 점, 확인되지 않은 사실, 추가 자료 필요성을 분리합니다.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9292C5B-7368-45A3-9C26-0022A7D9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DAF9C43-D66C-4457-A0E1-BD246A7C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31/45</a:t>
            </a:r>
          </a:p>
        </p:txBody>
      </p:sp>
    </p:spTree>
    <p:extLst>
      <p:ext uri="{BB962C8B-B14F-4D97-AF65-F5344CB8AC3E}">
        <p14:creationId xmlns:p14="http://schemas.microsoft.com/office/powerpoint/2010/main" val="31550572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31202B7-7849-EAC2-66D1-F53CFD8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D21113-4364-2EEB-00C3-7928A280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9E2B43FD-3F8A-6ED9-9A5E-5C61519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리포트 관리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1E2CFD03-5A5D-806D-A78E-27DB09F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ACFE13D-718D-B604-5127-CCDFAC9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723542-B768-D927-C288-2D12BEAC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요약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8DC020-7684-4CE0-4EE3-969C50B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사고유형, 당사자 주장, 제출 자료를 한눈에 확인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6DD4BD-79B5-533C-2EBD-CBA40A7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2823E8-1E25-1A68-E512-92D44EB9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자료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15784CE-F5DA-7CE5-3CA2-A370B23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법령, 판례, 심의사례, 과실기준을 출처와 함께 정리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D0CB76E-0247-2AFD-F2EF-6BA64AD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27AE82-4CC0-FE61-9348-87640BB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한계·주의사항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4A6B14-B28C-0B96-E092-56426AA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부족한 증거와 단정할 수 없는 부분을 표시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C73F3A6-8FD5-2E0B-E8EA-EC649436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C9DD3B1-D0A0-CFAC-24E9-CFF5D31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68D350-3C07-4389-E211-0E6D71F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보험사 문의 문구, 추가 증거 체크리스트, 다운로드 제공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030574A-E485-FD1B-36D0-DFA5CD25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9986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보험사와 대화하거나 전문가 상담을 받을 때 정리된 자료가 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7456FF3-4564-4677-BE8E-B2D6E3B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75820314-A76E-4BF2-8C53-D706EC00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BD6A4A89-7567-42CA-A0A9-75384347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상담 리포트는 보험사 대화와 전문가 상담의 준비물이 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76BA4EE-5BA7-4715-8E31-2C19A6B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사건 요약, 근거, 한계, 다음 행동을 한 페이지 안에서 확인하게 만듭니다.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50D8B4A-6938-45A5-96EB-2FE05D0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FE81F88E-8C49-4070-9CEC-85B34C00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5033D670-D3EB-49DF-B825-00A3F18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사건 요약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72177CE-0DF1-4957-95FB-20826EAB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43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사고유형·당사자 주장·제출 자료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405317A-E026-4B95-9F3A-921492C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2E98153-A628-41EF-AEA4-1E6860C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근거 자료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6D6301A7-4737-49E0-A813-16E44F4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법령·판례·심의사례·과실기준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0F360E6C-B3DB-4160-BB7F-146BB1FA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72C2D109-81AA-4DD8-A7A3-EBF17D3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한계·주의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EE7835A4-F515-454C-BF6E-DA5A783C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부족한 증거와 단정 불가 영역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D2B4CCEA-A8F5-4BCB-B2B5-48BEA1DC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7E8F8F90-1674-4B72-8919-7DDC9EC2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다음 행동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15FB378-9735-470F-9983-3504847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보험사 문의 문구·증거 체크리스트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149FD24-74F1-4714-87CC-5CBC5506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CFB565B-0C75-4361-90B2-EEF6AE50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기능 설계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F2DA5C0-5EB3-4537-809B-4175D48A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리포트는 답변이 아니라 다음 행동을 준비하는 문서다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AD1A9E-B76F-42F6-8758-13FE6273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사건 요약, 근거, 부족 자료, 질문 문구가 한 화면에서 이어져야 합니다.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8B33DC-D5D0-499F-A3E3-9E8BF645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80CA16-1216-42EC-9FD7-18009CBE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1C41678-C47C-4334-B8E4-234C23FE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사건 요약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E634A84-A7A8-4A88-A6E3-B3ED241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유형·당사자 주장·제출 자료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43CB434-86E3-4EF1-A2F1-F5D0A224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5D8E2E0-5EDA-40B1-B50D-8CD76D59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근거 자료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F5B1D05-3A45-434A-9F06-2B1EC506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법령·기준·유사 사례·출처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8012334-4E7E-41DB-9CFD-BE8F3119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688EBA-0A10-47CE-90B6-5464A295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한계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BAEAA8B-08FC-4CC1-B6DD-069C8DE8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확정 불가, 부족 정보, 주의 표현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F8169F2-2407-4101-A56C-4DC09CA2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0A74539-E09B-4CBE-8CB9-0F8C5873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다음 행동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A5E43B-CAA4-4ACA-A1FE-669018EC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 문의 초안·자료 보완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80D8A16-FBB9-444A-B057-872EFEAE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C1E28B6-D591-447E-AD3F-8EFDB20D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32/45</a:t>
            </a:r>
          </a:p>
        </p:txBody>
      </p:sp>
    </p:spTree>
    <p:extLst>
      <p:ext uri="{BB962C8B-B14F-4D97-AF65-F5344CB8AC3E}">
        <p14:creationId xmlns:p14="http://schemas.microsoft.com/office/powerpoint/2010/main" val="10804869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9CDB27-2941-7051-E670-20DF93C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1DED4F-62D9-A598-6733-0ACEDFB7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1BBB26-855A-A8CD-5BAA-552C77B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핵심 기능과</a:t>
            </a:r>
          </a:p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615BBB-120B-29DD-7332-5371141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문서 ·영상 ·법률 데이터를 연결하는 </a:t>
            </a:r>
          </a:p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AI 분석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7CBBC96-D3AA-A1CD-C196-7BA02C3B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29/40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EBFBFC-952A-A90C-A5C9-44DF9DE0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이미지·문서 분석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근거 검색과 결과 통합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민감 데이터 보호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C022316-DB00-44B2-8A78-69F6140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C3C20D5-9F6E-4AD7-8B8F-9957B93A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06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6D7C850-282F-49FB-B200-4256E960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AI 분석 구조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03FEB75-F14E-44B9-B3A2-8E3EB20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문서·영상·법률 데이터를 모듈로 나누고 Supervisor가 병합합니다.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51675EA3-503F-4990-9E5B-E9A410F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5C3729D2-DDBB-4821-A2C4-B713D64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FC11871-DD92-4B9A-9A71-80B37009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모듈 분리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10707CD3-BF15-422F-BBDC-53D02CA5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오류 유형별로 검증 기준을 다르게 적용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D777A55B-D68D-4397-BEC2-FEA5263D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E7657F73-4C05-4669-B01B-935E0748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검색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CD016E9E-6F8D-4954-B5C5-D5175250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법령·사례 source를 분리해 추적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F5C10DB-C037-4C92-ADE4-77EDE84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E6747950-B3A9-4532-A2BA-22024508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안전장치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AF3E76E-1146-4E44-A118-488C44CB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단정 대신 근거와 한계를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AFD4C-AAE1-453F-AC8E-80C32E5C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3C70D-7BB6-4184-B4FB-59BAD9DD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D7558-8D49-445E-887C-E10A81F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페르소나별 앱 사용 흐름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7C7F6-0284-409E-B97D-DE42746F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2명의 가상 사용자를 통해 기능이 실제 장면에서 어떻게 쓰이는지 보여줍니다.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6A5F3F-87D0-495E-916C-F8417150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1AC3EB-F362-4B1C-A86A-E41BBF1B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E6366-B9C1-4978-9999-CEC61D93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민지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F90B08-912B-48C3-965E-4815FC11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도난 상태 과태료 고지서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CAAAFA-4AD9-443D-8D42-52072A69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28953F-C455-4ED2-A794-5555A08F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준호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70EF0F-64F9-42FC-A333-8ACC724D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진로변경 사고 과실비율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FD96AB-5194-44EE-B764-97A901C9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819ED6-16CE-4D9F-A527-8FFAC1B6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공통 결과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995ADF-ED53-40E4-AAA4-7B3B8FFE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근거 리포트와 다음 행동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17EE28-086D-48F1-8E7E-B95660C8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FA0F41-7932-4C16-8EE3-D3EAA6DD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33/45</a:t>
            </a:r>
          </a:p>
        </p:txBody>
      </p:sp>
    </p:spTree>
    <p:extLst>
      <p:ext uri="{BB962C8B-B14F-4D97-AF65-F5344CB8AC3E}">
        <p14:creationId xmlns:p14="http://schemas.microsoft.com/office/powerpoint/2010/main" val="28618058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AA8577-8BF2-8390-F721-0619415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C5A431-9D8E-867D-6D9D-6358D9A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45F02FD-4921-57A5-9870-DC29888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7F58160-7E73-AF48-7871-08A9BD5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AA5891-6326-9867-F794-3522C81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293A27B-2FE3-F17C-BFEF-9DE9DB6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884032E-1C1D-72CE-0D80-247D8CE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텍스트·이미지·영상·고지서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98A04F-13C5-1112-197E-D5DD351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50DF2B-120C-0A1C-1F8A-DDA70F8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A73F84F-50D2-4076-EBB0-84903046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인식·파일 검사·항목 정리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1628ADA-1660-4964-BDC2-89F23C5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51315FC-21B0-87D4-C403-C3C87E1A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BEBE"/>
                </a:solidFill>
                <a:latin typeface="Malgun Gothic"/>
                <a:ea typeface="Malgun Gothic"/>
                <a:cs typeface="Malgun Gothic"/>
              </a:rPr>
              <a:t>검색/분석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D9AAEC7-3269-5D61-1DD0-10BA913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법령·사례·영상 분석</a:t>
            </a:r>
          </a:p>
        </p:txBody>
      </p:sp>
      <p:sp>
        <p:nvSpPr>
          <p:cNvPr id="3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B4DA6D-320E-E392-1D93-FD450E2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C7DDED-B1F4-3098-E27D-6802506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통합 판단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986E664-0210-5EFF-4F97-6E95B16F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라우팅·병합·한계 표시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5AB0D3E-CB89-2250-FB7C-5F774D4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F0A214F-55E7-9BBE-A9DC-CDECF864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E8BBFCF-E1B1-E1A5-07FA-D11272CB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47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6F68FB6-C7ED-B8B7-8AEB-8E9D60E5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79214F6C-FFB0-3D6B-5FBB-09BF326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DBAE8A39-D216-CDF5-0DDA-32F3586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이력, 업로드 자료, 분석 진행 상태를 관리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사용자는 리포트와 이전 상담 내용을 다시 확인</a:t>
            </a:r>
          </a:p>
        </p:txBody>
      </p:sp>
      <p:sp>
        <p:nvSpPr>
          <p:cNvPr id="53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DC77304-CFEB-22EF-6F4B-9D5FDD2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661FD2BB-6DC7-5A0D-28A3-0BE920E5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2A35622-614C-9945-8560-5DF14B9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법령·판례·과실비율 기준을 검색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근거와 한계를 함께 리포트에 표시</a:t>
            </a:r>
          </a:p>
        </p:txBody>
      </p:sp>
      <p:pic>
        <p:nvPicPr>
          <p:cNvPr id="165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82b48d67d4c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CA6F3BB6-E325-4459-881C-C36F7170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2EFA5ED-C05C-493D-90BE-DC6E532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분석 구조는</a:t>
            </a:r>
          </a:p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정답 생성이 아니라 근거 조립이다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807B2EA0-13AB-4E7D-B570-1454D53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C9C9C9"/>
                </a:solidFill>
              </a:defRPr>
            </a:pPr>
            <a:r>
              <a:rPr sz="1125" b="1">
                <a:solidFill>
                  <a:srgbClr val="C9C9C9"/>
                </a:solidFill>
              </a:rPr>
              <a:t>06  핵심 기능과 AI 분석 구조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2D2F4384-1925-456C-BFC5-FADAF6F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971DB1D2-D3BC-4ECD-B3E1-D8125FD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6166DAF-6134-4E06-9D26-3988636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정리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5DF3F063-F8FB-4B3A-8A92-CDB667E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고지서·사진·영상·사고 설명을 사건 필드로 분리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AF11FDB-4088-465A-816C-F4A67FD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4B696B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24816D35-47B3-4C93-86F2-C3ABA29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12F8C07-E375-4C7B-AFC5-2F44EB5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AE3C5BE3-AB5C-4F5A-9F69-9D354A1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법령, 인정기준, 판례, 심의사례를 source별로 검색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537C15C3-ACA5-4752-92DA-B07C343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444844C7-013C-4951-8BEF-1DBEE121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93F7BC0-247D-4515-9EC2-27DCC8B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61EC15E8-4B65-4003-99CD-A0554B99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Supervisor가 모듈 결과와 한계를 병합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120DC336-ACDF-44A6-A529-DFEF6AA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BF3B501-1B56-4454-A94D-29EDE32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E49F7BCA-D1ED-45E8-B0F9-6E423EC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리포트화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E877CE5D-1812-41D9-B6B6-5844EC47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근거, 부족 증거, 다음 행동을 사용자 문서로 제공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7BF69EDB-8A04-4A60-9B86-3133C1EE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D3D15742-FA98-4E08-B357-F12E66E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D28827F-83EE-49EE-8D4F-CB61215D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AI 분석 구조는 역할이 다른 에이전트가 근거를 합치는 방식이다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D185638D-BFBD-4D01-BA0D-B246C023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문서 인식, 사고 맥락, 법률 검색, 리포트 생성을 분리해 오류 전파를 줄입니다.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F665A0D1-2661-41BE-84D6-E1BA1EAC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8C21C9BB-21E2-4E38-BFBF-432D8771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19001C31-2602-4F61-8580-451F92AB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입력 수집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26F701A7-C9FE-4F8E-BA8F-C57CE209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고지서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사진·영상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 설명</a:t>
            </a:r>
          </a:p>
        </p:txBody>
      </p:sp>
      <p:sp>
        <p:nvSpPr>
          <p:cNvPr id="95" name="직선 연결선 94">
            <a:extLst xmlns:a="http://schemas.openxmlformats.org/drawingml/2006/main">
              <a:ext uri="{FF2B5EF4-FFF2-40B4-BE49-F238E27FC236}">
                <a16:creationId xmlns:a16="http://schemas.microsoft.com/office/drawing/2014/main" id="{71C83C1D-E86A-4521-93AC-5409D4D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96" name="사각형: 둥근 모서리 95">
            <a:extLst xmlns:a="http://schemas.openxmlformats.org/drawingml/2006/main">
              <a:ext uri="{FF2B5EF4-FFF2-40B4-BE49-F238E27FC236}">
                <a16:creationId xmlns:a16="http://schemas.microsoft.com/office/drawing/2014/main" id="{0F8D0241-CE46-4DA5-9DD0-9496E31D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1714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21C1F845-5A64-4245-9C5E-0FA11945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Supervisor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FCCEF324-F613-4067-948D-4E65399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입력 유형 분류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모듈 호출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결과 병합</a:t>
            </a:r>
          </a:p>
        </p:txBody>
      </p:sp>
      <p:sp>
        <p:nvSpPr>
          <p:cNvPr id="99" name="직선 연결선 98">
            <a:extLst xmlns:a="http://schemas.openxmlformats.org/drawingml/2006/main">
              <a:ext uri="{FF2B5EF4-FFF2-40B4-BE49-F238E27FC236}">
                <a16:creationId xmlns:a16="http://schemas.microsoft.com/office/drawing/2014/main" id="{70849BE4-D506-448C-8029-505364AD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0" name="사각형: 둥근 모서리 99">
            <a:extLst xmlns:a="http://schemas.openxmlformats.org/drawingml/2006/main">
              <a:ext uri="{FF2B5EF4-FFF2-40B4-BE49-F238E27FC236}">
                <a16:creationId xmlns:a16="http://schemas.microsoft.com/office/drawing/2014/main" id="{8F820741-F21E-497B-8CB8-E93E5EFB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2000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5B44AF95-D497-460B-9DBA-5CEB86FF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전문 에이전트</a:t>
            </a:r>
          </a:p>
        </p:txBody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4136CF74-3802-43A1-9044-B93E03C5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OCR/문서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사고상황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법률·사례 RAG</a:t>
            </a:r>
          </a:p>
        </p:txBody>
      </p:sp>
      <p:sp>
        <p:nvSpPr>
          <p:cNvPr id="103" name="직선 연결선 102">
            <a:extLst xmlns:a="http://schemas.openxmlformats.org/drawingml/2006/main">
              <a:ext uri="{FF2B5EF4-FFF2-40B4-BE49-F238E27FC236}">
                <a16:creationId xmlns:a16="http://schemas.microsoft.com/office/drawing/2014/main" id="{73C46EDA-7B5E-44FD-BA4F-016499F3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4" name="사각형: 둥근 모서리 103">
            <a:extLst xmlns:a="http://schemas.openxmlformats.org/drawingml/2006/main">
              <a:ext uri="{FF2B5EF4-FFF2-40B4-BE49-F238E27FC236}">
                <a16:creationId xmlns:a16="http://schemas.microsoft.com/office/drawing/2014/main" id="{3F124A45-5499-47A3-B909-981EAB88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1905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127E1C75-F6C7-4ECA-B140-D170AD6C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검증·안전장치</a:t>
            </a:r>
          </a:p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5A5C7D72-C536-4271-87AA-8A56A0D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출처 확인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한계 표시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개인정보 보호</a:t>
            </a:r>
          </a:p>
        </p:txBody>
      </p:sp>
      <p:sp>
        <p:nvSpPr>
          <p:cNvPr id="107" name="직선 연결선 106">
            <a:extLst xmlns:a="http://schemas.openxmlformats.org/drawingml/2006/main">
              <a:ext uri="{FF2B5EF4-FFF2-40B4-BE49-F238E27FC236}">
                <a16:creationId xmlns:a16="http://schemas.microsoft.com/office/drawing/2014/main" id="{B40B41C1-EA11-49B8-B27D-BEFA4E5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432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8" name="사각형: 둥근 모서리 107">
            <a:extLst xmlns:a="http://schemas.openxmlformats.org/drawingml/2006/main">
              <a:ext uri="{FF2B5EF4-FFF2-40B4-BE49-F238E27FC236}">
                <a16:creationId xmlns:a16="http://schemas.microsoft.com/office/drawing/2014/main" id="{CBB52B23-2BFC-4C65-A52B-34BF3AE7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272" y="2315936"/>
            <a:ext cx="1279979" cy="1203779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F77CBC84-1E4A-4904-9FB2-95FF07C0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208" y="2429329"/>
            <a:ext cx="980621" cy="429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리포트</a:t>
            </a:r>
          </a:p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A214E268-FEA5-49C5-81BD-A4C96EFE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437" y="2764972"/>
            <a:ext cx="1002392" cy="672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50" b="0">
                <a:solidFill>
                  <a:srgbClr val="D8D8D8"/>
                </a:solidFill>
              </a:rPr>
              <a:t>사건</a:t>
            </a:r>
            <a:r>
              <a:rPr sz="950" b="0">
                <a:solidFill>
                  <a:srgbClr val="D8D8D8"/>
                </a:solidFill>
              </a:rPr>
              <a:t> </a:t>
            </a:r>
            <a:r>
              <a:rPr sz="950" b="0">
                <a:solidFill>
                  <a:srgbClr val="D8D8D8"/>
                </a:solidFill>
              </a:rPr>
              <a:t>요약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50" b="0">
                <a:solidFill>
                  <a:srgbClr val="D8D8D8"/>
                </a:solidFill>
              </a:rPr>
              <a:t>근거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50" b="0">
                <a:solidFill>
                  <a:srgbClr val="D8D8D8"/>
                </a:solidFill>
              </a:rPr>
              <a:t>다음</a:t>
            </a:r>
            <a:r>
              <a:rPr sz="950" b="0">
                <a:solidFill>
                  <a:srgbClr val="D8D8D8"/>
                </a:solidFill>
              </a:rPr>
              <a:t> </a:t>
            </a:r>
            <a:r>
              <a:rPr sz="950" b="0">
                <a:solidFill>
                  <a:srgbClr val="D8D8D8"/>
                </a:solidFill>
              </a:rPr>
              <a:t>행동</a:t>
            </a:r>
          </a:p>
        </p:txBody>
      </p:sp>
      <p:sp>
        <p:nvSpPr>
          <p:cNvPr id="111" name="사각형: 둥근 모서리 110">
            <a:extLst xmlns:a="http://schemas.openxmlformats.org/drawingml/2006/main">
              <a:ext uri="{FF2B5EF4-FFF2-40B4-BE49-F238E27FC236}">
                <a16:creationId xmlns:a16="http://schemas.microsoft.com/office/drawing/2014/main" id="{70C8385B-0A11-45DF-8101-31E4E4C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4305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2" name="직사각형 111">
            <a:extLst xmlns:a="http://schemas.openxmlformats.org/drawingml/2006/main">
              <a:ext uri="{FF2B5EF4-FFF2-40B4-BE49-F238E27FC236}">
                <a16:creationId xmlns:a16="http://schemas.microsoft.com/office/drawing/2014/main" id="{B2A43856-0D68-4736-B56F-71C79956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핵심 설계 원칙</a:t>
            </a:r>
          </a:p>
        </p:txBody>
      </p:sp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F38D2235-52ED-4F4F-B1F7-0CAE6219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정답을 바로 생성하지 않고, 먼저 사건을 구조화한 뒤 근거 검색과 안전 검증을 거쳐 리포트로 합칩니다.</a:t>
            </a:r>
          </a:p>
        </p:txBody>
      </p:sp>
      <p:sp>
        <p:nvSpPr>
          <p:cNvPr id="114" name="사각형: 둥근 모서리 113">
            <a:extLst xmlns:a="http://schemas.openxmlformats.org/drawingml/2006/main">
              <a:ext uri="{FF2B5EF4-FFF2-40B4-BE49-F238E27FC236}">
                <a16:creationId xmlns:a16="http://schemas.microsoft.com/office/drawing/2014/main" id="{2BD15105-A288-434A-95D0-1815372F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0100"/>
            <a:ext cx="4305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E06FD266-0017-4CE5-BADB-6464A295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발표에서 강조할 한 문장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80D534E2-D5BD-4DAC-8890-EFC72E45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625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우리는 단일 챗봇이 아니라 교통분쟁에 맞춘 역할 분리형 에이전트 시스템을 만들었습니다.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4EE04EE2-0A7E-41CE-AFC4-E2B68728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30/41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278F39F-AEBC-4DC9-A645-7A22228C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B24854D-CB13-49AE-8A49-0E2B58C2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283E829-DC2D-4FA7-B276-AFA5A620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페르소나 1: 민지는 과태료 고지서를 받고 절차에서 막힌다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01FA980-CEF0-4885-803F-6883D6DC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앱은 바로 이의신청을 권유하지 않고, 먼저 기한과 사유를 정리합니다.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4F75487-35B3-45A2-ACF4-9298F5F2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218C4E8-4662-427B-910F-24BB0F1A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80B88AC-0901-480F-8F30-F43D54DF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D139CBB-81C6-4C15-94E4-66D3F015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민지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3183244-811F-4AB1-86B5-FAF0F15C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직장인 / 차량 도난 경험</a:t>
            </a:r>
          </a:p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불법주정차 과태료 고지서 수령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2500DBF-FFE8-4542-ADF2-D86C7102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막힌 지점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C726227-7DCC-4D77-ADE3-6A3612EC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도난 상태였는데 과태료를 내야 하는지, 어떤 증거가 필요한지 모릅니다.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8822063-CB3F-42E2-BFC6-2E0CFFE0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E0C5862-3D85-4F5C-B4AE-D7EB8B44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05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서비스가 제공해야 하는 결과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6CEF608-0CA8-4A03-8384-9E1D201C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3247FC-4782-4D98-B8A6-53988F1E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고지서 핵심 항목과 기한 확인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F765B55-1F94-43BE-A0B9-267DCA7F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F5E3780-357C-41AE-9C42-396E0C71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도난 사유와 필요한 증빙 자료 정리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9E250AC-7FD5-48BB-B21F-C6FC7DE3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BFE1E17-B951-4ED6-8DF9-B82B5D2C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291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기관 문의 전 확인 질문과 제출 체크리스트 제공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43E49A3-B94F-432B-A7CC-73DE811A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FF68278-C626-471E-A28E-15DFDB28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34/45</a:t>
            </a:r>
          </a:p>
        </p:txBody>
      </p:sp>
    </p:spTree>
    <p:extLst>
      <p:ext uri="{BB962C8B-B14F-4D97-AF65-F5344CB8AC3E}">
        <p14:creationId xmlns:p14="http://schemas.microsoft.com/office/powerpoint/2010/main" val="341965448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22596449-9C43-4EA2-BE83-6201D88F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F8F5A02-C684-4D2B-A4E4-A0EC03CA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CCAA29D-A72E-457C-A29F-3DF01E8C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시스템 아키텍처는 입력, 분석, 근거, 리포트 계층으로 나뉜다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8034607-1318-4710-84B6-4CE7EBF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에이전트가 같은 데이터를 보지 않고 필요한 정보만 처리해 정확도와 보안성을 함께 높입니다.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63F1E45-1A59-4213-80E9-2F11BAAA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83E97DEB-4B91-4474-BBB8-7956466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940A08C-7FA2-4EA9-A17B-27B49FB2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입력 계층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103363DF-2609-4853-9157-362543DA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사용자 질문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고지서 이미지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 사진·영상</a:t>
            </a: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965A575B-A97E-41B4-BC62-30391136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44812AA9-2943-4C89-8C2F-F7140D9E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65FF2C04-EE72-411A-B7D1-C5684D3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전처리 계층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ED1E91A-956C-4CF4-928E-3D48557E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파일 검사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OCR·메타데이터 추출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개인정보 마스킹</a:t>
            </a:r>
          </a:p>
        </p:txBody>
      </p:sp>
      <p:sp>
        <p:nvSpPr>
          <p:cNvPr id="13" name="직선 연결선 12">
            <a:extLst xmlns:a="http://schemas.openxmlformats.org/drawingml/2006/main">
              <a:ext uri="{FF2B5EF4-FFF2-40B4-BE49-F238E27FC236}">
                <a16:creationId xmlns:a16="http://schemas.microsoft.com/office/drawing/2014/main" id="{0B72D21B-63C7-4E4A-8C82-736DB9DC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9297A1F5-360C-4F23-BDD2-3BF5DE37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B187F765-AB7B-4E4C-9D5D-CD8E66F9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Agent 계층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F9DFA448-B97F-4271-A12F-B2FD9CBC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Supervisor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문서 인식 Agent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사고상황 Agent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법률·사례 RAG Agent</a:t>
            </a:r>
          </a:p>
        </p:txBody>
      </p:sp>
      <p:sp>
        <p:nvSpPr>
          <p:cNvPr id="17" name="직선 연결선 16">
            <a:extLst xmlns:a="http://schemas.openxmlformats.org/drawingml/2006/main">
              <a:ext uri="{FF2B5EF4-FFF2-40B4-BE49-F238E27FC236}">
                <a16:creationId xmlns:a16="http://schemas.microsoft.com/office/drawing/2014/main" id="{358CF720-9A8A-42F1-8AE6-097DD884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061AB3FB-6F7A-49DC-A1EC-435AD776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0B26AD9D-B039-47BD-AC2F-447C1D06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근거 계층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A047EAFE-5E24-4F1B-AA27-4557A5E3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국가법령정보센터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과실비율 기준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심의·유사 사례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프로젝트 DB</a:t>
            </a:r>
          </a:p>
        </p:txBody>
      </p:sp>
      <p:sp>
        <p:nvSpPr>
          <p:cNvPr id="21" name="직선 연결선 20">
            <a:extLst xmlns:a="http://schemas.openxmlformats.org/drawingml/2006/main">
              <a:ext uri="{FF2B5EF4-FFF2-40B4-BE49-F238E27FC236}">
                <a16:creationId xmlns:a16="http://schemas.microsoft.com/office/drawing/2014/main" id="{D2016C68-A501-40BF-A35F-6720769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4DED5120-7DC9-4420-9007-043DDC0F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6F646A51-BA22-4717-B845-6E871241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출력 계층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5B84A39-BEC7-4064-8AA8-C7ECF177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상담 리포트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부족 정보 체크리스트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보험사 문의 초안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58F6C195-AFA1-44B5-B886-21B49A4A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87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931A82DD-9103-47A4-AA89-85CB15B2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62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보안·품질 공통 계층</a:t>
            </a: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B917C50A-A282-4C6C-9360-DF893914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81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권한 분리 · 업로드 파일 검사 · 개인정보 마스킹 · 근거 출처 표시 · 확정 판정 금지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EC8B5904-CF4E-42A2-B0C6-7BA9D931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31/41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332329-306B-4B69-89A3-A75A4A22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7D5313-F3A7-49F0-AFA0-46726C56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BD0CC2-E1CC-4C0F-8702-72FF952D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민지의 사용 흐름은 고지서 이해에서 제출 준비까지 이어진다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8FBABD-BBEB-4AEA-BC72-C78974B6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단계는 사용자가 실제로 눌러야 할 화면 단위로 구성됩니다.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5E2144-C631-4168-97A0-C5909943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EA2BE7-1940-4517-AD32-E563343A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5BA2F8-6C03-468F-9155-004505CF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3B9A20-4584-4869-9449-44D2D23A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 업로드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OCR로 항목 추출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CCB6F1-9580-4346-A6D4-13FFC57A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689131-D1E9-4083-BF5F-8871E2C6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E0A05D-C71C-42A3-BD13-7B3A57F9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DB6539-B92B-41BF-97B6-F4919BC5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처분 유형 확인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과태료·기한·기관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1D02B1-6F6A-4BEC-A023-71A32A06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FAFC46-240B-41ED-B0A2-EBDD149C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9E8C29-F6A0-4BE9-BCB1-0F3B67B9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E97714-7349-4FBE-A8FD-7F0749B4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사유 입력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도난 경위와 신고 자료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565EB2-9874-4DD0-B9A8-1AFDFB22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C58EA4-E1E6-43A7-9B86-E4D2AAE4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A3FBE6-FFC1-47FD-9746-3ADAE9F9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2BADC4-6DDA-4184-B35C-6469CD8E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가능성 검토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인정 사유와 부족 자료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BF00B3-388C-4AA3-864E-74DCCAA3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06CE3A-18F3-400D-BE35-07EA507A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F7FF82-5CBC-403E-990A-5F2257A4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6C2932-E4C4-4CCC-8C2E-CD60444E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기관 확인 문구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534ED0-D8DC-402D-96BF-E2D913CE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2D8B55-D023-4BB4-8E59-393DE35E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35/45</a:t>
            </a:r>
          </a:p>
        </p:txBody>
      </p:sp>
    </p:spTree>
    <p:extLst>
      <p:ext uri="{BB962C8B-B14F-4D97-AF65-F5344CB8AC3E}">
        <p14:creationId xmlns:p14="http://schemas.microsoft.com/office/powerpoint/2010/main" val="8570660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D5A5655-E82E-A099-A1C6-5446B08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CA0C07-F82A-82AF-2F66-333F11DD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B78A165-8507-B064-2DB9-923F93A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분석 모듈 역할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AB6E2FF-5AD6-B0D5-4CE8-43AB8092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AF45E4-5F50-6B6F-E0D9-99A4761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1BAF64-CCF5-35DC-9C9B-5EAB3C04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4E6D36-BC86-C281-451A-69EF0311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고지서·문서 필드 추출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A6E4FA0-AD08-6DF2-3A72-C3B8D9C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3BC8EF-47BA-0DEE-4898-DF1AF19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 분석 모듈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30E75B-73DA-2BA9-35D0-C4E68842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프레임·객체·사고상황 후보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189BC91-337C-A4AB-9742-9BAE94B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AB31630-1C04-1D8B-41BF-55E29880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Law 근거 검색 분석 모듈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631E584-85D7-B817-3753-2A8DCEC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A7C64E5-6169-A173-461C-7CDB34F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BAC7246-194B-CCC3-E93F-707403DD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Fault 분석 모듈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7E87B1C-0247-C0B5-5339-947EF41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사고유형·쟁점·수정요소</a:t>
            </a:r>
          </a:p>
        </p:txBody>
      </p:sp>
      <p:sp>
        <p:nvSpPr>
          <p:cNvPr id="39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E7032DC-E981-1D9B-B6A8-F054ED8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AE65C10-2C0D-2347-0A92-26F154A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Report 분석 모듈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5E0CBC43-E6F0-F863-AF0B-B54C3D0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초안·체크리스트·리포트</a:t>
            </a:r>
          </a:p>
        </p:txBody>
      </p:sp>
      <p:sp>
        <p:nvSpPr>
          <p:cNvPr id="52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B38097F-9ABB-15A6-A534-192D9CE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990445C8-58BE-E800-76CA-82806B94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 분석 모듈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03151DCE-4135-6185-FD8A-1AD7DF03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분류·라우팅·결과 병합·한계 표시</a:t>
            </a:r>
          </a:p>
        </p:txBody>
      </p:sp>
      <p:sp>
        <p:nvSpPr>
          <p:cNvPr id="6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A3741E6-B331-88AA-21F7-ED99845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3318"/>
            <a:ext cx="105613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4DB8A8A-ECE1-52A6-D15B-80CD30B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4798"/>
            <a:ext cx="10561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법률, 보험, 영상, 문서 분석은 오류 유형이 다르기 때문에 역할 분리가 더 안정적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962339A-3EBF-42A6-8D75-B9CD4B6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4E2E9075-AE46-4CD3-94D3-9FFE25E9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1AC9394-2B46-46B3-834C-2037BE0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모듈을 나누면 오류 유형을 더 잘 통제할 수 있다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CC00D73-6D81-4648-8035-3703969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문서, 영상, 법률, 사례, 리포트는 서로 다른 검증 기준을 가집니다.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471CE8F8-1792-4604-ABA4-BA3AB803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78B7843-1481-46CA-972E-1BEC66C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 인식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E2F6690-5C19-42F6-A6AD-D555AF8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고지서·문서 필드 추출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F5A8E6AF-0FC6-4E5F-B252-2CCA465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E12988F-D850-4C7E-9BF4-F374B70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Vision/DL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0A09F8F0-EFD6-4D7A-8FEF-CCF586F2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프레임·객체·상황 후보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2342ADBE-7CBA-409B-B91E-17DE33C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CBD90106-D24E-4DF5-B101-023EC862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Law RAG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C46B2645-E7E4-4650-91C8-915C971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검색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D041B85F-85BA-4955-9C90-44D0226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A49694BA-0FCF-4EDD-8901-F50E6C91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Fault 분석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5914A4CE-A718-4608-8D55-C7D1596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사고유형·쟁점·수정요소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377993AE-BC4E-428B-B8C9-A4775308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C4129766-9993-41E7-8049-AC6BDFF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Report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A4423DC-5806-4D03-A97D-4DBEF8C9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초안·체크리스트·리포트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AB07AE76-A3F0-496A-BB65-D621E52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67D3CE96-CB65-496A-95E2-7D10BB76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Supervisor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2FF0241-EA16-46D8-9867-38D4BE80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라우팅·병합·한계 표시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165EFDD0-0BD7-4B38-9340-F3D1F0AA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93041B5D-2DBD-4D39-A684-44628287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5A6B3C4A-FA6E-451D-BB38-E3174D6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분석 모듈은 사용자 질문을 검토 가능한 사건 데이터로 바꾼다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A231466A-AC24-433F-BEB4-FC9DB8A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모듈은 다른 실패 지점을 담당하고, Supervisor가 최종 리포트의 일관성을 맞춥니다.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BE895DF8-D0B8-4EC0-99D7-9FC9FC37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72915FF9-8843-43B6-8D18-FF9F2A9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EFE6143A-16AB-4535-AA67-C4CDCE2F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문서 인식 Agent</a:t>
            </a:r>
          </a:p>
        </p:txBody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FD6BB81A-A592-44D8-B0C9-31B5C808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고지서·통지서에서 위반일시, 장소, 금액, 기한, 처분 유형을 추출</a:t>
            </a:r>
          </a:p>
        </p:txBody>
      </p:sp>
      <p:sp>
        <p:nvSpPr>
          <p:cNvPr id="97" name="사각형: 둥근 모서리 96">
            <a:extLst xmlns:a="http://schemas.openxmlformats.org/drawingml/2006/main">
              <a:ext uri="{FF2B5EF4-FFF2-40B4-BE49-F238E27FC236}">
                <a16:creationId xmlns:a16="http://schemas.microsoft.com/office/drawing/2014/main" id="{A2BA2F18-6B92-4552-BC49-D723209A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ACFDB923-BA10-4A9E-9FF7-C0575FB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사고상황 Agent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68D222FE-35C0-4378-968F-882FAAC1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사고 설명과 이미지·영상 단서를 사고 유형, 당사자 행동, 증거 목록으로 구조화</a:t>
            </a:r>
          </a:p>
        </p:txBody>
      </p:sp>
      <p:sp>
        <p:nvSpPr>
          <p:cNvPr id="100" name="사각형: 둥근 모서리 99">
            <a:extLst xmlns:a="http://schemas.openxmlformats.org/drawingml/2006/main">
              <a:ext uri="{FF2B5EF4-FFF2-40B4-BE49-F238E27FC236}">
                <a16:creationId xmlns:a16="http://schemas.microsoft.com/office/drawing/2014/main" id="{D1D0FE6F-BB6E-40AF-85E4-BB85D59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D783EA75-0721-44A8-A76D-844CF07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법률·사례 RAG Agent</a:t>
            </a:r>
          </a:p>
        </p:txBody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0C906244-4556-43BD-8168-B0E12AA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법령, 과실비율 기준, 심의사례를 검색하고 답변 근거와 출처를 연결</a:t>
            </a:r>
          </a:p>
        </p:txBody>
      </p:sp>
      <p:sp>
        <p:nvSpPr>
          <p:cNvPr id="103" name="사각형: 둥근 모서리 102">
            <a:extLst xmlns:a="http://schemas.openxmlformats.org/drawingml/2006/main">
              <a:ext uri="{FF2B5EF4-FFF2-40B4-BE49-F238E27FC236}">
                <a16:creationId xmlns:a16="http://schemas.microsoft.com/office/drawing/2014/main" id="{230E2C41-E328-40C7-94F7-15F74CE7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8D282A6B-E478-4B12-963C-580C3C6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리포트 Agent</a:t>
            </a:r>
          </a:p>
        </p:txBody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2E5F61F0-4FFB-4F50-ADFB-53E12892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910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가능성, 리스크, 부족 자료, 다음 행동을 사용자가 읽을 수 있는 형태로 정리</a:t>
            </a:r>
          </a:p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6B16EFAD-0D90-4056-9084-109070CB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32/41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00728A1-97FF-4598-A7C5-56D861E9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05C5EE4-8209-4FD6-AC27-F401CB2E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221FF3F-DD60-4264-BC6E-AECE0274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페르소나 2: 준호는 보험사의 과실비율 설명을 검증하고 싶다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F0E63F7-A5D8-460E-BEE1-0ABB9392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앱은 과실비율을 확정하지 않고, 사고 쟁점과 유사 사례를 비교할 수 있게 돕습니다.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D7B9698-ED21-4A82-8002-D2E062E3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E61077C-AE1A-4F9E-BBED-D40A553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12947F1-E592-4574-93E0-3A8F9EE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F5A21DD-DDF7-4F72-9D54-7E2179DB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준호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0AD4EB2-F40F-4E5A-B89E-74CC3D82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초보 운전자 / 진로변경 사고</a:t>
            </a:r>
          </a:p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보험사 과실비율에 이견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6612ED3-EA95-442B-BE5B-A2D85071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막힌 지점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2590E42-0803-47A3-A1C8-59324A10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상대 차가 끼어든 것 같은데 보험사가 말한 비율이 맞는지 확인하고 싶습니다.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D70E5DE-2B51-470C-914E-C5683C76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91D7693-C1EA-420D-82FA-FD6AEE54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05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서비스가 제공해야 하는 결과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8DB9563-3C42-4771-8259-447032BB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77EEA1-14B8-4BC9-97B3-CD6F3F08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사고 유형과 쟁점 구조화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DCBBBDD-A044-4497-93AC-2D175C7D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D630BE8-7C1B-46F4-A770-3D5CBADE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블랙박스·사진에서 확인해야 할 항목 제시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D56773-5F76-41C4-99B9-6BD29DF8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B143DD8-ED4A-43AA-85DA-E12187F5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291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보험사에 물어볼 질문과 유사 사례 근거 정리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727B6E8-17BC-4FCD-84C9-71F189D2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7A7E3F8-2AA6-4C66-92B0-7621BD6B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36/45</a:t>
            </a:r>
          </a:p>
        </p:txBody>
      </p:sp>
    </p:spTree>
    <p:extLst>
      <p:ext uri="{BB962C8B-B14F-4D97-AF65-F5344CB8AC3E}">
        <p14:creationId xmlns:p14="http://schemas.microsoft.com/office/powerpoint/2010/main" val="5773818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92C7304-A754-553B-7C54-12E4BA2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78BCAB-C548-C92A-273D-161DDCA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9B8E52F-423A-AD67-D168-3A7A81B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 설계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547C11D-A71E-6FB2-0171-B63E79B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326874D-0AFD-610C-655A-66DA579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D3641C-AACE-24EF-5D23-8D40962B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권한 분리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9BA88F-41E5-0D44-A1D3-6D29A96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로그인 여부에 따라 저장·다운로드 권한을 다르게 적용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391FC68-410D-3E34-DB86-57FDB7EC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78C476-C0BA-0602-A37A-593D37E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계정 보호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689D73-EDFD-9FF1-A45E-09F5C85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인증 정보는 서버에서 안전하게 관리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759F51-5325-1552-D31B-D546C6E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210471F-78C1-2AF4-B5D1-7E70C75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046A61B-D02C-2422-F479-595EBDD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업로드 파일을 검사한 뒤 AI 분석에 전달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58412E-C515-47D7-ACFA-75943F72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18B55FA-E08A-53E3-E408-796CAFC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개인정보 최소화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4928952-3213-8EE1-7F48-F171E48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필요한 정보만 저장하고 민감한 원문 노출을 줄임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882D7E9-789E-4FB0-BFA2-C1125A1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146AC91-1DEE-401A-492F-BB3A0AF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입력 검증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1DA210E-8B02-6548-9FB0-2785202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안의 악성 지시가 답변을 오염시키지 않도록 분리</a:t>
            </a:r>
          </a:p>
        </p:txBody>
      </p:sp>
      <p:sp>
        <p:nvSpPr>
          <p:cNvPr id="4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3594BB1-A814-9E55-EFC6-333CEA12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25BDA974-D9B6-C0D3-A96F-6E8CA90A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책임 제한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77F7027B-21C0-BBA1-0A44-8FFB5FAA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3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근거·한계·전문가 상담 안내 포함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1C8BBDA-BA10-48E3-8084-B2C5C79D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8189220-286E-4288-882A-453FC161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0F60600-B242-4C6E-87EF-5F400BC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보안 설계는 AI 기능의 전제 조건이다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1D71B73-02B3-4A2B-9085-BCD45E4A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데이터는 법률·보험·개인정보가 한 번에 들어오는 민감한 입력입니다.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0A271772-10D1-4C82-AE99-845E7DD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51E392DE-3E6D-4B31-BECB-5D80B39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권한 분리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165905F-BFA0-4576-A7E5-6B86CEEA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로그인 여부에 따라 저장·다운로드 권한 차등</a:t>
            </a:r>
          </a:p>
        </p:txBody>
      </p:sp>
      <p:sp>
        <p:nvSpPr>
          <p:cNvPr id="73" name="사각형: 둥근 모서리 72">
            <a:extLst xmlns:a="http://schemas.openxmlformats.org/drawingml/2006/main">
              <a:ext uri="{FF2B5EF4-FFF2-40B4-BE49-F238E27FC236}">
                <a16:creationId xmlns:a16="http://schemas.microsoft.com/office/drawing/2014/main" id="{7EB1E344-94E0-4232-9957-1E1113A6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D3E69AD-AAF3-4201-9F6B-1670FA64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계정 보호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91189E6E-CB01-46A7-85A7-0E158DA6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인증 정보는 서버에서 관리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F2BE1784-81CA-48B7-93B6-745CB1E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A54C817B-8B15-4208-82CD-0245341E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파일 검사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D68CD458-027F-4289-9DDB-0196F8A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검사 후 AI 분석에 전달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7119CA41-79BA-4368-ACF2-9AC79E39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442F0024-627A-4871-B8B6-1E8C511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개인정보 최소화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DC6D0F33-3737-4A7D-A4DD-F1D1A5D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필요 필드 중심 저장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D8616FCC-4CE5-422A-A7E9-534A16B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732C1AA8-07D3-473B-AF0C-17D7BBB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AI 입력 검증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87B4950E-B793-4F88-B500-D6073812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문서 내 악성 지시 분리</a:t>
            </a:r>
          </a:p>
        </p:txBody>
      </p:sp>
      <p:sp>
        <p:nvSpPr>
          <p:cNvPr id="85" name="사각형: 둥근 모서리 84">
            <a:extLst xmlns:a="http://schemas.openxmlformats.org/drawingml/2006/main">
              <a:ext uri="{FF2B5EF4-FFF2-40B4-BE49-F238E27FC236}">
                <a16:creationId xmlns:a16="http://schemas.microsoft.com/office/drawing/2014/main" id="{1CE671FC-FAF0-4030-85D1-11F73FE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58256A8A-BF2E-4818-B08C-10407CF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책임 제한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11A0216A-A8BC-4FCE-AE83-A05A024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근거·한계·상담 안내 포함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BA3EFB37-F890-44D8-8B11-D6DB3D6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A0608AA-5BDA-464E-A403-7B79EFAE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33/41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C1331F0-4024-4F04-9E3B-8B11308F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A682D8B-0CFE-40C4-AF84-992A5B78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8A4EF7-C1D7-410B-B494-66B5CE5C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준호의 사용 흐름은 사고 설명에서 보험사 질문 준비로 이어진다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E2FCFC3-B224-4D3B-A931-90A8D280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영상 자체보다 사고 유형, 신호, 차선, 정지 여부를 묶어 보는 것이 중요합니다.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4BB7326-BFD4-44F5-8F80-9F21B73E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33F10C-F4EF-4DEC-AB1B-D4BDC394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335354E-ECCD-4318-9440-5B90560B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ECDCE2C-164F-40BF-99D3-BB7D42B9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설명 입력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일상어 상황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CC866B-93B5-4C72-A539-08352047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293A822-34CB-498B-BD08-226DA5BE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DA0CF6-08DB-477D-BF12-CEE9321D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2892647-C4FA-49C5-928C-2978D27E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업로드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블랙박스·현장 사진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99E1ADE-C96E-4450-9E0E-0B750311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DE4BA02-3AFB-405E-8903-240AF6EE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9C97A52-8A73-49F9-A7F4-A3EBBF25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1E8F423-6625-4CDD-AF52-181A6E61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쟁점 구조화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진로변경·신호·차선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C56A45F-407A-4C2B-97DF-49F719C0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575E48-C90C-4280-9D81-3C26410A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8333DBE-71A1-48D9-B491-830A3677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DFBC01A-2160-4D8B-A841-6B4A6883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유사 사례 비교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기준과 차이점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9281E92-CCF4-44B4-A0C0-025FF256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F6C7D74-813E-460A-9428-110D9FA5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F41E894-B4EB-4F0F-81C8-ED83EB3A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FC9F514-67D7-4F14-BC96-27A001BC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 질문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확인 문구 초안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D5101F5-08A7-4F7A-9A51-6FB73A83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470465E-A374-43F7-8C81-4EBCC204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37/45</a:t>
            </a:r>
          </a:p>
        </p:txBody>
      </p:sp>
    </p:spTree>
    <p:extLst>
      <p:ext uri="{BB962C8B-B14F-4D97-AF65-F5344CB8AC3E}">
        <p14:creationId xmlns:p14="http://schemas.microsoft.com/office/powerpoint/2010/main" val="23586468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C576DCF-5215-A46F-F56B-D9A4392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33/40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868A09-922B-5EFD-0F3C-8CA4B04B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23FF589-05AA-EB1D-A59A-E7D7222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기반 안전장치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B089523-E867-44FC-7573-C36152B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1AAEE5-DDA4-C9FF-FFF1-023CEE0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068997-D808-9437-6466-D2271F5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하지 않는 것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EEA34A-9D04-1853-B8AC-3398320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 보장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과실비율 확정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제출·대리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변호사처럼 단정하는 표현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27B340-C516-3E8F-D6DC-63B2B74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788A49-AC4F-987D-B0FA-F9F5E2A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반드시 하는 것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BED0C63-AAA4-60EE-F72B-6B8C5F0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출처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근거와 한계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추가 확인사항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 직접 확인 절차 안내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26216B2-A80C-25F3-772D-25BCAE1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79032"/>
            <a:ext cx="29718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8D7934-8EF5-8B16-8E9E-7A9998A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21619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표현 방식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69CC4B9-AABA-1B2C-4501-94FBB70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609384"/>
            <a:ext cx="260604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“가능성 있음”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“검토가 필요함”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“부족 자료 안내”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A2CD0C-A964-7A43-BB18-1CFC03C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235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확정 판정 X | 기준·유사 사례·부족한 증거·다음 행동 제시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08F646A-3926-4429-B2AF-419CA08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171B16E-E7F9-4A95-8BCD-BC76C9E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5A156E43-DE86-466A-A88D-AB84D66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안전한 서비스는 하지 않을 일을 먼저 정한다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ACDBBB8-F44E-4DA3-AD54-FF15B68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AI는 확정 판정이 아니라 검토 가능한 근거와 다음 행동을 제공합니다.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948B4E3F-CA68-4B3B-88B5-C27613B4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E38A57E3-CEC0-4A24-ADCF-89E9ACD9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667B4D6F-7EA3-4723-8184-9E9C361A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하지 않는 것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7A05B83-F6D9-4774-947A-72DEC340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반드시 하는 것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7688C557-B1B8-4502-95F3-ED49C4A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 보장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5C30D95C-0B14-49BC-8593-7E9AEF65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과실비율 확정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B0F209B8-966A-4504-9714-0C0F3A9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제출·대리 신청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AE2DE1F-353A-46D2-9CB7-6E96F4B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변호사처럼 단정하는 표현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00C2595-D0ED-42C7-BCF5-1B82B70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출처 표시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FCD2A1EA-B944-4BB1-845E-EC54ACD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근거와 한계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D622EC67-F1B5-42BE-AE27-08992D81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추가 확인사항 제시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7E374B7-58E2-407E-BC76-DB4F3AA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사용자 직접 확인 절차 안내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758664A4-7FE9-432A-B69D-77794283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609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D3FE1C4F-31D5-4101-BE84-E99E68E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7690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표현 방식: 가능성 있음 · 검토 필요 · 부족 자료 안내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99E9F1FC-5D9D-4362-BA71-6C92A6B1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5020823-D5BE-4212-97E1-9A76706B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34/41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653A06-2221-481F-84E1-B419F9C8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4F3A15D-C837-4F4F-A4C1-A4625AC5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7B8CAB8-BA49-492A-89EA-3EF5FCE2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두 사용자는 다른 문제를 겪지만 같은 결과물을 필요로 한다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042C46A-2902-4C27-A672-5E41CE7B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고지서와 과실비율은 달라도, 사용자는 결국 근거와 다음 행동을 원합니다.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77BC2BC-1CF3-40E7-A88A-652020DA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ACB6956-BA82-420D-8E70-0BDCFFE1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991094A-5A06-463C-8B41-AE790182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9F66F85-D940-4B1C-A52E-B5CA95E6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민지에게 필요한 것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6D885DC-38DF-427B-8CAC-27C8B8DC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준호에게 필요한 것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D1D30E9-595F-4725-8EEC-40A3F8CE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8523A8B-6F70-44D3-8B0C-E7E72232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고지서 핵심 항목 해석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8074421-8DF6-4630-8142-028E6037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8AFCEE-55BB-4E8D-90A6-A34B65D0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도난 사유와 증빙 자료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B7964DD-DFA0-48C7-8B8C-52D102C2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3F74A53-1A7B-4749-87DB-991FDC82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기관 문의 전 체크리스트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501C67A-5809-4217-BFAB-39EC1CCD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382673D-34F4-4146-A1D0-4B55D5B2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사고 유형과 쟁점 분리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FB0E2E-DF97-41F2-B12A-E00CD40C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C101C07-A53B-4A1F-8D55-3C66647E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유사 사례와 차이 비교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0B2F78D-AF13-4418-8374-4C64933F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992F3DD-3F19-4C1F-9976-F5C8745F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보험사에 확인할 질문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96890A6-C6B5-4DB2-883E-873A7244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5F64EC0-F5D2-424B-9537-A397F82B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38/45</a:t>
            </a:r>
          </a:p>
        </p:txBody>
      </p:sp>
    </p:spTree>
    <p:extLst>
      <p:ext uri="{BB962C8B-B14F-4D97-AF65-F5344CB8AC3E}">
        <p14:creationId xmlns:p14="http://schemas.microsoft.com/office/powerpoint/2010/main" val="12428057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26C8F3-7EB5-A9E4-AB64-673A0B94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FF1564A-19FA-7025-8258-FDE21C1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3696D8-CCC3-11F5-091E-8D3044A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28EC2A-1B03-734C-E90C-78B11FB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MVP 기능, 검증 계획, 향후 확장 방향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3ABC2F-7F0E-7C95-A00E-72E545F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34/40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B94F91-FBBC-EFB1-548C-F88D9770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6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MVP 포함 및 제외 범위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분석 모듈 별 평가지표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현재 한계와 향후 확장 계획 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A749F42-D938-42E4-9D5B-0B119A04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A499571A-D4A4-44A2-87EB-E6A810E4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07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4CDEA5C-3B62-4CEF-9735-5DABE299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구현 범위와 기대효과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53A7A11C-D1A8-4D25-84B7-30523A03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MVP는 검증 가능한 기능에 집중하고 위험한 자동화는 제외합니다.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E9AE391-D968-4EA4-8D5E-967969D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F8B83F37-8557-4F80-8016-FD3C1283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026D4B3C-C802-4541-9D01-307B6191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MVP 범위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7F909919-7A85-4095-9165-5CC2009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고지서·사고 설명·근거 검색·리포트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2B787B58-EDB8-4487-BFE0-CA9750A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C368FF5-3710-4021-8DD4-3D7DA86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평가 계획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B60D759F-59DA-4999-8B13-9F7523A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모듈별 정확도와 안전장치 검증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0CA975BA-04C7-4ED2-9B47-A455A3A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4C0FCD7-5558-4AB2-9053-76217A8E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Next Step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15E332A-B0DA-44F0-B732-EBF59DD0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실제 사고 샘플 기반 E2E 보강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206498CF-7774-41B8-AF3E-C9A4974A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E9F10FE1-CFD7-496F-965C-1B33B48D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35/41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EDFDF9-F18C-4D6C-B810-B2BE6D51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143B5-60CE-425B-9706-4A039A68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75456B-2D0E-4A2D-AA8F-393DCBD1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AI·보안 설계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5F5D2F-BAFA-402E-BDBC-03B37852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민감한 사고 자료를 다루기 때문에 Agent 구조와 보안 통제가 함께 필요합니다.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2F7E42-1CF0-44DC-9A70-D42294A4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CA109B-7318-491B-B1BF-E3794D54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899915-ECE6-4A2A-9FBF-FF83118C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Agent 구조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E63972-8B81-42FB-A14A-6262D56E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역할 분리와 Supervisor 병합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82349E-E26F-4DC8-9608-BD6E2840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BE3B0C-6F40-49BF-8F96-E32B9497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보안 통제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0C35E4-B60D-4A4C-B2F5-BD37FD13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파일 검사·개인정보·출처 검증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FBE5C2-3775-4D7E-98C8-DDB69EA5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712B8D-E827-48B6-A599-E332583C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MVP 범위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F1CE9B-24F1-4BDC-A81B-6D9984AA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검증 가능한 기능에 집중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1B2D41-A488-4F15-8F8A-DF788E94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C695AC-389A-45FC-902B-15523826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39/45</a:t>
            </a:r>
          </a:p>
        </p:txBody>
      </p:sp>
    </p:spTree>
    <p:extLst>
      <p:ext uri="{BB962C8B-B14F-4D97-AF65-F5344CB8AC3E}">
        <p14:creationId xmlns:p14="http://schemas.microsoft.com/office/powerpoint/2010/main" val="404811138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6CC153E-47DF-49E4-9E0F-1DCD511B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F80A37-CC2F-8BF2-9B79-F66AE185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3476D41-8227-9C42-6077-1245078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MVP 구현 범위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7E7EA93E-67B7-9A95-303A-E947F46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AFE901B-483F-592A-E6F8-EC9FFD8C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AD4209-C966-31B2-78BC-1B8C69F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MVP에 포함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5FCFC6-417E-C389-4F62-8E1EAA6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및 과태료/범칙금 유형 확인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사고 설명 + 이미지/영상 구조화 결과 생성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법령·과실비율 기준·유사사례 근거 검색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이의제기 가능성 높음/중간/낮음 라벨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부족한 증거 체크리스트와 참고용 리포트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CD18615-97F2-0B1B-2E53-83637AE9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A2CDDF-7752-0854-2F4D-2AE9A5F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후순위 / 제외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26BA59-46AE-B2A5-3FC0-E645637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 또는 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승소/과실비율 확정 표현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전문가 연결 수익화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모든 영상 상황 자동 판정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자문처럼 보이는 단정 문구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A768100-9CDE-46A6-A9A7-1AE625F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1334A804-D7ED-4668-87F0-56DD95F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07  구현 범위와 기대효과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129F8260-1692-4255-8964-CD941113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MVP는 검증 가능한 기능에 집중한다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3DB1176-2EB8-4589-BDAA-8335F64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위험한 자동화와 단정 표현은 후순위로 두고 근거 리포트 흐름을 먼저 완성합니다.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FB60CAB-424B-4F9B-823B-F6B0869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57086EE0-DF42-4FC0-B726-E03ADD50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0F96E0B7-5ACC-40B5-9E40-5AE24AB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E28334C-E072-44DF-917E-2664FB5E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MVP에 포함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CC44D66E-1E91-476C-9F35-F83FE34B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후순위 / 제외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9D6A4C6-B7E1-4116-AFC3-ECC5FE4F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문서 인식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15D1BFD-0A52-4D2D-BCF3-5E34AC0B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 설명 + 이미지/영상 구조화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0442587-F637-4B36-A0A9-9F34C017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법령·기준·유사사례 검색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C435EA69-6885-4069-85D0-3AB2AE8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부족한 증거 체크리스트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908327F9-F370-4BF8-973D-CC2684F4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 또는 대리 신청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2D4FF70-FBA3-47FC-A2A5-ADFCC3AE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승소·과실비율 확정 표현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708EFF4-EEE3-4FB4-807B-F9A1BD70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전문가 연결 수익화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C935A28E-72C0-4D97-92BB-9A52A211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모든 영상 상황 자동 판정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D6A9E92C-B1F7-41A2-A672-F401BB8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5A558423-E906-4500-B958-C140EFB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36/41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C28E3D7-C7F5-458D-A0B5-8BD8435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A4F96A9-74CB-4374-95E1-BEF5314D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9373B0-462B-4776-ABE0-4B932E63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시스템 아키텍처는 입력, 분석, 근거, 리포트 계층으로 나뉜다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0236992-5015-44A8-ABB8-2C3A8D99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Agent가 필요한 정보만 처리하고 Supervisor가 결과를 병합합니다.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EC6CF1E-A71B-480F-A43F-0146CD8F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2B54650-92A7-4EFC-85A9-516F57F0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34A5A41-EB8A-4A88-BED0-5C15C2D8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입력 계층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3495633-E94F-4FC5-B13F-15AE5132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질문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사진·영상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B945A41-2EBE-4D10-AE7D-6F535017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90FF1CD-7E4C-4AE3-83A3-65990B14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CFC512C-8544-4EFC-8519-AE4D28FC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전처리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ADCD619-EF45-4889-8F69-186147B1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파일 검사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OCR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마스킹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55B9A3C-00C9-4E3A-8A80-9DF2BDCC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9AD7563-EA47-4B0F-9170-74938E49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6E8A97D-FE88-4676-9E6E-8B041A6C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Agent 계층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16A32F8-A934-4694-80DF-66612274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Supervisor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Agent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Agent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RAG Agent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5D95976-8CB7-4FAD-B4F5-A0F5A555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96E220-F6FA-4E46-B8BE-4C83384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2340171-F7E2-4FDC-9F47-9F182F8B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근거 계층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120D02B-F219-47A6-86B5-9DBB23D4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과실기준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심의사례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프로젝트 DB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1AEDE3-4116-49FC-A3AD-3AE3BA16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D3F0726-D449-47E0-87C4-0AC1BAC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45C76B7-D25F-49D4-8176-A84CC92C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출력 계층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34F2913-8C21-4162-BC82-BD9337E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리포트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체크리스트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3A5E665-F5FB-4FCE-9E7C-8EEA1A0C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BA0BF15-5EF6-4C0C-985D-3D2F7E9C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40/45</a:t>
            </a:r>
          </a:p>
        </p:txBody>
      </p:sp>
    </p:spTree>
    <p:extLst>
      <p:ext uri="{BB962C8B-B14F-4D97-AF65-F5344CB8AC3E}">
        <p14:creationId xmlns:p14="http://schemas.microsoft.com/office/powerpoint/2010/main" val="393586588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94D1064-057D-20E4-4BA3-EE502EB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DEB490-A897-96E9-6F45-0B065F52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BC5B1AB-5628-B542-4E0A-75FCEEFF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기능별 평가 계획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A6F3484-F834-55CE-6DCD-87A790E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90A2AD6-E1D5-00C6-544F-383F562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51096E-998D-80C6-EEC4-BCEB7915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C1E345-48CC-4221-9509-6C0BEBB9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필드 정확도, CER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핵심값이 맞는가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3424DF-6E05-AB78-9655-71703117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4B55D7-E4B8-C85B-F4DB-27833FB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3FFE49-3377-718F-E44D-362B806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Recall@k, MRR, Faithfulness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문서를 찾는가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4EAE8D0-82E9-F34E-E663-1A6FEE9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0CCD7D-030E-C1B9-1F30-AFF719C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A215532-4504-CBD5-CAF6-76509B7A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mAP, 장면 후보 정확도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상황을 구조화하는가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894C9F-3B21-63EF-3EB1-FE4829A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FBC811-F50E-0E87-3D91-56683658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0B6C7C6-807A-7607-2DD3-1BCC6D9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라우팅 정확도, E2E 성공률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올바른 분석 모듈를 호출하는가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0D71E48-0245-3EDC-F891-D4EFC32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F27474C-3173-2252-25E8-CCB62AD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154643-041C-657C-6C3C-9738712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단정 표현 차단률, limitations 포함률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리스크를 줄이는가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F9A5EED-CCF3-D484-0035-567FD2F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183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최소 목표 | 분석 모듈마다 숫자 1개 + 실패/한계 예시 1개 + 근거 포함 결과 1개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A207AB4-0792-4C6C-B8CE-343A021E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589CCB29-C42E-499D-835E-929CDFCB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36E6598-8A65-430B-9D04-DD7022A4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기능별 평가는 하나의 점수가 아니라 모듈별 기준으로 본다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6CA7CFBD-67BD-4892-9884-93CFF3F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OCR, 검색, 영상, 통합, 안전장치는 서로 다른 실패 방식을 갖습니다.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8A5E3D6A-EC34-4B83-A17F-CA008EF4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F823020C-A4FE-45BC-B231-DF3B98A7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97351817-3D15-454D-864E-77667FC1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문서 인식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AB2977A-AD83-41A6-9941-220DF93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필드 정확도·CER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핵심값이 맞는가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072FBEC4-5621-44BD-B441-D737B86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2656A8A-28E5-4AAC-A1C6-F044C7A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BF84CB5E-D207-4504-B0A5-2F7F727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55EAE74E-B947-44E2-8766-775DED2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Recall@k·MRR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 문서를 찾는가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12636398-D2AF-4A73-80DC-FE94814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F3550E9E-E68A-46B6-AA2A-4A29E11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48A4EB0-B43D-4596-BF14-0B923D99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Vision/DL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803A704B-72D3-4E32-8F6A-EAF7723C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mAP·장면 후보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상황을 구조화하는가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8B3A959E-95E3-4BB1-9E4F-61B51A0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C64ABFFF-0A3D-407F-BC7A-2F75040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49DA8AA9-B967-4D6A-BAE7-5855436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0BC4A680-26B4-4C53-8432-124F65C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라우팅·E2E 성공률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올바른 모듈을 호출하는가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4D00B2C8-4299-4508-8788-BB58705E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4EEC1DE3-5C5A-46F8-BD72-26707847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E6FDA771-A9E5-482A-9986-D79B11CD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안전장치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E0D8B941-081E-41AF-A012-08B9206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단정 표현 차단률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법률 리스크를 줄이는가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CF58B243-93F1-4172-864B-C3D7E6F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902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평가의 목표는 높은 점수보다, 근거 없는 단정과 잘못된 라우팅을 줄이는 것입니다.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1CF6C1B0-D228-4995-A3CD-B45845C0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A47DF435-44B6-4449-BDB3-02BC41E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37/41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5DF4C32-18CE-418B-8F20-4D054843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EC074F-5E34-4845-A64A-8AECB78C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F6F9AC-9DC3-45A8-8F5E-DDCD20E3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Agent를 나눈 이유는 정확도보다 오류 전파를 줄이기 위해서다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8E8878B-98CE-4514-8A14-0437890D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단일 챗봇이 모든 일을 하는 구조보다, 역할이 분리된 결과를 병합하는 구조가 안전합니다.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0BEFD3F-5051-41E6-BAE5-A3F2970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5358567-AC96-4748-882D-707D2517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76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EDDF244-CB7E-459D-AA8C-1B274630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7D5A3BE-DEBD-448B-9115-955B0840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853F158-FE8B-4154-8C05-9B3CCD2D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039F27D-A8A2-4DA5-B196-7D75B343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765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담당 입력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1083E61-EFDB-4383-A849-29F88A54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62954F-D018-4752-82E2-F3D6596C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출력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75BFD16-F915-42B0-8066-ED458DCB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FE51B55-ED19-44AD-BF06-B36E9678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안전장치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45BBF65-5151-4553-A450-38B74BB1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F056FC3-311A-408A-B81A-F788B2F1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문서 인식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C6D6595-E469-47C2-A9B2-E57D2181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B5079E5-ADFA-4EAA-89D2-EE4C957A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고지서·통지서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EE64EA5-1909-426C-808F-00F987BC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29883B8-47B6-4016-B1A3-60EBF85C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956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처분 유형·기한·금액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5459515-4A4F-4801-9C7C-A3D33CBF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B08A013-3BC4-49D0-A54A-72C34008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원문과 추출값 분리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755385E-1407-4D55-9630-F77EC09F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E83513B-BFC5-48F2-8890-39AE5DD6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사고상황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8675C63-9675-4347-A0CF-3B12EAE4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290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D863A69-1404-4D41-A011-091374FB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623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설명·사진·영상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BBBCAC9-27FD-49B3-AFB2-3C6B8BCD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872A2FF-FC63-4136-BD0D-50609D21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623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유형·쟁점·증거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71138B1-F97E-4A60-8A55-4390FBF8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023B988-B20A-4D9B-86AA-72B96935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확인 불가 항목 표시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C8C9F49-5E39-499B-B8F2-EB65552B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1E76253-BAEC-43DB-9EE0-679F3069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법률·사례 RAG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E368432-8C91-41B1-822D-D69E043D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57295DD-DBB7-4C2A-9476-3086B8F2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291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구조화된 쟁점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6A5058-AB50-4822-8308-19C1D936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71B6E96-AD5F-4FAB-9EFD-2A8BF73B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291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법령·기준·유사 사례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C89D90C-418E-444E-9F1F-13E0A30A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E3B9896-A6E1-4717-818E-9B4289F6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출처 없는 답변 제한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80DE2F8-55B7-4308-BBEC-D16F406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273ABF6-2C27-4D2D-AD62-2CAE34EA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리포트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9781153-5CCC-4531-8034-C19262C6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0FAABB5-2279-4061-96C1-83EC2397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958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Agent 결과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69D9ABC-B458-4BCC-8BF2-1E620863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2DA16E4-2A55-4F35-A187-6D6A874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958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요약·한계·다음 행동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4879969-636D-43CF-89A3-385E0949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F5B0156-956B-4948-BC97-32E815D9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확정 판정 금지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AA9E6BC-75EC-4209-8684-1BD76AC4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4C54CE3-7BA7-424D-BC66-4FBC1098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41/45</a:t>
            </a:r>
          </a:p>
        </p:txBody>
      </p:sp>
    </p:spTree>
    <p:extLst>
      <p:ext uri="{BB962C8B-B14F-4D97-AF65-F5344CB8AC3E}">
        <p14:creationId xmlns:p14="http://schemas.microsoft.com/office/powerpoint/2010/main" val="39601915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63FC-0B13-6DED-BD97-594AFF1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AAB7D1-4F15-460E-143F-BEFDC02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A45ECE0-7AD3-8925-7EFB-3C2E3DB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구현과 다음 단계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7851612-E02F-D66B-1FCD-A5B2C385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8E5539C-12E6-643D-89C6-3C5D1AB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767B3C-43B4-E1AB-8B27-5542854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강조할 것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C84D907-32D9-33BC-5818-555B33B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고지서 문서 인식 기반 처분 정보 추출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법령·과실비율 사례 검색 기반 답변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결과 리포트와 이력 확인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업로드 파일 검사와 개인정보 보호 설계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994EB2E-087E-74F6-43F7-A221609C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83C979-1B95-C683-A381-96C94368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한계와 Next Step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0D5EA99-BDA2-E120-9AC7-4F937CE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보험사 내부 데이터는 아직 활용하지 않음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모든 영상 상황 자동 판정은 후순위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법률 자문·대리 제출이 아닌 자가 대응 도구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사고 샘플 기반 E2E 데모 보강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정량 평가 수치와 리포트 품질 표시 강화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8D3218B3-A259-465F-94D6-9255C9D1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E046D64F-EF13-4F8B-B35E-45FF684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07  구현 범위와 기대효과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48AD3684-E6FF-48D4-8B91-8F2768E4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현재 구현은 데모 가능한 흐름과 한계를 함께 보여준다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6F2BF368-6BB4-445F-87A9-A7872C11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완성된 부분과 아직 아닌 부분을 분리해야 발표의 신뢰도가 올라갑니다.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9030E4C9-9C81-434C-BC4C-39012BD6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3F555038-4CA4-4871-8921-06047A6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88B233C1-D73C-4102-B81E-30F30621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CFF1D1D1-7152-4E13-88A9-CE798E24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현재 강조할 것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4838B0E-0E7F-4D09-BC55-FB0B31C7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한계와 Next Step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191F60CC-0740-4745-BE03-968B6EF4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문서 인식 기반 처분 정보 추출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EDD22D23-5D0F-4A6D-BA5B-766DB457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법령·과실비율 사례 검색 기반 답변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DF0907C9-AB70-47C6-82E1-B0CCA05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상담 결과 리포트와 이력 확인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716D9F0C-9B92-41EE-AC56-55BDC5D3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검사와 개인정보 보호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8B1B43A7-2B52-49F4-9085-FBFB4707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 내부 데이터는 아직 미사용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1C889C8-7FA3-4E35-94C1-F167F1F9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모든 영상 자동 판정은 후순위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C9A29948-57E3-47BB-972F-43A8FF7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자가 대응 도구로 범위 제한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07D4923-E815-431C-80F3-FDC49F3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실제 사고 샘플 기반 E2E 보강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666103AA-F704-4836-A3C0-8D2BE939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A6176098-6CB1-40AC-B23D-E32BB17C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38/41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CF5CD7A-4172-4BFA-A934-AFABDA6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E4C61D4-314F-484D-BE9B-E114EB12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90DBF65-420A-4409-B453-B43D5143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보안은 개인정보, 파일, LLM 출력, 권한을 함께 통제한다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263114A-6887-40BC-8531-705304F8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OWASP LLM 위험과 프로젝트의 파일 스캔·권한 설계를 발표용 언어로 정리했습니다.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C41411B-8D43-4AC1-A9AF-6CEB3744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8D5EC1D-6CCE-4E41-8CE5-BBF76F18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0287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3AB0991-F097-4A04-A007-A951C752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308AB1D-3067-4A26-9434-BCE42FDD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위험 영역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52FD582-172C-4653-9615-1B660DCD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241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48A4213-FC34-4648-8248-6BE284D5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발표에 넣을 체크포인트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9B968C7-8235-40E4-97BF-FCE182DD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241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BCE91F5-740D-4386-A723-579F654E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384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프로젝트 반영 포인트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F32EFD-CD26-4A8C-97D8-2CDADBFD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80C5BCC-AEED-438B-AC04-B7A6E094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384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관련 기준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C82844-0221-4633-8E81-9001E024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760BA84-7659-4786-AEBC-3F90520A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Prompt Injection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F25C04B-189F-4F7D-B412-D3E6C01F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1AFF2C0-8168-4E63-A6DF-1D68D0AB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안 지시문을 사용자 의도와 분리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E72F98D-A30F-4853-9C48-6E0F2EC9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E4BF6E5-08DD-4181-A844-4C82D7EA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575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Agent별 입력 envelope·Supervisor 병합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5E40ED9-5934-408B-9D27-87A8A0A7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14DFB93-7752-48E8-B03F-9CA93BA0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OWASP LLM01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E6B8E0F-DA9C-4B22-95D7-E23AA3BB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B333FAF-37C7-4739-B5EC-567F935D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민감정보 노출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6B5A51F-4FFB-46B1-AF20-2AA4EF2E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290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372E4C3-D6A7-425D-A01B-69CAB304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623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차량번호·주소·영상 최소 저장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BA7D085-691D-4961-88C3-F120C377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290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9A5CDEB-F47A-461D-8B66-8AF434F0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623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privacy_risk, PII scan 옵션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C44FB1B-CF1B-4276-8147-50C50175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56D5947-6EE9-46AC-B555-945DA1FE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OWASP LLM06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4C90DFD-A5CF-4ED4-8EE4-8B94FDCD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7495D73-6DCC-443A-8671-2264E93D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파일 업로드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7942066-C4E8-4D97-AAE4-C91A4F51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A2D0DBA-5A26-4A51-9D69-3DD52AD7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스캔 전 Agent 전달 차단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C3519C6-4CEF-4F84-921E-564DBAF3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338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AE7ED6F-941D-4D30-949A-FE7624EC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672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file_scan_service scan gate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E6BAD0-3C0C-4098-9CA4-6ED72C24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1820890-EF88-4324-9C27-A39B9FB2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보안 설계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9EA1996-E976-4D4F-90ED-F4B444DC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E16826E-EC24-4B87-91CB-7B35C633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과도한 자동화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CFFB29A-9C0C-4752-89D9-ED5AFB58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387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38ACCEC-8C96-49D4-8401-D5C0E8D9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720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자동 제출·확정 판정 제외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6A82400-3927-4306-ABF8-624CA509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387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3AF1D18-6301-4E4D-B695-F99054DB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720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MVP scope 제한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693A52F-3A94-4AEA-861A-C8B9159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387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641334C-822D-4BEF-97E1-0D6A6AEF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720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OWASP LLM08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CF34D81-BEC6-42F5-8A6C-AA177AD2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B18093B-03F3-4056-8647-9EC353C6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42/45</a:t>
            </a:r>
          </a:p>
        </p:txBody>
      </p:sp>
    </p:spTree>
    <p:extLst>
      <p:ext uri="{BB962C8B-B14F-4D97-AF65-F5344CB8AC3E}">
        <p14:creationId xmlns:p14="http://schemas.microsoft.com/office/powerpoint/2010/main" val="33024021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8D62189-8C58-443A-13D8-46B8CE1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37E76C-1723-016B-4183-92D51D19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F1CD41-2F02-3A6D-FFA1-D897AD48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AI가 필요한 이유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D9679A91-74AC-9FEB-6FE9-87EF66C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6FB915D-DD67-0A6E-C25D-F99CFD3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95A45D-0C36-0AFB-E717-5F51DC5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 증가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7E52D3-A5EE-8DAC-D44E-55FDD57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D4EB5B-3EE2-0FAD-2372-5E87502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3AAE824-7683-B192-8F17-AB0E913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탐색 비용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C127E0-99B6-E858-DF28-D5D328A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0A08C8B-4C84-854C-434C-A838433F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AB428B8-5C88-8B33-06F1-37C0B7FF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구조화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0E71F9-6CB1-A613-07FD-E5F6CC72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1C72AC8-D6CD-E0D5-BC8C-1A1A95B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C654980-A649-1438-B216-1DA1F38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검색/분석 모듈 분석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F827B37-BFC7-4397-0711-69A1D76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5A2A98A-8906-2D12-35A0-8916298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86FDEC9-E85B-3E11-8385-450B0AF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리포트</a:t>
            </a:r>
          </a:p>
        </p:txBody>
      </p:sp>
      <p:sp>
        <p:nvSpPr>
          <p:cNvPr id="37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0BF945D-F627-5BA1-2826-08D5C75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94472"/>
            <a:ext cx="104698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EF5595E-1802-7133-BDED-30707C2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31632"/>
            <a:ext cx="1010411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한 문장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69ED8A-493F-DE05-BCFE-9149C12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43111"/>
            <a:ext cx="1010411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 서비스는 교통사고·과태료·보험 분쟁에서 사용자가 전문가 상담 전 스스로 근거를 확인하고 다음 행동을 정리하도록 돕는 AI 상담·분석 서비스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D4F8E17-CAF4-A0AD-1AC0-B9BA22F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0432"/>
            <a:ext cx="10469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정답을 대신 내려주는 서비스가 아니라, 근거를 정리해 판단을 돕는 서비스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39876FF7-AD09-4F36-BD76-CC8BD66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8079242C-8E50-4B5E-9E86-AE39B04E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9A9775C-9A28-44A4-83F9-AA1377A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교통분쟁 AI는 판단을 대신하지 않고 판단 준비를 돕는다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C318D96-67D3-43DA-A6D8-5E8131D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전문가 상담 전, 자기 사건의 쟁점·근거·부족한 증거를 먼저 정리할 수 있습니다.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18BFD49A-4B8A-4DBA-9EE7-C4B315DD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6165EE9B-B079-42AB-BCF1-F36F91A4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F600C1E2-A936-4781-90B1-CDBFE971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분쟁 증가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D3867A50-A0BB-42D2-9DEF-CF59A8EE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정보 격차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2401B232-46CA-4690-98FF-A50699E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AC24978-1414-4AB4-B62E-A2E74D9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E5A0D58C-AF9B-4691-8543-CB119D2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탐색 비용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F91C6AB-21BD-490F-90CA-496AAE1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흩어진 기준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8C9C1580-DB0C-447E-A1FE-BC0F792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AE8DCD0-ED8F-4FF2-A6A7-00097D21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05870032-C875-4551-8C6C-5B4D897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73D87131-DCF9-4C5E-AE5D-804B73D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자료를 필드화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043DDA74-20D2-4C51-9FF5-EBC94C30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6B306F4-8E1E-43C3-B6DE-4216DBB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8FCA19BE-FE35-4090-B949-F880DB22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096965A2-8014-40D9-BE82-A8CC2ADE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법령·판례·사례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4CC9B93-31A2-4A64-9C69-511082F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2FDA7491-A249-43AC-A1EA-F2DF4BA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3102E621-E596-476B-BA9F-0848FB41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8EF6639-D596-445C-982C-F3AB1AE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다음 행동</a:t>
            </a:r>
          </a:p>
        </p:txBody>
      </p:sp>
      <p:sp>
        <p:nvSpPr>
          <p:cNvPr id="90" name="사각형: 둥근 모서리 89">
            <a:extLst xmlns:a="http://schemas.openxmlformats.org/drawingml/2006/main">
              <a:ext uri="{FF2B5EF4-FFF2-40B4-BE49-F238E27FC236}">
                <a16:creationId xmlns:a16="http://schemas.microsoft.com/office/drawing/2014/main" id="{FFA021CC-9015-48CA-9403-5BD9332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CEB08AB9-035D-4675-AC8B-72FB22B6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72075"/>
            <a:ext cx="853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한 문장: 정답을 대신 내려주는 서비스가 아니라, 근거를 정리해 사용자의 다음 판단을 돕는 서비스입니다.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FA7D255F-730E-4E43-A8CC-9329746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2BF990AD-4767-419D-A8CE-596068F0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39/41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FAFC313-0813-4A64-8C3C-5611AD87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191C132-0F99-41FA-BECC-E0AFF274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C5AA455-18AD-4D6C-A971-A1DB355C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MVP는 검증 가능한 기능에 집중하고 위험한 자동화는 제외한다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3F6B8F0-534B-4C31-9945-E8D87871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발표에서는 많이 한다보다 어디까지 책임지는지 선을 긋는 것이 더 설득력 있습니다.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C8B2E1-DEB7-48BF-B0D8-7B876E2C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CD22DFC-CE39-4995-84EC-10C780FA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F7F76DA-7661-4F80-94F5-487F3A04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9D561F-2F8F-46DE-BEB8-A67BC27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MVP에 포함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C127EED-2026-471A-ACBB-69469AE5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후순위 또는 제외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4177A50-9860-414C-940E-D6A1C35F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3681C43-5B5E-4CFF-BFDF-89B6081E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고지서 핵심 항목 추출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04A0F9C-41A1-43AE-9102-66915FEA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40375ED-3501-40D4-8A72-B749CEA6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사고 설명·자료 구조화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67C4C18-0E1D-4F7D-A86B-4F4BCA21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3E2471F-10FA-4134-AC7D-56998373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법령·기준·사례 근거 검색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727369-37F3-49C0-9408-C533B140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3C4BB3-EE56-474A-BC42-05AAE429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리포트와 문의 초안 생성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69569B6-4547-4229-87A1-94F7DB84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0025C84-EB80-41A8-BECA-D4C34DE2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자동 제출·대리 신청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5FAFEF8-87D8-4D6E-8560-E70F803C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345D166-F4F7-48EA-A943-1CF69E29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승소·과실비율 확정 표현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88BA105-E28B-46DF-9184-2CC6B9D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A5025C0-AA7B-4D79-8A6A-224CE3FD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 내부 데이터 활용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A79BC18-1D52-49BC-8988-22847F89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0673CDD-8D26-4F81-ACE5-7DAC7DCD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672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모든 영상 상황 자동 판정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EC2A44E-1928-4452-A3A4-5859F59F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7D0248D-A761-49E1-ABA9-E10F80DF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43/45</a:t>
            </a:r>
          </a:p>
        </p:txBody>
      </p:sp>
    </p:spTree>
    <p:extLst>
      <p:ext uri="{BB962C8B-B14F-4D97-AF65-F5344CB8AC3E}">
        <p14:creationId xmlns:p14="http://schemas.microsoft.com/office/powerpoint/2010/main" val="4054612846"/>
      </p:ext>
    </p:extLst>
  </p:cSld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Box 7">
            <a:extLst>
              <a:ext uri="{FF2B5EF4-FFF2-40B4-BE49-F238E27FC236}">
                <ns2:creationId id="{9B073CF9-FB27-4BF9-959B-A61D6EBAEDDF}"/>
              </a:ext>
            </a:extLst>
          </p:cNvPr>
          <p:cNvSpPr>
            <a:spLocks noGrp="1"/>
          </p:cNvSpPr>
          <p:nvPr/>
        </p:nvSpPr>
        <p:spPr>
          <a:xfrm>
            <a:off x="1596266" y="3855130"/>
            <a:ext cx="8678444" cy="1421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보험연구원·한국보험신문: 과실비율 분쟁 증가 및 국민인식</a:t>
            </a:r>
          </a:p>
          <a:p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IT동아/Daum: 교통사고 과실비율 판단 변수</a:t>
            </a:r>
          </a:p>
          <a:p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자동차사고 과실비율 정보포털: 공식 기준·심의사례</a:t>
            </a:r>
          </a:p>
          <a:p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국가법령정보센터: 도로교통 관련 법령</a:t>
            </a:r>
          </a:p>
          <a:p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개인정보보호위원회·OWASP LLM Top 10: 보안 기준</a:t>
            </a:r>
          </a:p>
        </p:txBody>
      </p:sp>
      <p:sp>
        <p:nvSpPr>
          <p:cNvPr id="12" name="TextBox 11">
            <a:extLst>
              <a:ext uri="{FF2B5EF4-FFF2-40B4-BE49-F238E27FC236}">
                <ns2:creationId id="{FFE1C8AB-9C9E-489C-A045-BFA67D8AB414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731520" cy="1677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/>
              </a:rPr>
              <a:t>39/40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14621449-F1B2-B05C-0F95-3662F64819F2}"/>
              </a:ext>
            </a:extLst>
          </p:cNvPr>
          <p:cNvSpPr>
            <a:spLocks noGrp="1"/>
          </p:cNvSpPr>
          <p:nvPr/>
        </p:nvSpPr>
        <p:spPr>
          <a:xfrm>
            <a:off x="745285" y="766370"/>
            <a:ext cx="978408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cja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F28438AA-BA8C-45B3-B1BB-ED88465CD0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BDF1D499-2F92-4CA2-A72A-FE509ECBA50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39/40  참고자료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D2181154-82FF-41AC-ACD7-B7158C87866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8763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참고자료는 시장·공식기준·보안을 분리해 제시한다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59FD7C45-2668-4422-A434-A67D956C924B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발표 근거가 어디에서 왔는지 마지막에 한 번 더 정리합니다.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F9D7D798-78D3-4E87-B9E1-C36FF28D1D4A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257300" cy="38100"/>
          </a:xfrm>
          <a:prstGeom prst="rect">
            <a:avLst/>
          </a:prstGeom>
          <a:solidFill>
            <a:srgbClr val="E95B52"/>
          </a:solidFill>
          <a:ln w="0">
            <a:noFill/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ns2:creationId id="{F5645D16-7154-4661-BF04-49F2773C66EB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ns2:creationId id="{E0CB9DAE-7F89-4A92-9079-EA6915AA3789}"/>
              </a:ext>
            </a:extLst>
          </p:cNvPr>
          <p:cNvSpPr>
            <a:spLocks noGrp="1"/>
          </p:cNvSpPr>
          <p:nvPr/>
        </p:nvSpPr>
        <p:spPr>
          <a:xfrm>
            <a:off x="1009650" y="2609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시장/인식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47E76057-62EE-490B-A9BD-0AD0263804E7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보험연구원·한국보험신문</a:t>
            </a:r>
          </a:p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과실비율 분쟁 증가 및 국민인식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4C63BE01-39A1-4C68-A41B-25D394961E3A}"/>
              </a:ext>
            </a:extLst>
          </p:cNvPr>
          <p:cNvSpPr>
            <a:spLocks noGrp="1"/>
          </p:cNvSpPr>
          <p:nvPr/>
        </p:nvSpPr>
        <p:spPr>
          <a:xfrm>
            <a:off x="4419600" y="23812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ns2:creationId id="{DF04EF28-E0B6-4E84-8A0F-6A4D8DE41A0C}"/>
              </a:ext>
            </a:extLst>
          </p:cNvPr>
          <p:cNvSpPr>
            <a:spLocks noGrp="1"/>
          </p:cNvSpPr>
          <p:nvPr/>
        </p:nvSpPr>
        <p:spPr>
          <a:xfrm>
            <a:off x="4648200" y="2609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변수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4A535BA1-8A95-4169-AC79-6257671119EB}"/>
              </a:ext>
            </a:extLst>
          </p:cNvPr>
          <p:cNvSpPr>
            <a:spLocks noGrp="1"/>
          </p:cNvSpPr>
          <p:nvPr/>
        </p:nvSpPr>
        <p:spPr>
          <a:xfrm>
            <a:off x="4648200" y="29718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IT동아 / Daum</a:t>
            </a:r>
          </a:p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교통사고 과실비율 판단 변수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65ED25C9-7C79-4DE6-A94B-70CB113B555E}"/>
              </a:ext>
            </a:extLst>
          </p:cNvPr>
          <p:cNvSpPr>
            <a:spLocks noGrp="1"/>
          </p:cNvSpPr>
          <p:nvPr/>
        </p:nvSpPr>
        <p:spPr>
          <a:xfrm>
            <a:off x="8058150" y="23812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ns2:creationId id="{180BF591-B044-446B-99F2-A8FCB69997FF}"/>
              </a:ext>
            </a:extLst>
          </p:cNvPr>
          <p:cNvSpPr>
            <a:spLocks noGrp="1"/>
          </p:cNvSpPr>
          <p:nvPr/>
        </p:nvSpPr>
        <p:spPr>
          <a:xfrm>
            <a:off x="8286750" y="2609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공식 기준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5623193D-D682-43C9-BFCD-4BF70EEB0B27}"/>
              </a:ext>
            </a:extLst>
          </p:cNvPr>
          <p:cNvSpPr>
            <a:spLocks noGrp="1"/>
          </p:cNvSpPr>
          <p:nvPr/>
        </p:nvSpPr>
        <p:spPr>
          <a:xfrm>
            <a:off x="8286750" y="29718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자동차사고 과실비율 정보포털</a:t>
            </a:r>
          </a:p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공식 기준·심의사례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ns2:creationId id="{2FFBA2C5-D7A9-48BF-ACAE-54E91194D536}"/>
              </a:ext>
            </a:extLst>
          </p:cNvPr>
          <p:cNvSpPr>
            <a:spLocks noGrp="1"/>
          </p:cNvSpPr>
          <p:nvPr/>
        </p:nvSpPr>
        <p:spPr>
          <a:xfrm>
            <a:off x="2571750" y="41719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ns2:creationId id="{3305960A-3554-42C7-8975-F3E2BA0E56A5}"/>
              </a:ext>
            </a:extLst>
          </p:cNvPr>
          <p:cNvSpPr>
            <a:spLocks noGrp="1"/>
          </p:cNvSpPr>
          <p:nvPr/>
        </p:nvSpPr>
        <p:spPr>
          <a:xfrm>
            <a:off x="2800350" y="44005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법령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B485E96B-231A-41D5-AE5D-D982E8C19F6C}"/>
              </a:ext>
            </a:extLst>
          </p:cNvPr>
          <p:cNvSpPr>
            <a:spLocks noGrp="1"/>
          </p:cNvSpPr>
          <p:nvPr/>
        </p:nvSpPr>
        <p:spPr>
          <a:xfrm>
            <a:off x="2800350" y="47625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국가법령정보센터</a:t>
            </a:r>
          </a:p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도로교통 관련 법령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C5598331-84D4-478F-B71D-EC4855927EE6}"/>
              </a:ext>
            </a:extLst>
          </p:cNvPr>
          <p:cNvSpPr>
            <a:spLocks noGrp="1"/>
          </p:cNvSpPr>
          <p:nvPr/>
        </p:nvSpPr>
        <p:spPr>
          <a:xfrm>
            <a:off x="6210300" y="41719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141414"/>
          </a:solidFill>
          <a:ln w="9525">
            <a:solidFill>
              <a:srgbClr val="E95B52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ns2:creationId id="{2792C079-A89D-4512-BE7C-B986DB5B5FA2}"/>
              </a:ext>
            </a:extLst>
          </p:cNvPr>
          <p:cNvSpPr>
            <a:spLocks noGrp="1"/>
          </p:cNvSpPr>
          <p:nvPr/>
        </p:nvSpPr>
        <p:spPr>
          <a:xfrm>
            <a:off x="6438900" y="44005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보안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4ED9424A-63AE-4BDF-B717-278B354BB19D}"/>
              </a:ext>
            </a:extLst>
          </p:cNvPr>
          <p:cNvSpPr>
            <a:spLocks noGrp="1"/>
          </p:cNvSpPr>
          <p:nvPr/>
        </p:nvSpPr>
        <p:spPr>
          <a:xfrm>
            <a:off x="6438900" y="47625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개인정보보호위원회·OWASP LLM Top 10</a:t>
            </a:r>
          </a:p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개인정보·LLM 안전 기준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5D4B84BE-18E5-48DA-BF00-FF9AE1ED65AD}"/>
              </a:ext>
            </a:extLst>
          </p:cNvPr>
          <p:cNvSpPr>
            <a:spLocks noGrp="1"/>
          </p:cNvSpPr>
          <p:nvPr/>
        </p:nvSpPr>
        <p:spPr>
          <a:xfrm>
            <a:off x="10648950" y="6191250"/>
            <a:ext cx="952500" cy="30480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ns2:creationId id="{04912F2C-3D04-469C-9D65-2ED41D3F4405}"/>
              </a:ext>
            </a:extLst>
          </p:cNvPr>
          <p:cNvSpPr>
            <a:spLocks noGrp="1"/>
          </p:cNvSpPr>
          <p:nvPr/>
        </p:nvSpPr>
        <p:spPr>
          <a:xfrm>
            <a:off x="10801350" y="62674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40/41</a:t>
            </a:r>
          </a:p>
        </p:txBody>
      </p:sp>
      <p:sp>
        <p:nvSpPr>
          <p:cNvPr id="35" name="">
            <a:extLst>
              <a:ext uri="{FF2B5EF4-FFF2-40B4-BE49-F238E27FC236}">
                <ns2:creationId id="{97188024-5936-4FE9-B9AC-E45E01FE57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33EE1AC3-D7B9-4060-9108-B598A3FAC52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REFERENCE</a:t>
            </a:r>
          </a:p>
        </p:txBody>
      </p:sp>
      <p:sp>
        <p:nvSpPr>
          <p:cNvPr id="37" name="">
            <a:extLst>
              <a:ext uri="{FF2B5EF4-FFF2-40B4-BE49-F238E27FC236}">
                <ns2:creationId id="{45CF674F-DA38-44AC-8607-D0D120AAEB4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자료 출처와 설계 근거</a:t>
            </a:r>
          </a:p>
        </p:txBody>
      </p:sp>
      <p:sp>
        <p:nvSpPr>
          <p:cNvPr id="38" name="">
            <a:extLst>
              <a:ext uri="{FF2B5EF4-FFF2-40B4-BE49-F238E27FC236}">
                <ns2:creationId id="{7BFD2CBF-DF13-4BF6-9341-07A799FE2975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반복 수치는 줄이고, 시장·법령·보안·프로젝트 구현 근거를 구분했습니다.</a:t>
            </a:r>
          </a:p>
        </p:txBody>
      </p:sp>
      <p:sp>
        <p:nvSpPr>
          <p:cNvPr id="39" name="">
            <a:extLst>
              <a:ext uri="{FF2B5EF4-FFF2-40B4-BE49-F238E27FC236}">
                <ns2:creationId id="{382B0DB9-DE61-4E79-8BA9-02576A649233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257300" cy="38100"/>
          </a:xfrm>
          <a:prstGeom prst="rect">
            <a:avLst/>
          </a:prstGeom>
          <a:solidFill>
            <a:srgbClr val="E95B52"/>
          </a:solidFill>
          <a:ln w="0">
            <a:noFill/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2C5F0C2E-E3C4-4B92-8A71-BD6489CB9E13}"/>
              </a:ext>
            </a:extLst>
          </p:cNvPr>
          <p:cNvSpPr>
            <a:spLocks noGrp="1"/>
          </p:cNvSpPr>
          <p:nvPr/>
        </p:nvSpPr>
        <p:spPr>
          <a:xfrm>
            <a:off x="990600" y="2476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1" name="">
            <a:extLst>
              <a:ext uri="{FF2B5EF4-FFF2-40B4-BE49-F238E27FC236}">
                <ns2:creationId id="{3FBCECEE-3413-4A21-9588-F62863033EF0}"/>
              </a:ext>
            </a:extLst>
          </p:cNvPr>
          <p:cNvSpPr>
            <a:spLocks noGrp="1"/>
          </p:cNvSpPr>
          <p:nvPr/>
        </p:nvSpPr>
        <p:spPr>
          <a:xfrm>
            <a:off x="1238250" y="24765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보험연구원·한국보험신문: 과실비율 분쟁 증가 및 소비자 인식 관련 기존 조사 자료</a:t>
            </a:r>
          </a:p>
        </p:txBody>
      </p:sp>
      <p:sp>
        <p:nvSpPr>
          <p:cNvPr id="42" name="">
            <a:extLst>
              <a:ext uri="{FF2B5EF4-FFF2-40B4-BE49-F238E27FC236}">
                <ns2:creationId id="{18F185BF-053B-408F-9D4C-207A31103FC0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3" name="">
            <a:extLst>
              <a:ext uri="{FF2B5EF4-FFF2-40B4-BE49-F238E27FC236}">
                <ns2:creationId id="{17585912-72AB-4067-9C3E-32679ACC9A46}"/>
              </a:ext>
            </a:extLst>
          </p:cNvPr>
          <p:cNvSpPr>
            <a:spLocks noGrp="1"/>
          </p:cNvSpPr>
          <p:nvPr/>
        </p:nvSpPr>
        <p:spPr>
          <a:xfrm>
            <a:off x="1238250" y="28956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자동차사고 과실비율 정보포털: 공식 기준 및 심의사례 확인 경로</a:t>
            </a:r>
          </a:p>
        </p:txBody>
      </p:sp>
      <p:sp>
        <p:nvSpPr>
          <p:cNvPr id="44" name="">
            <a:extLst>
              <a:ext uri="{FF2B5EF4-FFF2-40B4-BE49-F238E27FC236}">
                <ns2:creationId id="{688E541A-37FF-4A58-921B-76014E99984C}"/>
              </a:ext>
            </a:extLst>
          </p:cNvPr>
          <p:cNvSpPr>
            <a:spLocks noGrp="1"/>
          </p:cNvSpPr>
          <p:nvPr/>
        </p:nvSpPr>
        <p:spPr>
          <a:xfrm>
            <a:off x="990600" y="33147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5" name="">
            <a:extLst>
              <a:ext uri="{FF2B5EF4-FFF2-40B4-BE49-F238E27FC236}">
                <ns2:creationId id="{4C487A85-B8C7-4ACF-B4BD-2D458EF4E618}"/>
              </a:ext>
            </a:extLst>
          </p:cNvPr>
          <p:cNvSpPr>
            <a:spLocks noGrp="1"/>
          </p:cNvSpPr>
          <p:nvPr/>
        </p:nvSpPr>
        <p:spPr>
          <a:xfrm>
            <a:off x="1238250" y="33147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국가법령정보센터: 도로교통 관련 법령 확인 경로</a:t>
            </a:r>
          </a:p>
        </p:txBody>
      </p:sp>
      <p:sp>
        <p:nvSpPr>
          <p:cNvPr id="46" name="">
            <a:extLst>
              <a:ext uri="{FF2B5EF4-FFF2-40B4-BE49-F238E27FC236}">
                <ns2:creationId id="{CEAD25A1-E471-481E-8ACB-C8245B5D480F}"/>
              </a:ext>
            </a:extLst>
          </p:cNvPr>
          <p:cNvSpPr>
            <a:spLocks noGrp="1"/>
          </p:cNvSpPr>
          <p:nvPr/>
        </p:nvSpPr>
        <p:spPr>
          <a:xfrm>
            <a:off x="990600" y="37338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7" name="">
            <a:extLst>
              <a:ext uri="{FF2B5EF4-FFF2-40B4-BE49-F238E27FC236}">
                <ns2:creationId id="{B3BF6833-9E33-48C0-9250-2D91F7234278}"/>
              </a:ext>
            </a:extLst>
          </p:cNvPr>
          <p:cNvSpPr>
            <a:spLocks noGrp="1"/>
          </p:cNvSpPr>
          <p:nvPr/>
        </p:nvSpPr>
        <p:spPr>
          <a:xfrm>
            <a:off x="1238250" y="37338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OWASP GenAI Security Project: LLM Prompt Injection, Sensitive Information Disclosure, Excessive Agency</a:t>
            </a:r>
          </a:p>
        </p:txBody>
      </p:sp>
      <p:sp>
        <p:nvSpPr>
          <p:cNvPr id="48" name="">
            <a:extLst>
              <a:ext uri="{FF2B5EF4-FFF2-40B4-BE49-F238E27FC236}">
                <ns2:creationId id="{7AA70E4F-8742-4765-8270-782D44003693}"/>
              </a:ext>
            </a:extLst>
          </p:cNvPr>
          <p:cNvSpPr>
            <a:spLocks noGrp="1"/>
          </p:cNvSpPr>
          <p:nvPr/>
        </p:nvSpPr>
        <p:spPr>
          <a:xfrm>
            <a:off x="990600" y="41529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9" name="">
            <a:extLst>
              <a:ext uri="{FF2B5EF4-FFF2-40B4-BE49-F238E27FC236}">
                <ns2:creationId id="{C8CEC423-D5BD-414E-AA53-F7E34C8C99F5}"/>
              </a:ext>
            </a:extLst>
          </p:cNvPr>
          <p:cNvSpPr>
            <a:spLocks noGrp="1"/>
          </p:cNvSpPr>
          <p:nvPr/>
        </p:nvSpPr>
        <p:spPr>
          <a:xfrm>
            <a:off x="1238250" y="41529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NIST AI RMF / Generative AI Profile: AI 위험관리와 신뢰성 고려사항</a:t>
            </a:r>
          </a:p>
        </p:txBody>
      </p:sp>
      <p:sp>
        <p:nvSpPr>
          <p:cNvPr id="50" name="">
            <a:extLst>
              <a:ext uri="{FF2B5EF4-FFF2-40B4-BE49-F238E27FC236}">
                <ns2:creationId id="{AFD2412D-82F5-499D-9670-0DF643B2D241}"/>
              </a:ext>
            </a:extLst>
          </p:cNvPr>
          <p:cNvSpPr>
            <a:spLocks noGrp="1"/>
          </p:cNvSpPr>
          <p:nvPr/>
        </p:nvSpPr>
        <p:spPr>
          <a:xfrm>
            <a:off x="990600" y="45720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51" name="">
            <a:extLst>
              <a:ext uri="{FF2B5EF4-FFF2-40B4-BE49-F238E27FC236}">
                <ns2:creationId id="{E9CDB7C6-F165-4796-B836-7095294A0BEA}"/>
              </a:ext>
            </a:extLst>
          </p:cNvPr>
          <p:cNvSpPr>
            <a:spLocks noGrp="1"/>
          </p:cNvSpPr>
          <p:nvPr/>
        </p:nvSpPr>
        <p:spPr>
          <a:xfrm>
            <a:off x="1238250" y="45720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프로젝트 내부 설계: ai/README, backend/chatbot/file_scan_service.py, .env.example</a:t>
            </a:r>
          </a:p>
        </p:txBody>
      </p:sp>
      <p:sp>
        <p:nvSpPr>
          <p:cNvPr id="52" name="">
            <a:extLst>
              <a:ext uri="{FF2B5EF4-FFF2-40B4-BE49-F238E27FC236}">
                <ns2:creationId id="{5DA043E9-098F-4C7D-9187-1A2D6AD4633E}"/>
              </a:ext>
            </a:extLst>
          </p:cNvPr>
          <p:cNvSpPr>
            <a:spLocks noGrp="1"/>
          </p:cNvSpPr>
          <p:nvPr/>
        </p:nvSpPr>
        <p:spPr>
          <a:xfrm>
            <a:off x="10553700" y="6172200"/>
            <a:ext cx="1104900" cy="3238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53" name="">
            <a:extLst>
              <a:ext uri="{FF2B5EF4-FFF2-40B4-BE49-F238E27FC236}">
                <ns2:creationId id="{502AA79C-44C8-4DA5-97CC-9F6EFD77470E}"/>
              </a:ext>
            </a:extLst>
          </p:cNvPr>
          <p:cNvSpPr>
            <a:spLocks noGrp="1"/>
          </p:cNvSpPr>
          <p:nvPr/>
        </p:nvSpPr>
        <p:spPr>
          <a:xfrm>
            <a:off x="10744200" y="6257925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44/45</a:t>
            </a:r>
          </a:p>
        </p:txBody>
      </p:sp>
    </p:spTree>
    <p:extLst>
      <p:ext uri="{BB962C8B-B14F-4D97-AF65-F5344CB8AC3E}">
        <ns3:creationId val="44600657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52AFD0D-6D4A-4F5D-8B4E-897C604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34" y="1833151"/>
            <a:ext cx="4572000" cy="139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Q&amp;A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7DA0A3-C9B6-456B-A01D-AB98AFF8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3633699"/>
            <a:ext cx="67665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상담·분석 서비스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197156-6C4F-4090-8844-E139F41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40/40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6BFE417-1B8D-4056-AA47-2D3E5765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FA87E04-C117-4FCA-A6BD-CF1B59DF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C7252EC-49FB-4AC3-A526-01E25030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9C9C9"/>
                </a:solidFill>
              </a:defRPr>
            </a:pPr>
            <a:r>
              <a:rPr sz="1950" b="0">
                <a:solidFill>
                  <a:srgbClr val="C9C9C9"/>
                </a:solidFill>
              </a:rPr>
              <a:t>교통분쟁 AI 상담·분석 서비스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DD6F5E0-2473-4296-AD02-F4368E61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9535FAB6-46B5-4072-A9E7-4861F37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B38FF27-FB82-4893-B066-25FF9DC4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확정 판정이 아닌가요?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A3F33C0-552C-4C59-936B-9EA89CF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 리포트와 다음 행동을 제공합니다.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9F531060-3CDE-477B-ACDA-06ACBD2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77422A8-7418-4A31-B09A-DA6FD85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보험사와 독립적인가요?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A62B1722-2B00-439C-BA86-58FD8119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특정 보험사 고객에 한정하지 않습니다.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D6ABAA79-0F64-409A-A164-9CD4F7F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89C44D1-8BA6-429E-A918-1A2C79D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개인정보는 안전한가요?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15EFC38-F08D-411D-A91E-6160725E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권한·파일 검사·최소 저장을 전제로 합니다.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D106C5EE-6DB5-44FF-8B19-14CE228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0F6A2EE4-078B-492B-AEAD-23CDD49C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33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MVP 한계는 무엇인가요?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D15687-1239-4496-92D7-5E3E3746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자동 제출과 확정 표현은 제외합니다.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1F5B5A62-3D94-4603-B1B1-8B02289F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3A2246A7-7E6F-40F1-9A57-34D6EAB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41/41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98677-49EF-4F48-BFF6-51CDC5F7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82446F-3C5C-479E-A002-F4878238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E75BAE-B510-41ED-9BA1-23CD14D4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9C9C9"/>
                </a:solidFill>
              </a:defRPr>
            </a:pPr>
            <a:r>
              <a:rPr sz="1800" b="0">
                <a:solidFill>
                  <a:srgbClr val="C9C9C9"/>
                </a:solidFill>
              </a:rPr>
              <a:t>교통분쟁 AI 상담·분석 서비스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9B31B9-0030-4C0E-86B0-A2945CE7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126B3-C114-4EB1-85DA-E25FC084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확정 판정인가요?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A595CB-CA68-4FFF-B1A5-42245525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아니요. 근거 리포트와 다음 행동을 제공하고, 과실비율·승소 가능성을 단정하지 않습니다.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FA8565-B7C1-4931-A96A-42EC9DF5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2FDFC8-4733-409C-9CE3-3D7DD8B5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보험사와 독립적인가요?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BC4556-2781-4C81-8902-2F436664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특정 보험사 고객에 한정하지 않는 소비자용 셀프 점검 흐름으로 설계했습니다.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444383-9B19-4FFB-9E34-ED097958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A8C5A3-B509-4B21-B124-DDDEC941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개인정보는 안전한가요?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1C5ACD-2BB1-49EA-B91D-1F7908EA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파일 검사, 민감정보 위험 표시, 최소 저장, 권한 분리를 전제로 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4D7766-AFD0-4024-B50B-94FCC0EE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F46636-41DF-4CB8-840C-13CE175C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MVP 한계는 무엇인가요?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33DEF3-2E6D-4478-B86F-5F725E77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자동 제출, 대리 신청, 확정 판정은 제외하고 검증 가능한 리포트 생성에 집중합니다.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234167-F182-4C70-ADF0-8275966D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1EB612-89D5-4758-9A35-DD5665FA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45/45</a:t>
            </a:r>
          </a:p>
        </p:txBody>
      </p:sp>
    </p:spTree>
    <p:extLst>
      <p:ext uri="{BB962C8B-B14F-4D97-AF65-F5344CB8AC3E}">
        <p14:creationId xmlns:p14="http://schemas.microsoft.com/office/powerpoint/2010/main" val="12200507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2026-07-08T09:01:59.3940000Z</dcterms:created>
  <dcterms:modified xsi:type="dcterms:W3CDTF">2026-07-08T09:01:59.3940000Z</dcterms:modified>
</coreProperties>
</file>