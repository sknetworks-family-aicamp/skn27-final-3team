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cc40a716945e2" /><Relationship Type="http://schemas.openxmlformats.org/officeDocument/2006/relationships/extended-properties" Target="/docProps/app.xml" Id="R223f982282704995" /><Relationship Type="http://schemas.openxmlformats.org/officeDocument/2006/relationships/officeDocument" Target="/ppt/presentation.xml" Id="Rd65168c6dc6149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3fa39bfd884a05"/>
  </p:sldMasterIdLst>
  <p:notesMasterIdLst>
    <p:notesMasterId xmlns:r="http://schemas.openxmlformats.org/officeDocument/2006/relationships" r:id="R371d389d2f064c8d"/>
  </p:notesMasterIdLst>
  <p:sldIdLst>
    <p:sldId xmlns:r="http://schemas.openxmlformats.org/officeDocument/2006/relationships" id="256" r:id="Rac8075a46533429d"/>
    <p:sldId xmlns:r="http://schemas.openxmlformats.org/officeDocument/2006/relationships" id="257" r:id="R52a21f0c95964ef4"/>
    <p:sldId xmlns:r="http://schemas.openxmlformats.org/officeDocument/2006/relationships" id="258" r:id="Rdf39eeae63094596"/>
    <p:sldId xmlns:r="http://schemas.openxmlformats.org/officeDocument/2006/relationships" id="259" r:id="R16acb3edf5bc48b0"/>
    <p:sldId xmlns:r="http://schemas.openxmlformats.org/officeDocument/2006/relationships" id="260" r:id="R841fabf8acc14209"/>
    <p:sldId xmlns:r="http://schemas.openxmlformats.org/officeDocument/2006/relationships" id="261" r:id="R4710d160214944c8"/>
    <p:sldId xmlns:r="http://schemas.openxmlformats.org/officeDocument/2006/relationships" id="262" r:id="R52edc189dea045a7"/>
    <p:sldId xmlns:r="http://schemas.openxmlformats.org/officeDocument/2006/relationships" id="263" r:id="Rf0ba7832e2d54aea"/>
    <p:sldId xmlns:r="http://schemas.openxmlformats.org/officeDocument/2006/relationships" id="264" r:id="R0d94764b138a4042"/>
    <p:sldId xmlns:r="http://schemas.openxmlformats.org/officeDocument/2006/relationships" id="265" r:id="R0f5a4e405ea844f3"/>
    <p:sldId xmlns:r="http://schemas.openxmlformats.org/officeDocument/2006/relationships" id="266" r:id="R14e96bd81a954143"/>
    <p:sldId xmlns:r="http://schemas.openxmlformats.org/officeDocument/2006/relationships" id="267" r:id="R23dd4005802b4445"/>
    <p:sldId xmlns:r="http://schemas.openxmlformats.org/officeDocument/2006/relationships" id="268" r:id="R09f968b5839b423a"/>
    <p:sldId xmlns:r="http://schemas.openxmlformats.org/officeDocument/2006/relationships" id="269" r:id="R20f3f4f7d5dd40ef"/>
    <p:sldId xmlns:r="http://schemas.openxmlformats.org/officeDocument/2006/relationships" id="270" r:id="R11a6547061754e52"/>
    <p:sldId xmlns:r="http://schemas.openxmlformats.org/officeDocument/2006/relationships" id="271" r:id="Ra46dc2df66a14132"/>
    <p:sldId xmlns:r="http://schemas.openxmlformats.org/officeDocument/2006/relationships" id="272" r:id="Rbd6e8f6b08564bad"/>
    <p:sldId xmlns:r="http://schemas.openxmlformats.org/officeDocument/2006/relationships" id="273" r:id="R320fd2ff98d34087"/>
    <p:sldId xmlns:r="http://schemas.openxmlformats.org/officeDocument/2006/relationships" id="274" r:id="Rb7635de0ce3f46ce"/>
    <p:sldId xmlns:r="http://schemas.openxmlformats.org/officeDocument/2006/relationships" id="275" r:id="R1cc603a842be4266"/>
    <p:sldId xmlns:r="http://schemas.openxmlformats.org/officeDocument/2006/relationships" id="276" r:id="R2acd328286194708"/>
    <p:sldId xmlns:r="http://schemas.openxmlformats.org/officeDocument/2006/relationships" id="277" r:id="R329af6afd3764e72"/>
    <p:sldId xmlns:r="http://schemas.openxmlformats.org/officeDocument/2006/relationships" id="278" r:id="R9574f2a30e7d425b"/>
    <p:sldId xmlns:r="http://schemas.openxmlformats.org/officeDocument/2006/relationships" id="279" r:id="Ra95b107cdf6f4b04"/>
    <p:sldId xmlns:r="http://schemas.openxmlformats.org/officeDocument/2006/relationships" id="280" r:id="R2916646d66494335"/>
    <p:sldId xmlns:r="http://schemas.openxmlformats.org/officeDocument/2006/relationships" id="281" r:id="R1f9ec175ba1e45df"/>
    <p:sldId xmlns:r="http://schemas.openxmlformats.org/officeDocument/2006/relationships" id="282" r:id="Rd082c4a646c343dd"/>
    <p:sldId xmlns:r="http://schemas.openxmlformats.org/officeDocument/2006/relationships" id="283" r:id="R9a8fbe1a33aa4825"/>
    <p:sldId xmlns:r="http://schemas.openxmlformats.org/officeDocument/2006/relationships" id="284" r:id="R897cb111825347b0"/>
    <p:sldId xmlns:r="http://schemas.openxmlformats.org/officeDocument/2006/relationships" id="285" r:id="R8ddd30785eb1497d"/>
    <p:sldId xmlns:r="http://schemas.openxmlformats.org/officeDocument/2006/relationships" id="286" r:id="Ra0e938ed07a7427c"/>
    <p:sldId xmlns:r="http://schemas.openxmlformats.org/officeDocument/2006/relationships" id="287" r:id="R4a9b43584d8e4a53"/>
    <p:sldId xmlns:r="http://schemas.openxmlformats.org/officeDocument/2006/relationships" id="288" r:id="Rd2cc5365a014430b"/>
    <p:sldId xmlns:r="http://schemas.openxmlformats.org/officeDocument/2006/relationships" id="289" r:id="R334e237e89764e73"/>
    <p:sldId xmlns:r="http://schemas.openxmlformats.org/officeDocument/2006/relationships" id="290" r:id="R421766170b5b4dd0"/>
    <p:sldId xmlns:r="http://schemas.openxmlformats.org/officeDocument/2006/relationships" id="291" r:id="R44e8ac59f8984cf0"/>
    <p:sldId xmlns:r="http://schemas.openxmlformats.org/officeDocument/2006/relationships" id="292" r:id="Ra6bf9bf62c0447be"/>
    <p:sldId xmlns:r="http://schemas.openxmlformats.org/officeDocument/2006/relationships" id="293" r:id="R6f55cd9ca13e4dec"/>
    <p:sldId xmlns:r="http://schemas.openxmlformats.org/officeDocument/2006/relationships" id="294" r:id="Re86cf5a9adea4170"/>
    <p:sldId xmlns:r="http://schemas.openxmlformats.org/officeDocument/2006/relationships" id="295" r:id="R6873d729e44c4c03"/>
    <p:sldId xmlns:r="http://schemas.openxmlformats.org/officeDocument/2006/relationships" id="296" r:id="R42893fa1f9ab4ea8"/>
    <p:sldId xmlns:r="http://schemas.openxmlformats.org/officeDocument/2006/relationships" id="297" r:id="Rb739912198404139"/>
    <p:sldId xmlns:r="http://schemas.openxmlformats.org/officeDocument/2006/relationships" id="298" r:id="R2b97ef83627c454f"/>
    <p:sldId xmlns:r="http://schemas.openxmlformats.org/officeDocument/2006/relationships" id="299" r:id="Rb158461825d344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910e0920f416d" /><Relationship Type="http://schemas.openxmlformats.org/officeDocument/2006/relationships/slideMaster" Target="/ppt/slideMasters/slideMaster1.xml" Id="R513fa39bfd884a05" /><Relationship Type="http://schemas.openxmlformats.org/officeDocument/2006/relationships/notesMaster" Target="/ppt/notesMasters/notesMaster1.xml" Id="R371d389d2f064c8d" /><Relationship Type="http://schemas.openxmlformats.org/officeDocument/2006/relationships/presProps" Target="/ppt/presProps.xml" Id="R39f76083190942c5" /><Relationship Type="http://schemas.openxmlformats.org/officeDocument/2006/relationships/tableStyles" Target="/ppt/tableStyles.xml" Id="R35b5abafc06f4a19" /><Relationship Type="http://schemas.openxmlformats.org/officeDocument/2006/relationships/slide" Target="/ppt/slides/slide1.xml" Id="Rac8075a46533429d" /><Relationship Type="http://schemas.openxmlformats.org/officeDocument/2006/relationships/slide" Target="/ppt/slides/slide2.xml" Id="R52a21f0c95964ef4" /><Relationship Type="http://schemas.openxmlformats.org/officeDocument/2006/relationships/slide" Target="/ppt/slides/slide3.xml" Id="Rdf39eeae63094596" /><Relationship Type="http://schemas.openxmlformats.org/officeDocument/2006/relationships/slide" Target="/ppt/slides/slide4.xml" Id="R16acb3edf5bc48b0" /><Relationship Type="http://schemas.openxmlformats.org/officeDocument/2006/relationships/slide" Target="/ppt/slides/slide5.xml" Id="R841fabf8acc14209" /><Relationship Type="http://schemas.openxmlformats.org/officeDocument/2006/relationships/slide" Target="/ppt/slides/slide6.xml" Id="R4710d160214944c8" /><Relationship Type="http://schemas.openxmlformats.org/officeDocument/2006/relationships/slide" Target="/ppt/slides/slide7.xml" Id="R52edc189dea045a7" /><Relationship Type="http://schemas.openxmlformats.org/officeDocument/2006/relationships/slide" Target="/ppt/slides/slide8.xml" Id="Rf0ba7832e2d54aea" /><Relationship Type="http://schemas.openxmlformats.org/officeDocument/2006/relationships/slide" Target="/ppt/slides/slide9.xml" Id="R0d94764b138a4042" /><Relationship Type="http://schemas.openxmlformats.org/officeDocument/2006/relationships/slide" Target="/ppt/slides/slide10.xml" Id="R0f5a4e405ea844f3" /><Relationship Type="http://schemas.openxmlformats.org/officeDocument/2006/relationships/slide" Target="/ppt/slides/slide11.xml" Id="R14e96bd81a954143" /><Relationship Type="http://schemas.openxmlformats.org/officeDocument/2006/relationships/slide" Target="/ppt/slides/slide12.xml" Id="R23dd4005802b4445" /><Relationship Type="http://schemas.openxmlformats.org/officeDocument/2006/relationships/slide" Target="/ppt/slides/slide13.xml" Id="R09f968b5839b423a" /><Relationship Type="http://schemas.openxmlformats.org/officeDocument/2006/relationships/slide" Target="/ppt/slides/slide14.xml" Id="R20f3f4f7d5dd40ef" /><Relationship Type="http://schemas.openxmlformats.org/officeDocument/2006/relationships/slide" Target="/ppt/slides/slide15.xml" Id="R11a6547061754e52" /><Relationship Type="http://schemas.openxmlformats.org/officeDocument/2006/relationships/slide" Target="/ppt/slides/slide16.xml" Id="Ra46dc2df66a14132" /><Relationship Type="http://schemas.openxmlformats.org/officeDocument/2006/relationships/slide" Target="/ppt/slides/slide17.xml" Id="Rbd6e8f6b08564bad" /><Relationship Type="http://schemas.openxmlformats.org/officeDocument/2006/relationships/slide" Target="/ppt/slides/slide18.xml" Id="R320fd2ff98d34087" /><Relationship Type="http://schemas.openxmlformats.org/officeDocument/2006/relationships/slide" Target="/ppt/slides/slide19.xml" Id="Rb7635de0ce3f46ce" /><Relationship Type="http://schemas.openxmlformats.org/officeDocument/2006/relationships/slide" Target="/ppt/slides/slide20.xml" Id="R1cc603a842be4266" /><Relationship Type="http://schemas.openxmlformats.org/officeDocument/2006/relationships/slide" Target="/ppt/slides/slide21.xml" Id="R2acd328286194708" /><Relationship Type="http://schemas.openxmlformats.org/officeDocument/2006/relationships/slide" Target="/ppt/slides/slide22.xml" Id="R329af6afd3764e72" /><Relationship Type="http://schemas.openxmlformats.org/officeDocument/2006/relationships/slide" Target="/ppt/slides/slide23.xml" Id="R9574f2a30e7d425b" /><Relationship Type="http://schemas.openxmlformats.org/officeDocument/2006/relationships/slide" Target="/ppt/slides/slide24.xml" Id="Ra95b107cdf6f4b04" /><Relationship Type="http://schemas.openxmlformats.org/officeDocument/2006/relationships/slide" Target="/ppt/slides/slide25.xml" Id="R2916646d66494335" /><Relationship Type="http://schemas.openxmlformats.org/officeDocument/2006/relationships/slide" Target="/ppt/slides/slide26.xml" Id="R1f9ec175ba1e45df" /><Relationship Type="http://schemas.openxmlformats.org/officeDocument/2006/relationships/slide" Target="/ppt/slides/slide27.xml" Id="Rd082c4a646c343dd" /><Relationship Type="http://schemas.openxmlformats.org/officeDocument/2006/relationships/slide" Target="/ppt/slides/slide28.xml" Id="R9a8fbe1a33aa4825" /><Relationship Type="http://schemas.openxmlformats.org/officeDocument/2006/relationships/slide" Target="/ppt/slides/slide29.xml" Id="R897cb111825347b0" /><Relationship Type="http://schemas.openxmlformats.org/officeDocument/2006/relationships/slide" Target="/ppt/slides/slide30.xml" Id="R8ddd30785eb1497d" /><Relationship Type="http://schemas.openxmlformats.org/officeDocument/2006/relationships/slide" Target="/ppt/slides/slide31.xml" Id="Ra0e938ed07a7427c" /><Relationship Type="http://schemas.openxmlformats.org/officeDocument/2006/relationships/slide" Target="/ppt/slides/slide32.xml" Id="R4a9b43584d8e4a53" /><Relationship Type="http://schemas.openxmlformats.org/officeDocument/2006/relationships/slide" Target="/ppt/slides/slide33.xml" Id="Rd2cc5365a014430b" /><Relationship Type="http://schemas.openxmlformats.org/officeDocument/2006/relationships/slide" Target="/ppt/slides/slide34.xml" Id="R334e237e89764e73" /><Relationship Type="http://schemas.openxmlformats.org/officeDocument/2006/relationships/slide" Target="/ppt/slides/slide35.xml" Id="R421766170b5b4dd0" /><Relationship Type="http://schemas.openxmlformats.org/officeDocument/2006/relationships/slide" Target="/ppt/slides/slide36.xml" Id="R44e8ac59f8984cf0" /><Relationship Type="http://schemas.openxmlformats.org/officeDocument/2006/relationships/slide" Target="/ppt/slides/slide37.xml" Id="Ra6bf9bf62c0447be" /><Relationship Type="http://schemas.openxmlformats.org/officeDocument/2006/relationships/slide" Target="/ppt/slides/slide38.xml" Id="R6f55cd9ca13e4dec" /><Relationship Type="http://schemas.openxmlformats.org/officeDocument/2006/relationships/slide" Target="/ppt/slides/slide39.xml" Id="Re86cf5a9adea4170" /><Relationship Type="http://schemas.openxmlformats.org/officeDocument/2006/relationships/slide" Target="/ppt/slides/slide40.xml" Id="R6873d729e44c4c03" /><Relationship Type="http://schemas.openxmlformats.org/officeDocument/2006/relationships/slide" Target="/ppt/slides/slide41.xml" Id="R42893fa1f9ab4ea8" /><Relationship Type="http://schemas.openxmlformats.org/officeDocument/2006/relationships/slide" Target="/ppt/slides/slide42.xml" Id="Rb739912198404139" /><Relationship Type="http://schemas.openxmlformats.org/officeDocument/2006/relationships/slide" Target="/ppt/slides/slide43.xml" Id="R2b97ef83627c454f" /><Relationship Type="http://schemas.openxmlformats.org/officeDocument/2006/relationships/slide" Target="/ppt/slides/slide44.xml" Id="Rb158461825d3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67d6d9a9f4f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213586fa424e78" /><Relationship Type="http://schemas.openxmlformats.org/officeDocument/2006/relationships/notesMaster" Target="/ppt/notesMasters/notesMaster1.xml" Id="Rdfe92bf62ce54d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5f774edbe84b2c" /><Relationship Type="http://schemas.openxmlformats.org/officeDocument/2006/relationships/notesMaster" Target="/ppt/notesMasters/notesMaster1.xml" Id="Rd2478476df7e48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acacfa0e2c413a" /><Relationship Type="http://schemas.openxmlformats.org/officeDocument/2006/relationships/notesMaster" Target="/ppt/notesMasters/notesMaster1.xml" Id="R3fd54fa03af643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6fc6b237744ce" /><Relationship Type="http://schemas.openxmlformats.org/officeDocument/2006/relationships/notesMaster" Target="/ppt/notesMasters/notesMaster1.xml" Id="R170480bd8f0446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bd764272264759" /><Relationship Type="http://schemas.openxmlformats.org/officeDocument/2006/relationships/notesMaster" Target="/ppt/notesMasters/notesMaster1.xml" Id="R5bbae347f89f46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839240f304ae3" /><Relationship Type="http://schemas.openxmlformats.org/officeDocument/2006/relationships/notesMaster" Target="/ppt/notesMasters/notesMaster1.xml" Id="R04e6e9a5c1cd4b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4106be38264462" /><Relationship Type="http://schemas.openxmlformats.org/officeDocument/2006/relationships/notesMaster" Target="/ppt/notesMasters/notesMaster1.xml" Id="R45905222fb1046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41dea9bee340be" /><Relationship Type="http://schemas.openxmlformats.org/officeDocument/2006/relationships/notesMaster" Target="/ppt/notesMasters/notesMaster1.xml" Id="R25b7bbcd37314f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69697c076a430c" /><Relationship Type="http://schemas.openxmlformats.org/officeDocument/2006/relationships/notesMaster" Target="/ppt/notesMasters/notesMaster1.xml" Id="R0f8c8d86fa9447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ecb5be62604244" /><Relationship Type="http://schemas.openxmlformats.org/officeDocument/2006/relationships/notesMaster" Target="/ppt/notesMasters/notesMaster1.xml" Id="Rc038afedb8644e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d4a512185b4278" /><Relationship Type="http://schemas.openxmlformats.org/officeDocument/2006/relationships/notesMaster" Target="/ppt/notesMasters/notesMaster1.xml" Id="R6e2adf212a7849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67caeb1037495d" /><Relationship Type="http://schemas.openxmlformats.org/officeDocument/2006/relationships/notesMaster" Target="/ppt/notesMasters/notesMaster1.xml" Id="R097403854c144e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1f55021c14414b" /><Relationship Type="http://schemas.openxmlformats.org/officeDocument/2006/relationships/notesMaster" Target="/ppt/notesMasters/notesMaster1.xml" Id="R512123803d1647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2bf12fb49346ce" /><Relationship Type="http://schemas.openxmlformats.org/officeDocument/2006/relationships/notesMaster" Target="/ppt/notesMasters/notesMaster1.xml" Id="Rad0f08d383874e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eaf537ea074c15" /><Relationship Type="http://schemas.openxmlformats.org/officeDocument/2006/relationships/notesMaster" Target="/ppt/notesMasters/notesMaster1.xml" Id="R7e5de556fe084c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cc7c92c48a42b8" /><Relationship Type="http://schemas.openxmlformats.org/officeDocument/2006/relationships/notesMaster" Target="/ppt/notesMasters/notesMaster1.xml" Id="R388efa5a06a842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7e7bf42cb54775" /><Relationship Type="http://schemas.openxmlformats.org/officeDocument/2006/relationships/notesMaster" Target="/ppt/notesMasters/notesMaster1.xml" Id="R8311b1dbbfb745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685f62de0f430c" /><Relationship Type="http://schemas.openxmlformats.org/officeDocument/2006/relationships/notesMaster" Target="/ppt/notesMasters/notesMaster1.xml" Id="R194f7822ff9c4c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d6a0d820c24f03" /><Relationship Type="http://schemas.openxmlformats.org/officeDocument/2006/relationships/notesMaster" Target="/ppt/notesMasters/notesMaster1.xml" Id="R60958625098c4f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d1b1570c0142fc" /><Relationship Type="http://schemas.openxmlformats.org/officeDocument/2006/relationships/notesMaster" Target="/ppt/notesMasters/notesMaster1.xml" Id="R5fd0d7b64a5a4b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1da58828d34a2b" /><Relationship Type="http://schemas.openxmlformats.org/officeDocument/2006/relationships/notesMaster" Target="/ppt/notesMasters/notesMaster1.xml" Id="R74c412780c854bc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133e94ea6b49e9" /><Relationship Type="http://schemas.openxmlformats.org/officeDocument/2006/relationships/notesMaster" Target="/ppt/notesMasters/notesMaster1.xml" Id="Rec504c33da0c45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9e7317d84c043f6" /><Relationship Type="http://schemas.openxmlformats.org/officeDocument/2006/relationships/notesMaster" Target="/ppt/notesMasters/notesMaster1.xml" Id="Rb489f9424e804e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09e4287511495e" /><Relationship Type="http://schemas.openxmlformats.org/officeDocument/2006/relationships/notesMaster" Target="/ppt/notesMasters/notesMaster1.xml" Id="R14234b00614a4cf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68962c789a4780" /><Relationship Type="http://schemas.openxmlformats.org/officeDocument/2006/relationships/notesMaster" Target="/ppt/notesMasters/notesMaster1.xml" Id="R51b4ceadef8847e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d44a377dde4f89" /><Relationship Type="http://schemas.openxmlformats.org/officeDocument/2006/relationships/notesMaster" Target="/ppt/notesMasters/notesMaster1.xml" Id="R1cdb72cfde9b47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5121edf059447d" /><Relationship Type="http://schemas.openxmlformats.org/officeDocument/2006/relationships/notesMaster" Target="/ppt/notesMasters/notesMaster1.xml" Id="R7e88d8d39071484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cefd6517690482e" /><Relationship Type="http://schemas.openxmlformats.org/officeDocument/2006/relationships/notesMaster" Target="/ppt/notesMasters/notesMaster1.xml" Id="Rfd4ae06667b847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d3fbb0e396d4d68" /><Relationship Type="http://schemas.openxmlformats.org/officeDocument/2006/relationships/notesMaster" Target="/ppt/notesMasters/notesMaster1.xml" Id="R5c705365fd0c47f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ba4ba6a5d64170" /><Relationship Type="http://schemas.openxmlformats.org/officeDocument/2006/relationships/notesMaster" Target="/ppt/notesMasters/notesMaster1.xml" Id="Rdb4a6ff203ae4c8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a8afddd57ab4b9d" /><Relationship Type="http://schemas.openxmlformats.org/officeDocument/2006/relationships/notesMaster" Target="/ppt/notesMasters/notesMaster1.xml" Id="Ra27bc1439868489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00bbb45f618439e" /><Relationship Type="http://schemas.openxmlformats.org/officeDocument/2006/relationships/notesMaster" Target="/ppt/notesMasters/notesMaster1.xml" Id="R3042cf9663024bd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f7d2f0477a4cba" /><Relationship Type="http://schemas.openxmlformats.org/officeDocument/2006/relationships/notesMaster" Target="/ppt/notesMasters/notesMaster1.xml" Id="Rc493f95ee1644b8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a6fb1135bf14a4f" /><Relationship Type="http://schemas.openxmlformats.org/officeDocument/2006/relationships/notesMaster" Target="/ppt/notesMasters/notesMaster1.xml" Id="Rd838ac7dd3f44d1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b389796f48a4d9c" /><Relationship Type="http://schemas.openxmlformats.org/officeDocument/2006/relationships/notesMaster" Target="/ppt/notesMasters/notesMaster1.xml" Id="Rb7642150844e437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e297de0b2074f2e" /><Relationship Type="http://schemas.openxmlformats.org/officeDocument/2006/relationships/notesMaster" Target="/ppt/notesMasters/notesMaster1.xml" Id="Rab343f41890d4ed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2ab1551451a4371" /><Relationship Type="http://schemas.openxmlformats.org/officeDocument/2006/relationships/notesMaster" Target="/ppt/notesMasters/notesMaster1.xml" Id="Rbf2a726bd8cd479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08cf43b381643b2" /><Relationship Type="http://schemas.openxmlformats.org/officeDocument/2006/relationships/notesMaster" Target="/ppt/notesMasters/notesMaster1.xml" Id="Re55cd44ef9d6406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a0372decf864340" /><Relationship Type="http://schemas.openxmlformats.org/officeDocument/2006/relationships/notesMaster" Target="/ppt/notesMasters/notesMaster1.xml" Id="Rc4de0d07aeb04a0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4a90210af1040a1" /><Relationship Type="http://schemas.openxmlformats.org/officeDocument/2006/relationships/notesMaster" Target="/ppt/notesMasters/notesMaster1.xml" Id="R89bb77d3f88f44e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66ce9b0ef844901" /><Relationship Type="http://schemas.openxmlformats.org/officeDocument/2006/relationships/notesMaster" Target="/ppt/notesMasters/notesMaster1.xml" Id="R407cd9e94fc943d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7ebf9df06fb4c97" /><Relationship Type="http://schemas.openxmlformats.org/officeDocument/2006/relationships/notesMaster" Target="/ppt/notesMasters/notesMaster1.xml" Id="Rf456a81254744b1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f7335f758804082" /><Relationship Type="http://schemas.openxmlformats.org/officeDocument/2006/relationships/notesMaster" Target="/ppt/notesMasters/notesMaster1.xml" Id="Rc3d6cdd75e194b7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76bd27d51674656" /><Relationship Type="http://schemas.openxmlformats.org/officeDocument/2006/relationships/notesMaster" Target="/ppt/notesMasters/notesMaster1.xml" Id="Rc1eff07c6e4540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이 서비스가 단순 챗봇이 아니라 교통사고, 과태료, 보험 대응, 법률 근거를 하나의 사건 흐름으로 정리하는 솔루션이라는 점을 열어줍니다.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목차는 문제 배경에서 출발해 사용자 문제, 시장과 차별점, 이용 과정, AI 분석 구조, 구현 범위 순서로 이어집니다. 발표할 때는 기능 나열보다 왜 이 흐름이 필요한지에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섹션은 과실비율 분쟁이 늘고 사용자가 기준을 이해하기 어렵다는 문제를 제기합니다. 이후 슬라이드에서 수치와 인식 격차로 근거를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분쟁 건수와 10년 증가 흐름을 말하며, 단순 사고 증가가 아니라 보험금과 보험료 할증으로 이어지는 이해관계가 분쟁을 키운다고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공정성, 기본과실, 조사 부족에서 느끼는 정보 격차를 짚습니다. 여기서 우리 서비스는 결론을 대신 내리는 것이 아니라 근거와 한계를 보여주는 도구라고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보강 슬라이드입니다. 분쟁 건수, 사용자 인식 격차, 흩어진 근거원을 한 장으로 묶어 시장을 '교통사고 전체'가 아니라 상담 전 근거 검토 수요로 정의합니다.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과실비율은 날씨, 도로 상태, 블랙박스 화각, 유사사고 차이, 고의성 여부처럼 변수가 많습니다. 따라서 AI도 확정 판정보다 변수 구조화와 근거 제시가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소개로 전환합니다. 판단 전 사건 구조화, 근거 기반 답변, 다음 행동 리포트라는 세 가지 가치를 짧게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구조화의 필요성을 여는 장입니다. 사고나 고지서를 바로 판단하기 전에 어떤 정보가 들어왔는지 분리해야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고지서, 사고 설명, 사진, 영상에서 위반유형, 장소, 기한, 증거, 사고유형을 먼저 추출한다는 점을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구조화된 정보가 법령, 과실비율 인정기준, 판례, 심의사례 검색으로 이어진다는 연결을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결과물은 이의 가능성, 리스크, 추가 증거, 문의 초안, 다운로드 가능한 리포트입니다. 사용자가 상담 전 스스로 검토할 수 있게 하는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수집부터 리포트까지의 파이프라인을 요약합니다. 사용자 가치는 쟁점과 근거 확인, 서비스 가치는 흩어진 자료의 사건 단위 연결입니다.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문제 섹션입니다. 고지서, 과실비율, 보험 대응에서 실제 사용자가 반복적으로 겪는 실패 장면을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과실비율, 법률 근거, 상담 리포트가 각각 다른 문제처럼 보이지만 모두 사건 구조화와 근거 검색으로 연결된다고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범칙금, 벌점, 사고 과실비율을 구분합니다. 특히 범칙금과 벌점은 리스크가 있어 단정형 문서 생성을 제한해야 한다는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질문을 바로 답하지 않고 검토 가능한 사건 구조로 바꾼다는 메시지를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 고지서 사례입니다. OCR 추출과 처분 유형 분기, 가능성 및 위험 분리를 통해 사용자가 무엇을 확인해야 하는지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보험 과실비율 분쟁 사례입니다. 정답 비율보다 유사 사례, 사실관계 차이, 부족한 증거, 보험사 질문 문구가 사용자에게 더 실용적입니다.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법률/보험 AI에서 품질만큼 중요한 것이 데이터 보호입니다. 차량번호, 고지서, 주소, 영상이 함께 들어오므로 권한 분리와 파일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시장과 차별점으로 넘어갑니다. 이미 있는 서비스와 아직 비어 있는 조합을 비교할 준비를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기능은 시장에 있지만, 고지서 문서 인식부터 사고자료 구조화, 근거 검색, 리포트까지 한 번에 이어지는 조합은 부족하다고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포털, 보험사 앱, 리걸테크, 일반 AI의 강점과 한계를 공정하게 말합니다. 우리 서비스는 사건자료 기반 리포트 연결에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경쟁 기능 비교에서는 보험사 독립성, 영상/문서/법령 연결, 개인 운전자용 리포트라는 차이를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 서비스의 위치는 전문가 상담 전 셀프 점검입니다. 보험사 AI나 판례 검색과 경쟁하기보다 빈 구간을 메우는 서비스로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차별점 네 가지를 요약합니다. 무조건 이의신청 권유가 아니라 근거, 기한, 증거, 위험을 분리하는 안전한 접근이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이용 섹션으로 넘어갑니다. 입력부터 리포트까지 사용자가 어떤 경험을 하게 되는지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사고자료 처리 흐름입니다. 공식 포털, 보험사, 법률 플랫폼, 생성형 AI가 따로 제공하던 조각을 사건 중심으로 묶는다고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입력부터 내부 분석 모듈, 리포트 저장까지의 흐름입니다. 파일 검사와 분석 통합이 신뢰성의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 인식과 이의 검토입니다. OCR은 필드 추출, Appeal 분석은 가능성과 리스크 분리라는 역할 차이를 분명히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법령·사례 검색입니다. 교통 판례, 과실비율 판례, 심의사례를 활용하되 정답 비율이 아니라 판례·심의사례의 근거와 차이를 보여준다고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리포트 관리는 발표에서 사용자 가치가 가장 잘 보이는 부분입니다. 보험사 대화나 전문가 상담 전 정리된 자료가 되는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기능과 AI 분석 구조 섹션입니다. 문서, 영상, 법률 데이터를 연결하되 민감 데이터 보호를 함께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보강 슬라이드입니다. AI 분석 구조를 OCR, RAG, 사례검색, 리포트 생성의 네 단계로 설명하고, 정답 생성이 아니라 근거 조립이라는 관점을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분석 모듈의 역할을 구분합니다. 오류 유형이 다르므로 하나의 거대 모델보다 모듈 분리와 Supervisor 병합이 더 안전하다는 메시지를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 설계입니다. 권한 분리, 서버 측 인증정보 관리, 파일 검사, 개인정보 최소화, AI 입력 검증을 법률/보험 AI의 기본 조건으로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안전장치입니다. 승소 보장, 과실비율 확정, 자동 제출을 하지 않는다는 선을 명확히 하고, 출처와 한계, 추가 확인사항을 반드시 제공한다고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범위와 기대효과 섹션입니다. MVP에 무엇을 넣고 무엇을 제외했는지 현실적으로 정리합니다.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범위에서는 가능한 기능과 제외 기능을 구분합니다. 자동 제출이나 확정 표현을 제외했다는 점이 오히려 신뢰 설계라는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계획입니다. OCR, 근거 검색, Vision, 분석 통합, 안전장치를 각각 다른 지표로 평가해야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구현과 다음 단계입니다. 실제 보험사 내부 데이터와 모든 영상 자동 판정은 후순위이며, 지금은 근거 검색과 리포트 흐름 검증에 집중한다고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핵심 문장입니다. 교통분쟁 AI는 판단을 대신하는 서비스가 아니라 사용자가 근거를 확인하고 다음 행동을 정리하도록 돕는 서비스입니다.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 슬라이드입니다. 시장 수치, 공식 기준, 법령, 보안 기준의 출처를 짚고 질의응답으로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Q&amp;A에서는 '확정 판정이 아닌 근거 리포트', '보험사 독립성', '개인정보 보호', 'MVP의 한계와 확장 계획' 네 가지 답변 축을 준비하면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7736f8b144e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93ef7172f4a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0fe8b57e849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6de745b9c4b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fa06a988a45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01cbb2b5e4d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41d1663fc423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571d1ae59432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21bc8f747456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7d5d6cb10480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72b230365442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E8E465-550B-4FDF-B291-01E9E4AE66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0A8EA5-ED30-4140-985F-271797DC87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D7775-4518-4DF5-9445-394547BC8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6A0E60-2090-4E42-A783-312432F7A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567F4F-14B4-4D4D-AA0B-BC1C4A29B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A633FA-241D-4DB6-874A-C35A68C8D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C49BA3-DCD7-4565-A8B4-22BB7FAD82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AF8E70-77EF-407B-9D29-B30E6267D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394A18-8B06-4DE5-A992-451F58DF2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8DD2C8-A1EF-4E86-A7EB-FE05D3FA4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99CA5-D89D-4287-8D3F-94432779C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E14E89-843E-4E12-9968-2FECC8145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D96AC-704F-4E06-82A9-71699580C2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26A2-5C5C-45B2-AB03-A13D474ECD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B32873-ED85-47C5-81A2-601AAFC8E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F86C8-1226-4EDC-A65D-112EAF322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0E9723-DB95-4275-AE90-1C39DF7A88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A5E7C4-A3B6-497D-A4A8-75FDEDCBAD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6ACE44-E571-4E2A-8727-0883503A3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4BA40A-E598-4519-9FEB-D2EAF69DF6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796AD6-EE3A-42C7-8396-069DACB60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E938A-7AB5-4C18-B197-B895DC46B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62C7C-99B0-427A-8C7B-633BC8076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23F55B-5373-44C5-9EFD-BC3B805903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1AC849-7FA1-4349-90B1-C7BFD3F115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0A944D-125E-48A2-8C35-8416C534962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0DDBE1-4C43-4F86-8476-2D99024D5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D16814-D058-49D0-A1F7-4BC6A0BB93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404AD2B-D2DE-4A26-BA7C-85CA895F0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102F97-1996-4AB5-AAD1-61095CB3D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0085FE-0129-4DBA-8053-B307F960D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7263654-1F33-4F9C-957B-C54D73910B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93C4BDB-8610-4E0D-BD0C-66B5DCCDC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4319625-FFFD-488D-A798-DB9E911DB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1EA7E5-B9EA-44DC-B22E-E335EC3DB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3CDACE7-7BDA-4DEB-846F-0D87963E7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614B1-5BF0-4703-B32E-596C8C49B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15A4B-0D87-450D-B44E-F5CB513A16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7BAD6A-5D44-40DF-88E3-29472C7EE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9D7E9F-CE9F-4DBB-BB73-B36CAEBFB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7A9785-E71B-43F6-AC03-C95F47321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9B54C3-F303-4456-963E-90B492A75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1C6985-D8FA-44DE-A79B-60FCB61C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C593D0C-140B-4F85-AC54-EA8D454898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C593D2-550A-49B1-8421-57A3C2C60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42AAC-AEB7-4FD2-8E84-7816B446EC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C9C517-62BF-4B4E-AA29-0220E9C5B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8E27EE-A0FC-45CB-8578-099B52C87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D94FF-4ACC-4048-8DC0-B49B80C73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3A905-8BC0-4088-8EA1-C49F30179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B53A0-D461-4713-AF0F-A60EAFB74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DC8431-1B9C-493A-A531-DB8139585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71E7CF-068E-4711-9348-D79F96294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F3B39C-D5DB-4CE6-BDD9-9E0B95BC9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14A399-E4A0-4986-AB09-D4C606613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B5E51-5790-4FD0-960A-F944894D4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19B549-0C2C-4E8B-B6C7-176F0589B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444D2D-BFE3-48D0-85B2-D0EB113F00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1d7360e2484a5d" /><Relationship Type="http://schemas.openxmlformats.org/officeDocument/2006/relationships/slideLayout" Target="/ppt/slideLayouts/slideLayout1.xml" Id="Rfc56c2d60c1a4e88" /><Relationship Type="http://schemas.openxmlformats.org/officeDocument/2006/relationships/slideLayout" Target="/ppt/slideLayouts/slideLayout2.xml" Id="Rf80d882f1d0c4396" /><Relationship Type="http://schemas.openxmlformats.org/officeDocument/2006/relationships/slideLayout" Target="/ppt/slideLayouts/slideLayout3.xml" Id="R740487ac838c40a3" /><Relationship Type="http://schemas.openxmlformats.org/officeDocument/2006/relationships/slideLayout" Target="/ppt/slideLayouts/slideLayout4.xml" Id="Rebe61531c08441e3" /><Relationship Type="http://schemas.openxmlformats.org/officeDocument/2006/relationships/slideLayout" Target="/ppt/slideLayouts/slideLayout5.xml" Id="R7670d19d655c4fc3" /><Relationship Type="http://schemas.openxmlformats.org/officeDocument/2006/relationships/slideLayout" Target="/ppt/slideLayouts/slideLayout6.xml" Id="R13b7fe4d98da4d5c" /><Relationship Type="http://schemas.openxmlformats.org/officeDocument/2006/relationships/slideLayout" Target="/ppt/slideLayouts/slideLayout7.xml" Id="R03b4a8c51bd24fde" /><Relationship Type="http://schemas.openxmlformats.org/officeDocument/2006/relationships/slideLayout" Target="/ppt/slideLayouts/slideLayout8.xml" Id="R85f5be9f5aa74909" /><Relationship Type="http://schemas.openxmlformats.org/officeDocument/2006/relationships/slideLayout" Target="/ppt/slideLayouts/slideLayout9.xml" Id="R342bc87fe96446c7" /><Relationship Type="http://schemas.openxmlformats.org/officeDocument/2006/relationships/slideLayout" Target="/ppt/slideLayouts/slideLayout10.xml" Id="Ree15b1df8df64379" /><Relationship Type="http://schemas.openxmlformats.org/officeDocument/2006/relationships/slideLayout" Target="/ppt/slideLayouts/slideLayout11.xml" Id="R912150e3a68d4a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0BD951-D60B-4C8E-929F-366353FC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1A1C22-507C-48A4-A6FE-9EAFEFB09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502A29-747D-4CD1-8B81-8D364FE3D8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79F249-CBED-4EC1-9527-476FEBA3ED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DC49A4-D4C4-4724-A727-15736B7E6B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56c2d60c1a4e88"/>
    <p:sldLayoutId xmlns:r="http://schemas.openxmlformats.org/officeDocument/2006/relationships" id="2147483650" r:id="Rf80d882f1d0c4396"/>
    <p:sldLayoutId xmlns:r="http://schemas.openxmlformats.org/officeDocument/2006/relationships" id="2147483651" r:id="R740487ac838c40a3"/>
    <p:sldLayoutId xmlns:r="http://schemas.openxmlformats.org/officeDocument/2006/relationships" id="2147483652" r:id="Rebe61531c08441e3"/>
    <p:sldLayoutId xmlns:r="http://schemas.openxmlformats.org/officeDocument/2006/relationships" id="2147483653" r:id="R7670d19d655c4fc3"/>
    <p:sldLayoutId xmlns:r="http://schemas.openxmlformats.org/officeDocument/2006/relationships" id="2147483654" r:id="R13b7fe4d98da4d5c"/>
    <p:sldLayoutId xmlns:r="http://schemas.openxmlformats.org/officeDocument/2006/relationships" id="2147483655" r:id="R03b4a8c51bd24fde"/>
    <p:sldLayoutId xmlns:r="http://schemas.openxmlformats.org/officeDocument/2006/relationships" id="2147483656" r:id="R85f5be9f5aa74909"/>
    <p:sldLayoutId xmlns:r="http://schemas.openxmlformats.org/officeDocument/2006/relationships" id="2147483657" r:id="R342bc87fe96446c7"/>
    <p:sldLayoutId xmlns:r="http://schemas.openxmlformats.org/officeDocument/2006/relationships" id="2147483658" r:id="Ree15b1df8df64379"/>
    <p:sldLayoutId xmlns:r="http://schemas.openxmlformats.org/officeDocument/2006/relationships" id="2147483659" r:id="R912150e3a68d4af9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e4c58c408c4d05" /><Relationship Type="http://schemas.openxmlformats.org/officeDocument/2006/relationships/image" Target="/ppt/media/image.png" Id="R438b2c6fa85b4ae7" /><Relationship Type="http://schemas.openxmlformats.org/officeDocument/2006/relationships/notesSlide" Target="/ppt/notesSlides/notesSlide1.xml" Id="R0b89407a9f844c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d03496ca15418b" /><Relationship Type="http://schemas.openxmlformats.org/officeDocument/2006/relationships/notesSlide" Target="/ppt/notesSlides/notesSlide2.xml" Id="R36524ce745674e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1ca7f5f707494e" /><Relationship Type="http://schemas.openxmlformats.org/officeDocument/2006/relationships/notesSlide" Target="/ppt/notesSlides/notesSlide3.xml" Id="R74640b9840f04d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773df4b5854f94" /><Relationship Type="http://schemas.openxmlformats.org/officeDocument/2006/relationships/chart" Target="/ppt/slides/charts/chart1.xml" Id="R7cf4581e696f40b5" /><Relationship Type="http://schemas.openxmlformats.org/officeDocument/2006/relationships/notesSlide" Target="/ppt/notesSlides/notesSlide4.xml" Id="Rda02111cca3f40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4042d4caac4291" /><Relationship Type="http://schemas.openxmlformats.org/officeDocument/2006/relationships/notesSlide" Target="/ppt/notesSlides/notesSlide5.xml" Id="R71a84c4ec3d74d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d386a7ecd34c71" /><Relationship Type="http://schemas.openxmlformats.org/officeDocument/2006/relationships/image" Target="/ppt/media/image2.png" Id="R8bbedbfdf8d54a2b" /><Relationship Type="http://schemas.openxmlformats.org/officeDocument/2006/relationships/notesSlide" Target="/ppt/notesSlides/notesSlide6.xml" Id="R73431ed4ac914f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8ca636f7bd4fa9" /><Relationship Type="http://schemas.openxmlformats.org/officeDocument/2006/relationships/notesSlide" Target="/ppt/notesSlides/notesSlide7.xml" Id="Rf23787531be94e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3e6105f5b34867" /><Relationship Type="http://schemas.openxmlformats.org/officeDocument/2006/relationships/notesSlide" Target="/ppt/notesSlides/notesSlide8.xml" Id="Ra31d895d1dbe4f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9b919d54764375" /><Relationship Type="http://schemas.openxmlformats.org/officeDocument/2006/relationships/image" Target="/ppt/media/image3.png" Id="R40239c56fa094e9b" /><Relationship Type="http://schemas.openxmlformats.org/officeDocument/2006/relationships/image" Target="/ppt/media/image4.png" Id="R6eeae14649884a56" /><Relationship Type="http://schemas.openxmlformats.org/officeDocument/2006/relationships/image" Target="/ppt/media/image5.png" Id="R444324112dae432c" /><Relationship Type="http://schemas.openxmlformats.org/officeDocument/2006/relationships/image" Target="/ppt/media/image.svg" Id="R8895b8edb9d447b9" /><Relationship Type="http://schemas.openxmlformats.org/officeDocument/2006/relationships/image" Target="/ppt/media/image.png" Id="R09dfc6e93b8545a8" /><Relationship Type="http://schemas.openxmlformats.org/officeDocument/2006/relationships/notesSlide" Target="/ppt/notesSlides/notesSlide9.xml" Id="R25844eff8e5141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ff44c0e399456a" /><Relationship Type="http://schemas.openxmlformats.org/officeDocument/2006/relationships/image" Target="/ppt/media/image3.png" Id="R915cb5bd0a9c41ca" /><Relationship Type="http://schemas.openxmlformats.org/officeDocument/2006/relationships/image" Target="/ppt/media/image4.png" Id="Rf00a16eaa38742ab" /><Relationship Type="http://schemas.openxmlformats.org/officeDocument/2006/relationships/image" Target="/ppt/media/image5.png" Id="R173a353f5068475d" /><Relationship Type="http://schemas.openxmlformats.org/officeDocument/2006/relationships/image" Target="/ppt/media/image2.svg" Id="Rcc306c08274c4ee0" /><Relationship Type="http://schemas.openxmlformats.org/officeDocument/2006/relationships/image" Target="/ppt/media/image2.png" Id="Ra6c43a14387748bf" /><Relationship Type="http://schemas.openxmlformats.org/officeDocument/2006/relationships/image" Target="/ppt/media/image.png" Id="R8a7466e3e69a42db" /><Relationship Type="http://schemas.openxmlformats.org/officeDocument/2006/relationships/image" Target="/ppt/media/image.svg" Id="Redf5fb3a6d814f1d" /><Relationship Type="http://schemas.openxmlformats.org/officeDocument/2006/relationships/notesSlide" Target="/ppt/notesSlides/notesSlide10.xml" Id="R40dc470ccef842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98b584c6a341f8" /><Relationship Type="http://schemas.openxmlformats.org/officeDocument/2006/relationships/image" Target="/ppt/media/image3.png" Id="Rf86301f4b08f406a" /><Relationship Type="http://schemas.openxmlformats.org/officeDocument/2006/relationships/image" Target="/ppt/media/image4.png" Id="Reac3f29e3ede4899" /><Relationship Type="http://schemas.openxmlformats.org/officeDocument/2006/relationships/image" Target="/ppt/media/image5.png" Id="Rab32142c20a1404f" /><Relationship Type="http://schemas.openxmlformats.org/officeDocument/2006/relationships/image" Target="/ppt/media/image2.png" Id="Rd690fc4280004f7d" /><Relationship Type="http://schemas.openxmlformats.org/officeDocument/2006/relationships/image" Target="/ppt/media/image2.svg" Id="R1ffae18287aa4e33" /><Relationship Type="http://schemas.openxmlformats.org/officeDocument/2006/relationships/image" Target="/ppt/media/image.png" Id="R9dd1cfe19e9e46c3" /><Relationship Type="http://schemas.openxmlformats.org/officeDocument/2006/relationships/image" Target="/ppt/media/image.svg" Id="R9ab5e101245d4cc0" /><Relationship Type="http://schemas.openxmlformats.org/officeDocument/2006/relationships/notesSlide" Target="/ppt/notesSlides/notesSlide11.xml" Id="Rddc6bc5a769549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ac5e7d6c214062" /><Relationship Type="http://schemas.openxmlformats.org/officeDocument/2006/relationships/image" Target="/ppt/media/image3.png" Id="R047a8583e68b4317" /><Relationship Type="http://schemas.openxmlformats.org/officeDocument/2006/relationships/image" Target="/ppt/media/image4.png" Id="R9a193f6961d746bd" /><Relationship Type="http://schemas.openxmlformats.org/officeDocument/2006/relationships/image" Target="/ppt/media/image5.png" Id="R605faacc63a24410" /><Relationship Type="http://schemas.openxmlformats.org/officeDocument/2006/relationships/image" Target="/ppt/media/image2.png" Id="R94e6aa61525f416e" /><Relationship Type="http://schemas.openxmlformats.org/officeDocument/2006/relationships/image" Target="/ppt/media/image2.svg" Id="Rd38fd9d02beb4325" /><Relationship Type="http://schemas.openxmlformats.org/officeDocument/2006/relationships/image" Target="/ppt/media/image.png" Id="R323e3620b3ca42a7" /><Relationship Type="http://schemas.openxmlformats.org/officeDocument/2006/relationships/image" Target="/ppt/media/image.svg" Id="R51543f4a38524f1d" /><Relationship Type="http://schemas.openxmlformats.org/officeDocument/2006/relationships/notesSlide" Target="/ppt/notesSlides/notesSlide12.xml" Id="R556e54cb519340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b53acd862c4082" /><Relationship Type="http://schemas.openxmlformats.org/officeDocument/2006/relationships/notesSlide" Target="/ppt/notesSlides/notesSlide13.xml" Id="R9828ef6fee1d45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0e03af95024f77" /><Relationship Type="http://schemas.openxmlformats.org/officeDocument/2006/relationships/notesSlide" Target="/ppt/notesSlides/notesSlide14.xml" Id="R87f7f95c5e0846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692c08d88143f3" /><Relationship Type="http://schemas.openxmlformats.org/officeDocument/2006/relationships/notesSlide" Target="/ppt/notesSlides/notesSlide15.xml" Id="R4bd0a4f406e541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78900bef41461c" /><Relationship Type="http://schemas.openxmlformats.org/officeDocument/2006/relationships/notesSlide" Target="/ppt/notesSlides/notesSlide16.xml" Id="Rc7e4b35e3dc540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dcce1f758a446d" /><Relationship Type="http://schemas.openxmlformats.org/officeDocument/2006/relationships/notesSlide" Target="/ppt/notesSlides/notesSlide17.xml" Id="R518a093a187741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54b2db6d774d2d" /><Relationship Type="http://schemas.openxmlformats.org/officeDocument/2006/relationships/notesSlide" Target="/ppt/notesSlides/notesSlide18.xml" Id="R16a998e938df4d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5f360343bb4b3b" /><Relationship Type="http://schemas.openxmlformats.org/officeDocument/2006/relationships/notesSlide" Target="/ppt/notesSlides/notesSlide19.xml" Id="R3fddcc760e9046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261ff5c39d4bef" /><Relationship Type="http://schemas.openxmlformats.org/officeDocument/2006/relationships/notesSlide" Target="/ppt/notesSlides/notesSlide20.xml" Id="Re3534015c4d849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cfa1109db54936" /><Relationship Type="http://schemas.openxmlformats.org/officeDocument/2006/relationships/notesSlide" Target="/ppt/notesSlides/notesSlide21.xml" Id="R1a244fa799da442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635ea34b8f43ce" /><Relationship Type="http://schemas.openxmlformats.org/officeDocument/2006/relationships/notesSlide" Target="/ppt/notesSlides/notesSlide22.xml" Id="R175104a773a941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d16cc95bd94077" /><Relationship Type="http://schemas.openxmlformats.org/officeDocument/2006/relationships/notesSlide" Target="/ppt/notesSlides/notesSlide23.xml" Id="Ra5721b83b2f24a1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387105e4034f3d" /><Relationship Type="http://schemas.openxmlformats.org/officeDocument/2006/relationships/notesSlide" Target="/ppt/notesSlides/notesSlide24.xml" Id="Re2bff901f1884f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23c79a52b34c4d" /><Relationship Type="http://schemas.openxmlformats.org/officeDocument/2006/relationships/notesSlide" Target="/ppt/notesSlides/notesSlide25.xml" Id="R2bd6155fc7464ad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d27ec8fb4b418a" /><Relationship Type="http://schemas.openxmlformats.org/officeDocument/2006/relationships/notesSlide" Target="/ppt/notesSlides/notesSlide26.xml" Id="R66be5e1d5cc849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f63073209d4aa1" /><Relationship Type="http://schemas.openxmlformats.org/officeDocument/2006/relationships/notesSlide" Target="/ppt/notesSlides/notesSlide27.xml" Id="R6c261c46167e489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84d9b78f3d450f" /><Relationship Type="http://schemas.openxmlformats.org/officeDocument/2006/relationships/notesSlide" Target="/ppt/notesSlides/notesSlide28.xml" Id="R01cc1ed35b70424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e4657c29ff47e0" /><Relationship Type="http://schemas.openxmlformats.org/officeDocument/2006/relationships/notesSlide" Target="/ppt/notesSlides/notesSlide29.xml" Id="R0caff51f7ad049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fa6fd96be5432d" /><Relationship Type="http://schemas.openxmlformats.org/officeDocument/2006/relationships/notesSlide" Target="/ppt/notesSlides/notesSlide30.xml" Id="R5292aab0b75d4f1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9614a2f97a4f0e" /><Relationship Type="http://schemas.openxmlformats.org/officeDocument/2006/relationships/notesSlide" Target="/ppt/notesSlides/notesSlide31.xml" Id="R5e8a4d54abf74a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f31d468bc5421e" /><Relationship Type="http://schemas.openxmlformats.org/officeDocument/2006/relationships/notesSlide" Target="/ppt/notesSlides/notesSlide32.xml" Id="R23c8d35a57a348c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02a00b98644b35" /><Relationship Type="http://schemas.openxmlformats.org/officeDocument/2006/relationships/notesSlide" Target="/ppt/notesSlides/notesSlide33.xml" Id="R5843a1c0c144454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1cf4df5d6f4822" /><Relationship Type="http://schemas.openxmlformats.org/officeDocument/2006/relationships/image" Target="/ppt/media/image6.png" Id="Ra7f563f77ef04963" /><Relationship Type="http://schemas.openxmlformats.org/officeDocument/2006/relationships/notesSlide" Target="/ppt/notesSlides/notesSlide34.xml" Id="R6a79ce3728774b2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4f65b580ad442c" /><Relationship Type="http://schemas.openxmlformats.org/officeDocument/2006/relationships/notesSlide" Target="/ppt/notesSlides/notesSlide35.xml" Id="Re30fef10b35749f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6d413c1c3e4383" /><Relationship Type="http://schemas.openxmlformats.org/officeDocument/2006/relationships/notesSlide" Target="/ppt/notesSlides/notesSlide36.xml" Id="Re74bc6c4eade401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7419cbbced43af" /><Relationship Type="http://schemas.openxmlformats.org/officeDocument/2006/relationships/notesSlide" Target="/ppt/notesSlides/notesSlide37.xml" Id="R589b6b29e9ef4e8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f7d992eff24738" /><Relationship Type="http://schemas.openxmlformats.org/officeDocument/2006/relationships/notesSlide" Target="/ppt/notesSlides/notesSlide38.xml" Id="R9be05f84d0c54cc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e7cc7b842c4472" /><Relationship Type="http://schemas.openxmlformats.org/officeDocument/2006/relationships/notesSlide" Target="/ppt/notesSlides/notesSlide39.xml" Id="R057d51ef7cf9488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a8902fb79d4282" /><Relationship Type="http://schemas.openxmlformats.org/officeDocument/2006/relationships/notesSlide" Target="/ppt/notesSlides/notesSlide40.xml" Id="Rf6fc13e6e1b4434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1c77f978da4565" /><Relationship Type="http://schemas.openxmlformats.org/officeDocument/2006/relationships/notesSlide" Target="/ppt/notesSlides/notesSlide41.xml" Id="Rb89d589c7b85426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1b0b7c2c164106" /><Relationship Type="http://schemas.openxmlformats.org/officeDocument/2006/relationships/notesSlide" Target="/ppt/notesSlides/notesSlide42.xml" Id="Rd88d6e9fd12041a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c506a0b39348ae" /><Relationship Type="http://schemas.openxmlformats.org/officeDocument/2006/relationships/notesSlide" Target="/ppt/notesSlides/notesSlide43.xml" Id="R1a7a50a9b0094a7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e188e25b87477a" /><Relationship Type="http://schemas.openxmlformats.org/officeDocument/2006/relationships/notesSlide" Target="/ppt/notesSlides/notesSlide44.xml" Id="R72f73c093809427e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1"/>
    </mc:Choice>
    <mc:Fallback>
      <c:style val="1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분쟁청구 건수</c:v>
                </c:pt>
              </c:strCache>
            </c:strRef>
          </c:tx>
          <c:spPr>
            <a:solidFill xmlns:a="http://schemas.openxmlformats.org/drawingml/2006/main">
              <a:schemeClr val="dk1">
                <a:tint val="88500"/>
              </a:schemeClr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26093</c:v>
                </c:pt>
                <c:pt idx="1">
                  <c:v>30206</c:v>
                </c:pt>
                <c:pt idx="2">
                  <c:v>43480</c:v>
                </c:pt>
                <c:pt idx="3">
                  <c:v>52590</c:v>
                </c:pt>
                <c:pt idx="4">
                  <c:v>61401</c:v>
                </c:pt>
                <c:pt idx="5">
                  <c:v>75597</c:v>
                </c:pt>
                <c:pt idx="6">
                  <c:v>102456</c:v>
                </c:pt>
                <c:pt idx="7">
                  <c:v>104077</c:v>
                </c:pt>
                <c:pt idx="8">
                  <c:v>113804</c:v>
                </c:pt>
                <c:pt idx="9">
                  <c:v>120965</c:v>
                </c:pt>
                <c:pt idx="10">
                  <c:v>136225</c:v>
                </c:pt>
                <c:pt idx="11">
                  <c:v>156812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64400"/>
        <c:axId val="1431180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청구 건수 전년 대비 증가율 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5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dk1">
                  <a:tint val="55000"/>
                </a:schemeClr>
              </a:solidFill>
              <a:ln xmlns:a="http://schemas.openxmlformats.org/drawingml/2006/main" w="9525">
                <a:solidFill>
                  <a:schemeClr val="dk1">
                    <a:tint val="5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16.2</c:v>
                </c:pt>
                <c:pt idx="1">
                  <c:v>16</c:v>
                </c:pt>
                <c:pt idx="2">
                  <c:v>43.7</c:v>
                </c:pt>
                <c:pt idx="3">
                  <c:v>20.9</c:v>
                </c:pt>
                <c:pt idx="4">
                  <c:v>16.8</c:v>
                </c:pt>
                <c:pt idx="5">
                  <c:v>23.1</c:v>
                </c:pt>
                <c:pt idx="6">
                  <c:v>35.5</c:v>
                </c:pt>
                <c:pt idx="7">
                  <c:v>1.6</c:v>
                </c:pt>
                <c:pt idx="8">
                  <c:v>9.4</c:v>
                </c:pt>
                <c:pt idx="9">
                  <c:v>6.3</c:v>
                </c:pt>
                <c:pt idx="10">
                  <c:v>12.6</c:v>
                </c:pt>
                <c:pt idx="11">
                  <c:v>15.1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분쟁청구 건수/대물배상수리 건수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7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dk1">
                    <a:tint val="7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0.9</c:v>
                </c:pt>
                <c:pt idx="1">
                  <c:v>1</c:v>
                </c:pt>
                <c:pt idx="2">
                  <c:v>1.4</c:v>
                </c:pt>
                <c:pt idx="3">
                  <c:v>1.7</c:v>
                </c:pt>
                <c:pt idx="4">
                  <c:v>2</c:v>
                </c:pt>
                <c:pt idx="5">
                  <c:v>2.4</c:v>
                </c:pt>
                <c:pt idx="6">
                  <c:v>3.2</c:v>
                </c:pt>
                <c:pt idx="7">
                  <c:v>3.6</c:v>
                </c:pt>
                <c:pt idx="8">
                  <c:v>4</c:v>
                </c:pt>
                <c:pt idx="9">
                  <c:v>4.3</c:v>
                </c:pt>
                <c:pt idx="10">
                  <c:v>4.7</c:v>
                </c:pt>
                <c:pt idx="11">
                  <c:v>5.4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2781104"/>
        <c:axId val="1431186960"/>
      </c:lineChart>
      <c:catAx>
        <c:axId val="162276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431180720"/>
        <c:crosses val="autoZero"/>
        <c:lblAlgn val="ctr"/>
        <c:lblOffset val="100"/>
        <c:noMultiLvlLbl val="0"/>
      </c:catAx>
      <c:valAx>
        <c:axId val="143118072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64400"/>
        <c:crosses val="autoZero"/>
        <c:crossBetween val="between"/>
      </c:valAx>
      <c:valAx>
        <c:axId val="14311869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81104"/>
        <c:crosses val="max"/>
        <c:crossBetween val="between"/>
      </c:valAx>
      <c:catAx>
        <c:axId val="1622781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31186960"/>
        <c:crosses val="autoZero"/>
        <c:lblAlgn val="ctr"/>
        <c:lblOffset val="100"/>
        <c:noMultiLvlLbl val="0"/>
      </c:catAx>
      <c:spPr>
        <a:noFill xmlns:a="http://schemas.openxmlformats.org/drawingml/2006/main"/>
        <a:ln xmlns:a="http://schemas.openxmlformats.org/drawingml/2006/main" w="2540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bg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BFC80C-0A60-4E79-8E4D-6C28EC1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716280"/>
            <a:ext cx="713232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 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3034EB-5CDC-4990-9DAF-072FA99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1388114"/>
            <a:ext cx="7132320" cy="775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및 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솔루션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989464-E5F3-4916-BD6A-5C13858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96" y="2430186"/>
            <a:ext cx="786384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과실비율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대응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법률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근거를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사건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중심으로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재구성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F39419-907E-4AE2-B1B6-C59106C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15391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SKN27 FINAL 3Team</a:t>
            </a:r>
          </a:p>
        </p:txBody>
      </p:sp>
      <p:pic>
        <p:nvPicPr>
          <p:cNvPr id="21" name="그림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11166477" y="-123979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9808718" y="776661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3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8286195" y="1781763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4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6802038" y="2768622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5785567" y="3432453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6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11193085" y="324063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7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10153665" y="392381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8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9091412" y="4624282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9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8005692" y="5347900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30" name="그림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c6fa85b4ae7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6966272" y="6033837"/>
            <a:ext cx="1836305" cy="18363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04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687E1-2B11-4D68-A1D3-2772F7B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05" y="553141"/>
            <a:ext cx="3888042" cy="867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CONTENTS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57556-2E19-40DC-8168-86FA29F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555" y="1964426"/>
            <a:ext cx="17443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C06455-5322-402F-BEFF-D27C9FD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3087" y="220313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E44938-CB96-4D96-9BD9-C560DCB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754" y="2734049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분쟁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증가와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소비자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정보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격차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771E2F-8E22-41FC-A3BB-ADF1CB1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488" y="3102175"/>
            <a:ext cx="1251308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F7F429-C1FA-475D-9310-D8B9CE3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854" y="33588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겪는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3BD936-23EE-4789-A23E-E4535EA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854" y="3926123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고지서·과실비율·보험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대응에서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반복되는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어려움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51FBF5-3225-458C-B5F3-76E21EC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88" y="4342068"/>
            <a:ext cx="115350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D6509E-E406-452B-8730-E575515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928" y="4594776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서비스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이용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463516-8B4D-419E-8029-58DEA37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854" y="509492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사고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내용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입력부터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근거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리포트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생성까지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A50D5E-D555-4D6C-8286-1AE1E17C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245" y="4278461"/>
            <a:ext cx="13386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7C8A-1B2F-4FE1-8425-9D954A0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4547525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기능과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8D26FB-9CFD-4172-871E-B33757F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5082215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문서·영상·법률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데이터를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연결하는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32FC0B-DBCC-469B-9424-FA8E3703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270" y="5407175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EDB4D1-486B-4B05-AA6E-4ADE329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810" y="5655892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범위와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F79D8A-CC64-4C7B-B0CD-232CFE1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810" y="618656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MVP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계획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향후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확장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방향</a:t>
            </a:r>
          </a:p>
        </p:txBody>
      </p:sp>
      <p:sp>
        <p:nvSpPr>
          <p:cNvPr id="2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71B375-37A8-DEF2-A6A0-1EA9265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09538" y="1470916"/>
            <a:ext cx="3056406" cy="85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C8564-B5F4-4AA1-9545-C731E96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245" y="2029634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F6965C-87D9-46B9-893A-2A3FFD3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22405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프로젝트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소개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D1792E-FB24-4752-B01F-C9222EE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2738041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서비스의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973777-73C4-4EB3-9E03-494BA8D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245" y="3107109"/>
            <a:ext cx="1744396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CEAFEF-71AC-45BA-9733-173DFDD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329177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시장과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차별점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6249C7-0A4F-4E3E-B736-B6A9F0F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3" y="3840118"/>
            <a:ext cx="4894587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서비스의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한계와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서비스의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해결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방식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E4E492-E947-425F-969E-2CDC2A27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88207F-6659-4EB3-95C5-018D383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3965DC-507A-4427-B5EC-68718CC2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발표 흐름은 문제에서 근거 리포트까지 이어진다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A548D1-C9A4-4F5B-A220-C85C6C4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기능 나열보다 사용자가 왜 이 서비스를 필요로 하는지 먼저 보여줍니다.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E5F709-7BA3-4E40-90FD-CD70C77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7620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D2CE2-DD44-4748-AC98-7FD29D8A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25AB9F-978E-48AC-8A23-2EC5CAF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문제 배경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A362B2-3319-459F-BE74-C380B45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146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분쟁 증가와 정보 격차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5B1DA6-BF5A-4B5A-8EF5-9C4B365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7620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6C91AB-5B5F-4C88-AF0A-C1C9570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A31ED2-B1A8-40A2-8BDF-A351719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E8B635-CEB9-4F7D-A643-DC03247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사건 구조화와 근거 답변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49DDA1-EC1A-4B51-AA52-E3B3055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7620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09FA96-CFBA-494F-AEEA-B2BBF5D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C8B0C8-34E9-4320-9832-C6720B8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 문제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362F8A-E8F7-42ED-909D-ABDA59E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실제 실패 장면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687461-9BB4-458D-9D46-D652B94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7620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CD2FB1-6372-4E95-B3C4-59401FD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C32243-6914-4C8C-B202-7D1B98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ABBE72-44B9-4C52-AF49-1EEBCD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비어 있는 서비스 조합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7DECB0-D466-42D7-A987-32B1081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00700"/>
            <a:ext cx="2343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BEAB01-5858-4EE2-B53F-DA46A861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791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4A2635-E10E-46F8-8E44-EB875FE6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3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서비스 이용 과정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C81A93-97A3-40E4-B581-66765503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000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입력부터 리포트까지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F4510F-13E5-4FF9-918E-0E5F000A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2343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44E95F-B0F1-4875-9320-37C08C2C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91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BA5525-8F61-4EB0-9CC7-8C08D16E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3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분석 구조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738365-0FD0-4844-A1FA-FD960186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00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모듈 분리와 안전장치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D74A0B-920E-4F6A-BBF9-BEA5CA0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00700"/>
            <a:ext cx="2343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B2E111-F6CB-4EA2-8BB3-E68410E0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91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DA6667-1120-4A36-9F98-8531E7CE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73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구현 범위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CD8B00-BDEC-4203-A91F-3B8FBD8C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000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MVP와 평가 계획</a:t>
            </a:r>
          </a:p>
        </p:txBody>
      </p:sp>
    </p:spTree>
    <p:extLst>
      <p:ext uri="{BB962C8B-B14F-4D97-AF65-F5344CB8AC3E}">
        <p14:creationId xmlns:p14="http://schemas.microsoft.com/office/powerpoint/2010/main" val="77743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4A3388-FD74-637E-363E-51A0E04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22421-7A3C-4787-B909-F69FDBC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17F05-E3F1-4055-A5E9-CAEFC7A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70446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E78819-1B7C-485D-ABFB-56CE1AC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분쟁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증가와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소비자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정보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격차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8641D5-0885-4A4F-8AD3-CEDF32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A466D9-90D4-9CC2-567D-7F8182A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분쟁청구 건수의 장기 증가 추세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소비자 인식과 기준의 격차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사고 판단의 중요한 변수들</a:t>
            </a:r>
          </a:p>
        </p:txBody>
      </p:sp>
    </p:spTree>
    <p:extLst>
      <p:ext uri="{BB962C8B-B14F-4D97-AF65-F5344CB8AC3E}">
        <p14:creationId xmlns:p14="http://schemas.microsoft.com/office/powerpoint/2010/main" val="171079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8D5201-EDDD-4280-A2D4-A94F0FF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3A57E2-7AAA-4665-A1DE-B36103D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분쟁 증가 추세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E277B-0B3D-4615-AE6F-44D9498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FFE523-3B4B-48FD-B541-5AE0166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1714067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156,812건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420034-E096-4C20-8324-92D7C23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21688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2024년 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건수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97BE4-BCDE-4F1A-93C2-DFA66AF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519427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약 3만 건 대비 5배 이상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E95F79-45B9-4FB8-BE2D-060AACCF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271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2F861E-479F-4CBA-91E5-7B0DFB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5.4%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376876-E2B2-4566-B67A-FB43DF2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대물 수리 대비 비율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3C7B18-7ABC-4C61-9776-726F074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1.0% → 2024년 5.4%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E80A0-6A56-4BC2-8429-77F52F4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738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E9F1AC-DAB9-46A4-8893-98F448D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5.2배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47B1B-DD81-4716-AA5A-5E61499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 건수 증가폭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7A55DE-8BAE-4BE8-89AC-43EB5D6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FAFAF"/>
                </a:solidFill>
                <a:latin typeface="Malgun Gothic"/>
                <a:ea typeface="Malgun Gothic"/>
                <a:cs typeface="Malgun Gothic"/>
              </a:rPr>
              <a:t>2014년 대비 2024년 기준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E480A21-95BD-4CC4-8196-2F48558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4/40</a:t>
            </a:r>
          </a:p>
        </p:txBody>
      </p:sp>
      <p:sp>
        <p:nvSpPr>
          <p:cNvPr id="4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95E8BF-A003-0367-F5E3-A139BCD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206" y="1559307"/>
            <a:ext cx="261275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94D2583-3944-F435-BFAC-92B831B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1684815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10년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718A7123-F98A-CA88-7154-CEEC91E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215892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지속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증가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흐름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42B629E-2B47-F512-CD2F-7142C6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5" y="2450846"/>
            <a:ext cx="2741234" cy="19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보험금·보험료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할증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영향으로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분쟁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확대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537376B-43EB-4743-8989-D40D583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graphicFrame>
        <p:nvGraphicFramePr>
          <p:cNvPr id="94" name="차트 20"/>
          <p:cNvGraphicFramePr/>
          <p:nvPr/>
        </p:nvGraphicFramePr>
        <p:xfrm>
          <a:off xmlns:a="http://schemas.openxmlformats.org/drawingml/2006/main" x="2164714" y="3205841"/>
          <a:ext xmlns:a="http://schemas.openxmlformats.org/drawingml/2006/main" cx="7588687" cy="326811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f4581e696f40b5"/>
          </a:graphicData>
        </a:graphic>
      </p:graphicFrame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96F813-D520-41CB-8570-89CFD5C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1C328D-8B8C-470C-BC9B-B5DCA3B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CC77B7-AD15-46F5-844D-61C77C37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분쟁은 10년 동안 구조적으로 커졌다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AEE09A-71E9-440F-8A0F-459030D2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보험금과 보험료 할증이 걸리면서 사용자는 설명 가능한 근거를 요구합니다.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6D946F-8315-4D34-9244-0F774522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B72203-A3D8-46E2-A9D9-3F34CCAA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7D536C-4FD2-4EDA-A88F-87A41E9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34C2C8-FF26-4ED1-BA44-DD6DCDE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약 3만 건 대비 5배 이상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23674C-58AD-4539-AE06-13B302B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2FAED6-E30B-49CA-A8C6-739B8AE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5.4%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8514C9-B600-4EB7-B836-1670E45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대물 수리 대비 비율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BD3CC5-4019-41E5-A8A8-2685AF82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1.0%에서 상승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BBB5FA-A98A-40B5-9DBD-17EBBB4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64344C-CE90-4E64-8385-E9A04A3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5.2배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61B65A-3494-4204-B300-59A0824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10년 증가폭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1297CF-0FCF-4F5F-A76E-5335604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분쟁이 장기 증가 흐름으로 고착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D1A47D-6D11-4712-9BB3-E1B6454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A3D52A-80AA-4B97-A7DA-FE4B768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해석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100415-266F-4E8D-9C56-C05589E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29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숫자는 단순한 사고 증가가 아니라, 사용자가 보험사 설명을 검증하고 자기 사건의 근거를 찾으려는 수요가 커졌다는 신호입니다.</a:t>
            </a:r>
          </a:p>
        </p:txBody>
      </p:sp>
    </p:spTree>
    <p:extLst>
      <p:ext uri="{BB962C8B-B14F-4D97-AF65-F5344CB8AC3E}">
        <p14:creationId xmlns:p14="http://schemas.microsoft.com/office/powerpoint/2010/main" val="1739705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3E555E-F461-EAF1-3F9A-9824D0C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9DDF49-FEC5-2518-DB14-81798FC4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8C3967-EF04-83FC-7B84-342AED6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A8F383-2F56-D545-0E98-864B7D5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1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4AAFD-F605-CDC0-5167-E1CC31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15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BE8E6D-BE89-E79C-3535-45AA71B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190628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34.9%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9C9031-B49A-99AE-AED8-6AED7CC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400056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공정하지 않다고 인식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2882EE-D76C-3875-DED7-DFDA2BB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701808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최근 3년 사고 경험자 기준</a:t>
            </a:r>
          </a:p>
        </p:txBody>
      </p:sp>
      <p:sp>
        <p:nvSpPr>
          <p:cNvPr id="27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B1C6B8-BD5D-7693-9867-C3C30A1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407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6BEC7AD-4D03-27A0-934E-3A34D1B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188661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9.3~57.8%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A20005-2279-AF80-6A5E-D252811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380392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기본과실 정답률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0DEE9B-1896-40A7-BE7D-88AB3DA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682144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사고도표별 편차가 큼</a:t>
            </a:r>
          </a:p>
        </p:txBody>
      </p:sp>
      <p:sp>
        <p:nvSpPr>
          <p:cNvPr id="3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AFD9A1-1095-9F5F-C854-44D14CD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99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9CB86D-7F30-4729-9D4F-765B4D3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1876784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33.2%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79BF904-A00C-8331-99B1-1FC1C77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370560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조사 부족 인식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85649D-3CEE-D40D-F759-80CABBA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672312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경험자 응답 기준</a:t>
            </a:r>
          </a:p>
        </p:txBody>
      </p:sp>
      <p:sp>
        <p:nvSpPr>
          <p:cNvPr id="5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813CA99-5A79-86AB-2177-CBBC0FB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56432"/>
            <a:ext cx="53035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9DF09D1-A02E-65F3-E234-1678AC7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593592"/>
            <a:ext cx="49377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관점의 문제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9B3093A-32BA-350F-FEE7-E6C6C5A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86784"/>
            <a:ext cx="493775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“왜 내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과실이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잡혔는지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”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설명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블랙박스가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있어도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무엇이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쟁점인지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알기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보험사·분쟁심의·법원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판단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기준을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구분하기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어려움</a:t>
            </a:r>
          </a:p>
        </p:txBody>
      </p:sp>
      <p:sp>
        <p:nvSpPr>
          <p:cNvPr id="5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CA603F2-C4DD-89EB-3DFC-CC6A6B2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56432"/>
            <a:ext cx="498348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079FB0B-3519-7BA2-B9C7-7184EF6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935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연결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F6F799-7042-AB23-833E-ED39FBA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86784"/>
            <a:ext cx="4617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사고자료를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단위로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기준·판례·심의사례를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함께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결과가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근거·한계·다음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행동을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보여제공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750B17-647B-4E3E-9744-49E6BB9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FD130D-D1E3-49E9-A082-4AA7CE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912519-8DDB-4A41-A5D3-958E36F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과실 판단의 기준과 설명을 함께 놓친다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EA1430-FF85-42B4-93C6-299DE7C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공정성 인식, 정답률 편차, 조사 부족 인식이 같은 문제를 가리킵니다.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B69303-B3B4-4619-BBDE-71E9785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3F5CBB-D4F0-44BC-8726-BD749FF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49F1E5-8DAB-4C64-8100-0C619E3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1A3326A-C66E-447D-8FFD-C151915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최근 3년 사고 경험자 기준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ABE9A5-01EF-43E4-AB6C-3D6A82F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4DC7F4-844D-4A0A-8A01-3C95062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9.3~57.8%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94390C-A025-47D3-A6C0-E8F3F43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기본과실 정답률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DFD4FDF-EFD2-4791-8CD0-E0EC2740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사고도표별 편차가 큼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3D20B98-37D4-4297-91A3-4DFCAB49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7A6280-EA15-4518-B388-69C177C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33.2%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10C6C1-7AF4-4096-8F6B-28D4354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조사 부족 인식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79271FF-BD01-451E-9005-658EEDE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경험자 응답 기준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2C8AD1-6FBF-43DC-9DD8-9EC08DE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234A599-383F-4824-95CE-DFA2155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83BB0D-3B9A-4B63-B73F-7333EC6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 문제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DC6143-7A6C-467E-920A-330BB3A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서비스 연결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998A41-6D27-4188-855F-A5DE359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왜 내 과실이 잡혔는지 설명이 부족함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D076591-ED6C-46E8-BBCC-4400AA4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블랙박스가 있어도 쟁점 파악이 어려움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D0FD30-4EE0-4024-A4C7-27E2AFB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보험사·분쟁심의·법원 기준을 구분하기 어려움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CE096E-3F56-4613-BF93-3BE6107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사고자료를 사건 단위로 정리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9DD906-6F5B-4A24-B047-A3DD8B1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공식 기준·판례·심의사례를 함께 검색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714AAF7-4AA4-4DAD-81FA-B9195B6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행동을 리포트로 제공</a:t>
            </a:r>
          </a:p>
        </p:txBody>
      </p:sp>
    </p:spTree>
    <p:extLst>
      <p:ext uri="{BB962C8B-B14F-4D97-AF65-F5344CB8AC3E}">
        <p14:creationId xmlns:p14="http://schemas.microsoft.com/office/powerpoint/2010/main" val="2157319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96E4F-7737-A9AE-CFB0-53F347D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298DC2-B993-C1AB-2FCC-2C8CA5D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4DBB4E-BBF3-2C95-885B-5620B91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8D3120A-9FA9-EB33-2221-2B5B9FE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68BF49-CB2A-AD1D-25D8-AE5BD78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405" y="2997843"/>
            <a:ext cx="213712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뉴스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기사 추가하기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edbfdf8d54a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8E4F73-8D53-4270-B6D5-B3F27EA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0683C0-DA77-4E87-98F5-1BFA3F1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시장 신호는 분쟁의 양보다</a:t>
            </a:r>
          </a:p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근거 탐색 비용에 있다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2CFFE2-0F9B-4FBE-8A1C-6FC4132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9C9C9"/>
                </a:solidFill>
              </a:defRPr>
            </a:pPr>
            <a:r>
              <a:rPr sz="1200" b="1">
                <a:solidFill>
                  <a:srgbClr val="C9C9C9"/>
                </a:solidFill>
              </a:rPr>
              <a:t>01  문제 배경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1588DA-958F-4BD4-80C7-6FA8419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C84B4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CCF158-49D4-40CD-8014-7C6FF6B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4A9082-1A0B-4058-B4A3-F79A65B0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2024년 과실비율 분쟁 건수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6D127F-5642-4F95-9CCB-667FDF3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2014년 약 3만 건 대비 5배 이상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E93C91-C499-4226-BB82-509C227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44C1C8-6FBA-428F-BAEE-8575672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34.9%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5E0EA1-B264-41A7-9C08-C66218E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AFAFDF-4512-4ED3-BE3C-764B916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사고 경험자 기준 인식 격차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755831-0B80-4CDD-A754-0B6DAA6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1D4CABB-59A2-4BEA-841A-B82312B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3개 근거축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D8F5C3-D655-4FAC-B60E-3459AB54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인정기준·판례·심의사례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E8EAB48-3A25-49D3-BA81-DD7BD5E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사용자 사건 단위 연결이 핵심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9DC996-7DAA-493A-BF78-94D48A3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핵심 해석 | 시장은 '사고 건수'보다 보험사 설명을 검증하고 상담 전 근거를 정리하려는 사전 검토 수요로 좁혀야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9483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51685E-A373-9C93-296A-FA7151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4D8A30-7532-AAEA-A488-BF185B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판단 변수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4BB14DD-70FE-EC3F-4F0A-F36E0B5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6/40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F1E2385-6557-07BF-FA00-BF0BFCA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3F9286-6287-ACCE-E348-3F9F076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FD937C-6DF9-2433-C49C-8606107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악천후·도로상태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492637-672E-375B-E9C0-702775E1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비·눈·안개는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면책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사유가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아니라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감속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의무와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연결될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수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있음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2BB3E5-23CE-BF8B-C2F2-9E4D890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6F040D-9E1A-1D7E-0C3B-ED545D6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블랙박스의 역설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F855C1-493B-653B-93B3-26FDC6F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영상은 강한 증거지만 화각·속도·시야 차이가 오히려 불리하게 작용가능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B8E362-D156-23C8-5D70-B0D2245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87189B-7937-530F-D258-038E6BF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유사 사고의 다른 판단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26C3FAA-22C8-63DC-431A-4774211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비슷한 사고라도 사실관계와 판단 주체에 따라 결론이 달라질 가능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4DFB651-38CE-FD01-21DA-09293C0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477329-2673-32DF-3E1B-430DA3C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고의성 개입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48E87F9-D31F-312D-EA60-9F86344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보복운전·보험사기는 일반 과실비율 판단과 분리해야 함</a:t>
            </a:r>
          </a:p>
        </p:txBody>
      </p:sp>
      <p:sp>
        <p:nvSpPr>
          <p:cNvPr id="3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8E2284-6980-8DAE-2DDB-54E2EFA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4779"/>
            <a:ext cx="10607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6402B6-01FB-E385-B633-676B212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09099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필요한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것은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“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단정하는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AI”가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아니라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변수를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구조화하고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근거를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보여주는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AI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1ABE57-5B19-4C9F-86DF-4BDFFA3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E0325B-2E8D-4E84-AB5B-18D9975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57DBBE-F149-45B8-944C-4D2B4C6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과실비율은 한 가지 정답보다 변수 구조화가 먼저다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94F10A-57CD-4A2D-A6CA-5AE263B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비슷해 보이는 사고도 도로·증거·행동·고의성에 따라 결론이 달라집니다.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8D85E7-D4E7-49D6-80DB-3E0AE1D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383E5A-EC70-46F5-B0E5-CC4F953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악천후·도로상태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D49F4B-80A9-41F5-B11E-5268D87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비·눈·안개는 감속 의무와 연결될 수 있음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E46758-51A8-45F8-BBBD-6817BAFF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3ACE54-52BD-40B9-9EB8-33F34B9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블랙박스의 역설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1DC82E-ABB4-44A5-B2C1-3E89212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화각·속도·시야 차이가 불리하게 작용할 수 있음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6F381D-342A-4DE5-A594-AF09777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93C533-44DB-457B-A0EE-2A583F8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유사 사고의 차이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A47ACF-7EF8-4991-B781-9B0579A4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사실관계와 판단 주체가 결론을 바꿈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D09F90-ACDB-4BC3-A502-798305F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6413C3-1670-4D28-9C55-2DDC21C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고의성 개입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44EE29-0A2D-4534-AB45-CBEEBA0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보복운전·보험사기는 일반 과실 판단과 분리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BDFB7C-E9F6-4BDA-BE79-3A54222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필요한 AI는 확정 판정이 아니라, 변수를 정리하고 근거를 보여주는 분석 흐름입니다.</a:t>
            </a:r>
          </a:p>
        </p:txBody>
      </p:sp>
    </p:spTree>
    <p:extLst>
      <p:ext uri="{BB962C8B-B14F-4D97-AF65-F5344CB8AC3E}">
        <p14:creationId xmlns:p14="http://schemas.microsoft.com/office/powerpoint/2010/main" val="3421746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4012FF-5FDB-40BD-5D8D-480978A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DC837D-4090-99EC-784F-9F19C3D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5447ED-BBCA-CBEA-5E1C-C004FBD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062F4F-03E1-13D6-B071-B9FC098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해결하고자 하는 문제와 서비스 목표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34FEF05-0B42-DD6E-CC3F-64CEF31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C00956-C47C-5967-C32D-0FEB485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판단 전 사건 구조화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근거 기반 답변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다음 행동으로 연결되는 리포트 결과</a:t>
            </a:r>
          </a:p>
        </p:txBody>
      </p:sp>
    </p:spTree>
    <p:extLst>
      <p:ext uri="{BB962C8B-B14F-4D97-AF65-F5344CB8AC3E}">
        <p14:creationId xmlns:p14="http://schemas.microsoft.com/office/powerpoint/2010/main" val="407197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39c56fa094e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66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e1464988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7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e1464988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8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e1464988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9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e1464988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0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e1464988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1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e1464988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2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324112dae43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3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324112dae43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4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e1464988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EA1127-6FDC-A3E4-CE5B-7260756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136712-3791-3095-AD92-358850C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9B21C1-9B51-CF51-D4B7-C3337F4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4CAE9DA-430C-76EB-7C5E-8364753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pic>
        <p:nvPicPr>
          <p:cNvPr id="79" name="그래픽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fc6e93b8545a8">
            <a:extLst>
              <a:ext uri="{96DAC541-7B7A-43D3-8B79-37D633B846F1}">
                <asvg:svgBlip xmlns:asvg="http://schemas.microsoft.com/office/drawing/2016/SVG/main" r:embed="R8895b8edb9d447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67239" y="4868445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7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cb5bd0a9c41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72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16eaa387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3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16eaa387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4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16eaa387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16eaa387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6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16eaa387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7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16eaa387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8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a353f506847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9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a353f506847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0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16eaa387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37CBD5-3F21-6889-765F-75F1CAE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33F003-0A73-36A7-176C-CF07DC3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AAF99DD-3453-5D32-5EAC-A5E5632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71D7B50-4534-08BE-66C1-3099381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pic>
        <p:nvPicPr>
          <p:cNvPr id="85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43a14387748bf">
            <a:extLst>
              <a:ext uri="{96DAC541-7B7A-43D3-8B79-37D633B846F1}">
                <asvg:svgBlip xmlns:asvg="http://schemas.microsoft.com/office/drawing/2016/SVG/main" r:embed="Rcc306c08274c4e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3C4E866-CD7B-9E12-D9C7-DD00A29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48123608-88C7-35AF-ACF9-09108E9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판단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전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D59A20EA-AA9B-3894-7849-6B943A0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설명·사진·영상에서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위반유형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장소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기한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증거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사고유형을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먼저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분리</a:t>
            </a:r>
          </a:p>
        </p:txBody>
      </p:sp>
      <p:pic>
        <p:nvPicPr>
          <p:cNvPr id="89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466e3e69a42db">
            <a:extLst>
              <a:ext uri="{96DAC541-7B7A-43D3-8B79-37D633B846F1}">
                <asvg:svgBlip xmlns:asvg="http://schemas.microsoft.com/office/drawing/2016/SVG/main" r:embed="Redf5fb3a6d814f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877515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06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301f4b08f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8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f29e3ede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f29e3ede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f29e3ede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3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f29e3ede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f29e3ede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5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f29e3ede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6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2142c20a1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7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2142c20a1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8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f29e3ede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9F7982-C547-CEF1-600A-5248219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9F9F4B-0C5B-0FD0-0E76-3FE9CD5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C565667-F374-42FA-EDBD-1D5180E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D1949BD-B9DA-6BA7-E46B-7AAE866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pic>
        <p:nvPicPr>
          <p:cNvPr id="93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0fc4280004f7d">
            <a:extLst>
              <a:ext uri="{96DAC541-7B7A-43D3-8B79-37D633B846F1}">
                <asvg:svgBlip xmlns:asvg="http://schemas.microsoft.com/office/drawing/2016/SVG/main" r:embed="R1ffae18287aa4e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94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0fc4280004f7d">
            <a:extLst>
              <a:ext uri="{96DAC541-7B7A-43D3-8B79-37D633B846F1}">
                <asvg:svgBlip xmlns:asvg="http://schemas.microsoft.com/office/drawing/2016/SVG/main" r:embed="R1ffae18287aa4e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51B855D-95CC-EAF7-A2D7-37F0A0A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23B4ECFD-3D77-0B92-B851-3D0AF0B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판단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전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801C8CE-6488-DA92-EC2D-C63DF40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설명·사진·영상에서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위반유형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장소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기한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증거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사고유형을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먼저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EBEA2AB-4F0E-FE1D-BAAC-F5FA2BC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E2BCAFEF-2B1A-2346-B432-72EF02D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근거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기반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1E732AD-ED7D-D96C-E2AC-10A3F62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과실비율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인정기준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판례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심의사례를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연결하고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출처를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남김</a:t>
            </a:r>
          </a:p>
        </p:txBody>
      </p:sp>
      <p:pic>
        <p:nvPicPr>
          <p:cNvPr id="101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1cfe19e9e46c3">
            <a:extLst>
              <a:ext uri="{96DAC541-7B7A-43D3-8B79-37D633B846F1}">
                <asvg:svgBlip xmlns:asvg="http://schemas.microsoft.com/office/drawing/2016/SVG/main" r:embed="R9ab5e101245d4c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102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1cfe19e9e46c3">
            <a:extLst>
              <a:ext uri="{96DAC541-7B7A-43D3-8B79-37D633B846F1}">
                <asvg:svgBlip xmlns:asvg="http://schemas.microsoft.com/office/drawing/2016/SVG/main" r:embed="R9ab5e101245d4c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2192000" y="3202924"/>
            <a:ext cx="973947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95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6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a8583e68b4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87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3f6961d7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8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3f6961d7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9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3f6961d7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0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3f6961d7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1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3f6961d7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2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3f6961d7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3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faacc63a244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4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faacc63a244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5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3f6961d7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2B6D46-2B01-8D0E-20F7-33D063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E6DA06-0B84-347A-3DE4-6B824F9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A9F2340-48E2-CDD0-C119-E9C1D6A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AC8E56B-358D-EB94-1EDF-C070BA8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pic>
        <p:nvPicPr>
          <p:cNvPr id="100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6aa61525f416e">
            <a:extLst>
              <a:ext uri="{96DAC541-7B7A-43D3-8B79-37D633B846F1}">
                <asvg:svgBlip xmlns:asvg="http://schemas.microsoft.com/office/drawing/2016/SVG/main" r:embed="Rd38fd9d02beb43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01" name="그래픽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6aa61525f416e">
            <a:extLst>
              <a:ext uri="{96DAC541-7B7A-43D3-8B79-37D633B846F1}">
                <asvg:svgBlip xmlns:asvg="http://schemas.microsoft.com/office/drawing/2016/SVG/main" r:embed="Rd38fd9d02beb43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4619" y="2681940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02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6aa61525f416e">
            <a:extLst>
              <a:ext uri="{96DAC541-7B7A-43D3-8B79-37D633B846F1}">
                <asvg:svgBlip xmlns:asvg="http://schemas.microsoft.com/office/drawing/2016/SVG/main" r:embed="Rd38fd9d02beb43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BAF1DAC-5884-D36B-7368-D8D7070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FE64C86-9DE4-1287-95A7-7ED8E44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판단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전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BA213B4A-59DB-DE86-1650-0638B4D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설명·사진·영상에서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위반유형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장소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기한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증거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사고유형을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먼저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571826-3CEE-5619-D11D-FC2409C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8D3C7E-F9AF-AFCD-8584-1CD6BD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근거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기반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29033B77-E921-81D0-38C0-84F4D63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과실비율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인정기준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판례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심의사례를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연결하고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출처를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남김</a:t>
            </a:r>
          </a:p>
        </p:txBody>
      </p:sp>
      <p:sp>
        <p:nvSpPr>
          <p:cNvPr id="6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BECAFB-9AF5-E640-B5AA-05171DE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488" y="826439"/>
            <a:ext cx="3063240" cy="1872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024FCBA-647F-D5A7-048F-E70E8AA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009899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03 행동으로 연결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AC026309-EC44-9D40-5D8D-BB6928D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631886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>
                <a:latin typeface="Noto Sans CJK KR"/>
                <a:ea typeface="Noto Sans CJK KR"/>
                <a:cs typeface="Noto Sans CJK KR"/>
              </a:rPr>
              <a:t>이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의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가능성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리스크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추가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증거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문의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초안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리포트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다운로드까지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이어집니다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pic>
        <p:nvPicPr>
          <p:cNvPr id="112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e3620b3ca42a7">
            <a:extLst>
              <a:ext uri="{96DAC541-7B7A-43D3-8B79-37D633B846F1}">
                <asvg:svgBlip xmlns:asvg="http://schemas.microsoft.com/office/drawing/2016/SVG/main" r:embed="R51543f4a38524f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772890" y="3202924"/>
            <a:ext cx="973947" cy="914400"/>
          </a:xfrm>
          <a:prstGeom xmlns:a="http://schemas.openxmlformats.org/drawingml/2006/main" prst="rect">
            <a:avLst/>
          </a:prstGeom>
        </p:spPr>
      </p:pic>
      <p:pic>
        <p:nvPicPr>
          <p:cNvPr id="113" name="그래픽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e3620b3ca42a7">
            <a:extLst>
              <a:ext uri="{96DAC541-7B7A-43D3-8B79-37D633B846F1}">
                <asvg:svgBlip xmlns:asvg="http://schemas.microsoft.com/office/drawing/2016/SVG/main" r:embed="R51543f4a38524f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FB278-3BA6-A4AC-62AB-DABF357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62" y="6096809"/>
            <a:ext cx="9921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latin typeface="Noto Sans CJK KR"/>
                <a:ea typeface="Noto Sans CJK KR"/>
                <a:cs typeface="Noto Sans CJK KR"/>
              </a:rPr>
              <a:t>교통분쟁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AI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서비스의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결과물은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사용자가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스스로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검토·상담·대응할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수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있는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사건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리포트</a:t>
            </a:r>
          </a:p>
        </p:txBody>
      </p:sp>
    </p:spTree>
    <p:extLst>
      <p:ext uri="{BB962C8B-B14F-4D97-AF65-F5344CB8AC3E}">
        <p14:creationId xmlns:p14="http://schemas.microsoft.com/office/powerpoint/2010/main" val="2547650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3E284E-075C-6CAC-9720-D82D4D7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44FD64-7DEE-6FE7-5B8E-28A8412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리포트 구성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C1EF19-C3C5-A39B-949F-05FC438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9/40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3E22DA6-FD55-2D5B-0650-06C8559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sp>
        <p:nvSpPr>
          <p:cNvPr id="6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D6DD98-573C-9495-2ADE-E8B178B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1975AF4-B63D-B786-D7DB-5FCD456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수집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8258694-B0A3-1C54-F9DC-906FBAD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고지서·사진·영상·상황 설명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D3891155-E6E8-C91E-2CB5-CE72AA5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7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34C3F-BE1D-FA9D-1774-A24C93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74B008A-3317-B85C-39A7-63195E8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사건 구조화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A8C7546A-2946-24C1-1A8E-174DCE2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사고유형·증거·기한·장소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1381A7B-1ABE-AF28-81F9-893178B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8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FA5F52-7A6F-9D03-0976-426B6B1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D6E764E8-E9F5-5C1E-754C-303F062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B95C4FA1-45AA-6566-2611-9B5F9B8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법령·판례·심의사례·인정기준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3B8DF3E4-0106-8333-B84B-AEB2680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9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28BEAF-C235-CC06-DA7F-BC8F039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53A0A1F6-D2E2-80AB-1130-D9BA5AF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한계 표시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51358A9E-CB2D-18E7-8AD2-18618C2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부족한 증거·리스크·단정 방지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3B1712FF-0617-1F8E-1C5B-5D3484D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0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CFAF75-FEDA-6651-7076-E34CC09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A73005C-45CE-7123-7BD6-71388D2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리포트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E7A7AAFC-B581-FBFB-7D7B-B674184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문의·체크리스트·다운로드</a:t>
            </a:r>
          </a:p>
        </p:txBody>
      </p:sp>
      <p:sp>
        <p:nvSpPr>
          <p:cNvPr id="10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80384FF-39C1-042F-2D56-CA0F39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C84091CA-9A5B-1B55-0793-54A9D4A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가치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3AC8EFD2-A58E-5D9A-7C5F-17E193A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전, 내 사건의 쟁점과 필요한 근거를 먼저 확인가능</a:t>
            </a:r>
          </a:p>
        </p:txBody>
      </p:sp>
      <p:sp>
        <p:nvSpPr>
          <p:cNvPr id="112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2D33682-3C3D-C455-AF61-972D202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9E80A16-04E3-E7B4-E0FA-ACA225B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가치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3F48085-88E7-E09E-8995-C66251A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정보·판례·사고자료를 하나의 사건 흐름으로 연결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2E09D9-D433-438F-AFE8-E0BA6F4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6D8F478-3838-4969-B8F2-A578F3D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48B09F3-F0B0-4CB4-BCF0-A5A4EFF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사건 리포트는 흩어진 자료를 상담 가능한 형태로 바꾼다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56A3902-4348-48F9-974B-72E7EC5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입력, 구조화, 검색, 한계 표시, 다음 행동이 한 흐름으로 이어집니다.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482BA1B-0006-4596-B8CE-83223AB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571353E-A85A-420A-A646-7A0B5F8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F37BB9F-94CC-40DC-9222-DE32A9B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입력 수집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5AC9345-6FA6-4CED-B2CF-84F610C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65B456F-2F0E-4AA6-8135-B6B3C2A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A9C15A3-A862-42ED-84B3-CC879A1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FF812BE-3993-4997-899C-0316344E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3F14172-7F8A-4622-A82D-61F692D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사고유형·증거·기한·장소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3553B11-F50F-4814-818F-F375D1AB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5523E4-BFAD-4507-A81F-A6D10FE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7BCAE3F-F75E-40A6-A05A-2406E4C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20227E5-78CC-4F6F-A336-B92E94A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법령·판례·심의사례·인정기준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BD659DC-1124-4303-84AE-4BD04B6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A200ACD-5550-45CF-87D4-3DA39CC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24E7866-5FB3-4296-A3A9-D8CAE66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한계 표시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D2F7FFB-0377-4D82-A034-4186904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부족한 증거와 단정 방지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B06DEBE-62BA-4C0C-B9FB-2DF6A2FE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072E395-0B8D-48F9-BDF8-606A5FD1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B644A63-F76E-418B-A8D7-DA7E8BE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A61F2C9-0116-4171-84EA-79024E2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초안·체크리스트·다운로드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0143266-3A77-4966-B36F-07C6E0E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038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601EA61-E8AB-4848-8087-E0B8EF8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038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8987E3B-6C24-421F-B40A-754EEFE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 가치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8CA6755-F3F0-4B6B-87B2-373A50B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전문가 상담 전 쟁점과 근거를 먼저 확인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BDEB124-5E6E-4871-81EC-6A50D09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서비스 가치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2926B55-112C-48AF-8632-1B51729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9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공식 정보와 사고자료를 사건 흐름으로 연결</a:t>
            </a:r>
          </a:p>
        </p:txBody>
      </p:sp>
    </p:spTree>
    <p:extLst>
      <p:ext uri="{BB962C8B-B14F-4D97-AF65-F5344CB8AC3E}">
        <p14:creationId xmlns:p14="http://schemas.microsoft.com/office/powerpoint/2010/main" val="51477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4ED74-1FDE-4459-61C0-D3F454C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0DA54-7229-9DA1-87A6-E8EC0A5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19AED7-ECAB-7DD4-E231-9424184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사용자 문제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6B218-98C5-B790-43DA-6F1365F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고지서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보험 대응의 어려움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6C841B-3DA2-97E6-519C-96FED63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10/40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13D885-86EF-30B3-FBF5-9152DBD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처분 종류와 절차 구분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사용자 실패 장면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시나리오 기반 기능 연결</a:t>
            </a:r>
          </a:p>
        </p:txBody>
      </p:sp>
    </p:spTree>
    <p:extLst>
      <p:ext uri="{BB962C8B-B14F-4D97-AF65-F5344CB8AC3E}">
        <p14:creationId xmlns:p14="http://schemas.microsoft.com/office/powerpoint/2010/main" val="292453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4D2236-CBB1-88AF-83AC-22A1906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F2A8B8-5AF2-E667-3FC2-4E7CAD1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 이후 분쟁 영역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6EB740B-7505-5746-AE2F-5E7B1B4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11/40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EBCDA6F-4A62-A27F-FA94-1AA36AF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885944-6583-47D7-529A-DB8CA23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100105-3A98-0FD7-25B6-5498E7F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과태료/범칙금 고지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76D4C0-674E-05CA-3A8F-5D5E59E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사유, 기한, 이의제기 가능성을 모름 → 문서 인식·기한·유형 분기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BB3F23-E45C-A03B-E847-46F1884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4BA2B8-0311-5123-3C82-BB66278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교통사고 과실비율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125D5C7-0E59-10A6-FF38-82A8595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보험사나 상대방 주장과 내 생각이 다름 → 유사 판례·심의사례 검색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BE7DE78-76CC-6266-6C91-A6DE28A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BC9B08-4369-3302-8A46-6471CB8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 근거 확인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6F9193-B6B2-11DD-BDC3-21F560A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조문과 법률 용어를 직접 찾기 어려움 → 일상어를 법률 용어로 변환</a:t>
            </a:r>
          </a:p>
        </p:txBody>
      </p:sp>
      <p:sp>
        <p:nvSpPr>
          <p:cNvPr id="2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AB6A411-8B03-222B-253A-B95DB87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C918A8A-B580-CD74-4C7F-05C9914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상담/리포트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E9868D0-CFA0-6A1C-42D7-BA04151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말로 설명한 사건을 문서로 정리하기 어려움 → 증거·한계·다음 조치 구조화</a:t>
            </a:r>
          </a:p>
        </p:txBody>
      </p:sp>
    </p:spTree>
    <p:extLst>
      <p:ext uri="{BB962C8B-B14F-4D97-AF65-F5344CB8AC3E}">
        <p14:creationId xmlns:p14="http://schemas.microsoft.com/office/powerpoint/2010/main" val="2072590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3D792D-9BD9-F072-C3C8-4C1A93C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322AA-0861-B199-9ADA-4CD2799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과태료·범칙금·벌점 차이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CD24FC-2578-EA13-ACC2-DA8BBD1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12/40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21B06E0-CF76-7D38-F206-D1E40CF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E978D-4C4D-C5D2-1464-8928C56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2F83B3-4340-1011-3D59-E7349C3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689A19-6B4A-2667-E6E3-D0A8297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행정질서 위반 금전 제재. 의견제출·이의신청 가능성, 기한, 고지서 문서 인식 분석이 중요</a:t>
            </a:r>
          </a:p>
        </p:txBody>
      </p:sp>
      <p:sp>
        <p:nvSpPr>
          <p:cNvPr id="18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EFB880-8345-AB2B-C76C-435E58C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8CBD15-C314-982C-D0C4-F41B4CA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B49291-0990-83DD-D64F-F891246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운전자 특정 및 교통법규 위반 처리와 연결됨 벌점 리스크가 있어 단정형 문서 생성을 제한함</a:t>
            </a:r>
          </a:p>
        </p:txBody>
      </p:sp>
      <p:sp>
        <p:nvSpPr>
          <p:cNvPr id="2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AB3A3A5-144F-A418-3B88-B52B95B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46ED982-8CB4-ED2F-E031-943E876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사고 과실비율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E910604-43DC-E915-8B15-E65D449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당사자 간 책임 비율 보험금, 구상, 분쟁심의, 소송 가능성과 연결됨</a:t>
            </a:r>
          </a:p>
        </p:txBody>
      </p:sp>
      <p:sp>
        <p:nvSpPr>
          <p:cNvPr id="3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3D7CB6C-846E-4E62-7238-FFF23CC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8D64311-AD39-7E34-B816-07A9B44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법률사고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9C211A-FB9F-19A6-C432-2F1B076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기한 도과, 잘못된 진술, 개인정보 노출 등 불이익을 만드는 상황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A017827-6A5E-5FFE-E09C-2A62A4C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00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설계 원칙 | 억울함보다 객관적 근거·기한·증거·절차상 문제가 있는지 먼저 판단함</a:t>
            </a:r>
          </a:p>
        </p:txBody>
      </p:sp>
    </p:spTree>
    <p:extLst>
      <p:ext uri="{BB962C8B-B14F-4D97-AF65-F5344CB8AC3E}">
        <p14:creationId xmlns:p14="http://schemas.microsoft.com/office/powerpoint/2010/main" val="1652769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8AB14-7D6B-4D76-B554-E84BC9F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BA113A-2641-0C8B-E197-ED6E785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질문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FF06328-3520-7807-9F39-2CB8337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13/40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9CA77B-8DF2-711F-0F23-987B545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13A3C4-19E0-5709-457A-680A375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7207A5-9505-8CD5-BC4E-66B88AF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고지서 해석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CD0F03B-9079-34EC-41C8-911F50F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909B85-2469-55F7-0EAD-6AC3AD5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과실 근거 확인</a:t>
            </a:r>
          </a:p>
        </p:txBody>
      </p:sp>
      <p:sp>
        <p:nvSpPr>
          <p:cNvPr id="16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8EE7E7-DCE0-EA78-3F04-0BE9C62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ADA08A-B6D6-BBF7-0BD1-E121119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증거 부족 판단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003BE8-E1CF-8D8E-C46D-BB05DA4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FAEB2F-484C-F3D0-0871-76B74C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유사 사례 검색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5E0DE4B-3D93-E521-B44D-00DB671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3B7DF2-745F-E243-F18D-482E905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리스크 판단</a:t>
            </a:r>
          </a:p>
        </p:txBody>
      </p:sp>
      <p:sp>
        <p:nvSpPr>
          <p:cNvPr id="34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FE7D787-D09A-D9C5-7100-21C9DE3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17CCCD0-2E97-1399-0E73-9F5EE9D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문서화</a:t>
            </a:r>
          </a:p>
        </p:txBody>
      </p:sp>
      <p:sp>
        <p:nvSpPr>
          <p:cNvPr id="4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4CA8366-888B-70FD-5852-B1E228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052"/>
            <a:ext cx="1051560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0DEDE30-4EAB-2C4F-3893-3FEBEDF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00252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서비스는 “사용자의 질문”을 “검토 가능한 사건 구조”로 바꾸는 데서 시작함</a:t>
            </a:r>
          </a:p>
        </p:txBody>
      </p:sp>
    </p:spTree>
    <p:extLst>
      <p:ext uri="{BB962C8B-B14F-4D97-AF65-F5344CB8AC3E}">
        <p14:creationId xmlns:p14="http://schemas.microsoft.com/office/powerpoint/2010/main" val="4078436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8015B3-1789-79EE-90A9-D692CCA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644E5E-CDCF-F774-30DF-FA7E3C66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과태료 고지서 사례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C46A1E-B8F8-3663-D17B-5FA3278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14/40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5731F10C-38DB-395B-A899-7E8991B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B502-BC43-4752-0649-F9A67A13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2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D3C00A-4973-241A-B416-3EFBA0B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4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“불법주정차 과태료 고지서를 받았는데, 차를 도난당한 상태였고 이의신청을 해도 되는지 모르겠다.”</a:t>
            </a:r>
          </a:p>
        </p:txBody>
      </p:sp>
      <p:sp>
        <p:nvSpPr>
          <p:cNvPr id="1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65585A5-EB81-708C-6E02-FC09564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04B6CF-4CE7-6226-FEDD-D20A884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업로드</a:t>
            </a:r>
          </a:p>
        </p:txBody>
      </p:sp>
      <p:sp>
        <p:nvSpPr>
          <p:cNvPr id="1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403FD80-C7C2-9C37-3197-9027A22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66B315-6720-3F47-DA1F-9B6250D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문서 인식 필드 추출</a:t>
            </a:r>
          </a:p>
        </p:txBody>
      </p:sp>
      <p:sp>
        <p:nvSpPr>
          <p:cNvPr id="2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8D2B88-07DC-0848-1DE0-EBF840E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125A5C-0246-9FA3-16EC-AA399571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3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784C0EE-2E46-C5A9-AAB1-E31402B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17892F-EAB3-FB87-3A6A-36C5BF7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사유·기한 검토</a:t>
            </a:r>
          </a:p>
        </p:txBody>
      </p:sp>
      <p:sp>
        <p:nvSpPr>
          <p:cNvPr id="3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5908D75-6BC3-3148-628B-73CFD17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6B2244F-D04B-64E5-2472-A94DA6B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리포트 생성</a:t>
            </a:r>
          </a:p>
        </p:txBody>
      </p:sp>
      <p:sp>
        <p:nvSpPr>
          <p:cNvPr id="4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C3E43BD-C969-DFE8-5F29-1E841AC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254BF0D-F583-BF26-BD45-DF9481E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A2BAB6-5C3E-4C27-AA0F-3060A41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위반유형, 기한, 법조문, 금액을 읽기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도난·부득이한 사유·본인 운전 인정형 진술을 구분하기 어려움</a:t>
            </a:r>
          </a:p>
        </p:txBody>
      </p:sp>
      <p:sp>
        <p:nvSpPr>
          <p:cNvPr id="5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50AA1C5-27BF-3DBD-FC0B-907C8EF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C156D7C-24A6-7EBA-787F-A54095D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DBAF422-7980-1B44-07BF-B92B21A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결과, 법적 리스크, 인정 가능성, 부족한 정보, 다음 조치를 분리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검토 가치와 한계를 표시</a:t>
            </a:r>
          </a:p>
        </p:txBody>
      </p:sp>
    </p:spTree>
    <p:extLst>
      <p:ext uri="{BB962C8B-B14F-4D97-AF65-F5344CB8AC3E}">
        <p14:creationId xmlns:p14="http://schemas.microsoft.com/office/powerpoint/2010/main" val="27922374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ECA8E2B-605D-D509-1AEF-42FD2BF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15/40</a:t>
            </a:r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F01EE2-4BA5-0304-3BD2-3EDCC3F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3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42D7D5-85EF-9AC8-9A8F-AA15EAB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5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“상대 차량이 진로변경을 했는데 보험사는 제 과실도 크다고 함 비슷한 사례가 있나요?”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4F001AC-3A43-60C9-5207-220DB28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3D3CED-336B-72C0-0DBD-52EE60D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사고 설명 입력</a:t>
            </a:r>
          </a:p>
        </p:txBody>
      </p:sp>
      <p:sp>
        <p:nvSpPr>
          <p:cNvPr id="1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9E51C6F-4049-DB43-0A25-B3DA9D5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AEDE6E0-B6DA-1FCB-1143-4D5273C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사고유형 구조화</a:t>
            </a:r>
          </a:p>
        </p:txBody>
      </p:sp>
      <p:sp>
        <p:nvSpPr>
          <p:cNvPr id="2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22D6A39-1CD1-809E-403D-176AB8B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5E803A2-E865-098D-5000-081D344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유사 사례 검색</a:t>
            </a:r>
          </a:p>
        </p:txBody>
      </p:sp>
      <p:sp>
        <p:nvSpPr>
          <p:cNvPr id="29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1BCCA58-1915-C6FF-E35F-3395493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82F0265-6201-5E6C-539D-288FCD1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근거/한계 비교</a:t>
            </a:r>
          </a:p>
        </p:txBody>
      </p:sp>
      <p:sp>
        <p:nvSpPr>
          <p:cNvPr id="3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4FB1F75-F3F3-20E4-199C-F8436C0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8A0BE42-3F13-B98C-C8B3-CEC503A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문의 초안</a:t>
            </a:r>
          </a:p>
        </p:txBody>
      </p:sp>
      <p:sp>
        <p:nvSpPr>
          <p:cNvPr id="4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A43B6BA-6611-3185-42E8-FFEF2F7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20827AB-5B71-3A56-6B07-7D73E2E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6A5EA62-BA3B-15AC-EE1A-5C5D153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인정기준, 판례, 심의사례가 흩어져 있음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장소, 방향, 신호, 정지 여부가 빠지면 유사 사례 판단이 어려움</a:t>
            </a:r>
          </a:p>
        </p:txBody>
      </p:sp>
      <p:sp>
        <p:nvSpPr>
          <p:cNvPr id="54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3473EE3-A256-5B06-FB9D-877FB04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5F81EC-2873-3765-B8AE-85B3EF4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B9F1669-AFB3-DCE0-2085-CAFE7E2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사례, 사실관계 차이, 부족한 증거, 보험사 질문 문구를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460B29-A568-2B88-50D5-93640D9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79E4D6B-D932-4E0F-79F9-54AB588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 과실비율 사례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737F6C7-8DC0-5E65-C366-4A8697A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</p:spTree>
    <p:extLst>
      <p:ext uri="{BB962C8B-B14F-4D97-AF65-F5344CB8AC3E}">
        <p14:creationId xmlns:p14="http://schemas.microsoft.com/office/powerpoint/2010/main" val="13623653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4E4B1D6-659C-87FC-658C-C425FEA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E31569-693E-771E-D5A9-D50FDAF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DB56009-C748-8154-7401-197E907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위험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B982C94-825E-4503-9865-A3C806D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4D932A4-4C4A-B76C-4A6C-26AA32E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3C43C4-7F2D-F4F7-663C-7B36BE6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입력 데이터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A0C02-0C32-1D3D-7C73-6EE6A4D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차량번호, 고지서 사진, 이름, 주소, 사고 위치, 블랙박스 영상이 동시에 들어올 가능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65DBDCA-8A90-82BC-12F3-4FB9474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44BE96-CCBF-118A-9A95-11C5178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LLM 위험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85D7AB8-3BC9-496E-484A-C7132104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원문이 프롬프트·로그·출력에 그대로 노출되거나 문서 내 지시가 모델을 오염시킬 가능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5DB382-EFF8-1475-16E3-0396FAD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A6CCB8B-8AE0-1BBC-AB53-B9E27ED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설계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7C76BA-DE0C-ADC9-487E-0C24C1D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회원 권한 분리, 업로드 파일 검사, 개인정보 최소 저장, 근거·한계 표시를 적용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44294C-09E6-A35C-B88F-FCAE2A8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337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법률/보험 AI 서비스의 핵심 | 답변 품질 + 데이터 보호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7287B5-A898-4517-B401-D026F62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416D91-EF97-4BD1-9550-F2F1A6A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C72188-79B8-4A85-9BFF-2193659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법률·보험 AI는 답변 품질만큼 데이터 보호가 중요하다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7C7348-B821-4CE0-8267-551F8EC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 자체가 차량번호, 주소, 고지서, 블랙박스 영상을 포함할 수 있습니다.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4CF6D0-D997-42D8-A78D-B4F95B46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222670-D2A0-4BD7-9947-E6D7639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591BF1-1F3C-4F06-B891-C114ACB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위험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4F38B0-5828-41C6-BFBF-6648CFD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우리 설계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7D4F2B-0092-4726-A31C-83F90DBD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민감 정보가 프롬프트·로그·출력에 남을 수 있음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583749-23DD-4560-BE59-63A5522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문서 안의 악성 지시가 답변을 오염시킬 수 있음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8D118B-CC2B-44FF-8B1D-FE8F395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 저장은 개인정보 노출 범위를 키움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C15FCB-95C9-4432-83C9-6FE6E22A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회원 권한과 저장·다운로드 권한 분리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88FFC93-44F1-4E98-AC5F-FEE8891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 후 AI 분석 전달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093591-4FEF-4654-9476-51FEF43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필드 중심 처리와 근거·한계 표시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3DFA862-BD8A-4FED-9B56-B1A722E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1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품질 + 보호</a:t>
            </a:r>
          </a:p>
        </p:txBody>
      </p:sp>
    </p:spTree>
    <p:extLst>
      <p:ext uri="{BB962C8B-B14F-4D97-AF65-F5344CB8AC3E}">
        <p14:creationId xmlns:p14="http://schemas.microsoft.com/office/powerpoint/2010/main" val="2052696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7BC2984-567D-01AD-02EB-BD07784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91EA95-1E87-7FBA-7D96-E336E2C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E4D8CB-C6FB-5594-7E67-56E96D71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453445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경쟁사와 차별점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235C1F-A2A8-E8FD-A480-E60707D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7E67D9-9FA9-1773-5FEF-4FD0F20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기존 경쟁사 기능 범위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부족한 시장 영역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우리 서비스 차별점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4FE47A-4D0E-F96D-D1FD-059D6E0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3030351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기존 서비스의 한계와 </a:t>
            </a:r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차별점</a:t>
            </a:r>
          </a:p>
        </p:txBody>
      </p:sp>
    </p:spTree>
    <p:extLst>
      <p:ext uri="{BB962C8B-B14F-4D97-AF65-F5344CB8AC3E}">
        <p14:creationId xmlns:p14="http://schemas.microsoft.com/office/powerpoint/2010/main" val="2222712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0D53647-4C79-8516-0CBA-0BB947F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18/40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D3C909-F3E8-E909-92D9-1FA1C7E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7D74AF3F-6B43-53AF-3851-DB981DD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 서비스 현황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A7D0C73-D5A9-0E30-9BB3-9FF76E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A29625-8135-9C68-3B7D-9646EC1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7F86B6-C159-696F-CF75-E834FC5A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시장에 이미 있는 기능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6E9D58-B52F-E150-A076-D910AA9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과태료·범칙금 조회/납부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 앱·콜센터 사고 접수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손상/청구 중심 보험 AI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 검색·법률문서 생성 리걸테크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D3313EE-4716-EF48-84EB-898D678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6F30F2E-CF1A-A9DE-5C2F-0C59114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아직 부족한 조합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0CFEBB6-6739-A008-A19D-7B431FD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+ 이의 가능성 판단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블랙박스/사고자료 + 과실 근거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판례·인정기준 근거 검색 + 출처 제시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소비자용 사건 리포트 통합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C5DDD4-85E9-8384-2903-9F5C315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267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핵심 | 개별 기능은 있으나, 자기 사건 기반 근거 리포트 제공 서비스는 부족</a:t>
            </a:r>
          </a:p>
        </p:txBody>
      </p:sp>
    </p:spTree>
    <p:extLst>
      <p:ext uri="{BB962C8B-B14F-4D97-AF65-F5344CB8AC3E}">
        <p14:creationId xmlns:p14="http://schemas.microsoft.com/office/powerpoint/2010/main" val="1588856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0359BF-DD17-C1A0-7143-5F5EE10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19/40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416C8-96B7-1A3A-DFB2-28A492F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D6C8A7-32A1-1DA2-3CB1-C4C494F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서비스 한계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F684F49-B6D8-9265-D6D5-3881EE9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E49986-5D8E-4AA3-A3BB-1F87995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289BF-ADA7-7706-49D5-E6AAB1D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공공·공식 포털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6BAB9D-37C5-822D-992F-802C670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조회·납부와 공식 기준 제공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D20614-F526-77C0-6A60-C3CE5EB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302B31-86E6-B74B-D05D-CD9045BC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정보포털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747881-65D2-F64C-C567-8CA1051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인정기준·심의사례 제공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2D499A-C5B6-748B-258E-034189B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0DC2AA-DD1C-88FC-F41C-F4CBE02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AI/앱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9AB557-A97F-930D-7B04-FD52F04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청구·보상 처리와 연결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0E2EB3A-8255-F25E-0A2C-4788EB3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CB867C-35C7-5FF3-5501-2CFA780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D642C64-8369-3654-896F-740DE35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검색·문서작성·전문가 연결</a:t>
            </a:r>
          </a:p>
        </p:txBody>
      </p:sp>
      <p:sp>
        <p:nvSpPr>
          <p:cNvPr id="3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2C619F5-8FA9-AC8D-E3DE-C714A15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D0669E2-0E60-80F5-6E94-164CFF9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일반 AI/검색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B9805A1-978C-9667-C71E-8399C26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접근성은 높지만 검증 약함</a:t>
            </a:r>
          </a:p>
        </p:txBody>
      </p:sp>
      <p:sp>
        <p:nvSpPr>
          <p:cNvPr id="4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D7ED3AF-FE46-8081-057A-3ED73A6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0002"/>
            <a:ext cx="99669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303E07F-DABF-B170-976D-1636121D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98602"/>
            <a:ext cx="9692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공통 한계 | 사고자료 구조화 → 근거·한계·다음 행동 리포트 연결 부족</a:t>
            </a:r>
          </a:p>
        </p:txBody>
      </p:sp>
    </p:spTree>
    <p:extLst>
      <p:ext uri="{BB962C8B-B14F-4D97-AF65-F5344CB8AC3E}">
        <p14:creationId xmlns:p14="http://schemas.microsoft.com/office/powerpoint/2010/main" val="1944061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9722855-364C-5CB0-530A-0ACEE7A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D3CBB8-CFAE-376E-06BD-D7674FC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498B069-511D-5F2E-009C-1C84348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경쟁사 기능 비교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343A39A-8188-9CC6-682B-1DCE597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84B9D2-DFC4-292F-8E3B-62C886E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플레이어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86BB6D-EAB2-816B-0CBD-FDF2C3B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강점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92B26E-EEFA-A29A-102E-F9DDD9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04308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비어 있는 부분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044307-BE31-4DBE-CD34-B2522A5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5788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ACF11E-DDC1-CDCB-1B31-5C70E7D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5516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DoNotPay / 딱지앱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95D724-6E00-BCBD-D798-8C85545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25516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문서·티켓 대응 일부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A3ABF6-8B41-3641-A9A9-E59BC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25516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 과실·판례 근거 부족</a:t>
            </a:r>
          </a:p>
        </p:txBody>
      </p:sp>
      <p:sp>
        <p:nvSpPr>
          <p:cNvPr id="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52506B-C07D-873C-6C9F-E17DF5F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4156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104CF8-5748-56AC-F588-870F9D2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3884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보험사·손상 AI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B500F2D-69B1-39D6-BC5B-DAE75D5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83884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청구/손상 자동화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DCD2DD9-9173-6EF6-8A14-071BB42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83884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내부·청구 고객 중심</a:t>
            </a:r>
          </a:p>
        </p:txBody>
      </p:sp>
      <p:sp>
        <p:nvSpPr>
          <p:cNvPr id="4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1AB739-3F48-F273-16F9-BFFE6D7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2524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AD41BE-7CF3-C3CA-F493-2D09B4F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2252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EE44E74-CA88-9250-D6C0-B8ADBF5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4225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판례 검색·문서 작성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FA910C5-97BC-A89B-76D5-A8731F1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2252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사고자료·과실분쟁 특화 부족</a:t>
            </a:r>
          </a:p>
        </p:txBody>
      </p:sp>
      <p:sp>
        <p:nvSpPr>
          <p:cNvPr id="5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00439A0-0FC5-3BA0-51AF-4884C62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0892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7DCCDF-41A0-DBA9-1858-DF278FA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00620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포털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23B1D4E-C1E4-23CE-3FD7-9D4F8F3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00620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기준·심의사례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F9CD72-53E4-8DD8-4083-24ECDAD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00620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사건 리포트로 연결 안 됨</a:t>
            </a:r>
          </a:p>
        </p:txBody>
      </p:sp>
      <p:sp>
        <p:nvSpPr>
          <p:cNvPr id="59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520216-79D5-0ADD-396D-4254032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9259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F624704A-3E8D-5337-125A-7A95210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58987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19C103D-EA82-2E73-5516-23BAE06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58987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 인식+영상 분석+근거 검색+리포트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3998E531-5DCE-7347-DF9F-D68EE6A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58987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운전자용 통합 분석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7C7B78-D78A-42AC-BF19-419E04F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6CEA1E-9FF0-4755-A684-5FD4EE3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C873E2-789C-4B36-945C-2F9A3E6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기존 서비스는 강하지만, 사건 단위 근거 리포트는 비어 있다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34AC82-09BB-4FC0-B115-852B499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우리 서비스는 문서·영상·법령·사례를 한 사용자 흐름으로 묶는 데 집중합니다.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2FE951-90E8-4914-B5B5-79D82AC8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플레이어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609D09-A85E-4B2C-BCC9-38FAF31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강점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26BB87-423C-48E2-B0A9-94250AF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비어 있는 부분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D4A93C-1D75-4778-93A4-195927A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9A6BE9-9C1E-4BE4-8C58-D6FBE312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9837B87-760C-42AE-8FDE-A2A26BC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기준과 심의사례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5D9E95-5AC2-4089-B5C2-0B0A053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개인 사건 리포트 연결 부족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B8CB59-CFD8-44A0-8D25-DE41FD0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B85761-D802-44C1-AB05-9BDF19B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CFA26A-5AFA-4984-A1A5-D835742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접수·청구·보상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9091AE-4409-4C0E-B9FD-252D6EF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내부 흐름 중심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BB8CA2C-5CA4-4210-91BF-B221BD1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9172B2C-7242-4B7F-928D-8043E53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E309E48-FF9F-435D-949F-8EAE756D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판례·문서 작성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7FFB47-34D4-48E5-8C5F-0BF6289F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교통분쟁 특화 자료 부족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047BC2-5392-4FE6-BC03-89D74BF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464EA23-8725-4C5B-AC81-53874B35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일반 AI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C358388-398D-4374-A667-4D1DECC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3748D4E-BBEB-4317-9615-0F32A29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출처·보안·사건 이력 약함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CEB821-CCD9-4827-8BDF-13E7449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16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27DB4CC-5AD2-41A5-822D-5C45074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우리 서비스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1041BF-A1D1-4546-80CB-47BCDEB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62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문서+영상+근거+리포트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E75B2D-8FBC-498A-AB47-03A30EE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소비자 셀프 점검에 초점</a:t>
            </a:r>
          </a:p>
        </p:txBody>
      </p:sp>
    </p:spTree>
    <p:extLst>
      <p:ext uri="{BB962C8B-B14F-4D97-AF65-F5344CB8AC3E}">
        <p14:creationId xmlns:p14="http://schemas.microsoft.com/office/powerpoint/2010/main" val="3953756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F9C1A92-0A79-93FF-5E4B-FE63588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500B03-C77B-1B44-E3AE-E72607C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874F44C-92A5-C96E-3B7F-C2C8574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우리 서비스의 위치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C08603A-0D8B-FD15-0026-70C5C47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A2DCF4-FB80-A84C-52E5-DDBC588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834A80-AC86-6EB5-6D7F-EAE10F8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91CD05-22AD-82B4-825C-7512F0A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판례·문서 중심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BBCC2AF-EF36-D188-2CB7-27CECF5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6544E0-D64A-BF1E-54A3-4E3AAC1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B9E7D8-4BA1-3F8D-38B7-B8AB40A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BD60E4-F539-5BC3-3EB9-774C284B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청구·손상 중심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237A81-6E3B-7B13-8290-6597500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752A9B-F628-8C65-6010-D050933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CA8329-E72B-0EBE-E149-7AAD726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0B3896-B46E-8484-F0E1-635EC8C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중심 근거 패키지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A75DEA-6580-664C-404A-CABD874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D1DB3CA-051D-A2B1-454A-9D59A17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5CAFB7B-35FD-8F74-B630-F2E8175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187B721-1C2E-056B-EE57-95AC4BF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 셀프 점검</a:t>
            </a:r>
          </a:p>
        </p:txBody>
      </p:sp>
      <p:sp>
        <p:nvSpPr>
          <p:cNvPr id="48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76DF57E-5735-763B-C579-420C960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5156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77E142B-B4A0-33BF-2EB5-DCAFBC6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차별화 축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35CF495-C9A2-0AF0-DE64-516B8B5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10149840" cy="210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독립 + 이의 가치 사전 판단 + 판례·인정기준 근거 검색 + 과태료까지 묶은 멀티에이전트</a:t>
            </a:r>
          </a:p>
        </p:txBody>
      </p:sp>
    </p:spTree>
    <p:extLst>
      <p:ext uri="{BB962C8B-B14F-4D97-AF65-F5344CB8AC3E}">
        <p14:creationId xmlns:p14="http://schemas.microsoft.com/office/powerpoint/2010/main" val="35545247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9ACE2F6-43E2-3D7A-F184-88F1850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2DAB00-B043-431A-5968-BFC42B4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460BE685-2D53-5A98-B44C-BB54898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경쟁사와의 차이점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257EEF7-243A-3C69-21A8-CBBFA40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73C00A-1143-5C6A-DAD6-299DBAE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E7B385-F304-5508-47B5-7F830BF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보험사와 분리된 소비자용 서비스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2DCABD-20B2-014D-F4B2-927ACCF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특정 보험사 고객에 한정되지 않음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사고자료 기반 근거 확인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9C063A6-3B40-8DC2-4C16-2D9BC55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FDE949-0D0C-7803-8024-6FBA0B3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이의 제기 전 검토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87780F-BDA1-6B78-5B76-1329A7E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무조건 이의신청 권유 X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근거·기한·증거·위험 분리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DFB37E4-7F13-FEF4-5FEC-82A9956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E031F4-1433-49ED-8188-C4680C4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판례·기준 근거 연결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037E0AF-8E3B-3DCC-9C2E-1E263B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법령·인정기준·판례·심의사례 출처 제시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5C06E11-8702-E729-6179-4289D0A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A5E197D-C7E0-EE35-3D91-6C14DAE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자가 대응 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D0D1302-2464-D02C-F3A0-89F0712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대리·자동제출·승소 보장 표현 제외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직접 검토용 리포트 제공</a:t>
            </a:r>
          </a:p>
        </p:txBody>
      </p:sp>
    </p:spTree>
    <p:extLst>
      <p:ext uri="{BB962C8B-B14F-4D97-AF65-F5344CB8AC3E}">
        <p14:creationId xmlns:p14="http://schemas.microsoft.com/office/powerpoint/2010/main" val="2431152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4EB74A-2610-9CA6-0E27-39E7F52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2ACBD-3F99-5EB8-2C15-881986E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2D1AE-4442-4F08-2031-86D23C1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4CFCB1-B7DC-B5D4-8BC1-9783CB2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2435244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생성까지의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46F2E7-ECA9-587B-753D-0D06DEB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66779E-95BB-A94B-2129-7E75FC1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확정 판정이 아닌 근거 패키지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입력부터 리포트까지의 흐름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문서 인식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·근거 검색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사례검색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리포트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1076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7C10D20-FB5E-193D-A9C3-617793D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24/40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1A9976-172C-F204-089B-C613C77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B261389-ED66-E44D-BDD8-4832759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사고자료 처리 흐름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6C581DB-A96C-0F32-33D3-2B53E14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6A5AEA-3878-A915-F3E9-ECBB346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1EB6A0-F694-5718-3D05-D9A44A9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자동화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67BCDD-F675-F146-9A22-909118F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 문서 인식, 사고 설명, 블랙박스/현장 사진 업로드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54CE486-D977-7B38-960F-D66D8BF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53FCDE-5975-3F8D-87A8-AF7B217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사고상황 구조화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00E087-C94A-CDBF-25D5-80C9791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사고유형, 도로유형, 당사자 행동, 증거 목록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0F87E05-E813-0867-0145-8A2C82D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6031F80-8D98-B826-B819-5C1A5A5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86D6DF6-3E16-63D5-0DC7-89EA61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법령, 과실비율 기준, 판례, 심의사례 복합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EE5C255-9E3C-D0C3-D023-28A9D48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31685C0-F3EB-910B-237D-B948754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행동 연결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09CF3C-E3D3-E05E-2FF2-6DC67D4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증거 체크리스트, 보험사 문의 초안, 이의신청 검토 리포트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39FF5F0-21DD-C405-4E72-E865EED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192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공식 포털·보험사·법률 플랫폼·생성형 AI가 따로 제공하던 조각을 사건 중심으로 통합함</a:t>
            </a:r>
          </a:p>
        </p:txBody>
      </p:sp>
    </p:spTree>
    <p:extLst>
      <p:ext uri="{BB962C8B-B14F-4D97-AF65-F5344CB8AC3E}">
        <p14:creationId xmlns:p14="http://schemas.microsoft.com/office/powerpoint/2010/main" val="6169411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65B134-8C52-A895-C384-7102945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A3CCA4-4756-D906-6EC3-F08FAAC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8B9593BD-C3AD-BAA2-D4BC-02CE33A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 입력부터 리포트까지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04EA428-DD3C-3038-1515-2ED374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32BE9F-E46B-A1DD-0463-C8399C50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249BC3-F509-74CD-7362-256F99C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상황 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76151B-EAE8-683A-FF68-FDC78D4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36AA7F-9B36-CEC3-D0E0-BEEC8CA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B8A43E-A909-50FF-4CE6-9855B40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자료 업로드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BC8DE5-FD8D-4745-8CE9-A9C838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57549E-409D-F107-402A-41D3663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644708-83F6-128C-48D0-21D04B2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BDCC8D3-EC17-3BE5-1136-B0BEB3D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3F26F8-6D68-9739-C4B0-68FFEA8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E31424-F846-46A8-A861-C67BAE1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분석 모듈 분석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7EE3AF3-5F03-EC4B-7F49-A6C523E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7A08BF-5ADF-9FA8-1AEC-4FEB920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5A783F1-0862-B6E1-5BCC-6AD264E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근거 리포트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784FA03-ED7C-3DEE-8513-AB4F398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3896C8-A222-8101-B094-7B81E76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A57774F-9FE8-0FBF-8F28-A8E0615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이력 저장</a:t>
            </a:r>
          </a:p>
        </p:txBody>
      </p:sp>
      <p:sp>
        <p:nvSpPr>
          <p:cNvPr id="51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FB665DC-0BBC-6EAD-8C90-244F7A4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D3A295-7B48-6E24-5583-D03A8EC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사용자가 보는 것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663B06B-9800-3919-615D-3417D5A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 설명 또는 고지 내용 입력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영상·사진·문서·고지서 업로드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근거·한계·다음 행동 리포트</a:t>
            </a:r>
          </a:p>
        </p:txBody>
      </p:sp>
      <p:sp>
        <p:nvSpPr>
          <p:cNvPr id="57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AC04395-46FF-78F4-2ED4-FE022AA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16F5986-26D1-6D6E-066C-71BA95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시스템 내부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C627819-B19F-2849-6A13-E559A65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문서 인식·DL·근거 검색·과실비율 분석 모듈 분리 분석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분석 통합가 병합하고 한계를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저장·다운로드·이력 권한 통제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83EAC7-1B27-41A4-9B40-0A5AB84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A694FE-B005-4A94-848A-7E5B300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7665A5-C628-4BD6-8A1C-499B25C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입력하고, 시스템은 근거 리포트로 되돌려준다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14252F-91E9-41CC-B1F0-AA79B68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보이는 경험과 내부 분석 과정을 분리해 신뢰를 만듭니다.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4025D1-E123-4C53-A86F-81F8BDC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C8E7D3-3948-4C30-9D2E-486EE72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25B1BE-4D37-42D0-9A1E-C066645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상황 입력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98C5A2-DCF1-4341-804E-CDFC5BD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 설명 또는 고지 내용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7C19721-20D4-4946-AA5E-442F252F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BEE64E-698A-42B9-8560-371578E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43BE5C-61DB-4C28-8204-9EB291C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자료 업로드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186D6B-0377-4A74-B786-CEC6B17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영상·사진·문서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ABE470-01DE-40AE-9EB4-4B8261C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8DC46B0-6531-40F7-88B3-5E8757E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036D01-2FFB-4E91-A146-A98F6C6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파일 검사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BE0DED-7B5F-47ED-9D7E-2243487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 파일 차단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AF9C83F-2F49-43ED-BF08-5E33A25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C0A922-6D77-41B5-BB5D-6ADA655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D0403BC-24C5-4F82-A716-655557DF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모듈 분석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BA48D7B-9341-4FED-A2CA-DF4BD0E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OCR·RAG·사례검색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21A3C2-EAF1-4C30-8345-62CE913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81B488-B100-4D29-96BC-1F8C692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DFF00B-7288-4E27-A73B-721624C0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리포트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DA67BC4-30DD-486A-B934-4EFBB3D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근거·한계·다음 행동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C177124-F622-4955-B477-B716E34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62FDC98-3730-4CBF-9E34-028219FC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74239F4-3D82-4849-AA42-3F1AFBCC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이력 저장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8B7C55-94F3-4B05-AD9A-FF4FB69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다시 보기·다운로드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7F10F20-9BCC-4FAC-B432-FEE4B78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6E242A-B9C1-45DD-820D-4730E5A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9E7F40-52EF-443C-8EE4-E8472E27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F79A08-B613-43CF-996F-CA6E64D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시스템 내부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969D995-2E1D-4FA9-BC50-68A4C26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설명 입력과 자료 업로드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F1BDB4B-71C4-4948-A271-735FC5F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 확인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68E8BE-1B04-467A-B3E2-9DA85DB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모듈별 분석과 결과 병합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122E0C-8FE3-4B0C-8DAB-AC4A0F3C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저장·다운로드·이력 관리</a:t>
            </a:r>
          </a:p>
        </p:txBody>
      </p:sp>
    </p:spTree>
    <p:extLst>
      <p:ext uri="{BB962C8B-B14F-4D97-AF65-F5344CB8AC3E}">
        <p14:creationId xmlns:p14="http://schemas.microsoft.com/office/powerpoint/2010/main" val="41675063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0C14BE-EC82-A84D-9E85-34C20D73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01ED5-1FDD-A24C-CD3C-C2D12A1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0E2F8AF-37A3-3017-C197-4FCD158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고지서 인식과 이의 검토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C14CE82-85F0-A161-707B-B366DC7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187DD5-6501-6FE6-0E9A-FEB8B17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B3E884-68DC-F381-CB4C-2416BFC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문서 인식</a:t>
            </a:r>
          </a:p>
        </p:txBody>
      </p:sp>
      <p:sp>
        <p:nvSpPr>
          <p:cNvPr id="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26C84F2-7AE6-02BF-B228-8D65536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F100D0-D189-F11A-5127-5687854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필드 추출</a:t>
            </a:r>
          </a:p>
        </p:txBody>
      </p:sp>
      <p:sp>
        <p:nvSpPr>
          <p:cNvPr id="15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3BF61C3-6980-6F8B-692B-A231E8E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A748E9-BD6F-82C4-5025-1B58C12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1DF9C8-7655-4A61-2F21-AC105BA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2A5AC75-A2C2-C36F-77F6-E8F89F1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가능성/위험 분리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C335F87-89F5-9923-803C-D995390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F2849BE-2BBF-E7B0-F68D-39EB6F5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결과 리포트</a:t>
            </a:r>
          </a:p>
        </p:txBody>
      </p:sp>
      <p:sp>
        <p:nvSpPr>
          <p:cNvPr id="3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78AB55B-8A51-A089-12A0-312AE33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20E20DB-F04D-636C-4790-BBF2908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1514F0-0A08-40A3-D20A-A36516C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위반일시, 장소, 위반유형, 금액, 기한 추출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누락 필드는 사용자에게 추가 확인 요청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원문 전체가 아니라 필드 중심 처리</a:t>
            </a:r>
          </a:p>
        </p:txBody>
      </p:sp>
      <p:sp>
        <p:nvSpPr>
          <p:cNvPr id="44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5F95691-8D94-08A6-927C-AB7DBE2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6977CF7-613E-3BC3-B90E-683A500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Appeal 분석 모듈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6B59BF3-087B-4A3D-5C45-E0A54C0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도난, 제3자 운전 주장, 본인 운전 인정형 위험 패턴 구분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법적 가능성과 리스크 분리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기한 불명확 시 경고와 한계 표시</a:t>
            </a:r>
          </a:p>
        </p:txBody>
      </p:sp>
    </p:spTree>
    <p:extLst>
      <p:ext uri="{BB962C8B-B14F-4D97-AF65-F5344CB8AC3E}">
        <p14:creationId xmlns:p14="http://schemas.microsoft.com/office/powerpoint/2010/main" val="3432873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3F27B7E-3991-071F-F5F1-A90AE1F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DC0C12-6849-B478-8974-743D7D6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735397B-B1F5-B218-6D4E-FF7DE6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 근거 검색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F88D66A-2C64-59DF-B679-4A6D97F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0F8F91-23D4-5681-7416-D0CA9B0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048824-819C-D278-2095-9A4260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법령 근거 검색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A221EC-220D-2A15-461D-76A44C1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사용자의 일상어를 법률 용어로 확장함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조문 단위 chunk와 keyword/vector search로 관련 법령을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조문, 적용 한계, 추가 확인 사항을 남김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E203E1-0856-F975-FD3C-C26744D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7E24AB-7BDC-C25F-CC2F-E0488B5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사례검색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8CC1D4-0994-8600-A60C-99B2371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교통 판례 3,562건, 과실비율 판례 973건, 심의사례 226건을 활용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 목록, 사실관계 차이, 부족한 증거를 함께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0F18BB-C514-0FA1-3B36-43E947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828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판례·심의사례·인정기준은 성격이 다르므로 source를 구분해서 보여줘야 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7C7129-6007-42FA-AAFD-441AF33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4A3F61-6F63-4BA0-8DB7-0B0CF9C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EB02AA-8C27-448D-B2EB-C08B513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근거 검색은 source를 나눠야 신뢰가 생긴다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5D4A67-504C-4CB6-86BF-85E33F1E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법령, 판례, 인정기준, 심의사례는 성격이 달라 리포트에서도 구분해 보여줘야 합니다.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1A47F2-8310-46C6-8F83-0997211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2935D57-7F6A-4B06-AD1E-2BF3C488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3,562건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8BCD25-ADCC-4589-83CE-132F35A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교통 판례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A5A3AA7-FDBF-47E9-B176-0D4134B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사실관계와 법리 확인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E1211D-074F-48FD-B264-1B218CE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25664A-1AA9-4BC4-9D43-018BF6F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973건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A1556D-F516-4A96-BF00-FCADE65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과실비율 판례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7D67C5-2EC7-4151-8DC7-5A1F764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책임 비율 판단 근거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412EFF8-D531-4E46-8700-31E1732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03AC949-D8D4-46A0-889B-D8D0BEB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226건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719190-76EE-496F-807B-90772E3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심의사례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BCEB26-3852-4710-959A-D09488A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보험 분쟁 실무 참고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5B6391-EF04-406C-B711-F13404E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883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871057-424E-4D0E-A4E8-8DD3FE8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정답 비율을 단정하지 않고, 유사 사례·사실관계 차이·부족한 증거를 함께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1550572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31202B7-7849-EAC2-66D1-F53CFD8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D21113-4364-2EEB-00C3-7928A28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E2B43FD-3F8A-6ED9-9A5E-5C61519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리포트 관리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E2CFD03-5A5D-806D-A78E-27DB09F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ACFE13D-718D-B604-5127-CCDFAC9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723542-B768-D927-C288-2D12BEA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요약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8DC020-7684-4CE0-4EE3-969C50B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사고유형, 당사자 주장, 제출 자료를 한눈에 확인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6DD4BD-79B5-533C-2EBD-CBA40A7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2823E8-1E25-1A68-E512-92D44EB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자료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15784CE-F5DA-7CE5-3CA2-A370B23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법령, 판례, 심의사례, 과실기준을 출처와 함께 정리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D0CB76E-0247-2AFD-F2EF-6BA64AD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27AE82-4CC0-FE61-9348-87640BB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한계·주의사항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A6B14-B28C-0B96-E092-56426AA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부족한 증거와 단정할 수 없는 부분을 표시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C73F3A6-8FD5-2E0B-E8EA-EC64943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C9DD3B1-D0A0-CFAC-24E9-CFF5D31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68D350-3C07-4389-E211-0E6D71F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보험사 문의 문구, 추가 증거 체크리스트, 다운로드 제공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30574A-E485-FD1B-36D0-DFA5CD25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9986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보험사와 대화하거나 전문가 상담을 받을 때 정리된 자료가 됨</a:t>
            </a:r>
          </a:p>
        </p:txBody>
      </p:sp>
    </p:spTree>
    <p:extLst>
      <p:ext uri="{BB962C8B-B14F-4D97-AF65-F5344CB8AC3E}">
        <p14:creationId xmlns:p14="http://schemas.microsoft.com/office/powerpoint/2010/main" val="1080486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9CDB27-2941-7051-E670-20DF93C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1DED4F-62D9-A598-6733-0ACEDFB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BBB26-855A-A8CD-5BAA-552C77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핵심 기능과</a:t>
            </a:r>
          </a:p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615BBB-120B-29DD-7332-5371141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문서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영상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법률 데이터를 연결하는 </a:t>
            </a:r>
          </a:p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분석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CBBC96-D3AA-A1CD-C196-7BA02C3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29/40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EBFBFC-952A-A90C-A5C9-44DF9DE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이미지·문서 분석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근거 검색과 결과 통합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민감 데이터 보호</a:t>
            </a:r>
          </a:p>
        </p:txBody>
      </p:sp>
    </p:spTree>
    <p:extLst>
      <p:ext uri="{BB962C8B-B14F-4D97-AF65-F5344CB8AC3E}">
        <p14:creationId xmlns:p14="http://schemas.microsoft.com/office/powerpoint/2010/main" val="28618058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AA8577-8BF2-8390-F721-0619415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C5A431-9D8E-867D-6D9D-6358D9A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45F02FD-4921-57A5-9870-DC29888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7F58160-7E73-AF48-7871-08A9BD5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핵심 기능과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AA5891-6326-9867-F794-3522C81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293A27B-2FE3-F17C-BFEF-9DE9DB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884032E-1C1D-72CE-0D80-247D8CE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텍스트·이미지·영상·고지서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98A04F-13C5-1112-197E-D5DD351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50DF2B-120C-0A1C-1F8A-DDA70F8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A73F84F-50D2-4076-EBB0-8490304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인식·파일 검사·항목 정리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628ADA-1660-4964-BDC2-89F23C5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1315FC-21B0-87D4-C403-C3C87E1A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BEBE"/>
                </a:solidFill>
                <a:latin typeface="Malgun Gothic"/>
                <a:ea typeface="Malgun Gothic"/>
                <a:cs typeface="Malgun Gothic"/>
              </a:rPr>
              <a:t>검색/분석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D9AAEC7-3269-5D61-1DD0-10BA913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법령·사례·영상 분석</a:t>
            </a:r>
          </a:p>
        </p:txBody>
      </p:sp>
      <p:sp>
        <p:nvSpPr>
          <p:cNvPr id="3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B4DA6D-320E-E392-1D93-FD450E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C7DDED-B1F4-3098-E27D-6802506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통합 판단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986E664-0210-5EFF-4F97-6E95B16F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라우팅·병합·한계 표시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5AB0D3E-CB89-2250-FB7C-5F774D4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F0A214F-55E7-9BBE-A9DC-CDECF86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E8BBFCF-E1B1-E1A5-07FA-D11272C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47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F68FB6-C7ED-B8B7-8AEB-8E9D60E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9214F6C-FFB0-3D6B-5FBB-09BF326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AE8A39-D216-CDF5-0DDA-32F3586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이력, 업로드 자료, 분석 진행 상태를 관리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사용자는 리포트와 이전 상담 내용을 다시 확인</a:t>
            </a:r>
          </a:p>
        </p:txBody>
      </p:sp>
      <p:sp>
        <p:nvSpPr>
          <p:cNvPr id="5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DC77304-CFEB-22EF-6F4B-9D5FDD2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661FD2BB-6DC7-5A0D-28A3-0BE920E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2A35622-614C-9945-8560-5DF14B9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법령·판례·과실비율 기준을 검색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근거와 한계를 함께 리포트에 표시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563f77ef049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6F3BB6-E325-4459-881C-C36F717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EFA5ED-C05C-493D-90BE-DC6E532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분석 구조는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정답 생성이 아니라 근거 조립이다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7B2EA0-13AB-4E7D-B570-1454D53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C9C9C9"/>
                </a:solidFill>
              </a:defRPr>
            </a:pPr>
            <a:r>
              <a:rPr sz="1125" b="1">
                <a:solidFill>
                  <a:srgbClr val="C9C9C9"/>
                </a:solidFill>
              </a:rPr>
              <a:t>06  핵심 기능과 AI 분석 구조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2F4384-1925-456C-BFC5-FADAF6F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1DB1D2-D3BC-4ECD-B3E1-D8125F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166DAF-6134-4E06-9D26-3988636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정리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F3F063-F8FB-4B3A-8A92-CDB667E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고지서·사진·영상·사고 설명을 사건 필드로 분리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F11FDB-4088-465A-816C-F4A67FD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B696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816D35-47B3-4C93-86F2-C3ABA29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2F8C07-E375-4C7B-AFC5-2F44EB5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E3C5BE3-AB5C-4F5A-9F69-9D354A1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법령, 인정기준, 판례, 심의사례를 source별로 검색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7C15C3-ACA5-4752-92DA-B07C34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44844C7-013C-4951-8BEF-1DBEE12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3F7BC0-247D-4515-9EC2-27DCC8B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1EC15E8-4B65-4003-99CD-A0554B99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Supervisor가 모듈 결과와 한계를 병합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0DC336-ACDF-44A6-A529-DFEF6AA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F3B501-1B56-4454-A94D-29EDE32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9F7BCA-D1ED-45E8-B0F9-6E423EC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리포트화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77CE5D-1812-41D9-B6B6-5844EC4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근거, 부족 증거, 다음 행동을 사용자 문서로 제공</a:t>
            </a:r>
          </a:p>
        </p:txBody>
      </p:sp>
    </p:spTree>
    <p:extLst>
      <p:ext uri="{BB962C8B-B14F-4D97-AF65-F5344CB8AC3E}">
        <p14:creationId xmlns:p14="http://schemas.microsoft.com/office/powerpoint/2010/main" val="34196544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D5A5655-E82E-A099-A1C6-5446B08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CA0C07-F82A-82AF-2F66-333F11D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B78A165-8507-B064-2DB9-923F93A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 모듈 역할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AB6E2FF-5AD6-B0D5-4CE8-43AB809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핵심 기능과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AF45E4-5F50-6B6F-E0D9-99A4761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1BAF64-CCF5-35DC-9C9B-5EAB3C0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4E6D36-BC86-C281-451A-69EF031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고지서·문서 필드 추출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A6E4FA0-AD08-6DF2-3A72-C3B8D9C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BC8EF-47BA-0DEE-4898-DF1AF19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 분석 모듈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30E75B-73DA-2BA9-35D0-C4E688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프레임·객체·사고상황 후보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189BC91-337C-A4AB-9742-9BAE94B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AB31630-1C04-1D8B-41BF-55E2988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Law 근거 검색 분석 모듈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631E584-85D7-B817-3753-2A8DCEC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A7C64E5-6169-A173-461C-7CDB34F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BAC7246-194B-CCC3-E93F-707403D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Fault 분석 모듈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7E87B1C-0247-C0B5-5339-947EF41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사고유형·쟁점·수정요소</a:t>
            </a:r>
          </a:p>
        </p:txBody>
      </p:sp>
      <p:sp>
        <p:nvSpPr>
          <p:cNvPr id="39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E7032DC-E981-1D9B-B6A8-F054ED8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AE65C10-2C0D-2347-0A92-26F154A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Report 분석 모듈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E0CBC43-E6F0-F863-AF0B-B54C3D0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초안·체크리스트·리포트</a:t>
            </a:r>
          </a:p>
        </p:txBody>
      </p:sp>
      <p:sp>
        <p:nvSpPr>
          <p:cNvPr id="52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B38097F-9ABB-15A6-A534-192D9CE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990445C8-58BE-E800-76CA-82806B94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 분석 모듈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3151DCE-4135-6185-FD8A-1AD7DF0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분류·라우팅·결과 병합·한계 표시</a:t>
            </a:r>
          </a:p>
        </p:txBody>
      </p:sp>
      <p:sp>
        <p:nvSpPr>
          <p:cNvPr id="6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A3741E6-B331-88AA-21F7-ED99845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318"/>
            <a:ext cx="105613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DB8A8A-ECE1-52A6-D15B-80CD30B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4798"/>
            <a:ext cx="10561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법률, 보험, 영상, 문서 분석은 오류 유형이 다르기 때문에 역할 분리가 더 안정적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62339A-3EBF-42A6-8D75-B9CD4B6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2E9075-AE46-4CD3-94D3-9FFE25E9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AC9394-2B46-46B3-834C-2037BE0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모듈을 나누면 오류 유형을 더 잘 통제할 수 있다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C00D73-6D81-4648-8035-3703969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문서, 영상, 법률, 사례, 리포트는 서로 다른 검증 기준을 가집니다.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1CE8F8-1792-4604-ABA4-BA3AB803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8B7843-1481-46CA-972E-1BEC66C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2F6690-5C19-42F6-A6AD-D555AF8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고지서·문서 필드 추출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5A8E6AF-0FC6-4E5F-B252-2CCA465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E12988F-D850-4C7E-9BF4-F374B70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Vision/DL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A09F8F0-EFD6-4D7A-8FEF-CCF586F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프레임·객체·상황 후보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342ADBE-7CBA-409B-B91E-17DE33C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BD90106-D24E-4DF5-B101-023EC862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Law RAG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6B2645-E7E4-4650-91C8-915C971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검색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41B85F-85BA-4955-9C90-44D0226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9694BA-0FCF-4EDD-8901-F50E6C91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Fault 분석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914A4CE-A718-4608-8D55-C7D1596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사고유형·쟁점·수정요소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7993AE-BC4E-428B-B8C9-A4775308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4129766-9993-41E7-8049-AC6BDFF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Report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A4423DC-5806-4D03-A97D-4DBEF8C9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초안·체크리스트·리포트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07AE76-A3F0-496A-BB65-D621E52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D3CE96-CB65-496A-95E2-7D10BB7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Supervisor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FF0241-EA16-46D8-9867-38D4BE8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라우팅·병합·한계 표시</a:t>
            </a:r>
          </a:p>
        </p:txBody>
      </p:sp>
    </p:spTree>
    <p:extLst>
      <p:ext uri="{BB962C8B-B14F-4D97-AF65-F5344CB8AC3E}">
        <p14:creationId xmlns:p14="http://schemas.microsoft.com/office/powerpoint/2010/main" val="5773818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92C7304-A754-553B-7C54-12E4BA2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78BCAB-C548-C92A-273D-161DDCA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9B8E52F-423A-AD67-D168-3A7A81B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 설계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547C11D-A71E-6FB2-0171-B63E79B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핵심 기능과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326874D-0AFD-610C-655A-66DA579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D3641C-AACE-24EF-5D23-8D40962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9BA88F-41E5-0D44-A1D3-6D29A96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로그인 여부에 따라 저장·다운로드 권한을 다르게 적용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391FC68-410D-3E34-DB86-57FDB7E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78C476-C0BA-0602-A37A-593D37E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계정 보호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689D73-EDFD-9FF1-A45E-09F5C85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인증 정보는 서버에서 안전하게 관리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759F51-5325-1552-D31B-D546C6E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10471F-78C1-2AF4-B5D1-7E70C75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046A61B-D02C-2422-F479-595EBDD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업로드 파일을 검사한 뒤 AI 분석에 전달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58412E-C515-47D7-ACFA-75943F7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18B55FA-E08A-53E3-E408-796CAFC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 최소화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928952-3213-8EE1-7F48-F171E48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 정보만 저장하고 민감한 원문 노출을 줄임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82D7E9-789E-4FB0-BFA2-C1125A1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146AC91-1DEE-401A-492F-BB3A0AF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입력 검증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1DA210E-8B02-6548-9FB0-2785202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안의 악성 지시가 답변을 오염시키지 않도록 분리</a:t>
            </a:r>
          </a:p>
        </p:txBody>
      </p:sp>
      <p:sp>
        <p:nvSpPr>
          <p:cNvPr id="4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3594BB1-A814-9E55-EFC6-333CEA12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5BDA974-D9B6-C0D3-A96F-6E8CA90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책임 제한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7F7027B-21C0-BBA1-0A44-8FFB5FA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3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근거·한계·전문가 상담 안내 포함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C8BBDA-BA10-48E3-8084-B2C5C79D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189220-286E-4288-882A-453FC161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F60600-B242-4C6E-87EF-5F400BC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보안 설계는 AI 기능의 전제 조건이다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1D71B73-02B3-4A2B-9085-BCD45E4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데이터는 법률·보험·개인정보가 한 번에 들어오는 민감한 입력입니다.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271772-10D1-4C82-AE99-845E7DD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E392DE-3E6D-4B31-BECB-5D80B39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권한 분리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65905F-BFA0-4576-A7E5-6B86CEE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로그인 여부에 따라 저장·다운로드 권한 차등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B1E344-94E0-4232-9957-1E1113A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3E69AD-AAF3-4201-9F6B-1670FA6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계정 보호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189E6E-CB01-46A7-85A7-0E158DA6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인증 정보는 서버에서 관리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BE1784-81CA-48B7-93B6-745CB1E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4C817B-8B15-4208-82CD-0245341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파일 검사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8CD458-027F-4289-9DDB-0196F8A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검사 후 AI 분석에 전달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19CA41-79BA-4368-ACF2-9AC79E3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42F0024-627A-4871-B8B6-1E8C511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개인정보 최소화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6D0F33-3737-4A7D-A4DD-F1D1A5D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필요 필드 중심 저장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8616FCC-4CE5-422A-A7E9-534A16B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2C1AA8-07D3-473B-AF0C-17D7BBB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AI 입력 검증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7B4950E-B793-4F88-B500-D607381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문서 내 악성 지시 분리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CE671FC-FAF0-4030-85D1-11F73FE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256A8A-BF2E-4818-B08C-10407CF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책임 제한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1A0216A-A8BC-4FCE-AE83-A05A024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근거·한계·상담 안내 포함</a:t>
            </a:r>
          </a:p>
        </p:txBody>
      </p:sp>
    </p:spTree>
    <p:extLst>
      <p:ext uri="{BB962C8B-B14F-4D97-AF65-F5344CB8AC3E}">
        <p14:creationId xmlns:p14="http://schemas.microsoft.com/office/powerpoint/2010/main" val="23586468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C576DCF-5215-A46F-F56B-D9A4392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33/40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68A09-922B-5EFD-0F3C-8CA4B04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23FF589-05AA-EB1D-A59A-E7D7222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기반 안전장치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B089523-E867-44FC-7573-C36152B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핵심 기능과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1AAEE5-DDA4-C9FF-FFF1-023CEE0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068997-D808-9437-6466-D2271F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하지 않는 것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EEA34A-9D04-1853-B8AC-3398320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 보장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과실비율 확정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제출·대리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변호사처럼 단정하는 표현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27B340-C516-3E8F-D6DC-63B2B74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788A49-AC4F-987D-B0FA-F9F5E2A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반드시 하는 것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ED0C63-AAA4-60EE-F72B-6B8C5F0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출처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근거와 한계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추가 확인사항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 직접 확인 절차 안내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26216B2-A80C-25F3-772D-25BCAE1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79032"/>
            <a:ext cx="29718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8D7934-8EF5-8B16-8E9E-7A9998A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21619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표현 방식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69CC4B9-AABA-1B2C-4501-94FBB70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609384"/>
            <a:ext cx="26060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“가능성 있음”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“검토가 필요함”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“부족 자료 안내”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A2CD0C-A964-7A43-BB18-1CFC03C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235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확정 판정 X | 기준·유사 사례·부족한 증거·다음 행동 제시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8F646A-3926-4429-B2AF-419CA08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71B16E-E7F9-4A95-8BCD-BC76C9E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156E43-DE86-466A-A88D-AB84D66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안전한 서비스는 하지 않을 일을 먼저 정한다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CDBBB8-F44E-4DA3-AD54-FF15B68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AI는 확정 판정이 아니라 검토 가능한 근거와 다음 행동을 제공합니다.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8B4E3F-CA68-4B3B-88B5-C27613B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8A57E3-CEC0-4A24-ADCF-89E9ACD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7B4D6F-7EA3-4723-8184-9E9C361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하지 않는 것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A05B83-F6D9-4774-947A-72DEC34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반드시 하는 것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88C557-B1B8-4502-95F3-ED49C4A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 보장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30D95C-0B14-49BC-8593-7E9AEF65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과실비율 확정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F209B8-966A-4504-9714-0C0F3A9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제출·대리 신청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AE2DE1F-353A-46D2-9CB7-6E96F4B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변호사처럼 단정하는 표현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0C2595-D0ED-42C7-BCF5-1B82B70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출처 표시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CD2A1EA-B944-4BB1-845E-EC54ACD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근거와 한계 표시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22EC67-F1B5-42BE-AE27-08992D8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추가 확인사항 제시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7E374B7-58E2-407E-BC76-DB4F3AA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사용자 직접 확인 절차 안내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8664A4-7FE9-432A-B69D-7779428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609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FE1C4F-31D5-4101-BE84-E99E68E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690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표현 방식: 가능성 있음 · 검토 필요 · 부족 자료 안내</a:t>
            </a:r>
          </a:p>
        </p:txBody>
      </p:sp>
    </p:spTree>
    <p:extLst>
      <p:ext uri="{BB962C8B-B14F-4D97-AF65-F5344CB8AC3E}">
        <p14:creationId xmlns:p14="http://schemas.microsoft.com/office/powerpoint/2010/main" val="12428057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26C8F3-7EB5-A9E4-AB64-673A0B9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F1564A-19FA-7025-8258-FDE21C1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3696D8-CCC3-11F5-091E-8D3044A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범위와 기대효과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28EC2A-1B03-734C-E90C-78B11FB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MVP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검증 계획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향후 확장 방향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3ABC2F-7F0E-7C95-A00E-72E545F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34/40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B94F91-FBBC-EFB1-548C-F88D9770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6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MVP </a:t>
            </a:r>
            <a:r>
              <a:rPr sz="2000" b="1">
                <a:solidFill>
                  <a:srgbClr val="E6E6E6"/>
                </a:solidFill>
              </a:rPr>
              <a:t>포함 및 제외 범위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분석 모듈 </a:t>
            </a:r>
            <a:r>
              <a:rPr sz="2000" b="1">
                <a:solidFill>
                  <a:srgbClr val="E6E6E6"/>
                </a:solidFill>
              </a:rPr>
              <a:t>별 평가지표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현재 한계와 향후 확장 계획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81113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6CC153E-47DF-49E4-9E0F-1DCD511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F80A37-CC2F-8BF2-9B79-F66AE18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3476D41-8227-9C42-6077-1245078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MVP 구현 범위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E7EA93E-67B7-9A95-303A-E947F46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FE901B-483F-592A-E6F8-EC9FFD8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AD4209-C966-31B2-78BC-1B8C69F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MVP에 포함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5FCFC6-417E-C389-4F62-8E1EAA6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및 과태료/범칙금 유형 확인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사고 설명 + 이미지/영상 구조화 결과 생성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법령·과실비율 기준·유사사례 근거 검색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이의제기 가능성 높음/중간/낮음 라벨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부족한 증거 체크리스트와 참고용 리포트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CD18615-97F2-0B1B-2E53-83637AE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A2CDDF-7752-0854-2F4D-2AE9A5F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후순위 / 제외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26BA59-46AE-B2A5-3FC0-E645637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 또는 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승소/과실비율 확정 표현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전문가 연결 수익화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모든 영상 상황 자동 판정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자문처럼 보이는 단정 문구</a:t>
            </a:r>
          </a:p>
        </p:txBody>
      </p:sp>
    </p:spTree>
    <p:extLst>
      <p:ext uri="{BB962C8B-B14F-4D97-AF65-F5344CB8AC3E}">
        <p14:creationId xmlns:p14="http://schemas.microsoft.com/office/powerpoint/2010/main" val="39358658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94D1064-057D-20E4-4BA3-EE502EB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DEB490-A897-96E9-6F45-0B065F5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BC5B1AB-5628-B542-4E0A-75FCEEF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기능별 평가 계획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A6F3484-F834-55CE-6DCD-87A790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90A2AD6-E1D5-00C6-544F-383F562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51096E-998D-80C6-EEC4-BCEB791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C1E345-48CC-4221-9509-6C0BEBB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필드 정확도, CER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핵심값이 맞는가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3424DF-6E05-AB78-9655-7170311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4B55D7-E4B8-C85B-F4DB-27833FB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FFE49-3377-718F-E44D-362B806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Recall@k, MRR, Faithfulness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문서를 찾는가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4EAE8D0-82E9-F34E-E663-1A6FEE9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0CCD7D-030E-C1B9-1F30-AFF719C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215532-4504-CBD5-CAF6-76509B7A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mAP, 장면 후보 정확도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상황을 구조화하는가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894C9F-3B21-63EF-3EB1-FE4829A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FBC811-F50E-0E87-3D91-5668365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0B6C7C6-807A-7607-2DD3-1BCC6D9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라우팅 정확도, E2E 성공률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올바른 분석 모듈를 호출하는가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0D71E48-0245-3EDC-F891-D4EFC32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F27474C-3173-2252-25E8-CCB62AD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154643-041C-657C-6C3C-9738712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단정 표현 차단률, limitations 포함률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리스크를 줄이는가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F9A5EED-CCF3-D484-0035-567FD2F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183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최소 목표 | 분석 모듈마다 숫자 1개 + 실패/한계 예시 1개 + 근거 포함 결과 1개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207AB4-0792-4C6C-B8CE-343A021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9CCB29-C42E-499D-835E-929CDFC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6E6598-8A65-430B-9D04-DD7022A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기능별 평가는 하나의 점수가 아니라 모듈별 기준으로 본다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A7CFBD-67BD-4892-9884-93CFF3F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OCR, 검색, 영상, 통합, 안전장치는 서로 다른 실패 방식을 갖습니다.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A5E3D6A-EC34-4B83-A17F-CA008EF4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23020C-A4FE-45BC-B231-DF3B98A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7351817-3D15-454D-864E-77667FC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문서 인식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AB2977A-AD83-41A6-9941-220DF93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필드 정확도·CER</a:t>
            </a:r>
          </a:p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핵심값이 맞는가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2FBEC4-5621-44BD-B441-D737B86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656A8A-28E5-4AAC-A1C6-F044C7A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F84CB5E-D207-4504-B0A5-2F7F727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EAE74E-B947-44E2-8766-775DED2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Recall@k·MRR</a:t>
            </a:r>
          </a:p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 문서를 찾는가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636398-D2AF-4A73-80DC-FE94814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3550E9E-E68A-46B6-AA2A-4A29E11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48A4EB0-B43D-4596-BF14-0B923D99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Vision/DL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03A704B-72D3-4E32-8F6A-EAF7723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mAP·장면 후보</a:t>
            </a:r>
          </a:p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상황을 구조화하는가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3A959E-95E3-4BB1-9E4F-61B51A0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64ABFFF-0A3D-407F-BC7A-2F75040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9DA8AA9-B967-4D6A-BAE7-5855436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BC4A680-26B4-4C53-8432-124F65C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라우팅·E2E 성공률</a:t>
            </a:r>
          </a:p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올바른 모듈을 호출하는가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00B2C8-4299-4508-8788-BB58705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EC1DE3-5C5A-46F8-BD72-2670784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FDA771-A9E5-482A-9986-D79B11CD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0D8B941-081E-41AF-A012-08B9206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단정 표현 차단률</a:t>
            </a:r>
          </a:p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법률 리스크를 줄이는가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F58B243-93F1-4172-864B-C3D7E6F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02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평가의 목표는 높은 점수보다, 근거 없는 단정과 잘못된 라우팅을 줄이는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39601915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63FC-0B13-6DED-BD97-594AFF1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AAB7D1-4F15-460E-143F-BEFDC02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A45ECE0-7AD3-8925-7EFB-3C2E3DB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구현과 다음 단계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7851612-E02F-D66B-1FCD-A5B2C38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8E5539C-12E6-643D-89C6-3C5D1AB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767B3C-43B4-E1AB-8B27-5542854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강조할 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C84D907-32D9-33BC-5818-555B33B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고지서 문서 인식 기반 처분 정보 추출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법령·과실비율 사례 검색 기반 답변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결과 리포트와 이력 확인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업로드 파일 검사와 개인정보 보호 설계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994EB2E-087E-74F6-43F7-A221609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83C979-1B95-C683-A381-96C9436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한계와 Next Step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0D5EA99-BDA2-E120-9AC7-4F937CE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보험사 내부 데이터는 아직 활용하지 않음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모든 영상 상황 자동 판정은 후순위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법률 자문·대리 제출이 아닌 자가 대응 도구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사고 샘플 기반 E2E 데모 보강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정량 평가 수치와 리포트 품질 표시 강화</a:t>
            </a:r>
          </a:p>
        </p:txBody>
      </p:sp>
    </p:spTree>
    <p:extLst>
      <p:ext uri="{BB962C8B-B14F-4D97-AF65-F5344CB8AC3E}">
        <p14:creationId xmlns:p14="http://schemas.microsoft.com/office/powerpoint/2010/main" val="33024021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D62189-8C58-443A-13D8-46B8CE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37E76C-1723-016B-4183-92D51D1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F1CD41-2F02-3A6D-FFA1-D897AD48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AI가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이유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D9679A91-74AC-9FEB-6FE9-87EF66C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FB915D-DD67-0A6E-C25D-F99CFD3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95A45D-0C36-0AFB-E717-5F51DC5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 증가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E52D3-A5EE-8DAC-D44E-55FDD57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D4EB5B-3EE2-0FAD-2372-5E87502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3AAE824-7683-B192-8F17-AB0E913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탐색 비용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C127E0-99B6-E858-DF28-D5D328A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A08C8B-4C84-854C-434C-A838433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B428B8-5C88-8B33-06F1-37C0B7F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구조화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0E71F9-6CB1-A613-07FD-E5F6CC7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1C72AC8-D6CD-E0D5-BC8C-1A1A95B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654980-A649-1438-B216-1DA1F38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검색/분석 모듈 분석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827B37-BFC7-4397-0711-69A1D76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5A2A98A-8906-2D12-35A0-8916298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6FDEC9-E85B-3E11-8385-450B0AF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리포트</a:t>
            </a:r>
          </a:p>
        </p:txBody>
      </p:sp>
      <p:sp>
        <p:nvSpPr>
          <p:cNvPr id="37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BF945D-F627-5BA1-2826-08D5C75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94472"/>
            <a:ext cx="104698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F5595E-1802-7133-BDED-30707C2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632"/>
            <a:ext cx="1010411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한 문장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69ED8A-493F-DE05-BCFE-9149C12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43111"/>
            <a:ext cx="1010411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 서비스는 교통사고·과태료·보험 분쟁에서 사용자가 전문가 상담 전 스스로 근거를 확인하고 다음 행동을 정리하도록 돕는 AI 상담·분석 서비스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4F8E17-CAF4-A0AD-1AC0-B9BA22F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0432"/>
            <a:ext cx="10469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 대신 내려주는 서비스가 아니라, 근거를 정리해 판단을 돕는 서비스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876FF7-AD09-4F36-BD76-CC8BD66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79242C-8E50-4B5E-9E86-AE39B04E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A9775C-9A28-44A4-83F9-AA1377A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교통분쟁 AI는 판단을 대신하지 않고 판단 준비를 돕는다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318D96-67D3-43DA-A6D8-5E8131D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전문가 상담 전, 자기 사건의 쟁점·근거·부족한 증거를 먼저 정리할 수 있습니다.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BFD49A-4B8A-4DBA-9EE7-C4B315D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165EE9B-B079-42AB-BCF1-F36F91A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00C1E2-A936-4781-90B1-CDBFE97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분쟁 증가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867A50-A0BB-42D2-9DEF-CF59A8E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정보 격차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01B232-46CA-4690-98FF-A50699E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C24978-1414-4AB4-B62E-A2E74D9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A0D58C-AF9B-4691-8543-CB119D2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탐색 비용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91C6AB-21BD-490F-90CA-496AAE1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흩어진 기준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9C1580-DB0C-447E-A1FE-BC0F792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AE8DCD0-ED8F-4FF2-A6A7-00097D21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5870032-C875-4551-8C6C-5B4D897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D87131-DCF9-4C5E-AE5D-804B73D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자료를 필드화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3DDA74-20D2-4C51-9FF5-EBC94C30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6B306F4-8E1E-43C3-B6DE-4216DBB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FCA19BE-FE35-4090-B949-F880DB2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96965A2-8014-40D9-BE82-A8CC2AD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법령·판례·사례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4CC9B93-31A2-4A64-9C69-511082F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FDA7491-A249-43AC-A1EA-F2DF4BA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102E621-E596-476B-BA9F-0848FB4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8EF6639-D596-445C-982C-F3AB1AE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다음 행동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A021CC-9015-48CA-9403-5BD9332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EB08AB9-035D-4675-AC8B-72FB22B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72075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한 문장: 정답을 대신 내려주는 서비스가 아니라, 근거를 정리해 사용자의 다음 판단을 돕는 서비스입니다.</a:t>
            </a:r>
          </a:p>
        </p:txBody>
      </p:sp>
    </p:spTree>
    <p:extLst>
      <p:ext uri="{BB962C8B-B14F-4D97-AF65-F5344CB8AC3E}">
        <p14:creationId xmlns:p14="http://schemas.microsoft.com/office/powerpoint/2010/main" val="40546128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F21AA1F-1EDC-9866-6F00-6B977E8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2" y="-12191"/>
            <a:ext cx="12313185" cy="19598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073CF9-FB27-4BF9-959B-A61D6EB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266" y="3855130"/>
            <a:ext cx="8678444" cy="1421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보험연구원·한국보험신문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증가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국민인식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IT동아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/Daum: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교통사고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판단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변수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자동차사고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정보포털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기준·심의사례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국가법령정보센터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도로교통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관련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개인정보보호위원회·OWASP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LLM Top 10: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기준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E1C8AB-9C9E-489C-A045-BFA67D8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/>
              </a:rPr>
              <a:t>39/40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621449-F1B2-B05C-0F95-3662F64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cja</a:t>
            </a:r>
          </a:p>
        </p:txBody>
      </p:sp>
    </p:spTree>
    <p:extLst>
      <p:ext uri="{BB962C8B-B14F-4D97-AF65-F5344CB8AC3E}">
        <p14:creationId xmlns:p14="http://schemas.microsoft.com/office/powerpoint/2010/main" val="44600657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52AFD0D-6D4A-4F5D-8B4E-897C604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34" y="1833151"/>
            <a:ext cx="4572000" cy="139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Q&amp;A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7DA0A3-C9B6-456B-A01D-AB98AFF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633699"/>
            <a:ext cx="67665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AI 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상담·분석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197156-6C4F-4090-8844-E139F41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40/40</a:t>
            </a:r>
          </a:p>
        </p:txBody>
      </p:sp>
    </p:spTree>
    <p:extLst>
      <p:ext uri="{BB962C8B-B14F-4D97-AF65-F5344CB8AC3E}">
        <p14:creationId xmlns:p14="http://schemas.microsoft.com/office/powerpoint/2010/main" val="12200507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2026-07-08T06:21:02.5360000Z</dcterms:created>
  <dcterms:modified xsi:type="dcterms:W3CDTF">2026-07-08T06:21:02.5360000Z</dcterms:modified>
</coreProperties>
</file>