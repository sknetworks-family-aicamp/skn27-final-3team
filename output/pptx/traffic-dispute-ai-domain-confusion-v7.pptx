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fa3a9b27924c39" /><Relationship Type="http://schemas.openxmlformats.org/officeDocument/2006/relationships/extended-properties" Target="/docProps/app.xml" Id="R4f6151b902554929" /><Relationship Type="http://schemas.openxmlformats.org/officeDocument/2006/relationships/officeDocument" Target="/ppt/presentation.xml" Id="R9f6ee1a62fe24b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41ce1da21c442a"/>
  </p:sldMasterIdLst>
  <p:notesMasterIdLst>
    <p:notesMasterId xmlns:r="http://schemas.openxmlformats.org/officeDocument/2006/relationships" r:id="R12c464ae0a0f4d18"/>
  </p:notesMasterIdLst>
  <p:sldIdLst>
    <p:sldId xmlns:r="http://schemas.openxmlformats.org/officeDocument/2006/relationships" id="256" r:id="R5d706167c1a04f42"/>
    <p:sldId xmlns:r="http://schemas.openxmlformats.org/officeDocument/2006/relationships" id="257" r:id="R99f5c2990f83458d"/>
    <p:sldId xmlns:r="http://schemas.openxmlformats.org/officeDocument/2006/relationships" id="258" r:id="R011df55194ac4cc6"/>
    <p:sldId xmlns:r="http://schemas.openxmlformats.org/officeDocument/2006/relationships" id="259" r:id="Rc7dfe8ef0bec45b0"/>
    <p:sldId xmlns:r="http://schemas.openxmlformats.org/officeDocument/2006/relationships" id="260" r:id="R27142c3d9c0e406f"/>
    <p:sldId xmlns:r="http://schemas.openxmlformats.org/officeDocument/2006/relationships" id="261" r:id="R4d24c6519d5f4d65"/>
    <p:sldId xmlns:r="http://schemas.openxmlformats.org/officeDocument/2006/relationships" id="262" r:id="Rf624b88032904674"/>
    <p:sldId xmlns:r="http://schemas.openxmlformats.org/officeDocument/2006/relationships" id="263" r:id="R9b01496e09d44273"/>
    <p:sldId xmlns:r="http://schemas.openxmlformats.org/officeDocument/2006/relationships" id="264" r:id="R4625363493fb4c00"/>
    <p:sldId xmlns:r="http://schemas.openxmlformats.org/officeDocument/2006/relationships" id="265" r:id="R932cd4d1b1194736"/>
    <p:sldId xmlns:r="http://schemas.openxmlformats.org/officeDocument/2006/relationships" id="266" r:id="Rfb6aa8aff5904278"/>
    <p:sldId xmlns:r="http://schemas.openxmlformats.org/officeDocument/2006/relationships" id="267" r:id="Rd39f5fafa49c40f2"/>
    <p:sldId xmlns:r="http://schemas.openxmlformats.org/officeDocument/2006/relationships" id="268" r:id="Rb38f2253172a40c4"/>
    <p:sldId xmlns:r="http://schemas.openxmlformats.org/officeDocument/2006/relationships" id="269" r:id="R7ce5da22031648e2"/>
    <p:sldId xmlns:r="http://schemas.openxmlformats.org/officeDocument/2006/relationships" id="270" r:id="Ra93461b05020461a"/>
    <p:sldId xmlns:r="http://schemas.openxmlformats.org/officeDocument/2006/relationships" id="271" r:id="R8f63a931a3af4bd1"/>
    <p:sldId xmlns:r="http://schemas.openxmlformats.org/officeDocument/2006/relationships" id="272" r:id="R97527c96069149a5"/>
    <p:sldId xmlns:r="http://schemas.openxmlformats.org/officeDocument/2006/relationships" id="273" r:id="R6fded613feec41ac"/>
    <p:sldId xmlns:r="http://schemas.openxmlformats.org/officeDocument/2006/relationships" id="274" r:id="R71ef50d64ad9424c"/>
    <p:sldId xmlns:r="http://schemas.openxmlformats.org/officeDocument/2006/relationships" id="275" r:id="R14156c7cbbd14ba5"/>
    <p:sldId xmlns:r="http://schemas.openxmlformats.org/officeDocument/2006/relationships" id="276" r:id="Rc2b515c2d34147af"/>
    <p:sldId xmlns:r="http://schemas.openxmlformats.org/officeDocument/2006/relationships" id="277" r:id="R31b2da9965be4a6b"/>
    <p:sldId xmlns:r="http://schemas.openxmlformats.org/officeDocument/2006/relationships" id="278" r:id="R5ca96238c164498f"/>
    <p:sldId xmlns:r="http://schemas.openxmlformats.org/officeDocument/2006/relationships" id="279" r:id="Ra487b452adcf43d0"/>
    <p:sldId xmlns:r="http://schemas.openxmlformats.org/officeDocument/2006/relationships" id="280" r:id="R8318a4ee7ff940b3"/>
    <p:sldId xmlns:r="http://schemas.openxmlformats.org/officeDocument/2006/relationships" id="281" r:id="R5678a21070934b2e"/>
    <p:sldId xmlns:r="http://schemas.openxmlformats.org/officeDocument/2006/relationships" id="282" r:id="Rb78b6d69c80e40d6"/>
    <p:sldId xmlns:r="http://schemas.openxmlformats.org/officeDocument/2006/relationships" id="283" r:id="Ra0229ed7c95b41e3"/>
    <p:sldId xmlns:r="http://schemas.openxmlformats.org/officeDocument/2006/relationships" id="284" r:id="Rd9caf37994824a95"/>
    <p:sldId xmlns:r="http://schemas.openxmlformats.org/officeDocument/2006/relationships" id="285" r:id="R18683c6c724a4428"/>
    <p:sldId xmlns:r="http://schemas.openxmlformats.org/officeDocument/2006/relationships" id="286" r:id="R35dc740fd414425a"/>
    <p:sldId xmlns:r="http://schemas.openxmlformats.org/officeDocument/2006/relationships" id="287" r:id="R22bccfb25bcd41e3"/>
    <p:sldId xmlns:r="http://schemas.openxmlformats.org/officeDocument/2006/relationships" id="288" r:id="R7d3cb9574c9f4ab4"/>
    <p:sldId xmlns:r="http://schemas.openxmlformats.org/officeDocument/2006/relationships" id="289" r:id="Rd3ffc293ae684f79"/>
    <p:sldId xmlns:r="http://schemas.openxmlformats.org/officeDocument/2006/relationships" id="290" r:id="Rc0a6922a821d421f"/>
    <p:sldId xmlns:r="http://schemas.openxmlformats.org/officeDocument/2006/relationships" id="291" r:id="R31f9e5fbd9294fdb"/>
    <p:sldId xmlns:r="http://schemas.openxmlformats.org/officeDocument/2006/relationships" id="292" r:id="Rda9afce52f904692"/>
    <p:sldId xmlns:r="http://schemas.openxmlformats.org/officeDocument/2006/relationships" id="293" r:id="R627951d17d5140a8"/>
    <p:sldId xmlns:r="http://schemas.openxmlformats.org/officeDocument/2006/relationships" id="294" r:id="R3d1d4eafeaef4d44"/>
    <p:sldId xmlns:r="http://schemas.openxmlformats.org/officeDocument/2006/relationships" id="295" r:id="R90186494f06a4ad2"/>
    <p:sldId xmlns:r="http://schemas.openxmlformats.org/officeDocument/2006/relationships" id="296" r:id="Rce962989094c4daa"/>
    <p:sldId xmlns:r="http://schemas.openxmlformats.org/officeDocument/2006/relationships" id="297" r:id="Rdff7035c0cd44e19"/>
    <p:sldId xmlns:r="http://schemas.openxmlformats.org/officeDocument/2006/relationships" id="298" r:id="R5e9230f405c54d11"/>
    <p:sldId xmlns:r="http://schemas.openxmlformats.org/officeDocument/2006/relationships" id="299" r:id="R656b3037b2c4475a"/>
    <p:sldId xmlns:r="http://schemas.openxmlformats.org/officeDocument/2006/relationships" id="300" r:id="R658410eed91945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0ffe061aed4c34" /><Relationship Type="http://schemas.openxmlformats.org/officeDocument/2006/relationships/slideMaster" Target="/ppt/slideMasters/slideMaster1.xml" Id="R2841ce1da21c442a" /><Relationship Type="http://schemas.openxmlformats.org/officeDocument/2006/relationships/notesMaster" Target="/ppt/notesMasters/notesMaster1.xml" Id="R12c464ae0a0f4d18" /><Relationship Type="http://schemas.openxmlformats.org/officeDocument/2006/relationships/presProps" Target="/ppt/presProps.xml" Id="R3f797fa8c5444b8c" /><Relationship Type="http://schemas.openxmlformats.org/officeDocument/2006/relationships/tableStyles" Target="/ppt/tableStyles.xml" Id="Rfc20a53ba687483a" /><Relationship Type="http://schemas.openxmlformats.org/officeDocument/2006/relationships/slide" Target="/ppt/slides/slide1.xml" Id="R5d706167c1a04f42" /><Relationship Type="http://schemas.openxmlformats.org/officeDocument/2006/relationships/slide" Target="/ppt/slides/slide2.xml" Id="R99f5c2990f83458d" /><Relationship Type="http://schemas.openxmlformats.org/officeDocument/2006/relationships/slide" Target="/ppt/slides/slide3.xml" Id="R011df55194ac4cc6" /><Relationship Type="http://schemas.openxmlformats.org/officeDocument/2006/relationships/slide" Target="/ppt/slides/slide4.xml" Id="Rc7dfe8ef0bec45b0" /><Relationship Type="http://schemas.openxmlformats.org/officeDocument/2006/relationships/slide" Target="/ppt/slides/slide5.xml" Id="R27142c3d9c0e406f" /><Relationship Type="http://schemas.openxmlformats.org/officeDocument/2006/relationships/slide" Target="/ppt/slides/slide6.xml" Id="R4d24c6519d5f4d65" /><Relationship Type="http://schemas.openxmlformats.org/officeDocument/2006/relationships/slide" Target="/ppt/slides/slide7.xml" Id="Rf624b88032904674" /><Relationship Type="http://schemas.openxmlformats.org/officeDocument/2006/relationships/slide" Target="/ppt/slides/slide8.xml" Id="R9b01496e09d44273" /><Relationship Type="http://schemas.openxmlformats.org/officeDocument/2006/relationships/slide" Target="/ppt/slides/slide9.xml" Id="R4625363493fb4c00" /><Relationship Type="http://schemas.openxmlformats.org/officeDocument/2006/relationships/slide" Target="/ppt/slides/slide10.xml" Id="R932cd4d1b1194736" /><Relationship Type="http://schemas.openxmlformats.org/officeDocument/2006/relationships/slide" Target="/ppt/slides/slide11.xml" Id="Rfb6aa8aff5904278" /><Relationship Type="http://schemas.openxmlformats.org/officeDocument/2006/relationships/slide" Target="/ppt/slides/slide12.xml" Id="Rd39f5fafa49c40f2" /><Relationship Type="http://schemas.openxmlformats.org/officeDocument/2006/relationships/slide" Target="/ppt/slides/slide13.xml" Id="Rb38f2253172a40c4" /><Relationship Type="http://schemas.openxmlformats.org/officeDocument/2006/relationships/slide" Target="/ppt/slides/slide14.xml" Id="R7ce5da22031648e2" /><Relationship Type="http://schemas.openxmlformats.org/officeDocument/2006/relationships/slide" Target="/ppt/slides/slide15.xml" Id="Ra93461b05020461a" /><Relationship Type="http://schemas.openxmlformats.org/officeDocument/2006/relationships/slide" Target="/ppt/slides/slide16.xml" Id="R8f63a931a3af4bd1" /><Relationship Type="http://schemas.openxmlformats.org/officeDocument/2006/relationships/slide" Target="/ppt/slides/slide17.xml" Id="R97527c96069149a5" /><Relationship Type="http://schemas.openxmlformats.org/officeDocument/2006/relationships/slide" Target="/ppt/slides/slide18.xml" Id="R6fded613feec41ac" /><Relationship Type="http://schemas.openxmlformats.org/officeDocument/2006/relationships/slide" Target="/ppt/slides/slide19.xml" Id="R71ef50d64ad9424c" /><Relationship Type="http://schemas.openxmlformats.org/officeDocument/2006/relationships/slide" Target="/ppt/slides/slide20.xml" Id="R14156c7cbbd14ba5" /><Relationship Type="http://schemas.openxmlformats.org/officeDocument/2006/relationships/slide" Target="/ppt/slides/slide21.xml" Id="Rc2b515c2d34147af" /><Relationship Type="http://schemas.openxmlformats.org/officeDocument/2006/relationships/slide" Target="/ppt/slides/slide22.xml" Id="R31b2da9965be4a6b" /><Relationship Type="http://schemas.openxmlformats.org/officeDocument/2006/relationships/slide" Target="/ppt/slides/slide23.xml" Id="R5ca96238c164498f" /><Relationship Type="http://schemas.openxmlformats.org/officeDocument/2006/relationships/slide" Target="/ppt/slides/slide24.xml" Id="Ra487b452adcf43d0" /><Relationship Type="http://schemas.openxmlformats.org/officeDocument/2006/relationships/slide" Target="/ppt/slides/slide25.xml" Id="R8318a4ee7ff940b3" /><Relationship Type="http://schemas.openxmlformats.org/officeDocument/2006/relationships/slide" Target="/ppt/slides/slide26.xml" Id="R5678a21070934b2e" /><Relationship Type="http://schemas.openxmlformats.org/officeDocument/2006/relationships/slide" Target="/ppt/slides/slide27.xml" Id="Rb78b6d69c80e40d6" /><Relationship Type="http://schemas.openxmlformats.org/officeDocument/2006/relationships/slide" Target="/ppt/slides/slide28.xml" Id="Ra0229ed7c95b41e3" /><Relationship Type="http://schemas.openxmlformats.org/officeDocument/2006/relationships/slide" Target="/ppt/slides/slide29.xml" Id="Rd9caf37994824a95" /><Relationship Type="http://schemas.openxmlformats.org/officeDocument/2006/relationships/slide" Target="/ppt/slides/slide30.xml" Id="R18683c6c724a4428" /><Relationship Type="http://schemas.openxmlformats.org/officeDocument/2006/relationships/slide" Target="/ppt/slides/slide31.xml" Id="R35dc740fd414425a" /><Relationship Type="http://schemas.openxmlformats.org/officeDocument/2006/relationships/slide" Target="/ppt/slides/slide32.xml" Id="R22bccfb25bcd41e3" /><Relationship Type="http://schemas.openxmlformats.org/officeDocument/2006/relationships/slide" Target="/ppt/slides/slide33.xml" Id="R7d3cb9574c9f4ab4" /><Relationship Type="http://schemas.openxmlformats.org/officeDocument/2006/relationships/slide" Target="/ppt/slides/slide34.xml" Id="Rd3ffc293ae684f79" /><Relationship Type="http://schemas.openxmlformats.org/officeDocument/2006/relationships/slide" Target="/ppt/slides/slide35.xml" Id="Rc0a6922a821d421f" /><Relationship Type="http://schemas.openxmlformats.org/officeDocument/2006/relationships/slide" Target="/ppt/slides/slide36.xml" Id="R31f9e5fbd9294fdb" /><Relationship Type="http://schemas.openxmlformats.org/officeDocument/2006/relationships/slide" Target="/ppt/slides/slide37.xml" Id="Rda9afce52f904692" /><Relationship Type="http://schemas.openxmlformats.org/officeDocument/2006/relationships/slide" Target="/ppt/slides/slide38.xml" Id="R627951d17d5140a8" /><Relationship Type="http://schemas.openxmlformats.org/officeDocument/2006/relationships/slide" Target="/ppt/slides/slide39.xml" Id="R3d1d4eafeaef4d44" /><Relationship Type="http://schemas.openxmlformats.org/officeDocument/2006/relationships/slide" Target="/ppt/slides/slide40.xml" Id="R90186494f06a4ad2" /><Relationship Type="http://schemas.openxmlformats.org/officeDocument/2006/relationships/slide" Target="/ppt/slides/slide41.xml" Id="Rce962989094c4daa" /><Relationship Type="http://schemas.openxmlformats.org/officeDocument/2006/relationships/slide" Target="/ppt/slides/slide42.xml" Id="Rdff7035c0cd44e19" /><Relationship Type="http://schemas.openxmlformats.org/officeDocument/2006/relationships/slide" Target="/ppt/slides/slide43.xml" Id="R5e9230f405c54d11" /><Relationship Type="http://schemas.openxmlformats.org/officeDocument/2006/relationships/slide" Target="/ppt/slides/slide44.xml" Id="R656b3037b2c4475a" /><Relationship Type="http://schemas.openxmlformats.org/officeDocument/2006/relationships/slide" Target="/ppt/slides/slide45.xml" Id="R658410eed91945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1678a1a0a74a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8fd2ad3a3a4394" /><Relationship Type="http://schemas.openxmlformats.org/officeDocument/2006/relationships/notesMaster" Target="/ppt/notesMasters/notesMaster1.xml" Id="R8ceb17186b144f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08d1206b554023" /><Relationship Type="http://schemas.openxmlformats.org/officeDocument/2006/relationships/notesMaster" Target="/ppt/notesMasters/notesMaster1.xml" Id="Rb21cea15c95a4a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ca830de8f94747" /><Relationship Type="http://schemas.openxmlformats.org/officeDocument/2006/relationships/notesMaster" Target="/ppt/notesMasters/notesMaster1.xml" Id="R7e78e108e91848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bdf26f227d46d7" /><Relationship Type="http://schemas.openxmlformats.org/officeDocument/2006/relationships/notesMaster" Target="/ppt/notesMasters/notesMaster1.xml" Id="R1dba6049627841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d3d876d2c042dd" /><Relationship Type="http://schemas.openxmlformats.org/officeDocument/2006/relationships/notesMaster" Target="/ppt/notesMasters/notesMaster1.xml" Id="Rc73839c7b7ad47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a15856a1d34e8a" /><Relationship Type="http://schemas.openxmlformats.org/officeDocument/2006/relationships/notesMaster" Target="/ppt/notesMasters/notesMaster1.xml" Id="R551ffbbfdc1f49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92889989014742" /><Relationship Type="http://schemas.openxmlformats.org/officeDocument/2006/relationships/notesMaster" Target="/ppt/notesMasters/notesMaster1.xml" Id="R72d910585f3c45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4a1670b5c045a4" /><Relationship Type="http://schemas.openxmlformats.org/officeDocument/2006/relationships/notesMaster" Target="/ppt/notesMasters/notesMaster1.xml" Id="R456a676b645641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c6c329e0384cc2" /><Relationship Type="http://schemas.openxmlformats.org/officeDocument/2006/relationships/notesMaster" Target="/ppt/notesMasters/notesMaster1.xml" Id="R3a35978e33cf40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953045d6fd4a89" /><Relationship Type="http://schemas.openxmlformats.org/officeDocument/2006/relationships/notesMaster" Target="/ppt/notesMasters/notesMaster1.xml" Id="R64f64d498bda4b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3cc6a8785543f7" /><Relationship Type="http://schemas.openxmlformats.org/officeDocument/2006/relationships/notesMaster" Target="/ppt/notesMasters/notesMaster1.xml" Id="R9cec5f61fdeb4c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2223758a214f36" /><Relationship Type="http://schemas.openxmlformats.org/officeDocument/2006/relationships/notesMaster" Target="/ppt/notesMasters/notesMaster1.xml" Id="R73ab06199e5545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4bd8127b324baf" /><Relationship Type="http://schemas.openxmlformats.org/officeDocument/2006/relationships/notesMaster" Target="/ppt/notesMasters/notesMaster1.xml" Id="R38e7711fd17f46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ebdc78e8184769" /><Relationship Type="http://schemas.openxmlformats.org/officeDocument/2006/relationships/notesMaster" Target="/ppt/notesMasters/notesMaster1.xml" Id="Rede5df5c6d6041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7e5c046ac648a4" /><Relationship Type="http://schemas.openxmlformats.org/officeDocument/2006/relationships/notesMaster" Target="/ppt/notesMasters/notesMaster1.xml" Id="Rd40f36a2e55746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c34a82323146b7" /><Relationship Type="http://schemas.openxmlformats.org/officeDocument/2006/relationships/notesMaster" Target="/ppt/notesMasters/notesMaster1.xml" Id="Re081f16b88b04b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97c94096684aa8" /><Relationship Type="http://schemas.openxmlformats.org/officeDocument/2006/relationships/notesMaster" Target="/ppt/notesMasters/notesMaster1.xml" Id="R5c1e5cb7e83745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eec00b71e74472" /><Relationship Type="http://schemas.openxmlformats.org/officeDocument/2006/relationships/notesMaster" Target="/ppt/notesMasters/notesMaster1.xml" Id="Rf002c7331dd042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b992281d3e49c5" /><Relationship Type="http://schemas.openxmlformats.org/officeDocument/2006/relationships/notesMaster" Target="/ppt/notesMasters/notesMaster1.xml" Id="R4f2e5b0954c7425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38dae3ca2948ed" /><Relationship Type="http://schemas.openxmlformats.org/officeDocument/2006/relationships/notesMaster" Target="/ppt/notesMasters/notesMaster1.xml" Id="Rc12c06132c2a44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f068d334dcc4ee5" /><Relationship Type="http://schemas.openxmlformats.org/officeDocument/2006/relationships/notesMaster" Target="/ppt/notesMasters/notesMaster1.xml" Id="R7e44401d996c42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fb3fab36c54942" /><Relationship Type="http://schemas.openxmlformats.org/officeDocument/2006/relationships/notesMaster" Target="/ppt/notesMasters/notesMaster1.xml" Id="R5c5a769de0024a9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dc6f6d63a74cca" /><Relationship Type="http://schemas.openxmlformats.org/officeDocument/2006/relationships/notesMaster" Target="/ppt/notesMasters/notesMaster1.xml" Id="R05f92028cf974dc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e9a56c1a004463" /><Relationship Type="http://schemas.openxmlformats.org/officeDocument/2006/relationships/notesMaster" Target="/ppt/notesMasters/notesMaster1.xml" Id="R8e673b7338614ef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1c2b6eec92b4d7a" /><Relationship Type="http://schemas.openxmlformats.org/officeDocument/2006/relationships/notesMaster" Target="/ppt/notesMasters/notesMaster1.xml" Id="R8e2ffbb6881249d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ac8ed1656494a10" /><Relationship Type="http://schemas.openxmlformats.org/officeDocument/2006/relationships/notesMaster" Target="/ppt/notesMasters/notesMaster1.xml" Id="Re61cf05bd03f414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950e3aa562843e1" /><Relationship Type="http://schemas.openxmlformats.org/officeDocument/2006/relationships/notesMaster" Target="/ppt/notesMasters/notesMaster1.xml" Id="R06a14118da9046b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4345baaead44b2" /><Relationship Type="http://schemas.openxmlformats.org/officeDocument/2006/relationships/notesMaster" Target="/ppt/notesMasters/notesMaster1.xml" Id="Rd00df2ff79e0429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4c3f87ecb5749e7" /><Relationship Type="http://schemas.openxmlformats.org/officeDocument/2006/relationships/notesMaster" Target="/ppt/notesMasters/notesMaster1.xml" Id="Rfadde303b8924c1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7811b21ee66497b" /><Relationship Type="http://schemas.openxmlformats.org/officeDocument/2006/relationships/notesMaster" Target="/ppt/notesMasters/notesMaster1.xml" Id="R9439a878d79341e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f5bcbb32f3c4109" /><Relationship Type="http://schemas.openxmlformats.org/officeDocument/2006/relationships/notesMaster" Target="/ppt/notesMasters/notesMaster1.xml" Id="Raa63be3a48b9441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508cb0777ec4aa3" /><Relationship Type="http://schemas.openxmlformats.org/officeDocument/2006/relationships/notesMaster" Target="/ppt/notesMasters/notesMaster1.xml" Id="R8c94558b3b654b4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8d7f113b50a4f7f" /><Relationship Type="http://schemas.openxmlformats.org/officeDocument/2006/relationships/notesMaster" Target="/ppt/notesMasters/notesMaster1.xml" Id="Rd986e8efc6364e8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78c2b3da5594db4" /><Relationship Type="http://schemas.openxmlformats.org/officeDocument/2006/relationships/notesMaster" Target="/ppt/notesMasters/notesMaster1.xml" Id="R36b9b6ccadf5439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1222f0ab064491a" /><Relationship Type="http://schemas.openxmlformats.org/officeDocument/2006/relationships/notesMaster" Target="/ppt/notesMasters/notesMaster1.xml" Id="Rea01652b3e22434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4cf697609c24fe9" /><Relationship Type="http://schemas.openxmlformats.org/officeDocument/2006/relationships/notesMaster" Target="/ppt/notesMasters/notesMaster1.xml" Id="R15085ef624d24f4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b5cb6360d4b44b3" /><Relationship Type="http://schemas.openxmlformats.org/officeDocument/2006/relationships/notesMaster" Target="/ppt/notesMasters/notesMaster1.xml" Id="R1e2a4d803b7c48b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a9c818b04fa4d07" /><Relationship Type="http://schemas.openxmlformats.org/officeDocument/2006/relationships/notesMaster" Target="/ppt/notesMasters/notesMaster1.xml" Id="Raeabad000877419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90b4ed632d2491e" /><Relationship Type="http://schemas.openxmlformats.org/officeDocument/2006/relationships/notesMaster" Target="/ppt/notesMasters/notesMaster1.xml" Id="Rb8c5ff8118e2466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d650135278547a3" /><Relationship Type="http://schemas.openxmlformats.org/officeDocument/2006/relationships/notesMaster" Target="/ppt/notesMasters/notesMaster1.xml" Id="R0b59b17495a54e2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8f717394319446d" /><Relationship Type="http://schemas.openxmlformats.org/officeDocument/2006/relationships/notesMaster" Target="/ppt/notesMasters/notesMaster1.xml" Id="Rf53904f00ae94c2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b67af3992af4eac" /><Relationship Type="http://schemas.openxmlformats.org/officeDocument/2006/relationships/notesMaster" Target="/ppt/notesMasters/notesMaster1.xml" Id="R3bfc1f4fcb134f6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df5f0776a65469b" /><Relationship Type="http://schemas.openxmlformats.org/officeDocument/2006/relationships/notesMaster" Target="/ppt/notesMasters/notesMaster1.xml" Id="R177b74d07436448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169cb1f11e2424d" /><Relationship Type="http://schemas.openxmlformats.org/officeDocument/2006/relationships/notesMaster" Target="/ppt/notesMasters/notesMaster1.xml" Id="R59cbe0cbffb246b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5e180a7cfdd45c6" /><Relationship Type="http://schemas.openxmlformats.org/officeDocument/2006/relationships/notesMaster" Target="/ppt/notesMasters/notesMaster1.xml" Id="R9506f9001c8042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장에서는 이 서비스가 단순 챗봇이 아니라 교통사고, 과태료, 보험 대응, 법률 근거를 하나의 사건 흐름으로 정리하는 솔루션이라는 점을 열어줍니다.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목차는 문제 배경에서 출발해 사용자 문제, 시장과 차별점, 이용 과정, AI 분석 구조, 구현 범위 순서로 이어집니다. 발표할 때는 기능 나열보다 왜 이 흐름이 필요한지에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섹션은 과실비율 분쟁이 늘고 사용자가 기준을 이해하기 어렵다는 문제를 제기합니다. 이후 슬라이드에서 수치와 인식 격차로 근거를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2024년 분쟁 건수와 10년 증가 흐름을 말하며, 단순 사고 증가가 아니라 보험금과 보험료 할증으로 이어지는 이해관계가 분쟁을 키운다고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공정성, 기본과실, 조사 부족에서 느끼는 정보 격차를 짚습니다. 여기서 우리 서비스는 결론을 대신 내리는 것이 아니라 근거와 한계를 보여주는 도구라고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 보강 슬라이드입니다. 분쟁 건수, 사용자 인식 격차, 흩어진 근거원을 한 장으로 묶어 시장을 '교통사고 전체'가 아니라 상담 전 근거 검토 수요로 정의합니다.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과실비율은 날씨, 도로 상태, 블랙박스 화각, 유사사고 차이, 고의성 여부처럼 변수가 많습니다. 따라서 AI도 확정 판정보다 변수 구조화와 근거 제시가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소개로 전환합니다. 판단 전 사건 구조화, 근거 기반 답변, 다음 행동 리포트라는 세 가지 가치를 짧게 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구조화의 필요성을 여는 장입니다. 사고나 고지서를 바로 판단하기 전에 어떤 정보가 들어왔는지 분리해야 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고지서, 사고 설명, 사진, 영상에서 위반유형, 장소, 기한, 증거, 사고유형을 먼저 추출한다는 점을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구조화된 정보가 법령, 과실비율 인정기준, 판례, 심의사례 검색으로 이어진다는 연결을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결과물은 이의 가능성, 리스크, 추가 증거, 문의 초안, 다운로드 가능한 리포트입니다. 사용자가 상담 전 스스로 검토할 수 있게 하는 것이 목표입니다.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수집부터 리포트까지의 파이프라인을 요약합니다. 사용자 가치는 쟁점과 근거 확인, 서비스 가치는 흩어진 자료의 사건 단위 연결입니다.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문제 섹션입니다. 고지서, 과실비율, 보험 대응에서 실제 사용자가 반복적으로 겪는 실패 장면을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과실비율, 법률 근거, 상담 리포트가 각각 다른 문제처럼 보이지만 모두 사건 구조화와 근거 검색으로 연결된다고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범칙금, 벌점, 사고 과실비율을 구분합니다. 특히 범칙금과 벌점은 리스크가 있어 단정형 문서 생성을 제한해야 한다는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질문을 바로 답하지 않고 검토 가능한 사건 구조로 바꾼다는 메시지를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 고지서 사례입니다. OCR 추출과 처분 유형 분기, 가능성 및 위험 분리를 통해 사용자가 무엇을 확인해야 하는지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보험 과실비율 분쟁 사례입니다. 정답 비율보다 유사 사례, 사실관계 차이, 부족한 증거, 보험사 질문 문구가 사용자에게 더 실용적입니다.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법률/보험 AI에서 품질만큼 중요한 것이 데이터 보호입니다. 차량번호, 고지서, 주소, 영상이 함께 들어오므로 권한 분리와 파일 검사가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시장과 차별점으로 넘어갑니다. 이미 있는 서비스와 아직 비어 있는 조합을 비교할 준비를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기능은 시장에 있지만, 고지서 문서 인식부터 사고자료 구조화, 근거 검색, 리포트까지 한 번에 이어지는 조합은 부족하다고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포털, 보험사 앱, 리걸테크, 일반 AI의 강점과 한계를 공정하게 말합니다. 우리 서비스는 사건자료 기반 리포트 연결에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경쟁 기능 비교에서는 보험사 독립성, 영상/문서/법령 연결, 개인 운전자용 리포트라는 차이를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우리 서비스의 위치는 전문가 상담 전 셀프 점검입니다. 보험사 AI나 판례 검색과 경쟁하기보다 빈 구간을 메우는 서비스로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차별점 네 가지를 요약합니다. 무조건 이의신청 권유가 아니라 근거, 기한, 증거, 위험을 분리하는 안전한 접근이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이용 섹션으로 넘어갑니다. 입력부터 리포트까지 사용자가 어떤 경험을 하게 되는지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사고자료 처리 흐름입니다. 공식 포털, 보험사, 법률 플랫폼, 생성형 AI가 따로 제공하던 조각을 사건 중심으로 묶는다고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입력부터 내부 분석 모듈, 리포트 저장까지의 흐름입니다. 파일 검사와 분석 통합이 신뢰성의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 인식과 이의 검토입니다. OCR은 필드 추출, Appeal 분석은 가능성과 리스크 분리라는 역할 차이를 분명히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법령·사례 검색입니다. 교통 판례, 과실비율 판례, 심의사례를 활용하되 정답 비율이 아니라 판례·심의사례의 근거와 차이를 보여준다고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상담 리포트 관리는 발표에서 사용자 가치가 가장 잘 보이는 부분입니다. 보험사 대화나 전문가 상담 전 정리된 자료가 되는 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기능과 AI 분석 구조 섹션입니다. 문서, 영상, 법률 데이터를 연결하되 민감 데이터 보호를 함께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보강 슬라이드입니다. AI 분석 구조를 OCR, RAG, 사례검색, 리포트 생성의 네 단계로 설명하고, 정답 생성이 아니라 근거 조립이라는 관점을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분석 모듈의 역할을 구분합니다. 오류 유형이 다르므로 하나의 거대 모델보다 모듈 분리와 Supervisor 병합이 더 안전하다는 메시지를 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보안 설계입니다. 권한 분리, 서버 측 인증정보 관리, 파일 검사, 개인정보 최소화, AI 입력 검증을 법률/보험 AI의 기본 조건으로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안전장치입니다. 승소 보장, 과실비율 확정, 자동 제출을 하지 않는다는 선을 명확히 하고, 출처와 한계, 추가 확인사항을 반드시 제공한다고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범위와 기대효과 섹션입니다. MVP에 무엇을 넣고 무엇을 제외했는지 현실적으로 정리합니다.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범위에서는 가능한 기능과 제외 기능을 구분합니다. 자동 제출이나 확정 표현을 제외했다는 점이 오히려 신뢰 설계라는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계획입니다. OCR, 근거 검색, Vision, 분석 통합, 안전장치를 각각 다른 지표로 평가해야 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구현과 다음 단계입니다. 실제 보험사 내부 데이터와 모든 영상 자동 판정은 후순위이며, 지금은 근거 검색과 리포트 흐름 검증에 집중한다고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핵심 문장입니다. 교통분쟁 AI는 판단을 대신하는 서비스가 아니라 사용자가 근거를 확인하고 다음 행동을 정리하도록 돕는 서비스입니다.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참고자료 슬라이드입니다. 시장 수치, 공식 기준, 법령, 보안 기준의 출처를 짚고 질의응답으로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Q&amp;A에서는 '확정 판정이 아닌 근거 리포트', '보험사 독립성', '개인정보 보호', 'MVP의 한계와 확장 계획' 네 가지 답변 축을 준비하면 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889212ae142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2ec592bfd4c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dc65f32ac48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7d610413d4f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2a31c440848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a0324fa2a44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ac24148e24a7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b1df59f4f461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1a746d49d4de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f0818123e4d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4ceaa76224b4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E8E465-550B-4FDF-B291-01E9E4AE66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C0A8EA5-ED30-4140-985F-271797DC87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5D7775-4518-4DF5-9445-394547BC8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6A0E60-2090-4E42-A783-312432F7A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567F4F-14B4-4D4D-AA0B-BC1C4A29B3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A633FA-241D-4DB6-874A-C35A68C8D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0C49BA3-DCD7-4565-A8B4-22BB7FAD82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AF8E70-77EF-407B-9D29-B30E6267D0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394A18-8B06-4DE5-A992-451F58DF2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8DD2C8-A1EF-4E86-A7EB-FE05D3FA4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299CA5-D89D-4287-8D3F-94432779CE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E14E89-843E-4E12-9968-2FECC81452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1D96AC-704F-4E06-82A9-71699580C2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0526A2-5C5C-45B2-AB03-A13D474ECD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B32873-ED85-47C5-81A2-601AAFC8E9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FF86C8-1226-4EDC-A65D-112EAF322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0E9723-DB95-4275-AE90-1C39DF7A88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A5E7C4-A3B6-497D-A4A8-75FDEDCBAD2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6ACE44-E571-4E2A-8727-0883503A38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44BA40A-E598-4519-9FEB-D2EAF69DF6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796AD6-EE3A-42C7-8396-069DACB60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7E938A-7AB5-4C18-B197-B895DC46B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D62C7C-99B0-427A-8C7B-633BC8076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B23F55B-5373-44C5-9EFD-BC3B805903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B1AC849-7FA1-4349-90B1-C7BFD3F115D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60A944D-125E-48A2-8C35-8416C534962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60DDBE1-4C43-4F86-8476-2D99024D51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D16814-D058-49D0-A1F7-4BC6A0BB93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404AD2B-D2DE-4A26-BA7C-85CA895F0A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102F97-1996-4AB5-AAD1-61095CB3D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40085FE-0129-4DBA-8053-B307F960D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7263654-1F33-4F9C-957B-C54D73910B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93C4BDB-8610-4E0D-BD0C-66B5DCCDC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4319625-FFFD-488D-A798-DB9E911DB5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61EA7E5-B9EA-44DC-B22E-E335EC3DBE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3CDACE7-7BDA-4DEB-846F-0D87963E7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C614B1-5BF0-4703-B32E-596C8C49B0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215A4B-0D87-450D-B44E-F5CB513A16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7BAD6A-5D44-40DF-88E3-29472C7EE0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9D7E9F-CE9F-4DBB-BB73-B36CAEBFB5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7A9785-E71B-43F6-AC03-C95F47321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9B54C3-F303-4456-963E-90B492A752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1C6985-D8FA-44DE-A79B-60FCB61C4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C593D0C-140B-4F85-AC54-EA8D454898E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C593D2-550A-49B1-8421-57A3C2C602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B42AAC-AEB7-4FD2-8E84-7816B446EC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C9C517-62BF-4B4E-AA29-0220E9C5BC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8E27EE-A0FC-45CB-8578-099B52C874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FD94FF-4ACC-4048-8DC0-B49B80C73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3A905-8BC0-4088-8EA1-C49F30179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BB53A0-D461-4713-AF0F-A60EAFB74A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DC8431-1B9C-493A-A531-DB81395853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71E7CF-068E-4711-9348-D79F96294A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0F3B39C-D5DB-4CE6-BDD9-9E0B95BC9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14A399-E4A0-4986-AB09-D4C606613C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0B5E51-5790-4FD0-960A-F944894D45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19B549-0C2C-4E8B-B6C7-176F0589B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444D2D-BFE3-48D0-85B2-D0EB113F00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cb777fa807470a" /><Relationship Type="http://schemas.openxmlformats.org/officeDocument/2006/relationships/slideLayout" Target="/ppt/slideLayouts/slideLayout1.xml" Id="R310351996d6f4057" /><Relationship Type="http://schemas.openxmlformats.org/officeDocument/2006/relationships/slideLayout" Target="/ppt/slideLayouts/slideLayout2.xml" Id="R43cb5127b0ca437d" /><Relationship Type="http://schemas.openxmlformats.org/officeDocument/2006/relationships/slideLayout" Target="/ppt/slideLayouts/slideLayout3.xml" Id="Rd288793a1fe24e2b" /><Relationship Type="http://schemas.openxmlformats.org/officeDocument/2006/relationships/slideLayout" Target="/ppt/slideLayouts/slideLayout4.xml" Id="R9d2bb081fb0340a7" /><Relationship Type="http://schemas.openxmlformats.org/officeDocument/2006/relationships/slideLayout" Target="/ppt/slideLayouts/slideLayout5.xml" Id="R870e32dfa3834835" /><Relationship Type="http://schemas.openxmlformats.org/officeDocument/2006/relationships/slideLayout" Target="/ppt/slideLayouts/slideLayout6.xml" Id="Re2c3540cc9af427c" /><Relationship Type="http://schemas.openxmlformats.org/officeDocument/2006/relationships/slideLayout" Target="/ppt/slideLayouts/slideLayout7.xml" Id="R78deed2812014bc4" /><Relationship Type="http://schemas.openxmlformats.org/officeDocument/2006/relationships/slideLayout" Target="/ppt/slideLayouts/slideLayout8.xml" Id="Rc7d51261447c48dc" /><Relationship Type="http://schemas.openxmlformats.org/officeDocument/2006/relationships/slideLayout" Target="/ppt/slideLayouts/slideLayout9.xml" Id="Rc31dbe3067bc4567" /><Relationship Type="http://schemas.openxmlformats.org/officeDocument/2006/relationships/slideLayout" Target="/ppt/slideLayouts/slideLayout10.xml" Id="R43a50c2caa07431c" /><Relationship Type="http://schemas.openxmlformats.org/officeDocument/2006/relationships/slideLayout" Target="/ppt/slideLayouts/slideLayout11.xml" Id="Reeb0692f6ac54e5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0BD951-D60B-4C8E-929F-366353FC7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1A1C22-507C-48A4-A6FE-9EAFEFB09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502A29-747D-4CD1-8B81-8D364FE3D8E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79F249-CBED-4EC1-9527-476FEBA3ED3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DC49A4-D4C4-4724-A727-15736B7E6B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0351996d6f4057"/>
    <p:sldLayoutId xmlns:r="http://schemas.openxmlformats.org/officeDocument/2006/relationships" id="2147483650" r:id="R43cb5127b0ca437d"/>
    <p:sldLayoutId xmlns:r="http://schemas.openxmlformats.org/officeDocument/2006/relationships" id="2147483651" r:id="Rd288793a1fe24e2b"/>
    <p:sldLayoutId xmlns:r="http://schemas.openxmlformats.org/officeDocument/2006/relationships" id="2147483652" r:id="R9d2bb081fb0340a7"/>
    <p:sldLayoutId xmlns:r="http://schemas.openxmlformats.org/officeDocument/2006/relationships" id="2147483653" r:id="R870e32dfa3834835"/>
    <p:sldLayoutId xmlns:r="http://schemas.openxmlformats.org/officeDocument/2006/relationships" id="2147483654" r:id="Re2c3540cc9af427c"/>
    <p:sldLayoutId xmlns:r="http://schemas.openxmlformats.org/officeDocument/2006/relationships" id="2147483655" r:id="R78deed2812014bc4"/>
    <p:sldLayoutId xmlns:r="http://schemas.openxmlformats.org/officeDocument/2006/relationships" id="2147483656" r:id="Rc7d51261447c48dc"/>
    <p:sldLayoutId xmlns:r="http://schemas.openxmlformats.org/officeDocument/2006/relationships" id="2147483657" r:id="Rc31dbe3067bc4567"/>
    <p:sldLayoutId xmlns:r="http://schemas.openxmlformats.org/officeDocument/2006/relationships" id="2147483658" r:id="R43a50c2caa07431c"/>
    <p:sldLayoutId xmlns:r="http://schemas.openxmlformats.org/officeDocument/2006/relationships" id="2147483659" r:id="Reeb0692f6ac54e57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03e7382fb84433" /><Relationship Type="http://schemas.openxmlformats.org/officeDocument/2006/relationships/image" Target="/ppt/media/image.png" Id="Rabd3063040af4036" /><Relationship Type="http://schemas.openxmlformats.org/officeDocument/2006/relationships/notesSlide" Target="/ppt/notesSlides/notesSlide1.xml" Id="R11e92b6d71b94d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e1a6196e454236" /><Relationship Type="http://schemas.openxmlformats.org/officeDocument/2006/relationships/notesSlide" Target="/ppt/notesSlides/notesSlide2.xml" Id="R32fdd7e20c4747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17ca8012874888" /><Relationship Type="http://schemas.openxmlformats.org/officeDocument/2006/relationships/notesSlide" Target="/ppt/notesSlides/notesSlide3.xml" Id="Rf1f3fd640b174b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9d9c948764447e" /><Relationship Type="http://schemas.openxmlformats.org/officeDocument/2006/relationships/chart" Target="/ppt/slides/charts/chart1.xml" Id="R41faf7f6ec334ad0" /><Relationship Type="http://schemas.openxmlformats.org/officeDocument/2006/relationships/notesSlide" Target="/ppt/notesSlides/notesSlide4.xml" Id="R61706f2d2c65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76608b663d4bb1" /><Relationship Type="http://schemas.openxmlformats.org/officeDocument/2006/relationships/notesSlide" Target="/ppt/notesSlides/notesSlide5.xml" Id="Rc76cd354667a47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b2bdfbdb69460f" /><Relationship Type="http://schemas.openxmlformats.org/officeDocument/2006/relationships/image" Target="/ppt/media/image2.png" Id="R52011df65a104fda" /><Relationship Type="http://schemas.openxmlformats.org/officeDocument/2006/relationships/notesSlide" Target="/ppt/notesSlides/notesSlide6.xml" Id="R7ecf23b5a8c147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e1054fd8d34df8" /><Relationship Type="http://schemas.openxmlformats.org/officeDocument/2006/relationships/notesSlide" Target="/ppt/notesSlides/notesSlide7.xml" Id="R5cacfda9d73548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44184f5ac34585" /><Relationship Type="http://schemas.openxmlformats.org/officeDocument/2006/relationships/notesSlide" Target="/ppt/notesSlides/notesSlide8.xml" Id="R47a750459a0141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0d3221ab4c4bae" /><Relationship Type="http://schemas.openxmlformats.org/officeDocument/2006/relationships/image" Target="/ppt/media/image3.png" Id="R3421eaafc3124a42" /><Relationship Type="http://schemas.openxmlformats.org/officeDocument/2006/relationships/image" Target="/ppt/media/image4.png" Id="R8af30b4fedbb41e6" /><Relationship Type="http://schemas.openxmlformats.org/officeDocument/2006/relationships/image" Target="/ppt/media/image5.png" Id="R645b839026604d94" /><Relationship Type="http://schemas.openxmlformats.org/officeDocument/2006/relationships/notesSlide" Target="/ppt/notesSlides/notesSlide9.xml" Id="Rf1c42d35b1054f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ccc6437a9a48d5" /><Relationship Type="http://schemas.openxmlformats.org/officeDocument/2006/relationships/image" Target="/ppt/media/image3.png" Id="Rf81465f2aa8f460d" /><Relationship Type="http://schemas.openxmlformats.org/officeDocument/2006/relationships/image" Target="/ppt/media/image4.png" Id="R11445436db2747d5" /><Relationship Type="http://schemas.openxmlformats.org/officeDocument/2006/relationships/image" Target="/ppt/media/image5.png" Id="Rce80fa227d054dce" /><Relationship Type="http://schemas.openxmlformats.org/officeDocument/2006/relationships/image" Target="/ppt/media/image.svg" Id="R07b37b835fce4ea0" /><Relationship Type="http://schemas.openxmlformats.org/officeDocument/2006/relationships/image" Target="/ppt/media/image.png" Id="R7c42db8ad5684511" /><Relationship Type="http://schemas.openxmlformats.org/officeDocument/2006/relationships/image" Target="/ppt/media/image2.svg" Id="R335ce979a72a42b7" /><Relationship Type="http://schemas.openxmlformats.org/officeDocument/2006/relationships/image" Target="/ppt/media/image2.png" Id="Ra4908b3cb9d74a4f" /><Relationship Type="http://schemas.openxmlformats.org/officeDocument/2006/relationships/notesSlide" Target="/ppt/notesSlides/notesSlide10.xml" Id="R8c5696320d194d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81e6d564e24e35" /><Relationship Type="http://schemas.openxmlformats.org/officeDocument/2006/relationships/image" Target="/ppt/media/image3.png" Id="R89f2d36eee604a29" /><Relationship Type="http://schemas.openxmlformats.org/officeDocument/2006/relationships/image" Target="/ppt/media/image4.png" Id="R636885d581bc4f0f" /><Relationship Type="http://schemas.openxmlformats.org/officeDocument/2006/relationships/image" Target="/ppt/media/image5.png" Id="R91da96631c584515" /><Relationship Type="http://schemas.openxmlformats.org/officeDocument/2006/relationships/image" Target="/ppt/media/image.png" Id="R524a56c8e1f54f93" /><Relationship Type="http://schemas.openxmlformats.org/officeDocument/2006/relationships/image" Target="/ppt/media/image.svg" Id="R1f37d2e271bf4db4" /><Relationship Type="http://schemas.openxmlformats.org/officeDocument/2006/relationships/image" Target="/ppt/media/image2.png" Id="R1a907a26f54e4f61" /><Relationship Type="http://schemas.openxmlformats.org/officeDocument/2006/relationships/image" Target="/ppt/media/image2.svg" Id="Rbfb18eba47204908" /><Relationship Type="http://schemas.openxmlformats.org/officeDocument/2006/relationships/notesSlide" Target="/ppt/notesSlides/notesSlide11.xml" Id="R9596e8324a2a43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557da645c24797" /><Relationship Type="http://schemas.openxmlformats.org/officeDocument/2006/relationships/image" Target="/ppt/media/image3.png" Id="Rb693384f91434e96" /><Relationship Type="http://schemas.openxmlformats.org/officeDocument/2006/relationships/image" Target="/ppt/media/image4.png" Id="R1c4daeeae568415e" /><Relationship Type="http://schemas.openxmlformats.org/officeDocument/2006/relationships/image" Target="/ppt/media/image5.png" Id="R002726eff4284bd5" /><Relationship Type="http://schemas.openxmlformats.org/officeDocument/2006/relationships/image" Target="/ppt/media/image.png" Id="R17f6143b95064dcc" /><Relationship Type="http://schemas.openxmlformats.org/officeDocument/2006/relationships/image" Target="/ppt/media/image.svg" Id="R6221ecd91f974aea" /><Relationship Type="http://schemas.openxmlformats.org/officeDocument/2006/relationships/image" Target="/ppt/media/image2.png" Id="R2fb5658462ec475a" /><Relationship Type="http://schemas.openxmlformats.org/officeDocument/2006/relationships/image" Target="/ppt/media/image2.svg" Id="R07ab64f457a54916" /><Relationship Type="http://schemas.openxmlformats.org/officeDocument/2006/relationships/notesSlide" Target="/ppt/notesSlides/notesSlide12.xml" Id="Ra315469db74d4c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54095305a04c8e" /><Relationship Type="http://schemas.openxmlformats.org/officeDocument/2006/relationships/notesSlide" Target="/ppt/notesSlides/notesSlide13.xml" Id="Ra04c0e46b0dd4d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a322d1df704be9" /><Relationship Type="http://schemas.openxmlformats.org/officeDocument/2006/relationships/notesSlide" Target="/ppt/notesSlides/notesSlide14.xml" Id="R489165f53ac240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daf66053344885" /><Relationship Type="http://schemas.openxmlformats.org/officeDocument/2006/relationships/notesSlide" Target="/ppt/notesSlides/notesSlide15.xml" Id="R748237ca343d44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61d4f3dd4249d0" /><Relationship Type="http://schemas.openxmlformats.org/officeDocument/2006/relationships/notesSlide" Target="/ppt/notesSlides/notesSlide16.xml" Id="R9e04b439dd0845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d88df849ff4af0" /><Relationship Type="http://schemas.openxmlformats.org/officeDocument/2006/relationships/notesSlide" Target="/ppt/notesSlides/notesSlide17.xml" Id="R28a1c9f59c864e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f3958c7d47496a" /><Relationship Type="http://schemas.openxmlformats.org/officeDocument/2006/relationships/notesSlide" Target="/ppt/notesSlides/notesSlide18.xml" Id="Ra3e31aea71d940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d6d2a9ade14f8f" /><Relationship Type="http://schemas.openxmlformats.org/officeDocument/2006/relationships/notesSlide" Target="/ppt/notesSlides/notesSlide19.xml" Id="R7d9cb9e286aa4a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781e502f004a47" /><Relationship Type="http://schemas.openxmlformats.org/officeDocument/2006/relationships/notesSlide" Target="/ppt/notesSlides/notesSlide20.xml" Id="R74f388839b9541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06c652290b4953" /><Relationship Type="http://schemas.openxmlformats.org/officeDocument/2006/relationships/notesSlide" Target="/ppt/notesSlides/notesSlide21.xml" Id="R54b261858563405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72f1026f5e4bad" /><Relationship Type="http://schemas.openxmlformats.org/officeDocument/2006/relationships/notesSlide" Target="/ppt/notesSlides/notesSlide22.xml" Id="R5743df092c5b4fa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36cd1a1fbe4990" /><Relationship Type="http://schemas.openxmlformats.org/officeDocument/2006/relationships/notesSlide" Target="/ppt/notesSlides/notesSlide23.xml" Id="Red806fd21f73410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f94530056c47e2" /><Relationship Type="http://schemas.openxmlformats.org/officeDocument/2006/relationships/notesSlide" Target="/ppt/notesSlides/notesSlide24.xml" Id="Rff194a4bab854c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11ba32ebf7440d" /><Relationship Type="http://schemas.openxmlformats.org/officeDocument/2006/relationships/notesSlide" Target="/ppt/notesSlides/notesSlide25.xml" Id="R645c3f2649a4434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014f0521b14733" /><Relationship Type="http://schemas.openxmlformats.org/officeDocument/2006/relationships/notesSlide" Target="/ppt/notesSlides/notesSlide26.xml" Id="R8b3aab28834048a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cf8653578640f7" /><Relationship Type="http://schemas.openxmlformats.org/officeDocument/2006/relationships/notesSlide" Target="/ppt/notesSlides/notesSlide27.xml" Id="Re719afff14334a5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a26acb85ba49e1" /><Relationship Type="http://schemas.openxmlformats.org/officeDocument/2006/relationships/notesSlide" Target="/ppt/notesSlides/notesSlide28.xml" Id="R1d28baf2f3d8474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79451429594ef4" /><Relationship Type="http://schemas.openxmlformats.org/officeDocument/2006/relationships/notesSlide" Target="/ppt/notesSlides/notesSlide29.xml" Id="R9c604f2e77ad4df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a01b3928904ecd" /><Relationship Type="http://schemas.openxmlformats.org/officeDocument/2006/relationships/notesSlide" Target="/ppt/notesSlides/notesSlide30.xml" Id="R923a09c6ad5e4cb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876689bece4fda" /><Relationship Type="http://schemas.openxmlformats.org/officeDocument/2006/relationships/notesSlide" Target="/ppt/notesSlides/notesSlide31.xml" Id="Rb4b03f43372b4b6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81ec4dde2f4a34" /><Relationship Type="http://schemas.openxmlformats.org/officeDocument/2006/relationships/notesSlide" Target="/ppt/notesSlides/notesSlide32.xml" Id="Rdccc5b8ce53a469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d4d16906b345ac" /><Relationship Type="http://schemas.openxmlformats.org/officeDocument/2006/relationships/notesSlide" Target="/ppt/notesSlides/notesSlide33.xml" Id="Rc3e96006f1e9494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cbbe8159ed4151" /><Relationship Type="http://schemas.openxmlformats.org/officeDocument/2006/relationships/image" Target="/ppt/media/image6.png" Id="R8e38b716c8d7422a" /><Relationship Type="http://schemas.openxmlformats.org/officeDocument/2006/relationships/notesSlide" Target="/ppt/notesSlides/notesSlide34.xml" Id="R41b53dba5bdc436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194856fb74639" /><Relationship Type="http://schemas.openxmlformats.org/officeDocument/2006/relationships/notesSlide" Target="/ppt/notesSlides/notesSlide35.xml" Id="R8926df866e4d40e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3500146b234bf1" /><Relationship Type="http://schemas.openxmlformats.org/officeDocument/2006/relationships/notesSlide" Target="/ppt/notesSlides/notesSlide36.xml" Id="Rf3b027e85e7444e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280d9e8eeb4fc0" /><Relationship Type="http://schemas.openxmlformats.org/officeDocument/2006/relationships/notesSlide" Target="/ppt/notesSlides/notesSlide37.xml" Id="R6ed7de802077496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2e4a3d0f144fbe" /><Relationship Type="http://schemas.openxmlformats.org/officeDocument/2006/relationships/notesSlide" Target="/ppt/notesSlides/notesSlide38.xml" Id="R864ea9ade1b74b4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188ff848b74ccd" /><Relationship Type="http://schemas.openxmlformats.org/officeDocument/2006/relationships/notesSlide" Target="/ppt/notesSlides/notesSlide39.xml" Id="Ra724af7f9d20433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7fc0a6e1bd44a5" /><Relationship Type="http://schemas.openxmlformats.org/officeDocument/2006/relationships/notesSlide" Target="/ppt/notesSlides/notesSlide40.xml" Id="R31de20020d9742b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d80ba6b3e64d85" /><Relationship Type="http://schemas.openxmlformats.org/officeDocument/2006/relationships/notesSlide" Target="/ppt/notesSlides/notesSlide41.xml" Id="R5212d02e4ea642b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6b37d92db74bdc" /><Relationship Type="http://schemas.openxmlformats.org/officeDocument/2006/relationships/notesSlide" Target="/ppt/notesSlides/notesSlide42.xml" Id="Rdcf1c8e2de634e1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f79e4a45bb48b5" /><Relationship Type="http://schemas.openxmlformats.org/officeDocument/2006/relationships/notesSlide" Target="/ppt/notesSlides/notesSlide43.xml" Id="R8ddeb75722264f4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9261a531b348f0" /><Relationship Type="http://schemas.openxmlformats.org/officeDocument/2006/relationships/notesSlide" Target="/ppt/notesSlides/notesSlide44.xml" Id="R4199b077c84e438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93b52f4eda4e0a" /><Relationship Type="http://schemas.openxmlformats.org/officeDocument/2006/relationships/notesSlide" Target="/ppt/notesSlides/notesSlide45.xml" Id="R7958405319114874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1"/>
    </mc:Choice>
    <mc:Fallback>
      <c:style val="1"/>
    </mc:Fallback>
  </mc:AlternateContent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분쟁청구 건수</c:v>
                </c:pt>
              </c:strCache>
            </c:strRef>
          </c:tx>
          <c:spPr>
            <a:solidFill xmlns:a="http://schemas.openxmlformats.org/drawingml/2006/main">
              <a:schemeClr val="dk1">
                <a:tint val="88500"/>
              </a:schemeClr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Sheet1!$B$2:$B$13</c:f>
              <c:numCache>
                <c:formatCode>#,##0</c:formatCode>
                <c:ptCount val="12"/>
                <c:pt idx="0">
                  <c:v>26093</c:v>
                </c:pt>
                <c:pt idx="1">
                  <c:v>30206</c:v>
                </c:pt>
                <c:pt idx="2">
                  <c:v>43480</c:v>
                </c:pt>
                <c:pt idx="3">
                  <c:v>52590</c:v>
                </c:pt>
                <c:pt idx="4">
                  <c:v>61401</c:v>
                </c:pt>
                <c:pt idx="5">
                  <c:v>75597</c:v>
                </c:pt>
                <c:pt idx="6">
                  <c:v>102456</c:v>
                </c:pt>
                <c:pt idx="7">
                  <c:v>104077</c:v>
                </c:pt>
                <c:pt idx="8">
                  <c:v>113804</c:v>
                </c:pt>
                <c:pt idx="9">
                  <c:v>120965</c:v>
                </c:pt>
                <c:pt idx="10">
                  <c:v>136225</c:v>
                </c:pt>
                <c:pt idx="11">
                  <c:v>156812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2764400"/>
        <c:axId val="14311807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청구 건수 전년 대비 증가율 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5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dk1">
                  <a:tint val="55000"/>
                </a:schemeClr>
              </a:solidFill>
              <a:ln xmlns:a="http://schemas.openxmlformats.org/drawingml/2006/main" w="9525">
                <a:solidFill>
                  <a:schemeClr val="dk1">
                    <a:tint val="5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16.2</c:v>
                </c:pt>
                <c:pt idx="1">
                  <c:v>16</c:v>
                </c:pt>
                <c:pt idx="2">
                  <c:v>43.7</c:v>
                </c:pt>
                <c:pt idx="3">
                  <c:v>20.9</c:v>
                </c:pt>
                <c:pt idx="4">
                  <c:v>16.8</c:v>
                </c:pt>
                <c:pt idx="5">
                  <c:v>23.1</c:v>
                </c:pt>
                <c:pt idx="6">
                  <c:v>35.5</c:v>
                </c:pt>
                <c:pt idx="7">
                  <c:v>1.6</c:v>
                </c:pt>
                <c:pt idx="8">
                  <c:v>9.4</c:v>
                </c:pt>
                <c:pt idx="9">
                  <c:v>6.3</c:v>
                </c:pt>
                <c:pt idx="10">
                  <c:v>12.6</c:v>
                </c:pt>
                <c:pt idx="11">
                  <c:v>15.1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분쟁청구 건수/대물배상수리 건수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7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tx1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dk1">
                    <a:tint val="7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0.9</c:v>
                </c:pt>
                <c:pt idx="1">
                  <c:v>1</c:v>
                </c:pt>
                <c:pt idx="2">
                  <c:v>1.4</c:v>
                </c:pt>
                <c:pt idx="3">
                  <c:v>1.7</c:v>
                </c:pt>
                <c:pt idx="4">
                  <c:v>2</c:v>
                </c:pt>
                <c:pt idx="5">
                  <c:v>2.4</c:v>
                </c:pt>
                <c:pt idx="6">
                  <c:v>3.2</c:v>
                </c:pt>
                <c:pt idx="7">
                  <c:v>3.6</c:v>
                </c:pt>
                <c:pt idx="8">
                  <c:v>4</c:v>
                </c:pt>
                <c:pt idx="9">
                  <c:v>4.3</c:v>
                </c:pt>
                <c:pt idx="10">
                  <c:v>4.7</c:v>
                </c:pt>
                <c:pt idx="11">
                  <c:v>5.4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22781104"/>
        <c:axId val="1431186960"/>
      </c:lineChart>
      <c:catAx>
        <c:axId val="162276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431180720"/>
        <c:crosses val="autoZero"/>
        <c:lblAlgn val="ctr"/>
        <c:lblOffset val="100"/>
        <c:noMultiLvlLbl val="0"/>
      </c:catAx>
      <c:valAx>
        <c:axId val="143118072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64400"/>
        <c:crosses val="autoZero"/>
        <c:crossBetween val="between"/>
      </c:valAx>
      <c:valAx>
        <c:axId val="14311869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81104"/>
        <c:crosses val="max"/>
        <c:crossBetween val="between"/>
      </c:valAx>
      <c:catAx>
        <c:axId val="16227811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31186960"/>
        <c:crosses val="autoZero"/>
        <c:lblAlgn val="ctr"/>
        <c:lblOffset val="100"/>
        <c:noMultiLvlLbl val="0"/>
      </c:catAx>
      <c:spPr>
        <a:noFill xmlns:a="http://schemas.openxmlformats.org/drawingml/2006/main"/>
        <a:ln xmlns:a="http://schemas.openxmlformats.org/drawingml/2006/main" w="25400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bg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5BFC80C-0A60-4E79-8E4D-6C28EC1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716280"/>
            <a:ext cx="713232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AI 기반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3034EB-5CDC-4990-9DAF-072FA99A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1388114"/>
            <a:ext cx="7132320" cy="775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 분쟁 및 법률 솔루션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989464-E5F3-4916-BD6A-5C138589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96" y="2430186"/>
            <a:ext cx="786384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과실비율·과태료/범칙금·보험 대응·법률 근거를 사건 중심으로 재구성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F39419-907E-4AE2-B1B6-C59106C7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15391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SKN27 FINAL 3Team</a:t>
            </a:r>
          </a:p>
        </p:txBody>
      </p:sp>
      <p:pic>
        <p:nvPicPr>
          <p:cNvPr id="16" name="그림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3063040af403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8663566" y="1810792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17" name="그림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3063040af403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7375352" y="2667022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18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3063040af403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6148424" y="3483253"/>
            <a:ext cx="2520945" cy="1585335"/>
          </a:xfrm>
          <a:prstGeom xmlns:a="http://schemas.openxmlformats.org/drawingml/2006/main" prst="rect">
            <a:avLst/>
          </a:prstGeom>
        </p:spPr>
      </p:pic>
      <p:pic>
        <p:nvPicPr>
          <p:cNvPr id="19" name="그림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3063040af403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10153665" y="3923815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0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3063040af403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9091412" y="4624282"/>
            <a:ext cx="1836305" cy="18363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04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8687E1-2B11-4D68-A1D3-2772F7B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05" y="553141"/>
            <a:ext cx="3888042" cy="8679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CONTENTS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E57556-2E19-40DC-8168-86FA29F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55" y="1964426"/>
            <a:ext cx="17443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C06455-5322-402F-BEFF-D27C9FD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87" y="220313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E44938-CB96-4D96-9BD9-C560DCBB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54" y="2734049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과실비율 분쟁 증가와 소비자 정보 격차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771E2F-8E22-41FC-A3BB-ADF1CB11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88" y="3102175"/>
            <a:ext cx="1251308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6F7F429-C1FA-475D-9310-D8B9CE3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33588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겪는 문제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3BD936-23EE-4789-A23E-E4535EA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3926123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고지서·과실비율·보험 대응에서 반복되는 어려움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E51FBF5-3225-458C-B5F3-76E21ECC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88" y="4342068"/>
            <a:ext cx="115350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D6509E-E406-452B-8730-E575515E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928" y="4594776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서비스 이용 과정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B463516-8B4D-419E-8029-58DEA37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509492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A50D5E-D555-4D6C-8286-1AE1E17C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4278461"/>
            <a:ext cx="13386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127C8A-1B2F-4FE1-8425-9D954A0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4547525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핵심 기능과 AI 분석 구조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8D26FB-9CFD-4172-871E-B33757F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5082215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문서·영상·법률 데이터를 연결하는 AI 분석 과정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E32FC0B-DBCC-469B-9424-FA8E3703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70" y="5407175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CEDB4D1-486B-4B05-AA6E-4ADE329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" y="5655892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F79D8A-CC64-4C7B-B0CD-232CFE10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" y="618656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MVP 기능, 검증 계획, 향후 확장 방향</a:t>
            </a:r>
          </a:p>
        </p:txBody>
      </p:sp>
      <p:sp>
        <p:nvSpPr>
          <p:cNvPr id="2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71B375-37A8-DEF2-A6A0-1EA9265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09538" y="1470916"/>
            <a:ext cx="3056406" cy="85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C8564-B5F4-4AA1-9545-C731E96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2029634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F6965C-87D9-46B9-893A-2A3FFD3B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22405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D1792E-FB24-4752-B01F-C9222EEE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2738041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교통분쟁 AI 서비스의 목표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973777-73C4-4EB3-9E03-494BA8D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3107109"/>
            <a:ext cx="1744396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CEAFEF-71AC-45BA-9733-173DFDD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329177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시장과 차별점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6249C7-0A4F-4E3E-B736-B6A9F0F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3" y="3840118"/>
            <a:ext cx="4894587" cy="252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기존 서비스의 한계와 교통분쟁 AI 서비스의 해결 방식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C1E4E492-E947-425F-969E-2CDC2A27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F388207F-6659-4EB3-95C5-018D383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3A3965DC-507A-4427-B5EC-68718CC2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3EA548D1-C9A4-4F5B-A220-C85C6C4B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기능 나열보다 사용자가 왜 이 서비스를 필요로 하는지 먼저 보여줍니다.</a:t>
            </a:r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97E5F709-7BA3-4E40-90FD-CD70C77E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1EED2CE2-DD44-4748-AC98-7FD29D8A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01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3E25AB9F-978E-48AC-8A23-2EC5CAF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47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문제 배경</a:t>
            </a:r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90A362B2-3319-459F-BE74-C380B456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146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분쟁 증가와 정보 격차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F35B1DA6-BF5A-4B5A-8EF5-9C4B365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E26C91AB-5B5F-4C88-AF0A-C1C9570B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74A31ED2-B1A8-40A2-8BDF-A3517192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37E8B635-CEB9-4F7D-A643-DC03247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909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사건 구조화와 근거 답변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D649DDA1-EC1A-4B51-AA52-E3B3055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0B09FA96-CFBA-494F-AEEA-B2BBF5D8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BCC8B0C8-34E9-4320-9832-C6720B8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사용자 문제</a:t>
            </a:r>
          </a:p>
        </p:txBody>
      </p:sp>
      <p:sp>
        <p:nvSpPr>
          <p:cNvPr id="45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B1362F8A-E8F7-42ED-909D-ABDA59E1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실제 실패 장면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61687461-9BB4-458D-9D46-D652B94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74CD2FB1-6372-4E95-B3C4-59401FD5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DAC32243-6914-4C8C-B202-7D1B986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시장과 차별점</a:t>
            </a:r>
          </a:p>
        </p:txBody>
      </p:sp>
      <p:sp>
        <p:nvSpPr>
          <p:cNvPr id="49" name="직사각형 48">
            <a:extLst xmlns:a="http://schemas.openxmlformats.org/drawingml/2006/main">
              <a:ext uri="{FF2B5EF4-FFF2-40B4-BE49-F238E27FC236}">
                <a16:creationId xmlns:a16="http://schemas.microsoft.com/office/drawing/2014/main" id="{6AABBE72-44B9-4C52-AF49-1EEBCD9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비어 있는 서비스 조합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284F7EF4-A6C2-DEBA-FD9F-D562FAE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20927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52F35FF-31EF-5806-44E9-51DD4ED1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22832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98BC18D-81D6-FCDB-6534-7D8CDC4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22261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서비스 이용 과정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F016C79-C3E0-4C27-8979-61B96A87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24928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입력부터 리포트까지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FF081F76-E99E-ACA3-05F7-8259DB26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29690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0F01B166-5C71-DBD2-2AED-8A596D41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31595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B4E22657-5FF9-1D58-A0E0-FD3589F6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1024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 분석 구조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4075874A-AA1E-F107-03BA-B37F155B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3691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모듈 분리와 안전장치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A5E33E9C-774E-E3DE-37CC-5E2F36D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38453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988E985-49A7-D58E-EB14-524BC364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40358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07</a:t>
            </a:r>
          </a:p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C32579B-1DD6-7ED8-A7CF-EB6F6D13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9787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구현 범위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12C97307-4DBB-EF48-AB55-86F8974A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42454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MVP와 평가 계획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2BE7790-C2B6-4F84-B0B7-52893E46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47091F-1FED-467C-ABA7-09FB1928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CONTENTS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15327D-429C-428E-B341-5FE1C940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발표 흐름은 문제를 먼저 증명하고, 그 다음 기능과 기술을 설명한다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2D1700-221C-44CE-8DD2-07A2763E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앱 설명은 경쟁사 pain point가 확인된 뒤에 등장하도록 순서를 재구성했습니다.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E096EB-9D2E-421B-AE97-5B0C8E26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7E8EBEA-64BD-4503-A8B6-6357F8B3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F0E0CCF-BDD8-4455-8213-6F67520C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01  시장조사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AB0F184-9A57-4202-827F-F45ADBB8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분쟁 증가와 정보 격차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E7E966D-A530-4729-AA5B-4FC4F855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6EE5BAC-F1F6-497C-A52C-5476C484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02  배경·문제정의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903B324-3D7C-4EE8-A545-5416686D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사용자가 왜 막히는가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6458018-606D-4CCA-A9CA-840F93CF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A5E6072-6934-42FA-9F38-7AF49594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03  경쟁사 분석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2206403-67AE-46A0-A244-6E0580C7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실제 시장의 빈칸 확인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D4BAB9F-86B8-4CBC-B649-C67CAE7F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2A237FE-1B1E-4186-842F-47E1EED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04  기능 설계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6A126A6-39CE-4DE1-8B95-E011F83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pain point를 기능으로 변환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178BA38-B45A-4272-8F33-D0015F0A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434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087C80-94B9-4125-A231-D89FDD1C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958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05  페르소나 흐름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E09254F-C55D-40C9-ACFE-15A3322A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387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2명의 사용자가 앱을 쓰는 과정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DE03F38-02AD-4131-820B-AD433426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434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AC290CD-D1D6-4CA5-962F-CA67CBED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958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06  AI·보안 설계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5EE77C5-E590-4CDA-812D-6A12FF0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387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Agent 구조와 안전장치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CE8AC4-62C7-407D-910A-B26D9072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434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123FABC-DD18-4709-B434-BD0BB029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07  Q&amp;A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0FC3A98-981F-459F-AE5E-0C86F50D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387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질문 대응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4AE1ECC-0825-4FB8-BE2D-1A33BED8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DE7ADF-5F9D-4AB3-9BB2-2B2E250A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2/45</a:t>
            </a:r>
          </a:p>
        </p:txBody>
      </p:sp>
    </p:spTree>
    <p:extLst>
      <p:ext uri="{BB962C8B-B14F-4D97-AF65-F5344CB8AC3E}">
        <p14:creationId xmlns:p14="http://schemas.microsoft.com/office/powerpoint/2010/main" val="77743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4A3388-FD74-637E-363E-51A0E04F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622421-7A3C-4787-B909-F69FDBC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417F05-E3F1-4055-A5E9-CAEFC7A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70446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E78819-1B7C-485D-ABFB-56CE1AC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과실비율 분쟁 증가와 소비자 정보 격차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78641D5-0885-4A4F-8AD3-CEDF328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A466D9-90D4-9CC2-567D-7F8182A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분쟁청구 건수의 장기 증가 추세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소비자 인식과 기준의 격차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사고 판단의 중요한 변수들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24A28-36D3-4502-9B99-4F0EE226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1BC80-CAFB-480A-A263-01DAD934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67CD5-7DED-4A24-B144-96FDE19E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문제 배경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D8F6D-44F3-4A44-962F-0CB2CE5E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교통분쟁은 단순 사고 처리가 아니라 정보 비대칭 문제로 커지고 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3DF48-09D6-4EEA-8842-A91DFEB0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70385-F1D2-4B27-92A9-771FD078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56A53-19B8-43B2-B3F6-28AD4B9D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분쟁 증가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51A6E-591E-4EA0-A134-FC46C76B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과실비율 판단을 둘러싼 갈등 확대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39E90-9929-4110-84D4-515332C8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53A11-4805-4278-AD73-4610AC8B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인식 격차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179AE-5C19-4ACB-8BDE-BAA20E9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공식 기준과 소비자 이해 사이의 차이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3D655-D87F-4F51-B7D2-F8B1EA25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A14C09-6881-4AB5-8D01-63B31789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판단 변수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1F681-CE9F-4244-90F6-624D2E87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상황별 변수 때문에 같은 사고도 다르게 해석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97266-2292-44C7-9287-D6645664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CDE6F-940B-4DE9-90EF-5282BB6E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3/45</a:t>
            </a:r>
          </a:p>
        </p:txBody>
      </p:sp>
    </p:spTree>
    <p:extLst>
      <p:ext uri="{BB962C8B-B14F-4D97-AF65-F5344CB8AC3E}">
        <p14:creationId xmlns:p14="http://schemas.microsoft.com/office/powerpoint/2010/main" val="1710793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8D5201-EDDD-4280-A2D4-A94F0FF1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3A57E2-7AAA-4665-A1DE-B36103DB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분쟁 증가 추세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6E277B-0B3D-4615-AE6F-44D94982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4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FFE523-3B4B-48FD-B541-5AE01663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1714067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156,812건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420034-E096-4C20-8324-92D7C231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21688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2024년 분쟁 건수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897BE4-BCDE-4F1A-93C2-DFA66AF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519427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약 3만 건 대비 5배 이상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CE95F79-45B9-4FB8-BE2D-060AACCF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271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2F861E-479F-4CBA-91E5-7B0DFBC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5.4%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7376876-E2B2-4566-B67A-FB43DF2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대물 수리 대비 비율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3C7B18-7ABC-4C61-9776-726F074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1.0% → 2024년 5.4%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BE80A0-6A56-4BC2-8429-77F52F42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738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E9F1AC-DAB9-46A4-8893-98F448D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5.2배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A747B1B-DD81-4716-AA5A-5E61499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분쟁 건수 증가폭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7A55DE-8BAE-4BE8-89AC-43EB5D6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FAFAF"/>
                </a:solidFill>
                <a:latin typeface="Malgun Gothic"/>
                <a:ea typeface="Malgun Gothic"/>
                <a:cs typeface="Malgun Gothic"/>
              </a:rPr>
              <a:t>2014년 대비 2024년 기준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E480A21-95BD-4CC4-8196-2F48558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4/40</a:t>
            </a:r>
          </a:p>
        </p:txBody>
      </p:sp>
      <p:sp>
        <p:nvSpPr>
          <p:cNvPr id="4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95E8BF-A003-0367-F5E3-A139BCD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206" y="1559307"/>
            <a:ext cx="261275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94D2583-3944-F435-BFAC-92B831B8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1684815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10년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718A7123-F98A-CA88-7154-CEEC91E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215892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지속 증가 흐름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42B629E-2B47-F512-CD2F-7142C6C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5" y="2450846"/>
            <a:ext cx="2741234" cy="19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보험금·보험료 할증 영향으로 분쟁 확대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537376B-43EB-4743-8989-D40D583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graphicFrame>
        <p:nvGraphicFramePr>
          <p:cNvPr id="113" name="차트 20"/>
          <p:cNvGraphicFramePr/>
          <p:nvPr/>
        </p:nvGraphicFramePr>
        <p:xfrm>
          <a:off xmlns:a="http://schemas.openxmlformats.org/drawingml/2006/main" x="2164714" y="3205841"/>
          <a:ext xmlns:a="http://schemas.openxmlformats.org/drawingml/2006/main" cx="7588687" cy="3268111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faf7f6ec334ad0"/>
          </a:graphicData>
        </a:graphic>
      </p:graphicFrame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E996F813-D520-41CB-8570-89CFD5C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BC1C328D-8B8C-470C-BC9B-B5DCA3B1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45CC77B7-AD15-46F5-844D-61C77C37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 분쟁은 10년 동안 구조적으로 커졌다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12AEE09A-71E9-440F-8A0F-459030D2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보험금과 보험료 할증이 걸리면서 사용자는 설명 가능한 근거를 요구합니다.</a:t>
            </a:r>
          </a:p>
        </p:txBody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4C6D946F-8315-4D34-9244-0F774522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6EB72203-A3D8-46E2-A9D9-3F34CCAA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227D536C-4FD2-4EDA-A88F-87A41E9F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2024년 분쟁 건수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1E34C2C8-FF26-4ED1-BA44-DD6DCDED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약 3만 건 대비 5배 이상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B523674C-58AD-4539-AE06-13B302B7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32FAED6-E30B-49CA-A8C6-739B8AEC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5.4%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D98514C9-B600-4EB7-B836-1670E45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대물 수리 대비 비율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FBD3CC5-4019-41E5-A8A8-2685AF82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1.0%에서 상승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9BBBB5FA-A98A-40B5-9DBD-17EBBB40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F64344C-CE90-4E64-8385-E9A04A38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5.2배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C061B65A-3494-4204-B300-59A0824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10년 증가폭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771297CF-0FCF-4F5F-A76E-53356040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분쟁이 장기 증가 흐름으로 고착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97D1A47D-6D11-4712-9BB3-E1B6454E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998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E1A3D52A-80AA-4B97-A7DA-FE4B7681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해석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9F100415-266F-4E8D-9C56-C05589EE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29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숫자는 단순한 사고 증가가 아니라, 사용자가 보험사 설명을 검증하고 자기 사건의 근거를 찾으려는 수요가 커졌다는 신호입니다.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AE9DB9-6373-4BEF-B58A-7F61F4CF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A41017E-FA02-49D8-AB81-C09175B9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A2C148-9AB1-4759-8D2E-2D6D48F5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분쟁 증가 추세는 정보 탐색 비용 증가를 뜻한다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17EBC17-530F-4382-AEE0-DA150C63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수치 자체보다 중요한 것은 소비자가 기준, 증거, 절차를 혼자 연결해야 한다는 점입니다.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59FB46-F24A-42E8-B00D-DD940FEE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8258995-2E8F-41EC-8233-3BBADF6F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1F2DF10-AF77-43C6-8985-F17D8E3F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분쟁이 늘어나는 시장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9B7068-FBED-47DC-A427-E073F3F9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사고 이후 책임 비율과 보험 처리에 대한 이견이 반복적으로 발생합니다.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DA74DBC-AD5F-4C8C-9051-BBAD54F5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89D4331-C0DB-40DB-8B7E-30795266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19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판단 근거가 흩어진 시장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11CAFE6-C3B9-4CE3-B778-5B089CDB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공식 기준, 심의사례, 보험사 설명, 법령 정보를 서로 다른 경로에서 찾아야 합니다.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202B851-4C01-46D2-A143-0347907E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94F0B92-A472-4A27-AAF3-D25C7CB7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19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소비자가 직접 번역하는 시장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EABBE26-758F-420E-8830-E7CE8FE4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일상어 질문을 법률 용어와 과실비율 기준으로 바꾸는 과정에서 실패가 생깁니다.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BE988A5-6FF7-4364-8C37-B78CA415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14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따라서 문제는 ‘사고가 많다’가 아니라 ‘내 사고에 맞는 근거를 찾기 어렵다’입니다.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69FDB9-985A-4E42-9C42-C9BA5BF5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159BD03-749B-4D5E-B9DF-60A41786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4/45</a:t>
            </a:r>
          </a:p>
        </p:txBody>
      </p:sp>
    </p:spTree>
    <p:extLst>
      <p:ext uri="{BB962C8B-B14F-4D97-AF65-F5344CB8AC3E}">
        <p14:creationId xmlns:p14="http://schemas.microsoft.com/office/powerpoint/2010/main" val="1739705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3E555E-F461-EAF1-3F9A-9824D0C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9DDF49-FEC5-2518-DB14-81798FC4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38C3967-EF04-83FC-7B84-342AED6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A8F383-2F56-D545-0E98-864B7D5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1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04AAFD-F605-CDC0-5167-E1CC31A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15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BE8E6D-BE89-E79C-3535-45AA71B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190628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34.9%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29C9031-B49A-99AE-AED8-6AED7CCA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400056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공정하지 않다고 인식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52882EE-D76C-3875-DED7-DFDA2BBF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701808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최근 3년 사고 경험자 기준</a:t>
            </a:r>
          </a:p>
        </p:txBody>
      </p:sp>
      <p:sp>
        <p:nvSpPr>
          <p:cNvPr id="27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B1C6B8-BD5D-7693-9867-C3C30A14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407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6BEC7AD-4D03-27A0-934E-3A34D1B9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1886616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9.3~57.8%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7A20005-2279-AF80-6A5E-D252811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380392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기본과실 정답률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50DEE9B-1896-40A7-BE7D-88AB3DA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682144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사고도표별 편차가 큼</a:t>
            </a:r>
          </a:p>
        </p:txBody>
      </p:sp>
      <p:sp>
        <p:nvSpPr>
          <p:cNvPr id="35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AFD9A1-1095-9F5F-C854-44D14CD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599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9CB86D-7F30-4729-9D4F-765B4D3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1876784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33.2%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79BF904-A00C-8331-99B1-1FC1C77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370560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조사 부족 인식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85649D-3CEE-D40D-F759-80CABBAA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672312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경험자 응답 기준</a:t>
            </a:r>
          </a:p>
        </p:txBody>
      </p:sp>
      <p:sp>
        <p:nvSpPr>
          <p:cNvPr id="5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813CA99-5A79-86AB-2177-CBBC0FB7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56432"/>
            <a:ext cx="530352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9DF09D1-A02E-65F3-E234-1678AC7F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593592"/>
            <a:ext cx="49377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관점의 문제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9B3093A-32BA-350F-FEE7-E6C6C5A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986784"/>
            <a:ext cx="493775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“왜 내 과실이 잡혔는지” 설명 부족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블랙박스가 있어도 무엇이 쟁점인지 알기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보험사·분쟁심의·법원 판단 기준을 구분하기 어려움</a:t>
            </a:r>
          </a:p>
        </p:txBody>
      </p:sp>
      <p:sp>
        <p:nvSpPr>
          <p:cNvPr id="5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CA603F2-C4DD-89EB-3DFC-CC6A6B28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56432"/>
            <a:ext cx="498348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079FB0B-3519-7BA2-B9C7-7184EF6A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935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연결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59F6F799-7042-AB23-833E-ED39FBA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86784"/>
            <a:ext cx="46177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사고자료를 사건 단위로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공식 기준·판례·심의사례를 함께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결과가 아니라 근거·한계·다음 행동을 보여제공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BD750B17-647B-4E3E-9744-49E6BB99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FDFD130D-D1E3-49E9-A082-4AA7CE7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4912519-8DDB-4A41-A5D3-958E36FB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과실 판단의 기준과 설명을 함께 놓친다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7BEA1430-FF85-42B4-93C6-299DE7C5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공정성 인식, 정답률 편차, 조사 부족 인식이 같은 문제를 가리킵니다.</a:t>
            </a:r>
          </a:p>
        </p:txBody>
      </p:sp>
      <p:sp>
        <p:nvSpPr>
          <p:cNvPr id="68" name="사각형: 둥근 모서리 67">
            <a:extLst xmlns:a="http://schemas.openxmlformats.org/drawingml/2006/main">
              <a:ext uri="{FF2B5EF4-FFF2-40B4-BE49-F238E27FC236}">
                <a16:creationId xmlns:a16="http://schemas.microsoft.com/office/drawing/2014/main" id="{89B69303-B3B4-4619-BBDE-71E9785D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BC3F5CBB-D4F0-44BC-8726-BD749FF2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34.9%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149F1E5-8DAB-4C64-8100-0C619E32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01A3326A-C66E-447D-8FFD-C1519152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최근 3년 사고 경험자 기준</a:t>
            </a:r>
          </a:p>
        </p:txBody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66ABE9A5-01EF-43E4-AB6C-3D6A82FA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264DC7F4-844D-4A0A-8A01-3C950624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9.3~57.8%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F94390C-A025-47D3-A6C0-E8F3F435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기본과실 정답률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5DFD4FDF-EFD2-4791-8CD0-E0EC2740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사고도표별 편차가 큼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53D20B98-37D4-4297-91A3-4DFCAB49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D77A6280-EA15-4518-B388-69C177C9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33.2%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610C6C1-7AF4-4096-8F6B-28D4354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조사 부족 인식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179271FF-BD01-451E-9005-658EEDE0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경험자 응답 기준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4E2C8AD1-6FBF-43DC-9DD8-9EC08DE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사각형: 둥근 모서리 80">
            <a:extLst xmlns:a="http://schemas.openxmlformats.org/drawingml/2006/main">
              <a:ext uri="{FF2B5EF4-FFF2-40B4-BE49-F238E27FC236}">
                <a16:creationId xmlns:a16="http://schemas.microsoft.com/office/drawing/2014/main" id="{8234A599-383F-4824-95CE-DFA2155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0583BB0D-3B9A-4B63-B73F-7333EC60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 문제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2DC6143-7A6C-467E-920A-330BB3AA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서비스 연결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57998A41-6D27-4188-855F-A5DE359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왜 내 과실이 잡혔는지 설명이 부족함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ED076591-ED6C-46E8-BBCC-4400AA4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블랙박스가 있어도 쟁점 파악이 어려움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E9D0FD30-4EE0-4024-A4C7-27E2AFBD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보험사·분쟁심의·법원 기준을 구분하기 어려움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1CE096E-3F56-4613-BF93-3BE6107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사고자료를 사건 단위로 정리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F59DD906-6F5B-4A24-B047-A3DD8B1C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공식 기준·판례·심의사례를 함께 검색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714AAF7-4AA4-4DAD-81FA-B9195B6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행동을 리포트로 제공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24FAF8-027D-4F8E-AF0D-5EFE4D0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5F3B3ED-BDC0-432F-B85A-85A44962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A4EE4EA-798A-4336-B10B-6FE0BDBA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소비자는 과실비율을 숫자보다 공정성 문제로 받아들인다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2C96B93-48ED-47C7-9C06-36867527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기준을 모르면 결과가 맞아도 납득하기 어렵고, 기준을 알아도 내 사고에 적용하기 어렵습니다.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E64CEE0-5B10-4B29-A468-4E7FCE8B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6CEAF18-8F27-4200-BF1D-D111AB1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E95B52"/>
                </a:solidFill>
              </a:defRPr>
            </a:pPr>
            <a:r>
              <a:rPr sz="4800" b="1">
                <a:solidFill>
                  <a:srgbClr val="E95B52"/>
                </a:solidFill>
              </a:rPr>
              <a:t>34.9%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8F3874E-6B04-4FEF-BDE3-7BC49D7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최근 사고 경험자 중</a:t>
            </a:r>
          </a:p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과실비율이 공정하지 않다고 인식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500A3E8-D924-45DE-83E8-67397DBE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43150"/>
            <a:ext cx="56769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D5B28AB-6E0D-42A2-A899-91514F37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사용자가 느끼는 불공정의 원인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CA6C235-A15E-4094-9FDB-3E3CA597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81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530EDE0-A950-45E9-978B-599C054C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8135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 설명이 내 사고의 장면과 잘 맞는지 확인하기 어렵다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01F5935-2DDA-4FB0-AE69-6B018F3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0D5A77F-24CC-4D28-A42C-70C9BD9B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비슷한 사고 사례를 찾아도 차이가 무엇인지 비교하기 어렵다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43D6CC1-6FBD-4900-85E9-DC0DEDD0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371C5E1-F2BE-45EF-86C1-B98AFD8F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법령·심의사례·블랙박스 증거가 한 번에 연결되지 않는다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5052EB1-40BD-46EB-B508-34AC189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06004D4-CBD3-4FAD-97EF-F1098EC7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5/45</a:t>
            </a:r>
          </a:p>
        </p:txBody>
      </p:sp>
    </p:spTree>
    <p:extLst>
      <p:ext uri="{BB962C8B-B14F-4D97-AF65-F5344CB8AC3E}">
        <p14:creationId xmlns:p14="http://schemas.microsoft.com/office/powerpoint/2010/main" val="2157319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896E4F-7737-A9AE-CFB0-53F347D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F298DC2-B993-C1AB-2FCC-2C8CA5D0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4DBB4E-BBF3-2C95-885B-5620B918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D8D3120A-9FA9-EB33-2221-2B5B9FEF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68BF49-CB2A-AD1D-25D8-AE5BD78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405" y="2997843"/>
            <a:ext cx="213712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뉴스 기사 추가하기</a:t>
            </a:r>
          </a:p>
        </p:txBody>
      </p:sp>
      <p:pic>
        <p:nvPicPr>
          <p:cNvPr id="100" name="그림 7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11df65a104fd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E8E4F73-8D53-4270-B6D5-B3F27EAA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4E0683C0-DA77-4E87-98F5-1BFA3F15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시장 신호는 분쟁의 양보다</a:t>
            </a:r>
          </a:p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근거 탐색 비용에 있다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432CFFE2-0F9B-4FBE-8A1C-6FC4132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9C9C9"/>
                </a:solidFill>
              </a:defRPr>
            </a:pPr>
            <a:r>
              <a:rPr sz="1200" b="1">
                <a:solidFill>
                  <a:srgbClr val="C9C9C9"/>
                </a:solidFill>
              </a:rPr>
              <a:t>01  문제 배경</a:t>
            </a: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6B1588DA-958F-4BD4-80C7-6FA84197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C84B42"/>
            </a:solidFill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DBCCF158-49D4-40CD-8014-7C6FF6B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B44A9082-1A0B-4058-B4A3-F79A65B0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9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2024년 과실비율 분쟁 건수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326D127F-5642-4F95-9CCB-667FDF35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2014년 약 3만 건 대비 5배 이상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FBE93C91-C499-4226-BB82-509C227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3F44C1C8-6FBA-428F-BAEE-8575672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34.9%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D35E0EA1-B264-41A7-9C08-C66218E7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33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13AFAFDF-4512-4ED3-BE3C-764B916A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사고 경험자 기준 인식 격차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44755831-0B80-4CDD-A754-0B6DAA6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11D4CABB-59A2-4BEA-841A-B82312B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86" y="4761593"/>
            <a:ext cx="2041071" cy="420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3개 근거축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6D8F5C3-D655-4FAC-B60E-3459AB54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인정기준·판례·심의사례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BE8EAB48-3A25-49D3-BA81-DD7BD5EF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사용자 사건 단위 연결이 핵심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EA9DC996-7DAA-493A-BF78-94D48A3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핵심 해석 | 시장은 '사고 건수'보다 보험사 설명을 검증하고 상담 전 근거를 정리하려는 사전 검토 수요로 좁혀야 합니다.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96EE4C-3A2D-422B-BD32-55D90AAC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1F367D-6B02-483E-A33B-A6B35C50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DD86DA2-62B8-4F4C-A85E-C1B250F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분쟁 증가 추세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982760-B85B-4AA5-B837-0CB423D1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이 장표에서만 핵심 수치를 제시하고, 뒤에서는 같은 숫자를 반복하지 않습니다.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A6384C-E007-41A7-B2FF-ECA61F2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B5697B-A385-49D8-8643-F339A1B5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687420-EED3-404B-865B-7741587C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2024년 분쟁 건수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1C39B7A-2244-4124-A8B8-F703B39B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2014년 약 3만 건 대비 5배 이상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FBEE01F-9550-4959-81A0-363ED051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6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2014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1854D7E-1B60-486F-9567-ACB4E74A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D3BBE91-8C23-4E05-840B-F54A05BD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약 3만 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323984-8650-4E8A-B752-76AE575B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33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2017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587BAE-C74B-49A5-A702-E73CE6DE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90900"/>
            <a:ext cx="14744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5C6623A-A8FC-4E2C-9909-039A2256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분쟁 증가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D877D84-ABA4-4732-B89C-346CFBEB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2020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910C329-EE08-433A-B8C0-EBC4BCE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237553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C8E8626-9649-413C-AD4C-1D129318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81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기준 탐색 확대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5BA597-4397-44AE-9976-B6A2D4EF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67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2024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C962E9-F139-42C7-AC07-E14EBBDA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244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E2619F3-883D-4227-8E14-22FBD734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48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156,812건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F0D0568-CD8B-4F6B-813F-A74378AA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4741DC7-7943-4784-BE14-47BE6817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6/45</a:t>
            </a:r>
          </a:p>
        </p:txBody>
      </p:sp>
    </p:spTree>
    <p:extLst>
      <p:ext uri="{BB962C8B-B14F-4D97-AF65-F5344CB8AC3E}">
        <p14:creationId xmlns:p14="http://schemas.microsoft.com/office/powerpoint/2010/main" val="1394830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51685E-A373-9C93-296A-FA71515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4D8A30-7532-AAEA-A488-BF185BC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판단 변수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4BB14DD-70FE-EC3F-4F0A-F36E0B59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6/40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AF1E2385-6557-07BF-FA00-BF0BFCAD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3F9286-6287-ACCE-E348-3F9F076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AFD937C-6DF9-2433-C49C-8606107B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악천후·도로상태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5492637-672E-375B-E9C0-702775E1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비·눈·안개는 면책 사유가 아니라 감속 의무와 연결될 수 있음.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62BB3E5-23CE-BF8B-C2F2-9E4D890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6F040D-9E1A-1D7E-0C3B-ED545D6F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블랙박스의 역설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F855C1-493B-653B-93B3-26FDC6F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영상은 강한 증거지만 화각·속도·시야 차이가 오히려 불리하게 작용가능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8B8E362-D156-23C8-5D70-B0D2245F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87189B-7937-530F-D258-038E6BF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유사 사고의 다른 판단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26C3FAA-22C8-63DC-431A-47742116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비슷한 사고라도 사실관계와 판단 주체에 따라 결론이 달라질 가능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4DFB651-38CE-FD01-21DA-09293C0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477329-2673-32DF-3E1B-430DA3C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고의성 개입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48E87F9-D31F-312D-EA60-9F863449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보복운전·보험사기는 일반 과실비율 판단과 분리해야 함</a:t>
            </a:r>
          </a:p>
        </p:txBody>
      </p:sp>
      <p:sp>
        <p:nvSpPr>
          <p:cNvPr id="3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D8E2284-6980-8DAE-2DDB-54E2EFA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34779"/>
            <a:ext cx="10607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D6402B6-01FB-E385-B633-676B212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09099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필요한 것은 “정답을 단정하는 AI”가 아니라, 변수를 구조화하고 근거를 보여주는 AI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71ABE57-5B19-4C9F-86DF-4BDFFA3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FEE0325B-2E8D-4E84-AB5B-18D9975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BA57DBBE-F149-45B8-944C-4D2B4C68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94"/>
            <a:ext cx="7972879" cy="747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비슷해 보이는 사고도 도로·증거·행동·고의성에 따라 결론이 달라집니다.</a:t>
            </a:r>
          </a:p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0C8D85E7-D4E7-49D6-80DB-3E0AE1DA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68383E5A-EC70-46F5-B0E5-CC4F9534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악천후·도로상태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2AD49F4B-80A9-41F5-B11E-5268D87C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비·눈·안개는 감속 의무와 연결될 수 있음</a:t>
            </a:r>
          </a:p>
        </p:txBody>
      </p:sp>
      <p:sp>
        <p:nvSpPr>
          <p:cNvPr id="61" name="사각형: 둥근 모서리 60">
            <a:extLst xmlns:a="http://schemas.openxmlformats.org/drawingml/2006/main">
              <a:ext uri="{FF2B5EF4-FFF2-40B4-BE49-F238E27FC236}">
                <a16:creationId xmlns:a16="http://schemas.microsoft.com/office/drawing/2014/main" id="{ACE46758-51A8-45F8-BBBD-6817BAFF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6E3ACE54-52BD-40B9-9EB8-33F34B96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블랙박스의 역설</a:t>
            </a:r>
          </a:p>
        </p:txBody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AB1DC82E-ABB4-44A5-B2C1-3E89212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화각·속도·시야 차이가 불리하게 작용할 수 있음</a:t>
            </a:r>
          </a:p>
        </p:txBody>
      </p:sp>
      <p:sp>
        <p:nvSpPr>
          <p:cNvPr id="64" name="사각형: 둥근 모서리 63">
            <a:extLst xmlns:a="http://schemas.openxmlformats.org/drawingml/2006/main">
              <a:ext uri="{FF2B5EF4-FFF2-40B4-BE49-F238E27FC236}">
                <a16:creationId xmlns:a16="http://schemas.microsoft.com/office/drawing/2014/main" id="{1D6F381D-342A-4DE5-A594-AF097777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9F93C533-44DB-457B-A0EE-2A583F8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유사 사고의 차이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49A47ACF-7EF8-4991-B781-9B0579A4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사실관계와 판단 주체가 결론을 바꿈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9CD09F90-ACDB-4BC3-A502-798305F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E6413C3-1670-4D28-9C55-2DDC21C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고의성 개입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644EE29-0A2D-4534-AB45-CBEEBA04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보복운전·보험사기는 일반 과실 판단과 분리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60BDFB7C-E9F6-4BDA-BE79-3A542223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578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필요한 AI는 확정 판정이 아니라, 변수를 정리하고 근거를 보여주는 분석 흐름입니다.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08C594-85E3-4511-B9B9-F07DA150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32C99D9-7E5E-4B99-80BF-27D37DE7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C2E418-9041-4B0B-B07F-C371396F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판단은 사고 장면 하나로 끝나지 않는다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6EF234C-6838-4D5E-ABAC-34DD57BE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도로 상태, 신호, 차선, 속도, 시야, 영상 각도처럼 작은 차이가 결과를 바꿉니다.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7FDD41-42CD-4407-9671-FBF18892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DF881F-143E-4023-85D5-3DB84CA9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272E8C-A2AA-430E-9FAF-BE5B33F6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도로·날씨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F073D65-5404-411E-BE50-530E997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악천후와 도로 상태는 감속 의무와 주의의무 판단에 영향을 줍니다.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3B0EA68-2173-451D-A5D9-AB2A65CC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2F8B543-F968-48EC-81C0-4C8E434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블랙박스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551337-4072-4B11-99B4-90F2463C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48050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영상은 강한 증거지만 화각과 속도감 때문에 해석 차이가 생깁니다.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1175B3-42B9-46A5-AD10-A14CC806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EB5FB4D-2788-4DE6-AA04-3F072AB8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유사 사고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F6191FB-8638-441E-B0F0-245D5F5B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48050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비슷해 보여도 신호, 차선 변경, 정지 여부가 다르면 판단이 달라집니다.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C2A6F80-E022-4D16-B17F-7958D73A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D1A3084-49C5-48B8-9C0E-7DF43AE0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7/45</a:t>
            </a:r>
          </a:p>
        </p:txBody>
      </p:sp>
    </p:spTree>
    <p:extLst>
      <p:ext uri="{BB962C8B-B14F-4D97-AF65-F5344CB8AC3E}">
        <p14:creationId xmlns:p14="http://schemas.microsoft.com/office/powerpoint/2010/main" val="3421746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4012FF-5FDB-40BD-5D8D-480978A2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DC837D-4090-99EC-784F-9F19C3DC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5447ED-BBCA-CBEA-5E1C-C004FBD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062F4F-03E1-13D6-B071-B9FC098D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해결하고자 하는 문제와 서비스 목표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34FEF05-0B42-DD6E-CC3F-64CEF315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C00956-C47C-5967-C32D-0FEB485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판단 전 사건 구조화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근거 기반 답변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다음 행동으로 연결되는 리포트 결과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7D52B1D-127F-4DD4-ABA6-B1CFF7D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789EE76B-538B-4E00-8B33-0B4B54A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02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FF59BE2-557C-481B-97A4-E98D8998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D403CF4-06DE-4BCE-826B-CABC135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판단 전 구조화, 근거 기반 답변, 다음 행동 리포트로 이어집니다.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3B19C2DD-2E7D-4A80-A036-21565F5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EC8F9298-14D4-483C-AAA5-9C6F180C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2741C47-BD3C-4888-B71C-8F19ADA1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사건 구조화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5EB6653-AC99-4A66-BBDE-0D5689FB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자료를 바로 판단하지 않고 필드로 분리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42385CE7-DF32-4275-A59F-E42E7BF8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26E9B9A-E34A-488B-A8D7-4FD09D1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답변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A1482142-9098-4031-830F-2C37BDD0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법령·판례·심의사례 출처를 함께 제시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504716EA-3E7D-4C16-A8D9-CA8A66F8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CFEFCC45-8111-480A-8889-094A7D11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행동 연결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0BCE343D-4A28-44B2-8D95-9BB39AB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문의 초안과 체크리스트까지 제공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D8923D-24F3-4525-84B1-D3E715C7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2B71D-3420-49BE-9C3A-9D68F44C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AC3B4-63B9-4147-A309-ECF81443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배경·문제정의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87221-334E-46FA-A001-E6A6DED6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초반부에서는 앱 기능이 아니라 사용자가 왜 막히는지를 먼저 설명합니다.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DF6258-450C-43AF-95A8-128C5A4B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136F8E-06D4-44B4-A3ED-88373A8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B82287-D8A2-48C5-85A8-C436DEC9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절차 불확실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07CFB8-01CA-4642-9C1F-390C3734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무엇을 먼저 해야 하는지 모름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AA10EC-EB77-4064-A214-5722F3DF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267FD7-092B-4204-B84E-AC0FFD0C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근거 탐색 부담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A21D6F-2FB4-4754-A4FF-9898E9A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공식 기준과 내 사고를 연결하기 어려움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48BAA2-42AF-4D47-AF8F-EAC9C43B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09EACB-3C69-454C-8C0C-0648FA96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대응 문서 부담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FE0BEC-F3B7-4FC3-8BA7-ADEAB59D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보험사·기관에 설명할 말이 정리되지 않음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0FA0EF-FA28-4596-A2A4-537024F6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C821A7-1A4D-463F-9732-FFABC8CB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8/45</a:t>
            </a:r>
          </a:p>
        </p:txBody>
      </p:sp>
    </p:spTree>
    <p:extLst>
      <p:ext uri="{BB962C8B-B14F-4D97-AF65-F5344CB8AC3E}">
        <p14:creationId xmlns:p14="http://schemas.microsoft.com/office/powerpoint/2010/main" val="4071970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1eaafc3124a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100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30b4fedbb41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01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30b4fedbb41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02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30b4fedbb41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03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30b4fedbb41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04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b839026604d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105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b839026604d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EA1127-6FDC-A3E4-CE5B-72607560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136712-3791-3095-AD92-358850C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59B21C1-9B51-CF51-D4B7-C3337F48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4CAE9DA-430C-76EB-7C5E-8364753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E11E79-1023-48F8-8E3C-E446AFEC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4350F9-581B-4A3D-9EEF-86507CBD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443B09-91F1-46F5-81FA-4D7A05D0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사고 이후 사용자는 판단보다 순서에서 먼저 막힌다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5B1D3F-6589-4CA0-B507-BEFFD505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처분 종류, 제출 기한, 보험사 대응, 증거 정리가 동시에 밀려오기 때문입니다.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70F5F38-68D5-4CF4-8177-A58F4D85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D0A723-705F-4CFD-9F8D-D58075F2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0A70B0-99FA-478A-99E8-C7F85736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00EC10-A5AE-4B84-9A90-450A1CA7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 확인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기한·금액·처분 종류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B186687-371C-4106-8EBA-71399F8C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2A1F1AD-D3F4-46D6-980F-C98A2A6E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8ED4C5-97BB-47D8-8790-30B95912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13801E-F0F5-4745-B3D5-493E7D5C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설명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내 주장과 상대 주장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4ACDC03-4720-47E6-B5A5-952CAC9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0109C39-2B6A-41EC-9F4C-89FA1513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E35DB7D-AEE0-4AB3-BAFF-1595ABBE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EA67C8-E2C3-4EE6-B709-5FAD3F82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증거 정리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사진·영상·위치·시간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4DE9E42-6725-4794-9923-EDAC69D0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EC4170F-58EB-4FEF-BA2D-48C84A46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5C9DB45-7C7B-4121-A596-0FB8FC85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1F3B8A1-C9B9-46A2-982C-434DF3C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확인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법령·기준·사례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02E82AC-4C2F-417A-936C-6BE4D4E4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312D16-FF90-494A-9FDD-231B19F6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DAC5A65-C8DF-4DB4-87FA-9217130E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07300F9-5AF1-4189-806B-C7DD3CB1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대응 결정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문의·이의·상담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3CE03CA-2F48-4658-A273-2E9D5797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24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사용자는 이 과정을 순서대로 밟는 것이 아니라, 대부분 동시에 떠안습니다.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7D07A49-BFA3-42EE-9603-7A355C83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4AEC33F-3E3B-497D-8892-AAB98DAC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9/45</a:t>
            </a:r>
          </a:p>
        </p:txBody>
      </p:sp>
    </p:spTree>
    <p:extLst>
      <p:ext uri="{BB962C8B-B14F-4D97-AF65-F5344CB8AC3E}">
        <p14:creationId xmlns:p14="http://schemas.microsoft.com/office/powerpoint/2010/main" val="10146175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465f2aa8f46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109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45436db2747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0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45436db2747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1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45436db2747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2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45436db2747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3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45436db2747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4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0fa227d054d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115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0fa227d054d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637CBD5-3F21-6889-765F-75F1CAE7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33F003-0A73-36A7-176C-CF07DC3E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AAF99DD-3453-5D32-5EAC-A5E5632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71D7B50-4534-08BE-66C1-30993814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120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2db8ad5684511">
            <a:extLst>
              <a:ext uri="{96DAC541-7B7A-43D3-8B79-37D633B846F1}">
                <asvg:svgBlip xmlns:asvg="http://schemas.microsoft.com/office/drawing/2016/SVG/main" r:embed="R07b37b835fce4e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3C4E866-CD7B-9E12-D9C7-DD00A29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48123608-88C7-35AF-ACF9-09108E9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D59A20EA-AA9B-3894-7849-6B943A0B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pic>
        <p:nvPicPr>
          <p:cNvPr id="124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08b3cb9d74a4f">
            <a:extLst>
              <a:ext uri="{96DAC541-7B7A-43D3-8B79-37D633B846F1}">
                <asvg:svgBlip xmlns:asvg="http://schemas.microsoft.com/office/drawing/2016/SVG/main" r:embed="R335ce979a72a42b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87751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CE9729-4A37-4AEA-9BE6-385F7122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6A4A37E-4971-424B-BD56-7154F651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3AC2B0-7A5B-4752-B134-47F7FF0D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고지서 문제는 금액보다 ‘내가 인정해도 되는가’에서 시작된다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04813E2-E2D8-4DD1-8DAE-04E950D6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과태료와 범칙금은 금액뿐 아니라 운전자 특정, 벌점, 이의 가능성까지 달라집니다.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117967-888F-417D-81C7-7ED6F4CB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D76056-E785-4527-A99B-7F9D00B1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A0FA41-A481-4F39-A891-7A74763F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E016A5D-E30F-4C4D-8D00-CE19A2D4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사용자가 보는 것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5F13B16-5B9E-476B-A92B-9D7EE188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실제로 어려운 것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70DE836-105C-4F2B-B1A2-96D9D06E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3A80024-DEE7-4041-BE2A-729091C0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금액과 납부 기한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79A4F71-684E-4F81-8C8E-0B1D9A1C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A0D4472-2502-4DF2-8D96-408C23F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위반 장소와 위반 유형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4EDA11A-8D41-433E-9765-C900B102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336964-C6EA-4808-B0DB-90499631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처분기관 안내 문구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FFEA52F-2A23-4398-9C1A-D0A198FA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28F11F5-4E39-46D2-87E9-C76146BA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의견제출 또는 이의신청 문구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C7BD2A9-1693-4547-904B-13A0608D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88D12D0-6582-4E1F-8C78-93160CDF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내 상황이 예외 사유에 해당하는지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4FDAFF7-188C-4413-BDAF-26E1C875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179FAED-3271-4FB2-AC5F-B9D97337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인정하면 어떤 불이익이 생기는지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C3D2905-0C4B-4A39-BE1D-765E6076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4181162-740C-4F9A-B4FD-A457FEB0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어떤 증거를 먼저 모아야 하는지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26755E8-3BCB-4287-8570-C44A6883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FDB8BB2-B6F4-469A-B5DE-0FB0D88B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672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기한 안에 무엇을 해야 하는지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E3B2519-48D3-4255-AE49-9AD32D04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BAAE4C4-AFA5-44E0-BA4D-8035B8F2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10/45</a:t>
            </a:r>
          </a:p>
        </p:txBody>
      </p:sp>
    </p:spTree>
    <p:extLst>
      <p:ext uri="{BB962C8B-B14F-4D97-AF65-F5344CB8AC3E}">
        <p14:creationId xmlns:p14="http://schemas.microsoft.com/office/powerpoint/2010/main" val="12478061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0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2d36eee604a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131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885d581bc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32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885d581bc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33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885d581bc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34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885d581bc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35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885d581bc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36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a96631c584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137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a96631c584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9F7982-C547-CEF1-600A-5248219B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9F9F4B-0C5B-0FD0-0E76-3FE9CD5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C565667-F374-42FA-EDBD-1D5180E7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8D1949BD-B9DA-6BA7-E46B-7AAE8662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142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a56c8e1f54f93">
            <a:extLst>
              <a:ext uri="{96DAC541-7B7A-43D3-8B79-37D633B846F1}">
                <asvg:svgBlip xmlns:asvg="http://schemas.microsoft.com/office/drawing/2016/SVG/main" r:embed="R1f37d2e271bf4d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43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a56c8e1f54f93">
            <a:extLst>
              <a:ext uri="{96DAC541-7B7A-43D3-8B79-37D633B846F1}">
                <asvg:svgBlip xmlns:asvg="http://schemas.microsoft.com/office/drawing/2016/SVG/main" r:embed="R1f37d2e271bf4d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51B855D-95CC-EAF7-A2D7-37F0A0A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23B4ECFD-3D77-0B92-B851-3D0AF0B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801C8CE-6488-DA92-EC2D-C63DF40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EBEA2AB-4F0E-FE1D-BAAC-F5FA2BC7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E2BCAFEF-2B1A-2346-B432-72EF02D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근거 기반 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31E732AD-ED7D-D96C-E2AC-10A3F629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법령, 과실비율 인정기준, 판례, 심의사례를 연결하고 출처를 남김</a:t>
            </a:r>
          </a:p>
        </p:txBody>
      </p:sp>
      <p:pic>
        <p:nvPicPr>
          <p:cNvPr id="150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07a26f54e4f61">
            <a:extLst>
              <a:ext uri="{96DAC541-7B7A-43D3-8B79-37D633B846F1}">
                <asvg:svgBlip xmlns:asvg="http://schemas.microsoft.com/office/drawing/2016/SVG/main" r:embed="Rbfb18eba4720490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1F59BD1-FDEE-4313-9B0B-E8D80F1F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D336DD0-303D-4FA7-9805-AA2A3D8B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7822CDD-49E1-4BA2-BF53-B30C77DE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문제는 숫자보다 비교 기준이 어렵다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59588D-2A4D-49DB-9A49-00FBEDF7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소비자는 ‘내 사고와 비슷한 사례’가 있어도 어느 부분이 같고 다른지 판단하기 어렵습니다.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7E0E23-C063-4B80-8901-BD3356EE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7BA90A1-123F-4F22-AE5B-7621EF3A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5727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C77ADE-4CF4-43E0-AC02-097269F4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0143FF9-3C32-4E1F-84AD-700E6925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비교 항목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4D26F7A-4771-43DD-93EB-FA8AFBED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CAA16C3-C828-4A3F-97F5-8951EE4B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908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사용자 질문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6C6AED7-61E2-4356-9AC1-6D59729B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E3396A9-2523-42D9-984B-6A8EA252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908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필요한 확인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978E4D4-740D-4D80-8686-7E100244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E34C5A-3E65-49FD-B5EB-2541DFBA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막히는 이유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CA83588-CA6F-423B-BBB6-23E4282E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A95BD86-704D-4EEC-9905-F299ACDE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사고 유형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F744015-12CF-4D23-98C0-5E8F2D08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76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219E124-7501-4E3C-B816-9436BB7B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09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진로변경인가, 끼어들기인가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68D53FF-13A9-4BF3-83B6-F086D415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76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0FC1A6F-ECA2-4183-AFE9-D169BB72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09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차선·속도·방향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267045B-35CE-4F87-8DB4-9D938CD9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53A0D6-5B44-480F-8190-DE0A1CD8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용어가 다르면 사례 검색 실패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E29F78C-5E11-465C-9F5E-290D4036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C628662-635D-4DB0-8AF9-D948A485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증거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3362116-673D-40B5-AB33-E427AC88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57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2E39E7D-68A9-4F8D-95F4-C04602C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90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영상만 있으면 충분한가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DBF335E-D22D-44CB-B6ED-5FF797CD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57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187DCD7-06F1-4368-AB46-E363BC89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90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화각·신호·정지 여부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0A74B0F-F469-45F4-8988-08E04507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9547950-B92D-44BD-9FA4-460AEF64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보이는 장면과 법적 쟁점이 다름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9B267A4-F4B4-4B15-9434-66013204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ED0ED0C-AA64-43EC-A765-8F55784E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보험사 주장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7F4EABC-38F5-47C5-8CED-6B9AE4CA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38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F842385-FABF-4898-AC34-2094435E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720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상대 주장을 반박할 수 있나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63A5F01-CCCF-4CC3-B185-B957E1D6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4FB123-110B-44DC-A064-8B5A0140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720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유사 사례와 차이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93CF7C3-94DF-47BC-9F86-8142CDED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D670BD-3F09-41A5-BD38-552B9237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없이 감정 대응으로 흐름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E6ECF38-36B7-45FE-89D3-03A91401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0B14CE-EC18-41D2-A6E8-E0A3B7AE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11/45</a:t>
            </a:r>
          </a:p>
        </p:txBody>
      </p:sp>
    </p:spTree>
    <p:extLst>
      <p:ext uri="{BB962C8B-B14F-4D97-AF65-F5344CB8AC3E}">
        <p14:creationId xmlns:p14="http://schemas.microsoft.com/office/powerpoint/2010/main" val="898395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3384f91434e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123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daeeae568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4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daeeae568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5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daeeae568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6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daeeae568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7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daeeae568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8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726eff4284b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129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726eff4284b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2B6D46-2B01-8D0E-20F7-33D0637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E6DA06-0B84-347A-3DE4-6B824F9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A9F2340-48E2-CDD0-C119-E9C1D6A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AC8E56B-358D-EB94-1EDF-C070BA8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134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6143b95064dcc">
            <a:extLst>
              <a:ext uri="{96DAC541-7B7A-43D3-8B79-37D633B846F1}">
                <asvg:svgBlip xmlns:asvg="http://schemas.microsoft.com/office/drawing/2016/SVG/main" r:embed="R6221ecd91f974a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35" name="그래픽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6143b95064dcc">
            <a:extLst>
              <a:ext uri="{96DAC541-7B7A-43D3-8B79-37D633B846F1}">
                <asvg:svgBlip xmlns:asvg="http://schemas.microsoft.com/office/drawing/2016/SVG/main" r:embed="R6221ecd91f974a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4619" y="2681940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36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6143b95064dcc">
            <a:extLst>
              <a:ext uri="{96DAC541-7B7A-43D3-8B79-37D633B846F1}">
                <asvg:svgBlip xmlns:asvg="http://schemas.microsoft.com/office/drawing/2016/SVG/main" r:embed="R6221ecd91f974a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BAF1DAC-5884-D36B-7368-D8D7070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8FE64C86-9DE4-1287-95A7-7ED8E443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BA213B4A-59DB-DE86-1650-0638B4D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0571826-3CEE-5619-D11D-FC2409CA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D8D3C7E-F9AF-AFCD-8584-1CD6BD6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근거 기반 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29033B77-E921-81D0-38C0-84F4D637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법령, 과실비율 인정기준, 판례, 심의사례를 연결하고 출처를 남김</a:t>
            </a:r>
          </a:p>
        </p:txBody>
      </p:sp>
      <p:sp>
        <p:nvSpPr>
          <p:cNvPr id="6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BECAFB-9AF5-E640-B5AA-05171DE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488" y="826439"/>
            <a:ext cx="3063240" cy="1872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024FCBA-647F-D5A7-048F-E70E8AA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009899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03 행동으로 연결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AC026309-EC44-9D40-5D8D-BB6928D9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631886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>
                <a:latin typeface="Noto Sans CJK KR"/>
                <a:ea typeface="Noto Sans CJK KR"/>
                <a:cs typeface="Noto Sans CJK KR"/>
              </a:rPr>
              <a:t>이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의 가능성, 리스크, 추가 증거, 문의 초안, 리포트 다운로드까지 이어집니다.</a:t>
            </a:r>
          </a:p>
        </p:txBody>
      </p:sp>
      <p:pic>
        <p:nvPicPr>
          <p:cNvPr id="146" name="그래픽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5658462ec475a">
            <a:extLst>
              <a:ext uri="{96DAC541-7B7A-43D3-8B79-37D633B846F1}">
                <asvg:svgBlip xmlns:asvg="http://schemas.microsoft.com/office/drawing/2016/SVG/main" r:embed="R07ab64f457a549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9772890" y="3202924"/>
            <a:ext cx="973947" cy="914400"/>
          </a:xfrm>
          <a:prstGeom xmlns:a="http://schemas.openxmlformats.org/drawingml/2006/main" prst="rect">
            <a:avLst/>
          </a:prstGeom>
        </p:spPr>
      </p:pic>
      <p:pic>
        <p:nvPicPr>
          <p:cNvPr id="147" name="그래픽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5658462ec475a">
            <a:extLst>
              <a:ext uri="{96DAC541-7B7A-43D3-8B79-37D633B846F1}">
                <asvg:svgBlip xmlns:asvg="http://schemas.microsoft.com/office/drawing/2016/SVG/main" r:embed="R07ab64f457a549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3FB278-3BA6-A4AC-62AB-DABF357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62" y="6096809"/>
            <a:ext cx="9921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latin typeface="Noto Sans CJK KR"/>
                <a:ea typeface="Noto Sans CJK KR"/>
                <a:cs typeface="Noto Sans CJK KR"/>
              </a:rPr>
              <a:t>교통분쟁 AI 서비스의 결과물은 사용자가 스스로 검토·상담·대응할 수 있는 사건 리포트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75085F9-0F12-4081-B807-1511C053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42837CB-416F-460C-87A7-6329FBC6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03D7E65-1B32-4464-B8DD-DCBD8F44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보험 대응은 ‘말을 잘하는 문제’가 아니라 근거를 정리하는 문제다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DF62BB4-5A0C-4752-AE01-11F77B6A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상담 전 단계에서 사건 요약, 증거, 질문 목록이 정리되어야 대화가 흔들리지 않습니다.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070FA7-A628-4CD5-ADE7-56C9673E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DE6EA84-9642-472B-9640-558893E8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8CFFED6-C5C7-46EC-A987-C17EC630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주장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A9776D4-2BAF-42F3-81DC-1BCFDFF4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내가 기억하는 사고 경위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2303E65-BDA2-4EF2-A94F-F08BF216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57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65AC8B0-B9AB-4511-9A4F-6FFE4C38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F9BB2DE-1170-401B-AAED-575BC374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증거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BF07458-FE4F-4A6A-B971-5F6D797D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사진·영상·위치·시간 자료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244ADD-E15E-4A13-AB14-CA287F53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57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8C0326-4FEB-4BF1-9A55-CDCEC7D1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BE7246F-62E5-4B9E-A383-AA52C854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기준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F5ABC09-1F7A-4026-A60A-C8A3D8FC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과실비율 인정기준과 유사 사례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892F009-9023-4848-BD39-FF77E316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0EC9FE8-BA3C-4651-AD76-F9BD5AC3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C58CEA6-69E9-4F7F-8CAC-A350D481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질문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CA88E94-4744-498F-A639-29CB2E68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보험사에 확인해야 할 쟁점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23E72A-4601-4F89-84B9-5FD34841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43500"/>
            <a:ext cx="941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문제의 본질: 자료가 없는 것이 아니라 자료가 ‘상담 가능한 형태’로 정리되지 않는다.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F867FD3-E2A6-4A01-B175-D0AE5C2A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BAE22B4-6869-4FDB-A18E-A4932B46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12/45</a:t>
            </a:r>
          </a:p>
        </p:txBody>
      </p:sp>
    </p:spTree>
    <p:extLst>
      <p:ext uri="{BB962C8B-B14F-4D97-AF65-F5344CB8AC3E}">
        <p14:creationId xmlns:p14="http://schemas.microsoft.com/office/powerpoint/2010/main" val="2547650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3E284E-075C-6CAC-9720-D82D4D7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44FD64-7DEE-6FE7-5B8E-28A8412B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리포트 구성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8C1EF19-C3C5-A39B-949F-05FC438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9/40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F3E22DA6-FD55-2D5B-0650-06C8559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sp>
        <p:nvSpPr>
          <p:cNvPr id="6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D6DD98-573C-9495-2ADE-E8B178B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D1975AF4-B63D-B786-D7DB-5FCD456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수집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8258694-B0A3-1C54-F9DC-906FBAD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고지서·사진·영상·상황 설명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D3891155-E6E8-C91E-2CB5-CE72AA56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76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34C3F-BE1D-FA9D-1774-A24C93A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74B008A-3317-B85C-39A7-63195E86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사건 구조화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A8C7546A-2946-24C1-1A8E-174DCE21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사고유형·증거·기한·장소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81381A7B-1ABE-AF28-81F9-893178BF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8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EFA5F52-7A6F-9D03-0976-426B6B1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D6E764E8-E9F5-5C1E-754C-303F062E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B95C4FA1-45AA-6566-2611-9B5F9B8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법령·판례·심의사례·인정기준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3B8DF3E4-0106-8333-B84B-AEB26801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9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328BEAF-C235-CC06-DA7F-BC8F0394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53A0A1F6-D2E2-80AB-1130-D9BA5AFA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한계 표시</a:t>
            </a: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51358A9E-CB2D-18E7-8AD2-18618C2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부족한 증거·리스크·단정 방지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3B1712FF-0617-1F8E-1C5B-5D3484D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00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0CFAF75-FEDA-6651-7076-E34CC09D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5A73005C-45CE-7123-7BD6-71388D2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리포트</a:t>
            </a:r>
          </a:p>
        </p:txBody>
      </p:sp>
      <p:sp>
        <p:nvSpPr>
          <p:cNvPr id="104" name="TextBox 103">
            <a:extLst xmlns:a="http://schemas.openxmlformats.org/drawingml/2006/main">
              <a:ext uri="{FF2B5EF4-FFF2-40B4-BE49-F238E27FC236}">
                <a16:creationId xmlns:a16="http://schemas.microsoft.com/office/drawing/2014/main" id="{E7A7AAFC-B581-FBFB-7D7B-B674184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문의·체크리스트·다운로드</a:t>
            </a:r>
          </a:p>
        </p:txBody>
      </p:sp>
      <p:sp>
        <p:nvSpPr>
          <p:cNvPr id="106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80384FF-39C1-042F-2D56-CA0F397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C84091CA-9A5B-1B55-0793-54A9D4A7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가치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3AC8EFD2-A58E-5D9A-7C5F-17E193A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전, 내 사건의 쟁점과 필요한 근거를 먼저 확인가능</a:t>
            </a:r>
          </a:p>
        </p:txBody>
      </p:sp>
      <p:sp>
        <p:nvSpPr>
          <p:cNvPr id="112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2D33682-3C3D-C455-AF61-972D2024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79E80A16-04E3-E7B4-E0FA-ACA225B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가치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03F48085-88E7-E09E-8995-C66251A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정보·판례·사고자료를 하나의 사건 흐름으로 연결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392E09D9-D433-438F-AFE8-E0BA6F4F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직사각형 117">
            <a:extLst xmlns:a="http://schemas.openxmlformats.org/drawingml/2006/main">
              <a:ext uri="{FF2B5EF4-FFF2-40B4-BE49-F238E27FC236}">
                <a16:creationId xmlns:a16="http://schemas.microsoft.com/office/drawing/2014/main" id="{96D8F478-3838-4969-B8F2-A578F3D2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119" name="직사각형 118">
            <a:extLst xmlns:a="http://schemas.openxmlformats.org/drawingml/2006/main">
              <a:ext uri="{FF2B5EF4-FFF2-40B4-BE49-F238E27FC236}">
                <a16:creationId xmlns:a16="http://schemas.microsoft.com/office/drawing/2014/main" id="{B48B09F3-F0B0-4CB4-BCF0-A5A4EFFE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사건 리포트는 흩어진 자료를 상담 가능한 형태로 바꾼다</a:t>
            </a:r>
          </a:p>
        </p:txBody>
      </p:sp>
      <p:sp>
        <p:nvSpPr>
          <p:cNvPr id="120" name="직사각형 119">
            <a:extLst xmlns:a="http://schemas.openxmlformats.org/drawingml/2006/main">
              <a:ext uri="{FF2B5EF4-FFF2-40B4-BE49-F238E27FC236}">
                <a16:creationId xmlns:a16="http://schemas.microsoft.com/office/drawing/2014/main" id="{B56A3902-4348-48F9-974B-72E7EC5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입력, 구조화, 검색, 한계 표시, 다음 행동이 한 흐름으로 이어집니다.</a:t>
            </a:r>
          </a:p>
        </p:txBody>
      </p:sp>
      <p:sp>
        <p:nvSpPr>
          <p:cNvPr id="121" name="사각형: 둥근 모서리 120">
            <a:extLst xmlns:a="http://schemas.openxmlformats.org/drawingml/2006/main">
              <a:ext uri="{FF2B5EF4-FFF2-40B4-BE49-F238E27FC236}">
                <a16:creationId xmlns:a16="http://schemas.microsoft.com/office/drawing/2014/main" id="{5482BA1B-0006-4596-B8CE-83223AB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2" name="직사각형 121">
            <a:extLst xmlns:a="http://schemas.openxmlformats.org/drawingml/2006/main">
              <a:ext uri="{FF2B5EF4-FFF2-40B4-BE49-F238E27FC236}">
                <a16:creationId xmlns:a16="http://schemas.microsoft.com/office/drawing/2014/main" id="{E571353E-A85A-420A-A646-7A0B5F80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123" name="직사각형 122">
            <a:extLst xmlns:a="http://schemas.openxmlformats.org/drawingml/2006/main">
              <a:ext uri="{FF2B5EF4-FFF2-40B4-BE49-F238E27FC236}">
                <a16:creationId xmlns:a16="http://schemas.microsoft.com/office/drawing/2014/main" id="{DF37BB9F-94CC-40DC-9222-DE32A9B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입력 수집</a:t>
            </a:r>
          </a:p>
        </p:txBody>
      </p:sp>
      <p:sp>
        <p:nvSpPr>
          <p:cNvPr id="124" name="직사각형 123">
            <a:extLst xmlns:a="http://schemas.openxmlformats.org/drawingml/2006/main">
              <a:ext uri="{FF2B5EF4-FFF2-40B4-BE49-F238E27FC236}">
                <a16:creationId xmlns:a16="http://schemas.microsoft.com/office/drawing/2014/main" id="{B5AC9345-6FA6-4CED-B2CF-84F610C5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고지서·사진·영상·상황 설명</a:t>
            </a:r>
          </a:p>
        </p:txBody>
      </p:sp>
      <p:sp>
        <p:nvSpPr>
          <p:cNvPr id="125" name="사각형: 둥근 모서리 124">
            <a:extLst xmlns:a="http://schemas.openxmlformats.org/drawingml/2006/main">
              <a:ext uri="{FF2B5EF4-FFF2-40B4-BE49-F238E27FC236}">
                <a16:creationId xmlns:a16="http://schemas.microsoft.com/office/drawing/2014/main" id="{565B456F-2F0E-4AA6-8135-B6B3C2AF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6" name="직사각형 125">
            <a:extLst xmlns:a="http://schemas.openxmlformats.org/drawingml/2006/main">
              <a:ext uri="{FF2B5EF4-FFF2-40B4-BE49-F238E27FC236}">
                <a16:creationId xmlns:a16="http://schemas.microsoft.com/office/drawing/2014/main" id="{1A9C15A3-A862-42ED-84B3-CC879A1B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127" name="직사각형 126">
            <a:extLst xmlns:a="http://schemas.openxmlformats.org/drawingml/2006/main">
              <a:ext uri="{FF2B5EF4-FFF2-40B4-BE49-F238E27FC236}">
                <a16:creationId xmlns:a16="http://schemas.microsoft.com/office/drawing/2014/main" id="{8FF812BE-3993-4997-899C-0316344E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128" name="직사각형 127">
            <a:extLst xmlns:a="http://schemas.openxmlformats.org/drawingml/2006/main">
              <a:ext uri="{FF2B5EF4-FFF2-40B4-BE49-F238E27FC236}">
                <a16:creationId xmlns:a16="http://schemas.microsoft.com/office/drawing/2014/main" id="{93F14172-7F8A-4622-A82D-61F692DF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사고유형·증거·기한·장소</a:t>
            </a:r>
          </a:p>
        </p:txBody>
      </p:sp>
      <p:sp>
        <p:nvSpPr>
          <p:cNvPr id="129" name="사각형: 둥근 모서리 128">
            <a:extLst xmlns:a="http://schemas.openxmlformats.org/drawingml/2006/main">
              <a:ext uri="{FF2B5EF4-FFF2-40B4-BE49-F238E27FC236}">
                <a16:creationId xmlns:a16="http://schemas.microsoft.com/office/drawing/2014/main" id="{63553B11-F50F-4814-818F-F375D1AB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0" name="직사각형 129">
            <a:extLst xmlns:a="http://schemas.openxmlformats.org/drawingml/2006/main">
              <a:ext uri="{FF2B5EF4-FFF2-40B4-BE49-F238E27FC236}">
                <a16:creationId xmlns:a16="http://schemas.microsoft.com/office/drawing/2014/main" id="{005523E4-BFAD-4507-A81F-A6D10FE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131" name="직사각형 130">
            <a:extLst xmlns:a="http://schemas.openxmlformats.org/drawingml/2006/main">
              <a:ext uri="{FF2B5EF4-FFF2-40B4-BE49-F238E27FC236}">
                <a16:creationId xmlns:a16="http://schemas.microsoft.com/office/drawing/2014/main" id="{37BCAE3F-F75E-40A6-A05A-2406E4C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132" name="직사각형 131">
            <a:extLst xmlns:a="http://schemas.openxmlformats.org/drawingml/2006/main">
              <a:ext uri="{FF2B5EF4-FFF2-40B4-BE49-F238E27FC236}">
                <a16:creationId xmlns:a16="http://schemas.microsoft.com/office/drawing/2014/main" id="{C20227E5-78CC-4F6F-A336-B92E94A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법령·판례·심의사례·인정기준</a:t>
            </a:r>
          </a:p>
        </p:txBody>
      </p:sp>
      <p:sp>
        <p:nvSpPr>
          <p:cNvPr id="133" name="사각형: 둥근 모서리 132">
            <a:extLst xmlns:a="http://schemas.openxmlformats.org/drawingml/2006/main">
              <a:ext uri="{FF2B5EF4-FFF2-40B4-BE49-F238E27FC236}">
                <a16:creationId xmlns:a16="http://schemas.microsoft.com/office/drawing/2014/main" id="{ABD659DC-1124-4303-84AE-4BD04B64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4" name="직사각형 133">
            <a:extLst xmlns:a="http://schemas.openxmlformats.org/drawingml/2006/main">
              <a:ext uri="{FF2B5EF4-FFF2-40B4-BE49-F238E27FC236}">
                <a16:creationId xmlns:a16="http://schemas.microsoft.com/office/drawing/2014/main" id="{0A200ACD-5550-45CF-87D4-3DA39CC0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135" name="직사각형 134">
            <a:extLst xmlns:a="http://schemas.openxmlformats.org/drawingml/2006/main">
              <a:ext uri="{FF2B5EF4-FFF2-40B4-BE49-F238E27FC236}">
                <a16:creationId xmlns:a16="http://schemas.microsoft.com/office/drawing/2014/main" id="{624E7866-5FB3-4296-A3A9-D8CAE663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한계 표시</a:t>
            </a:r>
          </a:p>
        </p:txBody>
      </p:sp>
      <p:sp>
        <p:nvSpPr>
          <p:cNvPr id="136" name="직사각형 135">
            <a:extLst xmlns:a="http://schemas.openxmlformats.org/drawingml/2006/main">
              <a:ext uri="{FF2B5EF4-FFF2-40B4-BE49-F238E27FC236}">
                <a16:creationId xmlns:a16="http://schemas.microsoft.com/office/drawing/2014/main" id="{1D2F7FFB-0377-4D82-A034-4186904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부족한 증거와 단정 방지</a:t>
            </a:r>
          </a:p>
        </p:txBody>
      </p:sp>
      <p:sp>
        <p:nvSpPr>
          <p:cNvPr id="137" name="사각형: 둥근 모서리 136">
            <a:extLst xmlns:a="http://schemas.openxmlformats.org/drawingml/2006/main">
              <a:ext uri="{FF2B5EF4-FFF2-40B4-BE49-F238E27FC236}">
                <a16:creationId xmlns:a16="http://schemas.microsoft.com/office/drawing/2014/main" id="{7B06DEBE-62BA-4C0C-B9FB-2DF6A2FE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8" name="직사각형 137">
            <a:extLst xmlns:a="http://schemas.openxmlformats.org/drawingml/2006/main">
              <a:ext uri="{FF2B5EF4-FFF2-40B4-BE49-F238E27FC236}">
                <a16:creationId xmlns:a16="http://schemas.microsoft.com/office/drawing/2014/main" id="{2072E395-0B8D-48F9-BDF8-606A5FD1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39" name="직사각형 138">
            <a:extLst xmlns:a="http://schemas.openxmlformats.org/drawingml/2006/main">
              <a:ext uri="{FF2B5EF4-FFF2-40B4-BE49-F238E27FC236}">
                <a16:creationId xmlns:a16="http://schemas.microsoft.com/office/drawing/2014/main" id="{4B644A63-F76E-418B-A8D7-DA7E8BE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140" name="직사각형 139">
            <a:extLst xmlns:a="http://schemas.openxmlformats.org/drawingml/2006/main">
              <a:ext uri="{FF2B5EF4-FFF2-40B4-BE49-F238E27FC236}">
                <a16:creationId xmlns:a16="http://schemas.microsoft.com/office/drawing/2014/main" id="{6A61F2C9-0116-4171-84EA-79024E2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문의 초안·체크리스트·다운로드</a:t>
            </a:r>
          </a:p>
        </p:txBody>
      </p:sp>
      <p:sp>
        <p:nvSpPr>
          <p:cNvPr id="141" name="사각형: 둥근 모서리 140">
            <a:extLst xmlns:a="http://schemas.openxmlformats.org/drawingml/2006/main">
              <a:ext uri="{FF2B5EF4-FFF2-40B4-BE49-F238E27FC236}">
                <a16:creationId xmlns:a16="http://schemas.microsoft.com/office/drawing/2014/main" id="{10143266-3A77-4966-B36F-07C6E0ED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86300"/>
            <a:ext cx="4038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2" name="사각형: 둥근 모서리 141">
            <a:extLst xmlns:a="http://schemas.openxmlformats.org/drawingml/2006/main">
              <a:ext uri="{FF2B5EF4-FFF2-40B4-BE49-F238E27FC236}">
                <a16:creationId xmlns:a16="http://schemas.microsoft.com/office/drawing/2014/main" id="{2601EA61-E8AB-4848-8087-E0B8EF8D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8071"/>
            <a:ext cx="4074885" cy="859971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3" name="직사각형 142">
            <a:extLst xmlns:a="http://schemas.openxmlformats.org/drawingml/2006/main">
              <a:ext uri="{FF2B5EF4-FFF2-40B4-BE49-F238E27FC236}">
                <a16:creationId xmlns:a16="http://schemas.microsoft.com/office/drawing/2014/main" id="{E8987E3B-6C24-421F-B40A-754EEFE0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 가치</a:t>
            </a:r>
          </a:p>
        </p:txBody>
      </p:sp>
      <p:sp>
        <p:nvSpPr>
          <p:cNvPr id="144" name="직사각형 143">
            <a:extLst xmlns:a="http://schemas.openxmlformats.org/drawingml/2006/main">
              <a:ext uri="{FF2B5EF4-FFF2-40B4-BE49-F238E27FC236}">
                <a16:creationId xmlns:a16="http://schemas.microsoft.com/office/drawing/2014/main" id="{C8CA6755-F3F0-4B6B-87B2-373A50B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전문가 상담 전 쟁점과 근거를 먼저 확인</a:t>
            </a:r>
          </a:p>
        </p:txBody>
      </p:sp>
      <p:sp>
        <p:nvSpPr>
          <p:cNvPr id="145" name="직사각형 144">
            <a:extLst xmlns:a="http://schemas.openxmlformats.org/drawingml/2006/main">
              <a:ext uri="{FF2B5EF4-FFF2-40B4-BE49-F238E27FC236}">
                <a16:creationId xmlns:a16="http://schemas.microsoft.com/office/drawing/2014/main" id="{CBDEB124-5E6E-4871-81EC-6A50D09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서비스 가치</a:t>
            </a:r>
          </a:p>
        </p:txBody>
      </p:sp>
      <p:sp>
        <p:nvSpPr>
          <p:cNvPr id="146" name="직사각형 145">
            <a:extLst xmlns:a="http://schemas.openxmlformats.org/drawingml/2006/main">
              <a:ext uri="{FF2B5EF4-FFF2-40B4-BE49-F238E27FC236}">
                <a16:creationId xmlns:a16="http://schemas.microsoft.com/office/drawing/2014/main" id="{02926B55-112C-48AF-8632-1B51729C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2443"/>
            <a:ext cx="3513364" cy="30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공식 정보와 사고자료를 사건 흐름으로 연결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A63F1EC-6CF1-4A66-9A39-C3227D8C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A02C5BA-EA4F-43F6-B4AB-4E0C13E9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4B5CF6A-2F85-4587-8DDB-E9EF5C7A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정리하면, 사용자는 판단 이전 단계에서 막힌다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3C2653F-FF8A-400D-9814-B9AE0287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그래서 초반 문제정의는 기능 소개가 아니라 ‘막히는 장면’을 선명하게 보여주는 데 집중합니다.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B59282F-824B-40EE-B667-008F852C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9083261-36F5-4A0E-BB14-BEF2C4B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03349AA-C312-42E8-9112-BECC4AFA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무엇을 봐야 하지?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385681A-2753-48B8-843A-B06EB23A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고지서의 중요 항목과 기한을 놓칠 수 있음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3F267DB-C2B2-4EFB-B6E2-90C58281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01078EF-5B55-479F-B285-47AD419B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내 사고가 어떤 유형이지?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5CE84FA-313A-4074-A963-92C9AB2F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법률 용어와 사고 유형을 스스로 매칭해야 함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7D830B6-9FE4-45B0-B436-D55DCFA9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8699929-2917-4973-9A48-6C2DDE81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어떤 근거가 있지?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0253841-4A86-4674-9245-6486A42A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공식 기준과 유사 사례를 따로 찾아야 함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6B38E36-5210-4A7C-99A0-C0EB6DE5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265A5A9-08B6-4D1C-890F-148EBF76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어떻게 말해야 하지?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77E0AAB-D934-4392-9E09-73331C77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보험사·기관에 전달할 문장이 정리되지 않음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A70675C-E33C-4C99-897A-530D140A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A4945B4-094A-493C-BC19-BA5D37F9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13/45</a:t>
            </a:r>
          </a:p>
        </p:txBody>
      </p:sp>
    </p:spTree>
    <p:extLst>
      <p:ext uri="{BB962C8B-B14F-4D97-AF65-F5344CB8AC3E}">
        <p14:creationId xmlns:p14="http://schemas.microsoft.com/office/powerpoint/2010/main" val="51477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14ED74-1FDE-4459-61C0-D3F454C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B0DA54-7229-9DA1-87A6-E8EC0A5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19AED7-ECAB-7DD4-E231-9424184B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사용자 문제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E6B218-98C5-B790-43DA-6F1365F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고지서 ·과실비율 ·보험 대응의 어려움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6C841B-3DA2-97E6-519C-96FED63B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10/40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13D885-86EF-30B3-FBF5-9152DBD4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처분 종류와 절차 구분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사용자 실패 장면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시나리오 기반 기능 연결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49ECFD2-3BD5-4B9D-A133-174D12FD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4CD3B70-5C97-45CF-8E83-5D9EF4D0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43ACE57-FC70-46C3-B566-C4C06CB2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사용자가 겪는 문제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F6917C8-6B2D-46DD-9129-91BD344D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고지서, 과실비율, 보험 대응에서 실패 장면이 반복됩니다.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6E343A96-C541-4B77-89BA-B008063D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355EFA3-F31B-4B8E-8BEC-8061FC0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15C07271-CF2F-458C-8577-EAE57562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절차 혼동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BC2BF2E7-66FE-424B-925A-F9BF53D7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과태료·범칙금·기한을 구분하기 어려움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9EA8EE6A-C177-446E-AE94-2339D51C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3E9EFF1-4AAC-43D2-BA78-D762427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부족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4D4CCF7C-C417-4ED8-B9CC-B0A8577F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보험사 주장을 검증할 자료가 흩어짐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6C8EAD5-9B55-4909-BAD3-8A03445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653977E-4FD4-4ED0-82F8-A52CCA9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문서화 부담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5BB72D73-5284-4FF1-9CC9-7279EEE7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상담 전 사건을 정리하기 어려움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2BC008-C1F1-43AC-A6A0-903D43F3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BC8666-E612-4BB8-BB84-5FB1614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E6E43-E525-4A97-B2C8-DC26D202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사용자가 겪는 문제는 세 문장으로 요약된다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64481-C26B-4B9B-B4C1-9AFE3FCA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하단 제목은 발표장에서 바로 와닿도록 실사용자 언어로 교체했습니다.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02E62C-12A0-487A-93DE-24C2F95B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F55446-1BC7-4DAA-8E3C-3DA301B0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5F82F-DC5F-4B1F-BAAA-C3850839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뭘 먼저 해야 하지?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58B9FC-39C8-486F-95BB-87358DB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고지서를 받았지만 납부, 의견제출, 이의신청 중 어떤 절차가 맞는지 헷갈립니다.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7E6747-D960-4195-8BAA-4C434905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C5240-273E-47A5-B62A-7DB7D4D0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내 과실이 맞나?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C80CC7-763B-4072-A8D1-86E1A23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48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보험사 설명은 들었지만 내 사고 장면과 비슷한 기준인지 스스로 확인하기 어렵습니다.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7158D2-36D6-48FF-8EE3-1B6D2D32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536075-CBE9-407C-942E-C3617E15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어떤 근거가 있지?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C2E46C-17EF-4D58-B0E9-8099BF6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48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법령, 기준, 사례, 영상이 따로 흩어져 있어 하나의 주장으로 정리하기 어렵습니다.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BD327E-9BAB-45FF-ACF2-1B2BF3BB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E20A3E-051F-43E0-BE84-E21D80C4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14/45</a:t>
            </a:r>
          </a:p>
        </p:txBody>
      </p:sp>
    </p:spTree>
    <p:extLst>
      <p:ext uri="{BB962C8B-B14F-4D97-AF65-F5344CB8AC3E}">
        <p14:creationId xmlns:p14="http://schemas.microsoft.com/office/powerpoint/2010/main" val="2924538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4D2236-CBB1-88AF-83AC-22A1906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F2A8B8-5AF2-E667-3FC2-4E7CAD1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 이후 분쟁 영역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6EB740B-7505-5746-AE2F-5E7B1B47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11/40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EBCDA6F-4A62-A27F-FA94-1AA36AFC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885944-6583-47D7-529A-DB8CA232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100105-3A98-0FD7-25B6-5498E7F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과태료/범칙금 고지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276D4C0-674E-05CA-3A8F-5D5E59E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사유, 기한, 이의제기 가능성을 모름 → 문서 인식·기한·유형 분기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BB3F23-E45C-A03B-E847-46F1884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4BA2B8-0311-5123-3C82-BB662786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교통사고 과실비율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125D5C7-0E59-10A6-FF38-82A8595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보험사나 상대방 주장과 내 생각이 다름 → 유사 판례·심의사례 검색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BE7DE78-76CC-6266-6C91-A6DE28A6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BC9B08-4369-3302-8A46-6471CB8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 근거 확인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96F9193-B6B2-11DD-BDC3-21F560A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조문과 법률 용어를 직접 찾기 어려움 → 일상어를 법률 용어로 변환</a:t>
            </a:r>
          </a:p>
        </p:txBody>
      </p:sp>
      <p:sp>
        <p:nvSpPr>
          <p:cNvPr id="2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AB6A411-8B03-222B-253A-B95DB87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C918A8A-B580-CD74-4C7F-05C9914D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상담/리포트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E9868D0-CFA0-6A1C-42D7-BA041514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말로 설명한 사건을 문서로 정리하기 어려움 → 증거·한계·다음 조치 구조화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46DE922A-53C0-4F52-B3F1-414677F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D6CBA7E-C2A5-4E76-A418-1DDF0F46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9F9F7F35-94BC-4D6B-9E22-3F6EDF95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사고 이후 문제는 네 가지 영역으로 나뉜다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C60C46C8-75CB-4D5E-8298-FB9B674A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사용자의 질문을 먼저 영역별로 분류해야 올바른 분석 모듈을 호출할 수 있습니다.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A8664E80-0B62-444F-A219-E9327426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396B329-0063-4922-9F35-55279C4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영역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AD64E81D-E3B9-47E0-8836-781BBE13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사용자 실패 장면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3D0B850-C799-40C2-9CDB-9130272A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연결 기능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C3A21851-A19D-4D83-A0C8-5D7ABEFF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F91CA95B-0C62-4C3B-A209-45A5F789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과태료/범칙금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D6E1A21-5415-4AE8-8E91-F136CF65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051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고지 사유·기한·이의 가능성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902DE3D7-6014-4828-9D2C-A4208716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문서 인식·유형 분기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240978B9-E7CB-43DA-9E9D-328B510A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6D97843-1915-45C4-9E1D-EEE93B87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교통사고 과실비율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2DDF097A-A005-43FD-8CC3-3306DB74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48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보험사 주장과 사용자 인식 차이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5ED08E7-DE03-43F3-86B6-513983F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48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유사 판례·심의사례 검색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869ACB62-FF89-46CE-ACE7-20DA1D1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5471634C-5B21-4229-88F0-42E713A7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법률 근거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F45D615-1F3D-4AF5-BFA4-0C8063D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910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조문과 법률 용어 탐색 어려움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DC06181-3F9E-44B6-BCD8-42DD53C7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91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일상어를 법률 용어로 변환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7429272C-2CC0-4FCF-AF44-EB6F0CA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CD99FD48-3D72-4C7A-B376-81335D70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상담/리포트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DAED4589-6A57-4D21-8B8F-7FE9C6F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339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말로 설명한 사건을 문서화하기 어려움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396DE979-DDD0-486E-846C-6DA5C868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339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증거·한계·다음 조치 구조화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E1A586C-7F99-454A-BF1B-9A307F59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1390FC7-0E25-4298-9F1E-47257563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2EDB9B-6D95-4CA4-ACAE-14866855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과태료·범칙금 문제는 절차와 책임이 다르게 움직인다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E2CA2F-F398-45E8-B6CB-B473B98B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사용자가 어려운 이유는 처분 이름이 비슷하지만 결과와 대응 방식이 다르기 때문입니다.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7D06CF3-81BA-40F0-8F5D-667EC28D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697CD23-3B21-439B-8406-662C28E8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02BCE3E-9D38-4577-BB45-D8803A48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B2732C0-B9B7-4AE1-B722-F6E236F9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표면적으로 보이는 문제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7ED3E67-C886-4F03-8026-97BD9B31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실제로 판단해야 하는 문제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18FE457-5AFE-475C-9751-4D97370C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3FD0A3-64A5-4AF9-8AFD-70ED2072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금액이 얼마인지 확인한다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82C83B1-068E-4A4A-9297-A4EDE4B7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E1E0F38-EF2C-4C64-883F-3D7FB49E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언제까지 납부해야 하는지 본다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883F50A-CDAE-406B-AD6F-6FAEA5D0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BE931D1-26D1-4276-90F3-BD84E6E0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어디서 위반했는지 확인한다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DC03D7D-46B4-42F2-9012-26E8C71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444283-93E6-427E-A323-1AC9BF68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운전자 특정 여부와 벌점 가능성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17C1E20-D3BF-4758-9D8B-75868C5F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5DB86B9-C83A-44F1-9C21-6B1007E9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도난·긴급상황 같은 사유 인정 가능성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D2D5C6-F167-4AC0-BFFD-390B0D4D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9EF8F46-AE78-4EFC-98D5-35848382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기한 내 의견제출 또는 이의신청 가능성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0334788-F664-4EDD-9AA1-034BFCD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FC79C94-3F38-4414-BBB2-126722D8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15/45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E6F6DE5-EB51-4999-9B35-B8234D84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656819E-7E94-40FF-B344-BA40E3D7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사용자 문제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46368D4-1229-4070-B656-E61E3485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같은 교통 문제처럼 보여도, 사용자는 도메인 구분에서 먼저 막힌다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E2CF70A-F85F-45CA-B0D2-A47FA8F0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과태료·범칙금·벌점·과실비율은 책임 주체와 절차가 다르지만 사용자는 이를 한 문제로 받아들입니다.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AD5AEEB-F25B-4CFA-BFB8-81C7F388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276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4FF8D0-0DAE-458C-B54D-F4D579A9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8481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AABD300-534B-4D39-9E34-42FE74FB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사용자 머릿속 질문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2463351-B151-4D6F-A593-5076ED87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3B5FF05-9649-4B26-B2A3-AECF95F7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194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“이건 그냥 벌금 내면 끝나는 건가?”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539A01C-EC34-410F-9E68-EE31219E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66D3067-AEC8-40BD-8095-72F92835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433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“벌점이나 면허에도 영향이 있나?”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AD500B1-472A-4B91-8C06-CCB65A58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6FD7868-A3AB-4800-B414-269CA2A1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“보험사 과실비율과도 연결되나?”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09E8F35-69EB-4B95-A2BF-A32DD81E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956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도메인 구분 실패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E7F39E3-0521-481C-9F74-4EC38F09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33800"/>
            <a:ext cx="1885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BE5B430-8DEC-47D9-8941-C4F5E9AB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6715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같은 질문처럼 보이지만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대응 경로가 달라짐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7A31AC-FDCA-4FB5-8D6A-CDF5C5B3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B52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9B15FC3-BE68-488C-A2F9-10398B92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67150"/>
            <a:ext cx="438150" cy="-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37CDB4F-1A31-4011-B602-8DA08142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4381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112A70B-8B41-4B36-867C-E11F3E57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2266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ACA1888-02CB-4C34-87DD-0E1FFC46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과태료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429663D-CF38-4DD7-B5FF-6A38877A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956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차량 기준 행정질서 위반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EF6E406-EA1D-407C-9523-FB638C08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납부·의견제출·이의신청 기한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DF8852C-065D-464F-93EA-860B46B3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00300"/>
            <a:ext cx="2266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DA72A00-C1F0-4211-9534-55ED57B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717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범칙금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5C9F9FC-770D-4E1C-A5E3-6A4A2A6B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956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운전자 특정 교통법규 위반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4D7E394-8CA7-43EF-A560-DAD2A834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623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벌점·진술 리스크 확인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90C834A-4432-4CFA-9176-301A7ABF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62400"/>
            <a:ext cx="2266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8782196-B9EB-47B4-B528-6C011328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338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벌점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6EF990-5B76-41E2-A4D0-13E50D6F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면허 행정처분과 연결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9346DD2-00B6-47FE-9D0A-0F6A91CA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244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정지·취소 가능성 확인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0BA8B43-9E1C-4718-BA6A-1B8E299B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62400"/>
            <a:ext cx="2266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E1DADD6-2C54-4B7E-BAFA-1EE0AB12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338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과실비율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49C1A58-3D51-480A-944E-179222C6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577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당사자 책임 비율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C805EB0-5A7D-4FF6-9D34-F1BED111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244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보험금·분쟁조정·소송 가능성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95B2ED1-31F2-4B20-8EA9-8F4D6FE4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53100"/>
            <a:ext cx="8801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A3688B1-69CC-48D3-AFA7-77F9787B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핵심 메시지: 사용자는 금액보다 먼저 ‘이 문제가 어느 도메인에 속하는지’를 구분하지 못한다.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8BC1A59-A75F-41BC-96F2-FD85EEB2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15/45</a:t>
            </a:r>
          </a:p>
        </p:txBody>
      </p:sp>
    </p:spTree>
    <p:extLst>
      <p:ext uri="{BB962C8B-B14F-4D97-AF65-F5344CB8AC3E}">
        <p14:creationId xmlns:p14="http://schemas.microsoft.com/office/powerpoint/2010/main" val="2072590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3D792D-9BD9-F072-C3C8-4C1A93CD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0B322AA-0861-B199-9ADA-4CD27995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과태료·범칙금·벌점 차이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CD24FC-2578-EA13-ACC2-DA8BBD1F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12/40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21B06E0-CF76-7D38-F206-D1E40CF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0BE978D-4C4D-C5D2-1464-8928C562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2F83B3-4340-1011-3D59-E7349C3E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5689A19-6B4A-2667-E6E3-D0A8297F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행정질서 위반 금전 제재. 의견제출·이의신청 가능성, 기한, 고지서 문서 인식 분석이 중요</a:t>
            </a:r>
          </a:p>
        </p:txBody>
      </p:sp>
      <p:sp>
        <p:nvSpPr>
          <p:cNvPr id="18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EFB880-8345-AB2B-C76C-435E58C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E8CBD15-C314-982C-D0C4-F41B4CAE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범칙금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3B49291-0990-83DD-D64F-F891246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운전자 특정 및 교통법규 위반 처리와 연결됨 벌점 리스크가 있어 단정형 문서 생성을 제한함</a:t>
            </a:r>
          </a:p>
        </p:txBody>
      </p:sp>
      <p:sp>
        <p:nvSpPr>
          <p:cNvPr id="29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AB3A3A5-144F-A418-3B88-B52B95B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46ED982-8CB4-ED2F-E031-943E8768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사고 과실비율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E910604-43DC-E915-8B15-E65D449C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당사자 간 책임 비율 보험금, 구상, 분쟁심의, 소송 가능성과 연결됨</a:t>
            </a:r>
          </a:p>
        </p:txBody>
      </p:sp>
      <p:sp>
        <p:nvSpPr>
          <p:cNvPr id="3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3D7CB6C-846E-4E62-7238-FFF23CC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8D64311-AD39-7E34-B816-07A9B44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법률사고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09C211A-FB9F-19A6-C432-2F1B076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기한 도과, 잘못된 진술, 개인정보 노출 등 불이익을 만드는 상황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CA017827-6A5E-5FFE-E09C-2A62A4C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100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설계 원칙 | 억울함보다 객관적 근거·기한·증거·절차상 문제가 있는지 먼저 판단함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462A89AD-61C7-4F33-BB06-900775E7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675057FA-7550-426D-B193-7F6F5CF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6EA43A5F-E6CF-4856-A169-348B217B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처분 종류를 구분해야 잘못된 대응을 줄일 수 있다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166CFE64-C86D-4EAB-8BD2-8BEEAE16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과태료, 범칙금, 벌점, 과실비율은 리스크와 다음 절차가 다릅니다.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8449CA5C-8E71-435B-8944-011B0FB8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DDC54D3D-8876-4BA0-867E-6BEA067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87FE295D-030C-44DE-A0A1-CB295956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과태료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73558EE5-47E4-4FB8-B64A-278B0B38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행정질서 위반 금전 제재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FD87E50F-01F5-4F1A-A839-0026A790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기한·고지서 OCR·이의 가능성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CAF0AC86-5FDA-4BE2-AD57-B2ADF88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4A4523D7-0B05-4C57-9B3B-792385FB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범칙금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676DBAE3-7FEB-4251-8261-2BC3A49E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운전자 특정 교통법규 위반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1D1DF830-228C-4F9A-852C-BC5B494D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벌점과 진술 리스크 확인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306238FC-E767-4788-88AD-101BFAD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578C516-7B7B-43C8-B655-DB002572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벌점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51AF33A6-B4EC-4AE5-A3E5-7C02725E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면허 행정처분과 연결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6248A64E-096D-47EA-A9CC-C7BD2E64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단정형 문서 생성 제한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41CF45AE-79A0-4793-B1ED-22369284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9DE37118-9D04-419A-BB2F-A08DC40E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사고 과실비율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D094C92-1848-4644-B4E6-873283C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당사자 책임 비율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2A16AA2-622B-4C15-84E0-D11C64B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보험금·분쟁심의·소송 가능성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33DCFE01-1C67-48E3-B4C5-9F19DCA5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19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설계 원칙: 억울함보다 객관적 근거·기한·증거·절차를 먼저 확인합니다.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9A13CF-878A-4D1E-9BE5-2EAB3521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8F0F193-BCD7-4FAF-BC49-CCDE5F37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7B4965-8D1D-4ECE-8D6B-552E06FF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문제는 ‘내가 억울하다’에서 ‘근거가 있나’로 바뀌어야 한다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67E372E-564B-4B7C-9723-D2F6A984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하지만 일반 사용자는 공식 기준과 자기 사고 장면을 연결하는 방법을 잘 모릅니다.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1AD6FB3-1A46-4EC7-B158-180F11ED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0FAAAEC-A230-4FF0-AB8C-84F57F5B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971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03378EE-82C5-41D9-B18D-CDD1B667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감정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BEDA265-C611-4090-958C-8A6C5905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상대 차량이 더 잘못한 것 같은데 보험사는 내 과실도 크다고 말합니다.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EB6E1D1-9519-434A-AE64-A01CA0FF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F56E19-C120-4B0B-BC6D-2F1995E8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2971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53787BB-7249-41F2-99AC-FF711C97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480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쟁점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9327C1C-3E62-429F-B5D3-E97B5E48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9950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진로변경, 신호, 정지 여부, 시야 확보처럼 비교해야 할 항목이 많습니다.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585A78B-67A6-42B3-ACF0-D65B9612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E0C95D-F50B-499C-B01A-72823A06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971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4EAA99D-BB19-411B-8EA6-8AB0C39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근거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38C908B-17B6-4205-83DB-96C31013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09950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유사 사례와 다른 점을 확인해야 보험사와 대화가 가능합니다.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0AECE70-8BF3-4F5D-B938-4A8421F4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A9FF198-E422-4002-B31A-739216B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16/45</a:t>
            </a:r>
          </a:p>
        </p:txBody>
      </p:sp>
    </p:spTree>
    <p:extLst>
      <p:ext uri="{BB962C8B-B14F-4D97-AF65-F5344CB8AC3E}">
        <p14:creationId xmlns:p14="http://schemas.microsoft.com/office/powerpoint/2010/main" val="1652769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48AB14-7D6B-4D76-B554-E84BC9F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BA113A-2641-0C8B-E197-ED6E7858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질문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FF06328-3520-7807-9F39-2CB8337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13/40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9CA77B-8DF2-711F-0F23-987B545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B13A3C4-19E0-5709-457A-680A375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37207A5-9505-8CD5-BC4E-66B88AF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고지서 해석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CD0F03B-9079-34EC-41C8-911F50F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909B85-2469-55F7-0EAD-6AC3AD5A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과실 근거 확인</a:t>
            </a:r>
          </a:p>
        </p:txBody>
      </p:sp>
      <p:sp>
        <p:nvSpPr>
          <p:cNvPr id="16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68EE7E7-DCE0-EA78-3F04-0BE9C62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9ADA08A-B6D6-BBF7-0BD1-E121119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증거 부족 판단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003BE8-E1CF-8D8E-C46D-BB05DA4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CFAEB2F-484C-F3D0-0871-76B74C6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유사 사례 검색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5E0DE4B-3D93-E521-B44D-00DB671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A3B7DF2-745F-E243-F18D-482E905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리스크 판단</a:t>
            </a:r>
          </a:p>
        </p:txBody>
      </p:sp>
      <p:sp>
        <p:nvSpPr>
          <p:cNvPr id="34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FE7D787-D09A-D9C5-7100-21C9DE3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17CCCD0-2E97-1399-0E73-9F5EE9D5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문서화</a:t>
            </a:r>
          </a:p>
        </p:txBody>
      </p:sp>
      <p:sp>
        <p:nvSpPr>
          <p:cNvPr id="4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4CA8366-888B-70FD-5852-B1E2287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3052"/>
            <a:ext cx="1051560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0DEDE30-4EAB-2C4F-3893-3FEBEDF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00252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서비스는 “사용자의 질문”을 “검토 가능한 사건 구조”로 바꾸는 데서 시작함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3D67D8AE-25C9-41E7-8BE5-1B6B67F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46AED9FD-9DCB-49E8-948D-FCC39846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4B2120DE-F7F8-47D4-B01C-1879A396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사용자의 질문은 검토 가능한 사건 구조로 바뀐다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72F17351-7674-4F1A-9E2A-A551961D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질문을 바로 답하지 않고 분석 가능한 항목으로 나누는 것이 첫 단계입니다.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6831806B-9B31-4DF7-9EB7-4562A68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B9B29E06-2FF7-4058-A705-3A42E04B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1429C574-B949-4ED8-806B-24789FB9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F179A07B-DBE6-4B1E-A1E0-ABF47546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고지서 해석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36C89CD8-F7EC-4381-8A87-A1EB2FDC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처분·금액·기한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BB75DB63-E1A4-46D4-AC68-4F0E18C7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9C5FE95-A67C-4C45-8517-C17D372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37B04AED-E043-42BC-881E-0F815A1A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과실 근거 확인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E9E1BA4B-8C08-4CE9-BD28-F539B96C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사고유형·행동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FE1571CA-983E-4509-9C29-E3E2F0A3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FD8E1DE-8277-4C58-9C87-54AD0AC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1AFF250E-740A-49F3-92AF-45592D10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증거 부족 판단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0BBA0222-F88C-4127-88BC-FF7B8F76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사진·영상·위치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0FC2C645-C059-47C0-B642-5FF5F8DD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DDD2EE5-73C8-443F-82E3-2216106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1DF9B65-B7CA-40B5-BC65-DA0DD600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유사 사례 검색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A80F5D1C-F3E6-43D6-9A75-0404705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판례·심의사례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C24BF7FD-67CF-4306-ACF3-D2FA3FE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05FA2AD-F135-4596-B64F-6B2C3830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797F03B2-87A4-49DA-8CD2-63C11FF0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리스크 판단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CE4DB24-38F4-49A3-9707-D7283343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기한·진술·단정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8296ED25-3BAE-4D5C-A50D-59E42A1B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A7CEAB90-E0D5-4AEA-BCE6-67CE6EBB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E8DF9A2-9102-4DC8-9DA9-3E19482C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문서화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8554DAD0-CC9F-4D8A-82D7-21997BAC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문의 초안·리포트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48DAAC59-2F7A-42A8-95C6-6D8984B2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핵심: 교통분쟁 AI는 질문을 '답변'이 아니라 '검토 가능한 사건'으로 바꾸는 데서 시작합니다.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B47E607-EC6B-4CCD-BAE8-616B02FE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320BF7B-6049-47E4-82EB-92909060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DB77443-1CEB-4B23-86CC-9F86848A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사용자 질문은 대부분 필요한 정보가 빠진 상태로 시작된다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C3B70D0-4BB6-4E7B-887F-03AAA97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그래서 질문을 바로 답하기보다 부족한 사실관계를 먼저 드러내야 합니다.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8815CBC-2E3A-42F2-A15F-90E9FB5B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57CD704-345E-4DE8-BC3D-01996D4E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84BDBBB-370A-4B6E-B99C-04059D67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C391DFB-47DB-4DDF-8711-8516B5CC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일상어 질문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억울한데 어떻게 해요?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4C325F-0F7F-49E1-A687-538FB21F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2AFF573-430D-43C8-A57D-905ED73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1D5AF50-0DAB-4552-ABDA-662305C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ED823E8-7698-4194-9C1A-035D7852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빠진 정보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장소·신호·증거·기한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446542-C64B-40B3-A3BF-AC805FF4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5221845-DCB8-47D0-AEC4-80D9C52A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614BEF9-2667-46ED-ADE7-EF76B9BD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80EBC26-FFBA-49A5-A07D-E46615B5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쟁점 분리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처분·과실·보험 대응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8D616B8-B35D-4DD2-8B88-5C3ECA4D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A11660F-9CEC-40B4-B015-6A3851C7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D742E2C-E937-4FBC-A365-26DEF060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A7984DF-D3C3-4499-B244-295B346D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탐색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기준·사례·법령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A7728F7-D03A-4FE7-A078-6680A3D0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8755FD4-2E23-41F1-B440-8F2B9883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2969AEC-2735-4803-858E-9D76329C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E8D826B-D4E0-4929-BE0D-B104FD58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다음 행동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문의·자료 보완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212B98B-A311-4797-ABD9-B43BD4BF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9D3FCD1-558F-40B6-A21B-6428EFB2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17/45</a:t>
            </a:r>
          </a:p>
        </p:txBody>
      </p:sp>
    </p:spTree>
    <p:extLst>
      <p:ext uri="{BB962C8B-B14F-4D97-AF65-F5344CB8AC3E}">
        <p14:creationId xmlns:p14="http://schemas.microsoft.com/office/powerpoint/2010/main" val="40784365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8015B3-1789-79EE-90A9-D692CCAD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644E5E-CDCF-F774-30DF-FA7E3C66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과태료 고지서 사례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3C46A1E-B8F8-3663-D17B-5FA3278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14/40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5731F10C-38DB-395B-A899-7E8991B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B502-BC43-4752-0649-F9A67A13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2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1D3C00A-4973-241A-B416-3EFBA0B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4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“불법주정차 과태료 고지서를 받았는데, 차를 도난당한 상태였고 이의신청을 해도 되는지 모르겠다.”</a:t>
            </a:r>
          </a:p>
        </p:txBody>
      </p:sp>
      <p:sp>
        <p:nvSpPr>
          <p:cNvPr id="12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65585A5-EB81-708C-6E02-FC095646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D04B6CF-4CE7-6226-FEDD-D20A8847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업로드</a:t>
            </a:r>
          </a:p>
        </p:txBody>
      </p:sp>
      <p:sp>
        <p:nvSpPr>
          <p:cNvPr id="18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403FD80-C7C2-9C37-3197-9027A22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66B315-6720-3F47-DA1F-9B6250D5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문서 인식 필드 추출</a:t>
            </a:r>
          </a:p>
        </p:txBody>
      </p:sp>
      <p:sp>
        <p:nvSpPr>
          <p:cNvPr id="25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D8D2B88-07DC-0848-1DE0-EBF840E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5125A5C-0246-9FA3-16EC-AA399571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31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784C0EE-2E46-C5A9-AAB1-E31402B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917892F-EAB3-FB87-3A6A-36C5BF7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사유·기한 검토</a:t>
            </a:r>
          </a:p>
        </p:txBody>
      </p:sp>
      <p:sp>
        <p:nvSpPr>
          <p:cNvPr id="3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5908D75-6BC3-3148-628B-73CFD17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6B2244F-D04B-64E5-2472-A94DA6B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리포트 생성</a:t>
            </a:r>
          </a:p>
        </p:txBody>
      </p:sp>
      <p:sp>
        <p:nvSpPr>
          <p:cNvPr id="4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C3E43BD-C969-DFE8-5F29-1E841ACA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254BF0D-F583-BF26-BD45-DF9481EF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5A2BAB6-5C3E-4C27-AA0F-3060A41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위반유형, 기한, 법조문, 금액을 읽기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도난·부득이한 사유·본인 운전 인정형 진술을 구분하기 어려움</a:t>
            </a:r>
          </a:p>
        </p:txBody>
      </p:sp>
      <p:sp>
        <p:nvSpPr>
          <p:cNvPr id="50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50AA1C5-27BF-3DBD-FC0B-907C8EF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C156D7C-24A6-7EBA-787F-A54095D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DBAF422-7980-1B44-07BF-B92B21A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결과, 법적 리스크, 인정 가능성, 부족한 정보, 다음 조치를 분리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검토 가치와 한계를 표시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FB33F56F-06FE-4505-852B-C2C6B4B7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1091FF61-19E8-4C1E-A3D1-C50C8FD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79955C5D-CB00-4D1C-A1A1-CFF2F82C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고지서 사례는 OCR보다 위험 분리가 중요하다</a:t>
            </a: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940D432F-879C-489F-8DFE-56754C56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도난·부득이한 사유·본인 운전 인정형 진술은 결과와 리스크를 크게 바꿉니다.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BAF54A8A-F876-42A6-9058-F474AE4E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6DC5C19B-92D2-4ED0-BB51-45B93C89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“불법주정차 과태료 고지서를 받았는데,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차를 도난당한 상태였고 이의신청을 해도 되는지 모르겠다.”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8EDCD417-9C1D-47AC-B738-D6D0694B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95FCBF11-2D61-4954-971E-7C9AA7BE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15CA2AA0-03F9-4414-91C3-23653796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업로드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EAF99518-2070-4E47-9262-EB5C3B57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D27183EA-FB8D-488B-9B4B-7AB57120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C3A2CB9-1198-4953-8E69-E68E57D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346F260-4FCB-45D9-B531-517B481A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필드 추출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C6CD4B12-0064-49C8-864A-22D93E6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일시·장소·금액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561E6376-3E5E-4134-8B3F-7DDF540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9EB41B25-9A97-4828-8F46-DF78B90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89E69D2C-A8A2-491A-9579-21E9D64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유형 분기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D967EC8C-B30B-44DD-B204-CBBC4AFD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과태료/범칙금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AE2DCB31-F605-4E88-A7F9-9B8398C1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209A91A-FFF8-41FA-B448-E0BA260A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F69686D-05F7-4C14-B813-1119ACC0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사유 검토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6C9F6D23-1C04-48F7-ADAF-2FDF93A7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도난·기한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C3957B74-4009-4D53-B385-9605EE1F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969CFEE-B0B9-4164-8D3E-67C24AB8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F627C499-51DE-41E6-B463-2CEE020F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5EDE149-8244-485A-B39A-7CB9309D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위험·다음 조치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9C7BFBEA-0FCF-4FC0-83B9-428260A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CF9B5461-2263-476C-99EA-F6B6F31C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794F5CD2-B388-4C12-AAFF-B6910C37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사용자 실패 지점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D3794ED5-47E3-424C-A9A9-BCEE62E7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서비스 출력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41F518A5-B818-4E80-B3BC-C0739FA4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기한·법조문·금액을 읽기 어려움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C06BF517-492F-43E2-8428-104BB031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진술 리스크를 구분하기 어려움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E9C36768-5886-4118-9CF4-FEA97F56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판단 결과와 법적 리스크 분리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A6C60A62-0D83-425F-9505-9C1A904D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인정 가능성과 부족 정보를 함께 안내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EFB3FA1-3455-4205-A8C9-1E74370E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DE6FBF-2011-4378-944F-31B671C6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B2F2F0C-027D-45F6-BBD2-B2E72B2F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사례 A: 도난 상태에서 받은 과태료 고지서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23245A1-F1F6-455F-9707-C597D2CB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돈을 낼지 말지가 아니라, 어떤 사유와 증거가 필요한지에서 막힙니다.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4C24B56-3406-4526-9916-AEE6D309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11A695D-6DDF-4001-9E11-D5AC1E95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“불법주정차 과태료 고지서를 받았는데, 차가 도난당한 상태였습니다.”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8939C6E-6BE1-443F-BCF1-CA79B340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82D578C-5E1D-4EA0-9A9A-EAAE87A2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사용자가 모르는 것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C4C3EB8-5EAD-4E48-8EAD-D80D0342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도난 사유가 인정될 수 있는지, 어떤 서류가 필요한지, 기한을 넘기면 어떻게 되는지 알기 어렵습니다.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B5930D9-ED36-4375-92A4-E51D9E6A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1F64AC9-EAF9-4A78-A34D-312BBBEF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필요한 정리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25E1211-7FB0-40C2-9F3C-95FF8AC8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고지서 핵심 항목, 도난 신고 자료, 제출 기한, 기관 문의 내용을 한 번에 정리해야 합니다.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5806908-2AB9-487D-896C-4C6BD78F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B19DA35-6813-4E66-BB78-AFA44CFE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18/45</a:t>
            </a:r>
          </a:p>
        </p:txBody>
      </p:sp>
    </p:spTree>
    <p:extLst>
      <p:ext uri="{BB962C8B-B14F-4D97-AF65-F5344CB8AC3E}">
        <p14:creationId xmlns:p14="http://schemas.microsoft.com/office/powerpoint/2010/main" val="27922374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ECA8E2B-605D-D509-1AEF-42FD2BF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15/40</a:t>
            </a:r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F01EE2-4BA5-0304-3BD2-3EDCC3F0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3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42D7D5-85EF-9AC8-9A8F-AA15EAB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5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“상대 차량이 진로변경을 했는데 보험사는 제 과실도 크다고 함 비슷한 사례가 있나요?”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4F001AC-3A43-60C9-5207-220DB28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3D3CED-336B-72C0-0DBD-52EE60D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사고 설명 입력</a:t>
            </a:r>
          </a:p>
        </p:txBody>
      </p:sp>
      <p:sp>
        <p:nvSpPr>
          <p:cNvPr id="17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9E51C6F-4049-DB43-0A25-B3DA9D5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AEDE6E0-B6DA-1FCB-1143-4D5273CC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사고유형 구조화</a:t>
            </a:r>
          </a:p>
        </p:txBody>
      </p:sp>
      <p:sp>
        <p:nvSpPr>
          <p:cNvPr id="23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22D6A39-1CD1-809E-403D-176AB8B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5E803A2-E865-098D-5000-081D344E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유사 사례 검색</a:t>
            </a:r>
          </a:p>
        </p:txBody>
      </p:sp>
      <p:sp>
        <p:nvSpPr>
          <p:cNvPr id="29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1BCCA58-1915-C6FF-E35F-3395493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82F0265-6201-5E6C-539D-288FCD10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근거/한계 비교</a:t>
            </a:r>
          </a:p>
        </p:txBody>
      </p:sp>
      <p:sp>
        <p:nvSpPr>
          <p:cNvPr id="3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4FB1F75-F3F3-20E4-199C-F8436C0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8A0BE42-3F13-B98C-C8B3-CEC503AE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문의 초안</a:t>
            </a:r>
          </a:p>
        </p:txBody>
      </p:sp>
      <p:sp>
        <p:nvSpPr>
          <p:cNvPr id="4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A43B6BA-6611-3185-42E8-FFEF2F70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20827AB-5B71-3A56-6B07-7D73E2E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6A5EA62-BA3B-15AC-EE1A-5C5D1539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인정기준, 판례, 심의사례가 흩어져 있음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장소, 방향, 신호, 정지 여부가 빠지면 유사 사례 판단이 어려움</a:t>
            </a:r>
          </a:p>
        </p:txBody>
      </p:sp>
      <p:sp>
        <p:nvSpPr>
          <p:cNvPr id="54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3473EE3-A256-5B06-FB9D-877FB04C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F85F81EC-2873-3765-B8AE-85B3EF4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B9F1669-AFB3-DCE0-2085-CAFE7E2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사례, 사실관계 차이, 부족한 증거, 보험사 질문 문구를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460B29-A568-2B88-50D5-93640D95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79E4D6B-D932-4E0F-79F9-54AB588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 과실비율 사례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737F6C7-8DC0-5E65-C366-4A8697A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349ED2E-8ADA-4118-B277-6825E3F5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296B13EC-AD66-4398-B7A6-A419D00E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3FA0B9F7-E203-4033-B970-7E6D020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 사례는 정답보다 비교 출발점이 필요하다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5DB270E9-8F49-4898-B4A9-0E6E5B87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비슷한 사고라도 장소, 방향, 신호, 정지 여부가 빠지면 판단이 흔들립니다.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C53EC4E3-84C5-4E09-A22B-02E2B5B6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E5872B3C-0BE8-4C48-A4AA-0E001FD9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“상대 차량이 진로변경을 했는데 보험사는 제 과실도 크다고 합니다.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비슷한 사례가 있나요?”</a:t>
            </a:r>
          </a:p>
        </p:txBody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5E112EA8-3179-41C5-844F-68079F2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F9EBD467-F8EE-4463-9FE3-8D076E5E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381D6A8F-1272-41EF-8F1D-19115DE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사고 설명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FB50EA8-99E1-42DA-9C0D-46F2956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사용자 진술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1F50A925-CC3B-4F20-90C1-9728F9E4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9B8CB13-4839-4CFC-8E8B-F4DB8FF7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88B77BC-35F6-43B3-9EFB-77FFB665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유형 구조화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E974F15C-1819-4AAF-B595-CAD61D80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진로변경·차로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CE2F0A54-72C8-42F3-A908-24A197D1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CB66FD08-B6B1-4826-9483-E17AEE62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ACFD356C-D631-4D0D-B0CB-F843A9A5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사례 검색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FA4298C-C53B-45F2-A5C6-BA3571F9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판례·심의</a:t>
            </a:r>
          </a:p>
        </p:txBody>
      </p:sp>
      <p:sp>
        <p:nvSpPr>
          <p:cNvPr id="84" name="사각형: 둥근 모서리 83">
            <a:extLst xmlns:a="http://schemas.openxmlformats.org/drawingml/2006/main">
              <a:ext uri="{FF2B5EF4-FFF2-40B4-BE49-F238E27FC236}">
                <a16:creationId xmlns:a16="http://schemas.microsoft.com/office/drawing/2014/main" id="{FC39C669-F57F-43AB-8A3F-C0BE9588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4BE06EF1-25AC-4537-BD79-9E38F2AA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957CA9B8-6C8F-4E3B-9705-A33376E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비교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F294798-0DC3-4882-815F-A153BEA1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차이·한계</a:t>
            </a:r>
          </a:p>
        </p:txBody>
      </p:sp>
      <p:sp>
        <p:nvSpPr>
          <p:cNvPr id="88" name="사각형: 둥근 모서리 87">
            <a:extLst xmlns:a="http://schemas.openxmlformats.org/drawingml/2006/main">
              <a:ext uri="{FF2B5EF4-FFF2-40B4-BE49-F238E27FC236}">
                <a16:creationId xmlns:a16="http://schemas.microsoft.com/office/drawing/2014/main" id="{1D1C7166-E112-4E10-AC0F-5220D30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9EF0755E-8F43-40B1-B8EE-2F640C13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9390B8E0-F318-49B8-A8C5-4E8F9E73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문의 초안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A3B20058-4C74-442D-8298-D88A2448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보험사 질문</a:t>
            </a:r>
          </a:p>
        </p:txBody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91827C9F-2981-43B3-9D66-A48353A6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138D2F42-A6D8-4BC2-963E-A628CCA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97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서비스 출력: 유사 사례, 사실관계 차이, 부족한 증거, 보험사 질문 문구를 정리합니다.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F1F7642-3A09-4704-8284-D3CF59D6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323691-2136-4438-AA99-99609B00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9DF1AC-5880-4276-BB39-DFD86158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사례 B: 보험사가 제시한 과실비율이 납득되지 않는 사고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D39E0DC-DFA1-43A9-97F1-F0766E3C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비슷한 사례를 찾고 싶지만, 사고 장면의 차이를 비교하기 어렵습니다.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96CE2E6-13C5-4C86-B9D2-0013D9C3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4453A8B-8AB3-4439-B5BC-E7236610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“상대 차량이 진로변경을 했는데 보험사는 제 과실도 크다고 합니다.”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2195B70-049D-44CA-8CED-798566FE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043029-7DA3-4C94-9A91-4137C3FB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사용자가 모르는 것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28E75CB-5927-4F10-8FF2-D3F47CE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진로변경 사고인지, 끼어들기인지, 영상에서 무엇을 확인해야 하는지 명확하지 않습니다.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A628042-8909-4BA3-A824-B8CDE21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F46A070-5740-46D2-9A99-DCD95075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필요한 정리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E8C9D8A-A2EA-4738-8A67-99259372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사고 유형, 쟁점, 유사 사례, 보험사에 물어볼 질문을 구분해야 합니다.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392B797-94FD-452A-9887-AB3FC5A1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6449D94-2A31-4DB6-88CD-F5A623CA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19/45</a:t>
            </a:r>
          </a:p>
        </p:txBody>
      </p:sp>
    </p:spTree>
    <p:extLst>
      <p:ext uri="{BB962C8B-B14F-4D97-AF65-F5344CB8AC3E}">
        <p14:creationId xmlns:p14="http://schemas.microsoft.com/office/powerpoint/2010/main" val="13623653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4E4B1D6-659C-87FC-658C-C425FEA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E31569-693E-771E-D5A9-D50FDAF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DB56009-C748-8154-7401-197E9077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데이터 보안 위험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B982C94-825E-4503-9865-A3C806D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4D932A4-4C4A-B76C-4A6C-26AA32EE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83C43C4-7F2D-F4F7-663C-7B36BE6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입력 데이터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AA0C02-0C32-1D3D-7C73-6EE6A4D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차량번호, 고지서 사진, 이름, 주소, 사고 위치, 블랙박스 영상이 동시에 들어올 가능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65DBDCA-8A90-82BC-12F3-4FB9474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44BE96-CCBF-118A-9A95-11C51786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LLM 위험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85D7AB8-3BC9-496E-484A-C7132104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원문이 프롬프트·로그·출력에 그대로 노출되거나 문서 내 지시가 모델을 오염시킬 가능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5DB382-EFF8-1475-16E3-0396FAD9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A6CCB8B-8AE0-1BBC-AB53-B9E27ED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설계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97C76BA-DE0C-ADC9-487E-0C24C1D6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회원 권한 분리, 업로드 파일 검사, 개인정보 최소 저장, 근거·한계 표시를 적용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944294C-09E6-A35C-B88F-FCAE2A8E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337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법률/보험 AI 서비스의 핵심 | 답변 품질 + 데이터 보호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07287B5-A898-4517-B401-D026F62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6A416D91-EF97-4BD1-9550-F2F1A6AD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F2C72188-79B8-4A85-9BFF-21936594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법률·보험 AI는 답변 품질만큼 데이터 보호가 중요하다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17C7348-B821-4CE0-8267-551F8EC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 자체가 차량번호, 주소, 고지서, 블랙박스 영상을 포함할 수 있습니다.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204CF6D0-D997-42D8-A78D-B4F95B46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20222670-D2A0-4BD7-9947-E6D7639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36591BF1-1F3C-4F06-B891-C114ACB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위험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2C4F38B0-5828-41C6-BFBF-6648CFDF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우리 설계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67D4F2B-0092-4726-A31C-83F90DBD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민감 정보가 프롬프트·로그·출력에 남을 수 있음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6A583749-23DD-4560-BE59-63A5522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문서 안의 악성 지시가 답변을 오염시킬 수 있음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88D118B-CC2B-44FF-8B1D-FE8F395F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원문 전체 저장은 개인정보 노출 범위를 키움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45C15FCB-95C9-4432-83C9-6FE6E22A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회원 권한과 저장·다운로드 권한 분리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88FFC93-44F1-4E98-AC5F-FEE8891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업로드 파일 검사 후 AI 분석 전달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3B093591-4FEF-4654-9476-51FEF433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필드 중심 처리와 근거·한계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53DFA862-BD8A-4FED-9B56-B1A722E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1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품질 + 보호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303AE16-612A-444A-B764-A0E8CD8D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CF31EAD-CC8A-40FE-A714-2FF70B06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1D4FB34-2210-40E6-B447-330F99E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교통분쟁 데이터는 민감정보와 외부 지시가 함께 들어온다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64C0F50-05F4-4E57-B487-F95AC9D1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고지서, 차량번호, 위치, 블랙박스 영상은 기능 설계 이전에 보안 전제를 요구합니다.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4BE35CA-CE06-487D-B67E-BFDCA067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D073936-4E94-4DD5-A965-4AE7975E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05727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D3C88F3-357E-4FE3-9B7D-B846FBCA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ADD45F0-CBB6-4A2F-B4C5-B18B55D3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위험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2006A2A-C72C-43BA-84C2-98304475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38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5312CE-DC4B-4F62-9C55-FF2A5E72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예시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2E48667-6765-4503-9899-EC9C1AA0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38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1F364B4-C398-4C16-A94C-8C0D7AD5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왜 중요한가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DFA7D3-C7A8-4B53-83A4-0E7A678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64D69C-FB85-4890-BC11-C7E03EDA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설계에서 필요한 통제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F746230-93A8-4414-8D9E-94D6B198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C9BE90A-CD84-48D2-957D-8FEC83B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개인정보 노출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7FA695-4FA6-4056-93F6-D4DEB848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384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E8B77B4-2B3A-4281-8FFA-93733638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이름·주소·차량번호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5C0268D-B1E2-4AFC-8B5E-2508D8B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F9D02D9-892B-417E-B0F9-2F491440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718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상담 자료가 곧 민감 자료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0913E0F-8C92-4451-8C83-E9F9F592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7FC304E-9648-467B-8775-8AEFD1DE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최소 저장·마스킹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A8979EB-76A0-4131-A8E3-21CCA0AC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60027EF-9BED-4FD2-9AAD-E1D1D99E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파일 업로드 위험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B972ACA-4A9D-4C20-9ECA-EEA37172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D349E23-3FE3-4B4F-A464-E9D2182E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문서·이미지·영상 파일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8A28F99-A37E-41C6-8B05-20FF0979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9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D4B1702-7B5E-4949-B154-B51286D4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2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악성/부적절 파일 유입 가능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BA7094D-EB39-48D8-97EC-9BF20678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34E1DD2-7F29-4FC7-AF93-BE23DE14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파일 검사·상태 게이트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51C74F3-4866-47BA-A038-CCFDC52D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AC5D0DF-3CA4-4F91-BB5B-AAD021F5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LLM 오염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F4DE51B-1FBB-4BF8-8942-1F44B90C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1933C7D-2A47-4EFB-85C6-037BAF56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33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안의 지시문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6BEA723-1C13-483A-B6F0-86F475C7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00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CEA3A2B-18A6-4983-B1A7-98B5DAF0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33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외부 문서가 답변을 흔들 수 있음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6129A14-AAB3-485C-BB63-AE52B353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B34F5F3-9CC0-4429-A948-0A13A56C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339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프롬프트 분리·출처 검증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4805C56-1291-44E9-8AE7-1C13D482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1A64A41-396A-49E2-A7E7-AF4D3A1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20/45</a:t>
            </a:r>
          </a:p>
        </p:txBody>
      </p:sp>
    </p:spTree>
    <p:extLst>
      <p:ext uri="{BB962C8B-B14F-4D97-AF65-F5344CB8AC3E}">
        <p14:creationId xmlns:p14="http://schemas.microsoft.com/office/powerpoint/2010/main" val="20526968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7BC2984-567D-01AD-02EB-BD07784C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91EA95-1E87-7FBA-7D96-E336E2C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5E4D8CB-C6FB-5594-7E67-56E96D71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453445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경쟁사와 차별점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235C1F-A2A8-E8FD-A480-E60707D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7E67D9-9FA9-1773-5FEF-4FD0F20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기존 경쟁사 기능 범위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부족한 시장 영역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우리 서비스 차별점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4FE47A-4D0E-F96D-D1FD-059D6E0D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3030351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기존 서비스의 한계와 차별점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C817E482-3C34-49F6-9589-9F08FD89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C2B76BF-C5D0-4F15-B522-489BD36B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A567901-FD15-4BE9-871B-0C76AAA9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시장과 차별점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F90C227F-6343-415E-AD73-DEA54D7C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기존 서비스의 강점 사이에 사건 단위 근거 리포트가 비어 있습니다.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C82E86A5-BDCF-45A2-AD00-E6B6C37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29D234A-EE6E-4598-898C-31C23BDB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17D86FC-DE1D-4EDE-8475-EE2DDB22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공식 기준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DA80FC68-EBD1-40A1-BE2E-1D22CCCE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기준은 있지만 개인 사건 연결은 약함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1404AD64-E3D6-4E03-BEF8-11BFE51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D540DC67-D578-4B0F-95DE-D13254FF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0D440309-0EFE-4C1C-825F-02523B5C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접수·청구 중심으로 설계됨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29BE98E9-17EC-4E50-BDDF-661B3BE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592CA07-74D6-40BE-9CAC-2DEB5FA2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우리 위치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6407D4ED-EFD1-4301-9C82-384931D5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상담 전 셀프 점검용 근거 패키지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F465B8-37FB-4604-B81A-352BD398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8053E-036F-45B8-B90F-DF83CC57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4DFE3B-019B-43FD-8243-0BC9C548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경쟁사와 차별점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66C36-F335-4A49-B9CA-9566284F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기존 서비스가 잘하는 것과 비어 있는 부분을 나눠서 봅니다.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938C1-F1F0-4FB2-86FC-9BAEE188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B86BBD-B6F7-4B38-95A7-49E2FD9F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314725-9DB8-4E4A-8E03-6B2D48DC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공식 포털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E617F7-74D8-4DFB-8CA8-9BAFF348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조회·납부·기준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55F6BB-1407-41C2-B45B-E8E57441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025A0-CF99-41C2-9EEB-00E7AE49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E85CDC-6493-4B76-885C-87BAA4B1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접수·청구·보상 처리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78EBD-FC08-457F-95BD-A1FF7AB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2CA113-0380-46BE-B006-74BB3436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리걸테크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93F550-031F-4898-910E-CD6B558B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검색·문서·전문가 연결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1E227C-3A9D-4C5F-AB4C-489DC8F1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DEE564-32B0-4224-9CA9-D349F3B1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21/45</a:t>
            </a:r>
          </a:p>
        </p:txBody>
      </p:sp>
    </p:spTree>
    <p:extLst>
      <p:ext uri="{BB962C8B-B14F-4D97-AF65-F5344CB8AC3E}">
        <p14:creationId xmlns:p14="http://schemas.microsoft.com/office/powerpoint/2010/main" val="2222712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0D53647-4C79-8516-0CBA-0BB947F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18/40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D3C909-F3E8-E909-92D9-1FA1C7E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7D74AF3F-6B43-53AF-3851-DB981DD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 서비스 현황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A7D0C73-D5A9-0E30-9BB3-9FF76EC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CA29625-8135-9C68-3B7D-9646EC1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7F86B6-C159-696F-CF75-E834FC5A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시장에 이미 있는 기능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C6E9D58-B52F-E150-A076-D910AA96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과태료·범칙금 조회/납부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 앱·콜센터 사고 접수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손상/청구 중심 보험 AI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 검색·법률문서 생성 리걸테크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D3313EE-4716-EF48-84EB-898D6780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6F30F2E-CF1A-A9DE-5C2F-0C59114A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아직 부족한 조합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0CFEBB6-6739-A008-A19D-7B431FD6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+ 이의 가능성 판단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블랙박스/사고자료 + 과실 근거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판례·인정기준 근거 검색 + 출처 제시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소비자용 사건 리포트 통합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AC5DDD4-85E9-8384-2903-9F5C315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267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핵심 | 개별 기능은 있으나, 자기 사건 기반 근거 리포트 제공 서비스는 부족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6187418-CA93-466F-92C3-4EB48A8D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27EFAB5-1AD5-40D9-8251-74CC1FA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1AE8A513-EB86-4264-9FF4-076E17DC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시장에는 기능이 있지만 조합이 부족하다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7FE1DED9-54D1-4C94-94CE-58FA45A2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조회, 청구, 판례 검색은 존재하지만 자기 사건 기반 근거 리포트로 이어지지 않습니다.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B40F73C-1791-421E-BDA6-92E68687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9820ED82-2C94-4B05-B5ED-CC7070B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2C86E901-9EC1-412B-BB4E-6AB8831C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E41F7A3-1F8E-4B05-8B5A-256633F4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이미 있는 기능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71233EFE-9F36-4728-9933-2117DE7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아직 부족한 조합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9EB57EA8-19CE-47BC-BE7B-4FEE2F66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과태료·범칙금 조회/납부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444E4D04-0507-426F-B74E-F3D53B6D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 앱·콜센터 사고 접수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0027742B-5166-4814-9B08-C34AF268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손상/청구 중심 보험 AI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B09AEAB-5FA0-45DF-B06D-8130B6C2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판례 검색·법률문서 생성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2C801D9-AD8D-44DA-9D8E-3FC9B6FB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OCR + 이의 가능성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B42F2570-54E1-4701-B58E-C7649794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사고자료 + 과실 근거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EA423B4-698A-46C5-972C-4F056D25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 검색 + 출처 제시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6CEAB07D-E00D-4682-AEAB-73577870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소비자용 사건 리포트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4872139-F972-4449-AA8E-A18D8BD7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4811926-6741-4557-87C5-A131E81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경쟁사와 차별점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307F412-B418-4206-AFE0-40EA6A3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경쟁 서비스 현황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E265F55-9AC6-4FE0-AD03-3B470F5E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공식 포털, 보험사 앱, 법률 검색 서비스가 각각 다른 문제를 해결합니다.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C16DBF9-00AB-46E9-95AA-CBACC268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B0D1246-B195-4A80-A777-008F056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281823-1223-44DC-82BF-DD66DC0F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공공·공식 포털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6F450EC-113E-40A9-861F-6602CF00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조회·납부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공식 기준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FA40EF6-5CD8-4495-8E0A-082F1120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3779B82-37AB-490F-96A4-CDA4889F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54BFB5-097B-48F9-A71F-E628813D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1A87190-68AE-4417-8171-9F7150FD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접수·청구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보상 처리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45F7F04-FDA6-418A-A833-206BF915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19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5DAA99F-A50B-4C52-8B83-D28F2FB5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5930808-9042-478E-A263-FE3D046C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리걸테크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D6B9200-F94C-4A0B-9653-DCDB4C5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판례 검색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작성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B119AC5-38DD-44B2-8A37-C2625929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EEEBC20-311B-4836-ACB5-4DDF9972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306FEE5-9DAB-4026-B384-ED72ACCC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일반 AI/검색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20D097D-F090-4A35-AA35-3942B143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정보 탐색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요약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3AC0EB-828D-44D2-9955-600C59E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48250"/>
            <a:ext cx="948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빈칸: 한 사람의 사고 자료를 기준·사례·다음 행동까지 이어주는 사건 단위 흐름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D7BC75F-BDF3-4835-A5B0-E0D20F66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AF1C620-8F4E-4AA6-8F3C-9627412F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22/45</a:t>
            </a:r>
          </a:p>
        </p:txBody>
      </p:sp>
    </p:spTree>
    <p:extLst>
      <p:ext uri="{BB962C8B-B14F-4D97-AF65-F5344CB8AC3E}">
        <p14:creationId xmlns:p14="http://schemas.microsoft.com/office/powerpoint/2010/main" val="15888565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50359BF-DD17-C1A0-7143-5F5EE104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19/40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416C8-96B7-1A3A-DFB2-28A492F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D6C8A7-32A1-1DA2-3CB1-C4C494F7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서비스 한계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F684F49-B6D8-9265-D6D5-3881EE94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E49986-5D8E-4AA3-A3BB-1F87995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F289BF-ADA7-7706-49D5-E6AAB1D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공공·공식 포털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6BAB9D-37C5-822D-992F-802C6709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조회·납부와 공식 기준 제공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9D20614-F526-77C0-6A60-C3CE5EB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B302B31-86E6-B74B-D05D-CD9045BC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정보포털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747881-65D2-F64C-C567-8CA10515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인정기준·심의사례 제공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2D499A-C5B6-748B-258E-034189B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D0DC2AA-DD1C-88FC-F41C-F4CBE026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AI/앱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9AB557-A97F-930D-7B04-FD52F04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청구·보상 처리와 연결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0E2EB3A-8255-F25E-0A2C-4788EB3E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ACB867C-35C7-5FF3-5501-2CFA780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D642C64-8369-3654-896F-740DE353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검색·문서작성·전문가 연결</a:t>
            </a:r>
          </a:p>
        </p:txBody>
      </p:sp>
      <p:sp>
        <p:nvSpPr>
          <p:cNvPr id="34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2C619F5-8FA9-AC8D-E3DE-C714A15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D0669E2-0E60-80F5-6E94-164CFF9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일반 AI/검색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B9805A1-978C-9667-C71E-8399C26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접근성은 높지만 검증 약함</a:t>
            </a:r>
          </a:p>
        </p:txBody>
      </p:sp>
      <p:sp>
        <p:nvSpPr>
          <p:cNvPr id="4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D7ED3AF-FE46-8081-057A-3ED73A6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0002"/>
            <a:ext cx="99669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303E07F-DABF-B170-976D-1636121D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98602"/>
            <a:ext cx="9692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공통 한계 | 사고자료 구조화 → 근거·한계·다음 행동 리포트 연결 부족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1021D48-D80A-47A9-9AC5-F0EC6220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34C63548-3396-480A-A36D-B0D83CD0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6A98D1C-B592-4875-B0EC-27FFF29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각 서비스의 강점은 분명하지만 사용자 흐름은 끊긴다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69CF06D-E7C4-4FB2-B6C7-D224FE6E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조회, 청구, 검색을 오가며 자기 사건을 직접 연결해야 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A8514AA7-3546-43E2-9698-9B05FFFB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D4FFA978-7F06-496F-9B1C-669219C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E3FAA1D4-13CF-478F-9CA7-A7B267F8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공공·공식 포털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B601B332-C149-44BE-A81F-D13EC2FC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955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조회·납부와 공식 기준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F1B75EF-B115-4B52-BB76-77906E44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95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사건 리포트 연결 부족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50E4012D-FA59-4DD5-B5E6-DA976B22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5C53752-A3C5-4F3D-BDF4-BB4246DF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과실비율 포털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13A1E913-1129-4338-A50E-B98C7F1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인정기준·심의사례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E3E814A-72B1-478A-9AE0-BA60C41E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개인 자료 반영 부족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ECCDE625-C7E8-4917-B0F5-6FA9DB78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37AB9105-E2EE-4BF5-923A-1607EFAB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보험사 AI/앱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677728F3-A319-4DEB-9E13-CD9E362B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청구·보상 처리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35E2466A-C278-4B95-AD39-A2FF1D8E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52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보험사 내부 흐름 중심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D83FE352-BE0A-4059-8726-DABAB35B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719175FC-483C-4B42-B21F-4F8C34BC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2FDE9F5-D7E9-4EAC-9E3C-97ECD020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판례 검색·문서작성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B71F17AF-6443-4646-B562-C91F14CC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81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교통분쟁 자료 연결 약함</a:t>
            </a:r>
          </a:p>
        </p:txBody>
      </p:sp>
      <p:sp>
        <p:nvSpPr>
          <p:cNvPr id="87" name="사각형: 둥근 모서리 86">
            <a:extLst xmlns:a="http://schemas.openxmlformats.org/drawingml/2006/main">
              <a:ext uri="{FF2B5EF4-FFF2-40B4-BE49-F238E27FC236}">
                <a16:creationId xmlns:a16="http://schemas.microsoft.com/office/drawing/2014/main" id="{355D3984-2E69-47EA-B322-92312AAB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C516C161-F498-47D4-A43F-DDCFC54E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일반 AI/검색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CF629A2-A572-48C1-BF12-47C4B05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접근성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28A732F1-F9B5-4E76-B0E8-7BD197E8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1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출처·보안 검증 약함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153D3654-F4FB-4416-AD8A-C5601E61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E4C95B72-BE9A-441C-ABA3-2ADD6B9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경쟁사와 차별점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1D7C37A7-7F5B-4FD4-8DCE-9B330589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기존 서비스의 한계는 기능이 아니라 데이터 연결 방식에 있다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D838F239-B0E7-472A-BDDF-C4BDC4DB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조회, 청구, 검색은 가능하지만 한 사건의 문서·영상·법률 근거를 함께 판단하지는 못합니다.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6DE94D35-A2A1-4CD8-9529-0D4EBF4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사각형: 둥근 모서리 95">
            <a:extLst xmlns:a="http://schemas.openxmlformats.org/drawingml/2006/main">
              <a:ext uri="{FF2B5EF4-FFF2-40B4-BE49-F238E27FC236}">
                <a16:creationId xmlns:a16="http://schemas.microsoft.com/office/drawing/2014/main" id="{F859C4E7-AD53-415B-B7E7-374337B3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673C95F7-B0D0-4A73-B4CB-C9C318F7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공공·공식 포털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79063D83-E4CF-4A24-800C-0093A46E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과태료·범칙금 조회와 납부, 공식 기준 확인에는 강하지만 사고 맥락과 사용자 증거를 함께 해석하지 않습니다.</a:t>
            </a:r>
          </a:p>
        </p:txBody>
      </p:sp>
      <p:sp>
        <p:nvSpPr>
          <p:cNvPr id="99" name="사각형: 둥근 모서리 98">
            <a:extLst xmlns:a="http://schemas.openxmlformats.org/drawingml/2006/main">
              <a:ext uri="{FF2B5EF4-FFF2-40B4-BE49-F238E27FC236}">
                <a16:creationId xmlns:a16="http://schemas.microsoft.com/office/drawing/2014/main" id="{C3CAD656-0372-4288-BDC6-1B7C05C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A7BF749E-F012-4448-AB11-55A8B29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보험사 앱·상담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3B5D96DD-3CD6-465C-9907-2CE042E1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사고 접수와 청구 흐름은 제공하지만 보험사 관점의 업무 처리에 가까워 소비자용 근거 패키지가 부족합니다.</a:t>
            </a:r>
          </a:p>
        </p:txBody>
      </p:sp>
      <p:sp>
        <p:nvSpPr>
          <p:cNvPr id="102" name="사각형: 둥근 모서리 101">
            <a:extLst xmlns:a="http://schemas.openxmlformats.org/drawingml/2006/main">
              <a:ext uri="{FF2B5EF4-FFF2-40B4-BE49-F238E27FC236}">
                <a16:creationId xmlns:a16="http://schemas.microsoft.com/office/drawing/2014/main" id="{A845B0C0-5FA1-4D3A-946C-00CBBE3A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A54C082D-263A-4DA5-9E0F-5D08953A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리걸테크·검색</a:t>
            </a:r>
          </a:p>
        </p:txBody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0E9F92E1-7688-4BC8-AD03-83F5B7FD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판례와 문서 검색은 가능하지만 고지서 OCR, 블랙박스 맥락, 과실비율 기준을 자동으로 묶어주지는 않습니다.</a:t>
            </a:r>
          </a:p>
        </p:txBody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C82D533D-0C6B-46F7-88CD-07F0F5C3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기술적 Pain Point</a:t>
            </a:r>
          </a:p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7E4AD665-B21B-4DF3-A9F7-7B11F23E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7" name="직사각형 106">
            <a:extLst xmlns:a="http://schemas.openxmlformats.org/drawingml/2006/main">
              <a:ext uri="{FF2B5EF4-FFF2-40B4-BE49-F238E27FC236}">
                <a16:creationId xmlns:a16="http://schemas.microsoft.com/office/drawing/2014/main" id="{2C22AA74-213B-460D-8E28-FB65EFC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입력 데이터가 문서·텍스트·이미지·영상으로 흩어져 있어 단일 LLM 호출만으로는 판단 근거가 약함</a:t>
            </a:r>
          </a:p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E750C535-2039-44E2-963F-6564D2B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48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8EA06130-7C46-4437-94FF-CE3B698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법령·과실비율 기준·심의사례는 출처 추적이 필요해 RAG 기반 검색과 답변 검증이 필요함</a:t>
            </a:r>
          </a:p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ABF5A348-E046-49D4-8228-8D2C9254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48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1" name="직사각형 110">
            <a:extLst xmlns:a="http://schemas.openxmlformats.org/drawingml/2006/main">
              <a:ext uri="{FF2B5EF4-FFF2-40B4-BE49-F238E27FC236}">
                <a16:creationId xmlns:a16="http://schemas.microsoft.com/office/drawing/2014/main" id="{F17798AE-7EC2-48D5-B178-1416A2BC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388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사용자에게는 확정 판정이 아니라 부족한 증거, 한계, 다음 행동을 분리한 리포트가 필요함</a:t>
            </a:r>
          </a:p>
        </p:txBody>
      </p:sp>
      <p:sp>
        <p:nvSpPr>
          <p:cNvPr id="112" name="직사각형 111">
            <a:extLst xmlns:a="http://schemas.openxmlformats.org/drawingml/2006/main">
              <a:ext uri="{FF2B5EF4-FFF2-40B4-BE49-F238E27FC236}">
                <a16:creationId xmlns:a16="http://schemas.microsoft.com/office/drawing/2014/main" id="{6BC18789-B283-4A17-ADDE-80B4825D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19/41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BA244D2-7F7B-40B3-8DA1-BC3F9424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D01EDB2-B38A-4BD1-A645-4E0CD2F0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경쟁사와 차별점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671A525-6CF3-4D8F-8CAE-E5DF3B99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기존 서비스 한계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3F8E93B-CC69-40FA-8E7F-61EEBB73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서비스는 강점이 분명하지만 문서, 영상, 법률 근거, 대응 문장을 한 사건으로 묶지 못합니다.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15B6A61-22B9-47CA-8133-76E1ACB2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D8FEC6B-4A14-4A0D-8AA2-4ED518F5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10490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BA5ECE7-820E-411D-A8E9-0F0434F5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AFF293B-D0A0-48F5-BAE4-60BE72A3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58C3A27-94BA-45C8-83EE-DFCE6E91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62B008F-AACD-4030-977A-D14614AB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잘하는 일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976EB45-EBAF-471E-942E-20264A70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8B65DB-26E2-4AF7-9FA6-791D5002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비어 있는 지점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6D42B16-4C9D-4616-966B-F30D628E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1AB9E2E-D75A-4D9E-9133-0A22414B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우리에게 필요한 설계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4C36E45-C0D9-41C7-8E60-C0197BA0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4A04FD8-1ED1-4F78-84E2-6384764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공식 포털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1F46810-87BB-443C-943F-FD137D7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76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DB8FCE7-8BFB-4184-8B84-13C6DCBE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조회·납부·기준 제공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2BA485F-6C49-45BE-9482-56934906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765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C8AE2A1-FB58-4C42-BF0A-D8095908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개인 사고 맥락 반영 부족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4A85262-AA57-487C-8A53-A1D5BCF5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EB4758A-2314-42D7-9DA1-A964B3DE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 핵심 필드와 상황 연결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E708085-0072-48D3-9BE3-D4A63C28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F0EB4E7-A906-46AB-8E98-2A0CCDF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C268B12-1ABE-4DB2-BEC4-376F5E3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57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094ABA4-FA9D-474E-BF3D-EC222325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접수·청구·보상 처리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EDFE7C2-6015-4355-9AD7-9ACBF372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576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90034FE-4DFB-4EFD-8BE5-6588AA05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소비자 관점 근거 정리 부족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6241A85-41F8-4B62-A504-41B0470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C609C9E-6E15-48E7-9382-DCBBC794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상담 전 근거 패키지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6EB0ACE-8CD3-4A68-A7E9-AD811E85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EEE386E-5027-479E-B8DC-4630BF3F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리걸테크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A177ED2-CF46-44B6-AB6E-C6EEB387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38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B3A8311-5E6F-4C5E-922A-05F6B471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판례·문서·전문가 연결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E977BB9-D663-4D9E-85CB-87F2A380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7FA8865-84AE-4E94-A215-1890117A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720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고지서·영상·과실 기준 통합 부족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5136039-0F3E-41F3-9D50-6EAE55C9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1A714E5-05F8-4A6E-BA56-12D83341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멀티모달 사건 구조화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724272A-4C32-4359-8D1D-A74B3171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4F1995F-0162-4905-8728-50506991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23/45</a:t>
            </a:r>
          </a:p>
        </p:txBody>
      </p:sp>
    </p:spTree>
    <p:extLst>
      <p:ext uri="{BB962C8B-B14F-4D97-AF65-F5344CB8AC3E}">
        <p14:creationId xmlns:p14="http://schemas.microsoft.com/office/powerpoint/2010/main" val="19440613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9722855-364C-5CB0-530A-0ACEE7A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D3CBB8-CFAE-376E-06BD-D7674FC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498B069-511D-5F2E-009C-1C84348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경쟁사 기능 비교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343A39A-8188-9CC6-682B-1DCE597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84B9D2-DFC4-292F-8E3B-62C886E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플레이어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986BB6D-EAB2-816B-0CBD-FDF2C3B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강점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92B26E-EEFA-A29A-102E-F9DDD9C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04308"/>
            <a:ext cx="5120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비어 있는 부분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1044307-BE31-4DBE-CD34-B2522A5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5788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FACF11E-DDC1-CDCB-1B31-5C70E7D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25516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DoNotPay / 딱지앱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695D724-6E00-BCBD-D798-8C855453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25516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문서·티켓 대응 일부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A3ABF6-8B41-3641-A9A9-E59BCFB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25516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 과실·판례 근거 부족</a:t>
            </a:r>
          </a:p>
        </p:txBody>
      </p:sp>
      <p:sp>
        <p:nvSpPr>
          <p:cNvPr id="2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752506B-C07D-873C-6C9F-E17DF5F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4156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7104CF8-5748-56AC-F588-870F9D2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83884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보험사·손상 AI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B500F2D-69B1-39D6-BC5B-DAE75D56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83884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청구/손상 자동화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DCD2DD9-9173-6EF6-8A14-071BB426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83884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내부·청구 고객 중심</a:t>
            </a:r>
          </a:p>
        </p:txBody>
      </p:sp>
      <p:sp>
        <p:nvSpPr>
          <p:cNvPr id="41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D1AB739-3F48-F273-16F9-BFFE6D7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2524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2AD41BE-7CF3-C3CA-F493-2D09B4F7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2252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EE44E74-CA88-9250-D6C0-B8ADBF58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4225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판례 검색·문서 작성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FA910C5-97BC-A89B-76D5-A8731F1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42252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사고자료·과실분쟁 특화 부족</a:t>
            </a:r>
          </a:p>
        </p:txBody>
      </p:sp>
      <p:sp>
        <p:nvSpPr>
          <p:cNvPr id="5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00439A0-0FC5-3BA0-51AF-4884C62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0892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F7DCCDF-41A0-DBA9-1858-DF278FA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00620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포털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23B1D4E-C1E4-23CE-3FD7-9D4F8F32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500620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기준·심의사례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C0F9CD72-53E4-8DD8-4083-24ECDAD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00620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사건 리포트로 연결 안 됨</a:t>
            </a:r>
          </a:p>
        </p:txBody>
      </p:sp>
      <p:sp>
        <p:nvSpPr>
          <p:cNvPr id="59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520216-79D5-0ADD-396D-4254032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9259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F624704A-3E8D-5337-125A-7A95210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58987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919C103D-EA82-2E73-5516-23BAE06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58987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 인식+영상 분석+근거 검색+리포트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3998E531-5DCE-7347-DF9F-D68EE6A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158987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운전자용 통합 분석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E7C7B78-D78A-42AC-BF19-419E04F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2F6CEA1E-9FF0-4755-A684-5FD4EE3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72C873E2-789C-4B36-945C-2F9A3E6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기존 서비스는 강하지만, 사건 단위 근거 리포트는 비어 있다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934AC82-09BB-4FC0-B115-852B499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우리 서비스는 문서·영상·법령·사례를 한 사용자 흐름으로 묶는 데 집중합니다.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32FE951-90E8-4914-B5B5-79D82AC8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플레이어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A609D09-A85E-4B2C-BCC9-38FAF31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강점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2426BB87-423C-48E2-B0A9-94250AFE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비어 있는 부분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48D4A93C-1D75-4778-93A4-195927A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99A6BE9-9C1E-4BE4-8C58-D6FBE312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공식 포털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69837B87-760C-42AE-8FDE-A2A26BCE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기준과 심의사례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6B5D9E95-5AC2-4089-B5C2-0B0A053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개인 사건 리포트 연결 부족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86B8CB59-CFD8-44A0-8D25-DE41FD07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8EB85761-D802-44C1-AB05-9BDF19B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보험사 앱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0CFA26A-5AFA-4984-A1A5-D835742D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접수·청구·보상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B29091AE-4409-4C0E-B9FD-252D6EF7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보험사 내부 흐름 중심</a:t>
            </a:r>
          </a:p>
        </p:txBody>
      </p:sp>
      <p:sp>
        <p:nvSpPr>
          <p:cNvPr id="84" name="사각형: 둥근 모서리 83">
            <a:extLst xmlns:a="http://schemas.openxmlformats.org/drawingml/2006/main">
              <a:ext uri="{FF2B5EF4-FFF2-40B4-BE49-F238E27FC236}">
                <a16:creationId xmlns:a16="http://schemas.microsoft.com/office/drawing/2014/main" id="{4BB8CA2C-5CA4-4210-91BF-B221BD1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B9172B2C-7242-4B7F-928D-8043E53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1E309E48-FF9F-435D-949F-8EAE756D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판례·문서 작성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637FFB47-34D4-48E5-8C5F-0BF6289F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교통분쟁 특화 자료 부족</a:t>
            </a:r>
          </a:p>
        </p:txBody>
      </p:sp>
      <p:sp>
        <p:nvSpPr>
          <p:cNvPr id="88" name="사각형: 둥근 모서리 87">
            <a:extLst xmlns:a="http://schemas.openxmlformats.org/drawingml/2006/main">
              <a:ext uri="{FF2B5EF4-FFF2-40B4-BE49-F238E27FC236}">
                <a16:creationId xmlns:a16="http://schemas.microsoft.com/office/drawing/2014/main" id="{36047BC2-5392-4FE6-BC03-89D74BFD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6464EA23-8725-4C5B-AC81-53874B35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일반 AI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CC358388-398D-4374-A667-4D1DECC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33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접근성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E3748D4E-BBEB-4317-9615-0F32A29D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출처·보안·사건 이력 약함</a:t>
            </a:r>
          </a:p>
        </p:txBody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53CEB821-CCD9-4827-8BDF-13E7449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16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027DB4CC-5AD2-41A5-822D-5C45074A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우리 서비스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311041BF-A1D1-4546-80CB-47BCDEB2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62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문서+영상+근거+리포트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A6E75B2D-8FBC-498A-AB47-03A30EE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소비자 셀프 점검에 초점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BAD244C-BDAA-41C6-A4F3-8DC26B81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36A8A7B-2091-4B8C-8D30-9648F4F8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경쟁사와 차별점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BFB8D06-6929-4CD3-B564-15BDDC13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경쟁사 기능 비교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6B86157-E258-4558-A08F-07B7C371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사용자가 실제로 필요한 것은 조회, 검색, 청구를 오가는 동안 끊긴 맥락을 이어주는 것입니다.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035DCA-C07A-477B-A5C3-2126A664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ABD02FD-23B4-4988-A2DF-F8487082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2870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85137B8-F4AF-4CEF-9AE3-43B79951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A699965-6441-4213-A7D3-05708286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사용자 과업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F47576F-DB14-48CA-A37B-5C21F621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F0EBE4B-402E-44AF-8C9C-19A91EBB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공식 포털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0197BED-4A73-413A-BD45-605D565C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62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1CF520B-230A-4D3C-A667-7EFBE0DB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보험사 앱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4230E72-D204-494A-851C-1B7CE03A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DC80FAE-AA03-408D-9615-84EFFBCE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법률/AI 검색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93F2C76-CEAB-4CD7-BF03-53E9A1E1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FAD0BBC-EAEC-4367-B529-A88AAD6E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고지서 이해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574A35A-0495-4DA9-93CB-A659B21D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81F0128-7B19-4E99-9584-6F5EB898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956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가능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F291FAA-2B23-4F94-B0C9-216FEB76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7A966DC-FE5C-43FA-A449-FFEFABE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956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제한적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EB6D5FD-F93C-4508-A987-5C22CE40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14185A2-E7DF-4245-AF56-19CC3257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입력 필요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8725B2D-3CEC-4105-A600-508B3E86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A845AD8-92DC-4847-9319-25588F2E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내 사고 맥락 반영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8C00700-D627-4D7C-A880-7A4D47DC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CFD7782-C01A-464F-A282-1FE6C6BE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623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부족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22183CF-87A5-4780-B690-ED4F573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0D24253-6280-4820-8BDE-1087F9DE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623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 접수 중심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C1EA00A-8AD5-41E4-AE1C-6E449999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3545347-32C6-47A5-BBDD-C6C4BC3F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사용자가 직접 설명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17264CC-354E-4D9D-8838-53F2C2F4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100B9C-5260-463B-9D67-780BEA20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유사 사례 비교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EAC46B6-394E-4F40-A961-C5683BA8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73184EC-A96C-4668-AE38-71B766F0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291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기준 확인 가능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4EBFF20-BDB4-4FB3-ADBF-AF22E61F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0DCA7C1-2508-4A9A-A393-9E3B3CFB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291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제한적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C8AA12-6C7B-41F0-B645-911FE1D3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134A255-D997-49A6-AC2F-82EF6CE7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검색은 가능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E7E106A-E3A0-4871-93A5-A02179A9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0C2688B-F7A3-4601-A3BD-16F01F8E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다음 행동 정리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215E00B-4B72-42CA-B7EB-FDD9421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8D98696-562E-4005-B48A-48D83EFE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절차 안내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A47C276-3BEE-4A7C-B3FE-0108C4B5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88B0007-551E-4559-A5A0-AEA01E32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 업무 중심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9A3D25E-2657-497E-B16F-0376CC40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69552A7-9568-4829-AD1B-39E15962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초안 중심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EC35698-8D37-4EC0-A6C2-65220C6A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결론: 시장에는 기능이 있지만 ‘내 사건을 상담 가능한 형태로 묶는 기능’이 부족합니다.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4B5D8DC-8670-4D9C-A279-8BC3786A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AB889AD-A3DE-4BB2-BA8D-52C60483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24/45</a:t>
            </a:r>
          </a:p>
        </p:txBody>
      </p:sp>
    </p:spTree>
    <p:extLst>
      <p:ext uri="{BB962C8B-B14F-4D97-AF65-F5344CB8AC3E}">
        <p14:creationId xmlns:p14="http://schemas.microsoft.com/office/powerpoint/2010/main" val="39537566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F9C1A92-0A79-93FF-5E4B-FE63588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500B03-C77B-1B44-E3AE-E72607CF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874F44C-92A5-C96E-3B7F-C2C8574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우리 서비스의 위치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C08603A-0D8B-FD15-0026-70C5C47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A2DCF4-FB80-A84C-52E5-DDBC5884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834A80-AC86-6EB5-6D7F-EAE10F86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91CD05-22AD-82B4-825C-7512F0A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판례·문서 중심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BBCC2AF-EF36-D188-2CB7-27CECF5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5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56544E0-D64A-BF1E-54A3-4E3AAC1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2B9E7D8-4BA1-3F8D-38B7-B8AB40A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3BD60E4-F539-5BC3-3EB9-774C284B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청구·손상 중심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B237A81-6E3B-7B13-8290-6597500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752A9B-F628-8C65-6010-D050933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3CA8329-E72B-0EBE-E149-7AAD726F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A0B3896-B46E-8484-F0E1-635EC8CE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중심 근거 패키지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9A75DEA-6580-664C-404A-CABD8742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D1DB3CA-051D-A2B1-454A-9D59A175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5CAFB7B-35FD-8F74-B630-F2E8175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187B721-1C2E-056B-EE57-95AC4BF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 셀프 점검</a:t>
            </a:r>
          </a:p>
        </p:txBody>
      </p:sp>
      <p:sp>
        <p:nvSpPr>
          <p:cNvPr id="48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76DF57E-5735-763B-C579-420C960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105156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277E142B-B4A0-33BF-2EB5-DCAFBC6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6344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차별화 축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D35CF495-C9A2-0AF0-DE64-516B8B5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4920"/>
            <a:ext cx="10149840" cy="2103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독립 + 이의 가치 사전 판단 + 판례·인정기준 근거 검색 + 과태료까지 묶은 멀티에이전트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8203508-7B78-4134-BF1C-2602B0F1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395F5D70-5A02-4F77-85DC-90FBE138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291D9B3-0425-43C9-8694-723112D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우리 서비스의 위치는 상담 전 셀프 점검이다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30C6AAA5-395D-4B44-965E-3453C4C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보험사 AI와 리걸테크 사이에서 사건 중심 근거 패키지를 제공합니다.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89955AA7-5A0B-435A-B335-BCEBB7F5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797BB8E5-DE02-4E89-BD4B-3F5D375D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8841D418-45BD-4595-9258-0B1F500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CF2675A5-E8A5-4FD8-9339-11BCF243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D829AFE-7BFB-469F-B73B-93B5E7A1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판례·문서 중심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B720FDCB-A9D2-4D7E-8CB1-8BF2ABF1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996BCBD4-60C7-4BE2-811E-C8FD09DD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3702A57-FEE3-4558-A55E-666DCEF0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보험사 AI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F302B7C9-70B1-47BF-8215-3257F5E4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청구·손상 중심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E33480DF-9207-4C45-993A-3387876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F6A86D3B-10D9-4A39-8A46-C21A9C50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9CBEFFD-1F00-4B74-8879-E3757042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우리 서비스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38DBC4B-3365-413D-B687-F5B4822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사건 중심 근거 패키지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10342379-1EC1-4AFB-A86D-0982FCA1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6492C2A4-CF50-4BB4-9576-0E15EEF3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D48E8CFC-26F6-4E01-AEFC-AAF249B3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사용자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18BCF792-C593-49A6-BAAE-4DE1326A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상담 전 셀프 점검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927E730E-0FDF-4F1D-B82F-837994AF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차별화 축: 보험사 독립 + 이의 가치 사전 판단 + 판례·인정기준 검색 + 과태료까지 묶은 멀티에이전트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97123655-B299-4CC6-8592-EBD62E3B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EBF6812B-3A8B-4EF8-8A55-37E4F57E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경쟁사와 차별점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FD01B588-2B3B-40AA-A2FB-4DA27DE6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우리 서비스는 상담 전 사건 구조화 에이전트로 포지셔닝한다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D7135D8A-5993-4355-885C-5B1E3E9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경쟁 서비스 사이의 빈칸은 ‘내 사건을 검토 가능한 단위로 바꾸는 기술’입니다.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EB14F635-CF2D-4972-805F-BD0D32D7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사각형: 둥근 모서리 92">
            <a:extLst xmlns:a="http://schemas.openxmlformats.org/drawingml/2006/main">
              <a:ext uri="{FF2B5EF4-FFF2-40B4-BE49-F238E27FC236}">
                <a16:creationId xmlns:a16="http://schemas.microsoft.com/office/drawing/2014/main" id="{3FEC10B7-E6A6-42C2-B2D8-149A8423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809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5C3F7288-521A-4A43-8F1A-BA0E54A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리걸테크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02D2C0F2-2CD8-4308-A591-D188348C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판례·문서 중심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전문가/법률 검색</a:t>
            </a:r>
          </a:p>
        </p:txBody>
      </p:sp>
      <p:sp>
        <p:nvSpPr>
          <p:cNvPr id="96" name="직선 연결선 95">
            <a:extLst xmlns:a="http://schemas.openxmlformats.org/drawingml/2006/main">
              <a:ext uri="{FF2B5EF4-FFF2-40B4-BE49-F238E27FC236}">
                <a16:creationId xmlns:a16="http://schemas.microsoft.com/office/drawing/2014/main" id="{DA31AA32-1536-428D-9CF9-E192A3A9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385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97" name="사각형: 둥근 모서리 96">
            <a:extLst xmlns:a="http://schemas.openxmlformats.org/drawingml/2006/main">
              <a:ext uri="{FF2B5EF4-FFF2-40B4-BE49-F238E27FC236}">
                <a16:creationId xmlns:a16="http://schemas.microsoft.com/office/drawing/2014/main" id="{4A86499C-9240-4382-BFE4-6B0F16B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76550"/>
            <a:ext cx="1809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FD5C7F63-2B27-4E5C-8889-F28156C4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48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공식 포털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BD21D567-3162-4D7A-A54D-2C8942E1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조회·납부 중심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공식 기준 제공</a:t>
            </a:r>
          </a:p>
        </p:txBody>
      </p:sp>
      <p:sp>
        <p:nvSpPr>
          <p:cNvPr id="100" name="직선 연결선 99">
            <a:extLst xmlns:a="http://schemas.openxmlformats.org/drawingml/2006/main">
              <a:ext uri="{FF2B5EF4-FFF2-40B4-BE49-F238E27FC236}">
                <a16:creationId xmlns:a16="http://schemas.microsoft.com/office/drawing/2014/main" id="{7C029DF0-6963-4077-8F7A-15E61FEE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385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101" name="사각형: 둥근 모서리 100">
            <a:extLst xmlns:a="http://schemas.openxmlformats.org/drawingml/2006/main">
              <a:ext uri="{FF2B5EF4-FFF2-40B4-BE49-F238E27FC236}">
                <a16:creationId xmlns:a16="http://schemas.microsoft.com/office/drawing/2014/main" id="{EE19FA54-EB73-45EA-8B86-E949F37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2095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CC65F966-A478-470D-BF4C-997BE2C2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우리 서비스</a:t>
            </a:r>
          </a:p>
        </p:txBody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147F9772-42A6-495D-B3B2-3C654B8B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사건 중심 근거 패키지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멀티 에이전트 분석</a:t>
            </a:r>
          </a:p>
        </p:txBody>
      </p:sp>
      <p:sp>
        <p:nvSpPr>
          <p:cNvPr id="104" name="직선 연결선 103">
            <a:extLst xmlns:a="http://schemas.openxmlformats.org/drawingml/2006/main">
              <a:ext uri="{FF2B5EF4-FFF2-40B4-BE49-F238E27FC236}">
                <a16:creationId xmlns:a16="http://schemas.microsoft.com/office/drawing/2014/main" id="{769A2402-36E5-417E-B4DE-E48F958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38525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105" name="사각형: 둥근 모서리 104">
            <a:extLst xmlns:a="http://schemas.openxmlformats.org/drawingml/2006/main">
              <a:ext uri="{FF2B5EF4-FFF2-40B4-BE49-F238E27FC236}">
                <a16:creationId xmlns:a16="http://schemas.microsoft.com/office/drawing/2014/main" id="{BA1A8339-2B2D-40A7-A6CF-4E5B9A7D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A30A10FA-181B-4A07-B4B3-68763ED2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480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보험사 AI</a:t>
            </a:r>
          </a:p>
        </p:txBody>
      </p:sp>
      <p:sp>
        <p:nvSpPr>
          <p:cNvPr id="107" name="직사각형 106">
            <a:extLst xmlns:a="http://schemas.openxmlformats.org/drawingml/2006/main">
              <a:ext uri="{FF2B5EF4-FFF2-40B4-BE49-F238E27FC236}">
                <a16:creationId xmlns:a16="http://schemas.microsoft.com/office/drawing/2014/main" id="{24A73EB0-8106-4522-BD53-F17E61F4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909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접수·청구 중심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보험 업무 자동화</a:t>
            </a:r>
          </a:p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200DE7C0-C87F-4FF8-9CBB-AC22CFEE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그래서 이런 에이전트를 씁니다</a:t>
            </a:r>
          </a:p>
        </p:txBody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4E1EACF8-02CA-48F8-804A-E46666C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292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297BD0D5-D492-4A14-AC21-EE568336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OCR/문서 에이전트: 고지서의 처분 유형, 금액, 기한, 장소를 구조화</a:t>
            </a:r>
          </a:p>
        </p:txBody>
      </p:sp>
      <p:sp>
        <p:nvSpPr>
          <p:cNvPr id="111" name="직사각형 110">
            <a:extLst xmlns:a="http://schemas.openxmlformats.org/drawingml/2006/main">
              <a:ext uri="{FF2B5EF4-FFF2-40B4-BE49-F238E27FC236}">
                <a16:creationId xmlns:a16="http://schemas.microsoft.com/office/drawing/2014/main" id="{84F77BE3-2C4B-4315-BF4B-382CEDB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340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2" name="직사각형 111">
            <a:extLst xmlns:a="http://schemas.openxmlformats.org/drawingml/2006/main">
              <a:ext uri="{FF2B5EF4-FFF2-40B4-BE49-F238E27FC236}">
                <a16:creationId xmlns:a16="http://schemas.microsoft.com/office/drawing/2014/main" id="{FE33FE38-0D59-4C06-9441-549B3635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사고상황 에이전트: 사용자 설명, 사진, 영상 단서를 사고 유형과 증거 목록으로 변환</a:t>
            </a:r>
          </a:p>
        </p:txBody>
      </p:sp>
      <p:sp>
        <p:nvSpPr>
          <p:cNvPr id="113" name="직사각형 112">
            <a:extLst xmlns:a="http://schemas.openxmlformats.org/drawingml/2006/main">
              <a:ext uri="{FF2B5EF4-FFF2-40B4-BE49-F238E27FC236}">
                <a16:creationId xmlns:a16="http://schemas.microsoft.com/office/drawing/2014/main" id="{8F010BD9-5939-42AF-80AA-7D0FB0FD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388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4" name="직사각형 113">
            <a:extLst xmlns:a="http://schemas.openxmlformats.org/drawingml/2006/main">
              <a:ext uri="{FF2B5EF4-FFF2-40B4-BE49-F238E27FC236}">
                <a16:creationId xmlns:a16="http://schemas.microsoft.com/office/drawing/2014/main" id="{D5E40F9F-A23E-43B3-88E5-47403F69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293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법률·사례 RAG 에이전트: 법령, 과실비율 기준, 유사 사례를 출처와 함께 검색</a:t>
            </a:r>
          </a:p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42E5C94F-8C9E-49F3-8857-72742399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1436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37B4F74F-BA78-45A1-8B62-BF8AAC3D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34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리포트 에이전트: 가능성, 리스크, 부족 정보, 다음 행동을 분리해 제시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05FE8306-4E9F-4A70-9105-5BB073D4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21/41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F9494E-2D6A-49D4-8F56-C6DE9AE3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04A564B-EF8D-4C4F-BB59-1736DE9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경쟁사와 차별점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B6F0F3A-A991-4319-A075-6CF553C0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우리 서비스의 위치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80166A6-3993-4F51-BE20-9902A32B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확정 판정이나 대리 신청이 아니라, 사용자가 근거를 들고 다음 대화로 넘어가게 만드는 영역입니다.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B624F81-BDD3-4A3B-ABCC-2EFEE193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BF6C996-FB48-4CC8-90A2-FB01194B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9D1C01B-E772-4679-8F92-3D063DD0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리걸테크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9B2B89D-999B-404D-A436-B8239A7E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판례·문서 중심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594C523-313F-4E90-9A6D-8A8A5629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242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A4B26E8-86DA-4978-942C-5A8F0898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040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D8BBE3F-1F4B-4ADD-BC24-3D998EB4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528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공식 포털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B33713D-3CB9-4EF6-BD76-8B8DA368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957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조회·납부 중심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4F525AD-0239-4A4F-904E-1F7E42E9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242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1C9478C-C374-4D91-A915-D5FBB04B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598F9AA-1028-48A2-A38D-C6A90E6C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432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우리 서비스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5C340BF-F70D-4DD5-A379-C36C18C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1885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사건 중심 근거 패키지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EC6DDD1-383F-4CE0-9F8F-84039A96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24275"/>
            <a:ext cx="108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21B9ABB-4677-4ECC-B894-67AA96D9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00400"/>
            <a:ext cx="146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24ED1A9-2CC9-4022-8B20-D565A35D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528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보험사 앱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5C918DA-E26A-4521-8180-71D51CDB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957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접수·청구 중심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40447F7-E4A7-4A25-B1B9-09532602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E9142B-B09F-4B24-A1BE-345F7B69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25/45</a:t>
            </a:r>
          </a:p>
        </p:txBody>
      </p:sp>
    </p:spTree>
    <p:extLst>
      <p:ext uri="{BB962C8B-B14F-4D97-AF65-F5344CB8AC3E}">
        <p14:creationId xmlns:p14="http://schemas.microsoft.com/office/powerpoint/2010/main" val="35545247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9ACE2F6-43E2-3D7A-F184-88F1850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2DAB00-B043-431A-5968-BFC42B4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460BE685-2D53-5A98-B44C-BB548980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경쟁사와의 차이점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257EEF7-243A-3C69-21A8-CBBFA40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673C00A-1143-5C6A-DAD6-299DBAE3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E7B385-F304-5508-47B5-7F830BF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보험사와 분리된 소비자용 서비스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2DCABD-20B2-014D-F4B2-927ACCF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특정 보험사 고객에 한정되지 않음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사고자료 기반 근거 확인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9C063A6-3B40-8DC2-4C16-2D9BC555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FFDE949-0D0C-7803-8024-6FBA0B3D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이의 제기 전 검토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987780F-BDA1-6B78-5B76-1329A7E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무조건 이의신청 권유 X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근거·기한·증거·위험 분리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DFB37E4-7F13-FEF4-5FEC-82A9956B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CE031F4-1433-49ED-8188-C4680C4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판례·기준 근거 연결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037E0AF-8E3B-3DCC-9C2E-1E263BE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법령·인정기준·판례·심의사례 출처 제시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5C06E11-8702-E729-6179-4289D0A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A5E197D-C7E0-EE35-3D91-6C14DAE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자가 대응 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D0D1302-2464-D02C-F3A0-89F0712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대리·자동제출·승소 보장 표현 제외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직접 검토용 리포트 제공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D18A1CA9-B83D-4F51-B632-83490D4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A7E4223E-9984-4413-9089-F927E39F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0DDF7BA-7134-4E29-9934-12873E15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차별점은 기능보다 안전한 판단 흐름에 있다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6617C25-84A1-4CA4-B7CC-851B50F9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무조건 이의신청을 권유하지 않고 근거·기한·증거·위험을 분리합니다.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120D7B8B-0D5C-4007-AAB4-155296C2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D0A1CFF0-5D5D-442D-A913-277509C3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FF9B9030-E83B-46C2-8970-52C8127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A761873-8B7A-4C56-9873-8B641018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67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보험사와 분리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F41AE4B2-1956-4602-B2B9-1602075C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특정 보험사 고객에 한정되지 않음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D440325D-A5DD-4662-A319-505F0465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C2F8009-D5D7-492F-99BE-A4406B79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95B52"/>
                </a:solidFill>
              </a:defRPr>
            </a:pPr>
            <a:r>
              <a:rPr sz="2250" b="1">
                <a:solidFill>
                  <a:srgbClr val="E95B52"/>
                </a:solidFill>
              </a:rPr>
              <a:t>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41F8620-072F-4D11-AFCB-B4EB3B8F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이의 전 검토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FDEDEFB6-B8CB-4FB7-B637-240FC1C9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근거·기한·증거·위험 분리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A004E58C-D39B-4795-AFB1-C896FB92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0D9DB972-C876-4C21-8C0E-12D37D72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E45408DF-5684-414E-8810-E296406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86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판례·기준 연결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E5AB8CB7-67E8-4934-A5DA-192E2EED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67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법령·인정기준·심의사례 출처 제시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1D5F7C2B-3FBB-49C8-A00C-B66D7F8E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B8AB00CD-0534-48BA-A9B7-A15A207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A67A4C9C-6ED3-47B2-9580-09E2867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자가 대응 안전장치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09BD0F89-EAC2-41B7-A93B-CAA850B2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67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자동 제출·승소 보장 표현 제외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EDD952D-12F7-42E5-8726-92A280C2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A2FDD0-CD1F-4C14-B637-D2BCCA12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경쟁사와 차별점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1AA50E7-0DFF-4120-9ADE-4FD89FB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기존 경쟁사와의 차이점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55C293-F76E-40E8-B407-1D3D70F1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이제부터 앱 기능은 시장의 빈칸을 메우기 위한 설계로 설명합니다.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0D56F50-E13C-4537-A3A9-25B9B0EB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A846FC-2E01-4973-A16E-B95DBF2D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5727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7370A0C-E763-4495-A866-09ECDDD5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FC6DBB3-1DBF-49E4-890E-29B92C6A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경쟁사 빈칸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4E94E03-FA0D-4EF5-90B6-E95CB4C3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57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D40F76C-E8C9-4911-B92B-CC090BD9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사용자 pain point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C246E92-AA05-4875-8B1E-E689A403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8154CC8-C596-403B-871E-E4266976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기능 요구사항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7A4322E-DEE7-4197-850D-3ABC1B87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65FAEDE-E407-485E-91F3-A8C79C95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주의할 점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EA0BB63-56FC-4EEA-AF1A-CA24AC7D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751FE2-AAB3-490B-BF0B-1E0A7A47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문서·상황 분리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D893CD9-41E9-48C3-997B-8FDDE068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7C61CEB-EF18-486D-B26E-7CB7A592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90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고지서와 사고 설명을 따로 이해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2FE7D15-B676-4CB1-ACF3-62855DB7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3D708A2-3B56-474C-A3B0-4118BED4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90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입력 자료를 사건 단위로 구조화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DD6D95-F704-4213-9C28-06544DDD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3458454-422E-448B-820A-ECF765BD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자동 판단처럼 보이지 않기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6D807F2-47A7-49B1-967F-4437AE30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88CD321-CEA0-42C6-93C1-D6B0C15C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근거 출처 부족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64269AB-7479-42F5-8C25-1EAB27C6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4A87E93-5243-4572-BC05-EF8889FC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71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검색 결과를 믿기 어려움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43DFE44-7F31-44BD-8955-DC0D55C3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B0D7661-1EC4-474E-ADF9-165C1167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법령·기준·사례 출처 표시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A25B5C2-CBC8-4FDB-939A-EE42C5ED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64880DF-FEE5-40E1-B332-F97B6D68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7190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출처 없는 답변 제한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9961B20-6149-4E10-A16C-B9EB454F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9D66B75-CD6E-442E-8CD4-4364505A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다음 행동 부재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A1B7C4C-BB4F-4951-96FC-9E7213D6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19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9D94AE4-9F4C-4568-80B1-0E06B5DD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52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어디에 무엇을 말할지 모름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69AFF3D-DCB9-425B-8464-9DEADAE9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19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F939BE1-B0F2-4BD8-8D4E-BE889A42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52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초안과 체크리스트 제공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4567CD2-B178-4A44-B5FF-2BBD6EB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96BB9BA-4ECA-42FA-9241-A7D77465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5295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대리 신청으로 오해 방지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8DA2B7A-1085-482F-A8CC-EBB3B90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D401B6F-820A-4C11-97B2-2ED1658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26/45</a:t>
            </a:r>
          </a:p>
        </p:txBody>
      </p:sp>
    </p:spTree>
    <p:extLst>
      <p:ext uri="{BB962C8B-B14F-4D97-AF65-F5344CB8AC3E}">
        <p14:creationId xmlns:p14="http://schemas.microsoft.com/office/powerpoint/2010/main" val="24311521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04EB74A-2610-9CA6-0E27-39E7F52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92ACBD-3F99-5EB8-2C15-881986E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82D1AE-4442-4F08-2031-86D23C1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4CFCB1-B7DC-B5D4-8BC1-9783CB26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2435244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생성까지의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46F2E7-ECA9-587B-753D-0D06DEB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66779E-95BB-A94B-2129-7E75FC1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확정 판정이 아닌 근거 패키지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입력부터 리포트까지의 흐름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문서 인식 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·근거 검색 ·사례검색 ·리포트</a:t>
            </a:r>
            <a:r>
              <a:rPr sz="2000" b="1">
                <a:solidFill>
                  <a:srgbClr val="E6E6E6"/>
                </a:solidFill>
              </a:rPr>
              <a:t> 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77D7B10-9108-4A3E-93F2-3CBDA4C8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FAC963D-300C-4B09-A75A-38AFE68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0C74E614-16B1-473F-9297-92133184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서비스 이용 과정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1F767CF4-647B-4627-988B-5B35DAB8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입력부터 리포트까지 사용자가 이해할 수 있는 흐름으로 설계합니다.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F2D7CCE3-B963-46CA-8F2D-C7808195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7A4F9950-65BB-44A7-BE26-F735FA6F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DE452E08-0FCB-4ABA-9348-BF00BC8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입력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59617E8-704C-4F54-8EEF-4BDC854B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사고 설명·고지서·사진·영상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F9BCC9F2-7263-4CB4-9912-7A25ADCE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83BDF5D6-C4D1-48CB-8606-55191F30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분석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C66F0FED-2CA4-4821-B670-026FCDC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문서 인식·근거 검색·사례 검색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B512DA5-AF25-4BA8-B01A-D1D6562E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4AC3EE5-D3DC-4B8F-B870-26C237B3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출력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E18F7A91-D032-4F2E-9444-BFABD027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근거·한계·다음 행동 리포트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B475A-5373-4862-94FA-226EF0CF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42271-4F2A-47AB-9288-93332A86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A768D-9505-422A-84B2-EE05041E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서비스 이용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C8448D-0564-4C26-A1D6-CC8709F7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기능은 많아 보이는 것이 아니라 pain point와 1:1로 연결되어야 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680F7D-EE26-4A06-B414-CD7A4055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CFDE76-033C-42F8-9FA9-295D312D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B12B28-5A55-49B8-BF29-31B65A98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입력 정리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A8BFF-EA7D-4E81-9C9D-38E887B3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문서·사진·영상·설명 수집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D746CB-5FC5-4640-A8AB-16D79390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932566-EEE5-4395-97A4-42501D27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근거 연결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9BBEE7-D767-4196-B4E0-45C87BB8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법령·기준·사례 검색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AFB906-CA42-4D60-A9E4-FAF2632F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867D91-422E-4A72-A0BF-D6592D9E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행동 출력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1BD74B-26D0-4B24-BA07-7ABB675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리포트·체크리스트·문의 초안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737EF9-A9DE-43AC-90AC-54F16AA0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553D67-44C4-44DA-920C-D41CC6BE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27/45</a:t>
            </a:r>
          </a:p>
        </p:txBody>
      </p:sp>
    </p:spTree>
    <p:extLst>
      <p:ext uri="{BB962C8B-B14F-4D97-AF65-F5344CB8AC3E}">
        <p14:creationId xmlns:p14="http://schemas.microsoft.com/office/powerpoint/2010/main" val="16810768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7C10D20-FB5E-193D-A9C3-617793D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24/40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1A9976-172C-F204-089B-C613C77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B261389-ED66-E44D-BDD8-4832759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사고자료 처리 흐름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6C581DB-A96C-0F32-33D3-2B53E149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66A5AEA-3878-A915-F3E9-ECBB3466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1EB6A0-F694-5718-3D05-D9A44A9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자동화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67BCDD-F675-F146-9A22-909118F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 문서 인식, 사고 설명, 블랙박스/현장 사진 업로드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54CE486-D977-7B38-960F-D66D8BF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53FCDE-5975-3F8D-87A8-AF7B217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사고상황 구조화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500E087-C94A-CDBF-25D5-80C9791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사고유형, 도로유형, 당사자 행동, 증거 목록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0F87E05-E813-0867-0145-8A2C82D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6031F80-8D98-B826-B819-5C1A5A5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86D6DF6-3E16-63D5-0DC7-89EA611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법령, 과실비율 기준, 판례, 심의사례 복합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EE5C255-9E3C-D0C3-D023-28A9D486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31685C0-F3EB-910B-237D-B948754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행동 연결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909CF3C-E3D3-E05E-2FF2-6DC67D45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증거 체크리스트, 보험사 문의 초안, 이의신청 검토 리포트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39FF5F0-21DD-C405-4E72-E865EED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1928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공식 포털·보험사·법률 플랫폼·생성형 AI가 따로 제공하던 조각을 사건 중심으로 통합함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6345971-A3BC-4F6D-8D59-0B62A1F7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BBEB73F-208C-474F-8C67-04877F4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A1CDBDC-8A72-4303-9277-EF98D5BB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사고자료는 입력 자동화에서 행동 연결까지 흘러간다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E183D5E7-F7F3-4F90-9F31-CCBBA867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공식 포털·보험사·법률 플랫폼·생성형 AI의 조각을 사건 중심으로 통합합니다.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503D0FF5-D20D-4F31-92F0-8A4563D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09060EC2-B457-485C-A2EE-35D19CCC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5E59A7B2-66A1-4EC5-98D4-5868F92B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F3FB7A3-B06D-4E56-A671-4AD4E4FF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자동화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0DD5A4F-6375-4DC1-8E60-FABECD7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고지서·설명·사진·영상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E3B6F58C-6EC6-494C-859B-554FDC99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2EFD5F93-8C29-4CAE-A382-365D3337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00648D3C-0441-4912-8B40-4691CDA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상황 구조화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AED46D3B-9512-4862-8066-83167EE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유형·도로·행동·증거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9969D775-9B3B-467C-8E63-E3AA0BCD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5D02745F-946E-49DA-9A4D-E2C8966B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6B76C68-B5F9-40DE-BF65-7799C3C1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BE3B6F8E-56DA-406D-866E-05F8BB92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법령·기준·판례·심의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AC89E440-228F-4964-92F5-5ACEF02A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F010C159-6C79-4520-94FA-91AED3C4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927CCC8A-66E0-4B76-903E-2D3C68D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행동 연결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3F18D15B-795C-4F4E-917E-F9CC0D75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체크리스트·문의 초안</a:t>
            </a:r>
          </a:p>
        </p:txBody>
      </p:sp>
      <p:sp>
        <p:nvSpPr>
          <p:cNvPr id="87" name="사각형: 둥근 모서리 86">
            <a:extLst xmlns:a="http://schemas.openxmlformats.org/drawingml/2006/main">
              <a:ext uri="{FF2B5EF4-FFF2-40B4-BE49-F238E27FC236}">
                <a16:creationId xmlns:a16="http://schemas.microsoft.com/office/drawing/2014/main" id="{0046D90B-E6E3-46B1-9885-60263906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9258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BDEE2534-E356-4B92-9C9D-5811FA7D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86375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결과물은 판단 확정이 아니라 사용자가 다음 대화를 준비할 수 있는 근거 패키지입니다.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0505385-1FB5-4416-AB5A-265D6D83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E4289EF-4F7E-42CE-B1A8-6D662FFB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서비스 이용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94F1AAD-470E-4BC9-A4F6-BE60701D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사고자료 처리 흐름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2A31487-272B-4DB8-905A-F148D48B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사용자가 올린 자료는 바로 답변 재료가 아니라 검토 가능한 사건 데이터로 정리됩니다.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E82E22-08FB-422A-92E4-0E372480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06BDDD9-287A-4BAC-8396-31154B7D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644B35-DC33-4EDC-8E25-C33CB75D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CCF405-1C1E-4463-B303-E44E81B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입력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고지서·사진·영상·상황 설명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5429ABC-A5A0-4F14-A5B2-F7EEA7A1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3CE5384-6A68-4572-8CD6-6D9FF6B1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5E0444D-A6A5-4D58-8F85-592D1F8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6D9DF80-9EC8-466B-BEED-AD22B2E4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파일 검사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업로드 상태·민감정보 위험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97586C-E4E8-4E54-9EAE-389A584F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09C4F31-61A0-44DB-929D-CF6A4D6F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BBA553D-E350-4664-AF98-DFCF02AA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EB039CB-524E-4062-9E37-F0BD932E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사건 구조화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유형·장소·기한·증거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9C9C7F5-BDE4-4FE5-891F-C8D1084F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AD768E3-A75B-406B-8922-5EB641AD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3089E5D-392D-4B31-8D76-7A28A843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68137D5-FDD7-4F06-BF5E-9169AF9D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검색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법령·기준·유사 사례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8CD6C5F-71EA-4A77-82C6-5B6B9AA5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E71FD95-73E8-4BBA-BA27-23CC5E12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8402C23-522E-44E8-A948-BF3D5493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D2F46B7-B65E-44B0-ACF3-489D7A3E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결과 정리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리포트·체크리스트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104BDB4-DE35-4B1F-B1E6-61019A74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854185F-6BFB-4B93-981E-E53C7B01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28/45</a:t>
            </a:r>
          </a:p>
        </p:txBody>
      </p:sp>
    </p:spTree>
    <p:extLst>
      <p:ext uri="{BB962C8B-B14F-4D97-AF65-F5344CB8AC3E}">
        <p14:creationId xmlns:p14="http://schemas.microsoft.com/office/powerpoint/2010/main" val="6169411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665B134-8C52-A895-C384-71029450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A3CCA4-4756-D906-6EC3-F08FAAC9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8B9593BD-C3AD-BAA2-D4BC-02CE33A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 입력부터 리포트까지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04EA428-DD3C-3038-1515-2ED374F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32BE9F-E46B-A1DD-0463-C8399C50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249BC3-F509-74CD-7362-256F99C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상황 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76151B-EAE8-683A-FF68-FDC78D40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36AA7F-9B36-CEC3-D0E0-BEEC8CA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9B8A43E-A909-50FF-4CE6-9855B403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자료 업로드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4BC8DE5-FD8D-4745-8CE9-A9C838A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457549E-409D-F107-402A-41D3663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1644708-83F6-128C-48D0-21D04B2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BDCC8D3-EC17-3BE5-1136-B0BEB3D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1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D3F26F8-6D68-9739-C4B0-68FFEA83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FE31424-F846-46A8-A861-C67BAE12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분석 모듈 분석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7EE3AF3-5F03-EC4B-7F49-A6C523E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0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57A08BF-5ADF-9FA8-1AEC-4FEB920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5A783F1-0862-B6E1-5BCC-6AD264E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근거 리포트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8784FA03-ED7C-3DEE-8513-AB4F398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4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7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33896C8-A222-8101-B094-7B81E76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A57774F-9FE8-0FBF-8F28-A8E0615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이력 저장</a:t>
            </a:r>
          </a:p>
        </p:txBody>
      </p:sp>
      <p:sp>
        <p:nvSpPr>
          <p:cNvPr id="51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FB665DC-0BBC-6EAD-8C90-244F7A4A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1D3A295-7B48-6E24-5583-D03A8EC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사용자가 보는 것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663B06B-9800-3919-615D-3417D5A8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 설명 또는 고지 내용 입력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영상·사진·문서·고지서 업로드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근거·한계·다음 행동 리포트</a:t>
            </a:r>
          </a:p>
        </p:txBody>
      </p:sp>
      <p:sp>
        <p:nvSpPr>
          <p:cNvPr id="57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AC04395-46FF-78F4-2ED4-FE022AAF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16F5986-26D1-6D6E-066C-71BA950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시스템 내부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6C627819-B19F-2849-6A13-E559A65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문서 인식·DL·근거 검색·과실비율 분석 모듈 분리 분석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분석 통합가 병합하고 한계를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저장·다운로드·이력 권한 통제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E83EAC7-1B27-41A4-9B40-0A5AB844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1A694FE-B005-4A94-848A-7E5B300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397665A5-C628-4BD6-8A1C-499B25C8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입력하고, 시스템은 근거 리포트로 되돌려준다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D14252F-91E9-41CC-B1F0-AA79B68D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보이는 경험과 내부 분석 과정을 분리해 신뢰를 만듭니다.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C14025D1-E123-4C53-A86F-81F8BDC4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78C8E7D3-3948-4C30-9D2E-486EE72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1325B1BE-4D37-42D0-9A1E-C066645E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상황 입력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F98C5A2-DCF1-4341-804E-CDFC5BD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 설명 또는 고지 내용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47C19721-20D4-4946-AA5E-442F252F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0BEE64E-698A-42B9-8560-371578E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C443BE5C-61DB-4C28-8204-9EB291CB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자료 업로드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1186D6B-0377-4A74-B786-CEC6B17D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영상·사진·문서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F5ABE470-01DE-40AE-9EB4-4B8261C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18DC46B0-6531-40F7-88B3-5E8757E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3036D01-2FFB-4E91-A146-A98F6C6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파일 검사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1CBE0DED-7B5F-47ED-9D7E-2243487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위험 파일 차단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CAF9C83F-2F49-43ED-BF08-5E33A253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01C0A922-6D77-41B5-BB5D-6ADA655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ED0403BC-24C5-4F82-A716-655557DF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모듈 분석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1BA48D7B-9341-4FED-A2CA-DF4BD0E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OCR·RAG·사례검색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FB21A3C2-EAF1-4C30-8345-62CE913E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181B488-B100-4D29-96BC-1F8C692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19DFF00B-7288-4E27-A73B-721624C0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리포트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DA67BC4-30DD-486A-B934-4EFBB3D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근거·한계·다음 행동</a:t>
            </a:r>
          </a:p>
        </p:txBody>
      </p:sp>
      <p:sp>
        <p:nvSpPr>
          <p:cNvPr id="90" name="사각형: 둥근 모서리 89">
            <a:extLst xmlns:a="http://schemas.openxmlformats.org/drawingml/2006/main">
              <a:ext uri="{FF2B5EF4-FFF2-40B4-BE49-F238E27FC236}">
                <a16:creationId xmlns:a16="http://schemas.microsoft.com/office/drawing/2014/main" id="{6C177124-F622-4955-B477-B716E34D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762FDC98-3730-4CBF-9E34-028219FC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D74239F4-3D82-4849-AA42-3F1AFBCC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이력 저장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4A8B7C55-94F3-4B05-AD9A-FF4FB69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다시 보기·다운로드</a:t>
            </a:r>
          </a:p>
        </p:txBody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D7F10F20-9BCC-4FAC-B432-FEE4B789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5" name="사각형: 둥근 모서리 94">
            <a:extLst xmlns:a="http://schemas.openxmlformats.org/drawingml/2006/main">
              <a:ext uri="{FF2B5EF4-FFF2-40B4-BE49-F238E27FC236}">
                <a16:creationId xmlns:a16="http://schemas.microsoft.com/office/drawing/2014/main" id="{DD6E242A-B9C1-45DD-820D-4730E5A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019E7F40-52EF-443C-8EE4-E8472E27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사용자가 보는 것</a:t>
            </a:r>
          </a:p>
        </p:txBody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D0F79A08-B613-43CF-996F-CA6E64D0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시스템 내부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B969D995-2E1D-4FA9-BC50-68A4C26C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설명 입력과 자료 업로드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8F1BDB4B-71C4-4948-A271-735FC5F1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 확인</a:t>
            </a:r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8D68E8BE-1B04-467A-B3E2-9DA85DB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모듈별 분석과 결과 병합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E6122E0C-8FE3-4B0C-8DAB-AC4A0F3C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저장·다운로드·이력 관리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05257D1-6EAC-4F98-B48B-6A9A7518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C44EF50-B103-4FE4-A404-78ADF77F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서비스 이용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C08EA4-609F-430D-B6CE-5F11F537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사용자 입력부터 리포트까지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BAF3285-F636-4909-9D2D-C8AD0ABC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단계가 많아 보이지 않도록 사용자의 화면 흐름에 맞춰 단순화했습니다.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D368D5-C61B-4AC4-AAA5-8C3FD1F3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74AF70-CB73-4ED6-8936-9D6150C8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EDD58F8-D722-400A-A872-E174B2FC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844C1B8-F5C1-4F65-BDED-3FBAB839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질문 입력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일상어로 상황 설명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3CF400F-890F-473D-9AE2-FE402CE4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550A04C-476D-4116-9D99-168A8E10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16E453-0351-4EF6-B949-EE79291C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B9EE754-8D9E-4467-A90A-2A8EA776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업로드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고지서·사진·영상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5D103DC-0BE6-4D1D-9F93-BA7942D0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EF2E84F-92BC-49CD-8B43-81F8B11B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5AA345E-3B3E-4A7A-AB78-AB705BBA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D80E67A-7B1E-4D66-9DB4-F73C2F34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분석 대기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스캔·구조화·검색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741919A-91F2-4103-93F2-076EB05A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F3F46A0-23B6-440B-A55C-A5E211BF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F49E177-123A-496B-A061-4297786D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28EAE45-8FFB-448B-BF65-49C2CC1B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결과 확인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근거와 한계 확인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7C0955F-72D7-4CCE-A2BA-9A2BD14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D4A2135-37D7-412B-9F78-A23486F7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D59AC44-C0AC-4F0D-8D55-811A1A24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7F0763B-50DF-48FF-9F60-9391FC5B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다음 행동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초안·보완 자료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355D3EA-5D7A-4415-BE4A-5651338B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1516B67-BF64-41AA-9664-613CAD2F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29/45</a:t>
            </a:r>
          </a:p>
        </p:txBody>
      </p:sp>
    </p:spTree>
    <p:extLst>
      <p:ext uri="{BB962C8B-B14F-4D97-AF65-F5344CB8AC3E}">
        <p14:creationId xmlns:p14="http://schemas.microsoft.com/office/powerpoint/2010/main" val="41675063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20C14BE-EC82-A84D-9E85-34C20D73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301ED5-1FDD-A24C-CD3C-C2D12A1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0E2F8AF-37A3-3017-C197-4FCD158C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고지서 인식과 이의 검토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C14CE82-85F0-A161-707B-B366DC7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3187DD5-6501-6FE6-0E9A-FEB8B17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B3E884-68DC-F381-CB4C-2416BFC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문서 인식</a:t>
            </a:r>
          </a:p>
        </p:txBody>
      </p:sp>
      <p:sp>
        <p:nvSpPr>
          <p:cNvPr id="9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26C84F2-7AE6-02BF-B228-8D65536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F100D0-D189-F11A-5127-5687854A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필드 추출</a:t>
            </a:r>
          </a:p>
        </p:txBody>
      </p:sp>
      <p:sp>
        <p:nvSpPr>
          <p:cNvPr id="15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3BF61C3-6980-6F8B-692B-A231E8E4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A748E9-BD6F-82C4-5025-1B58C12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1DF9C8-7655-4A61-2F21-AC105BA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2A5AC75-A2C2-C36F-77F6-E8F89F1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가능성/위험 분리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C335F87-89F5-9923-803C-D9953901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F2849BE-2BBF-E7B0-F68D-39EB6F5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결과 리포트</a:t>
            </a:r>
          </a:p>
        </p:txBody>
      </p:sp>
      <p:sp>
        <p:nvSpPr>
          <p:cNvPr id="33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78AB55B-8A51-A089-12A0-312AE33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20E20DB-F04D-636C-4790-BBF2908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A61514F0-0A08-40A3-D20A-A36516C5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위반일시, 장소, 위반유형, 금액, 기한 추출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누락 필드는 사용자에게 추가 확인 요청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원문 전체가 아니라 필드 중심 처리</a:t>
            </a:r>
          </a:p>
        </p:txBody>
      </p:sp>
      <p:sp>
        <p:nvSpPr>
          <p:cNvPr id="44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5F95691-8D94-08A6-927C-AB7DBE2D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96977CF7-613E-3BC3-B90E-683A500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Appeal 분석 모듈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6B59BF3-087B-4A3D-5C45-E0A54C0D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도난, 제3자 운전 주장, 본인 운전 인정형 위험 패턴 구분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법적 가능성과 리스크 분리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기한 불명확 시 경고와 한계 표시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2EC9AFE-16D7-4BFC-87B3-1C5A33D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CE016421-73D4-489F-8E57-DC11CBB4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D2F43389-0913-4CAC-9165-010DDC16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고지서 인식은 필드 추출과 이의 검토로 나뉜다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28551AC-89D3-4D8E-A932-4B45C57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원문 전체를 그대로 처리하기보다 필요한 필드와 위험 패턴을 분리합니다.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204A925E-A137-461F-99A7-35F9275C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A72C5350-1827-4208-B5BD-0B9A511F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EFCEB7CE-A099-4603-8907-8399BF17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7607F43-82AD-4BEA-AED2-5945543C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문서 인식 분석 모듈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147F1860-3709-4390-83A2-91992382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Appeal 분석 모듈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A0EF5C4-1A03-43F7-87EE-FF994916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위반일시·장소·유형·금액·기한 추출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26E6BA89-BF4A-4F13-9133-93A174FD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누락 필드는 추가 확인 요청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C325DB7-160F-4E4B-A1DC-C18B5F74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원문 전체보다 필드 중심 처리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518C5672-7EE8-4CDF-897E-06BB5798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도난·제3자 운전 등 사유 구분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471A2E1B-B2A4-4AE7-9DD2-BD168BF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가능성과 리스크 분리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46887629-906D-40CF-B03D-C7A13F65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기한 불명확 시 경고와 한계 표시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5D1019B-023A-4244-8F08-BE3783F7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3E3E0E6-ED08-4459-BE28-2C9182A3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서비스 이용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A107AD5-2326-4E41-9E56-93F9833C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고지서 인식과 이의 검토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EF0E62F-3388-4131-A749-17F03D1C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금액보다 ‘인정해도 되는지’와 ‘언제까지 무엇을 해야 하는지’를 알고 싶어합니다.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44A1CF3-7361-48A9-A621-0C4BE6D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9E9DDF7-DDD5-466D-AADE-21B9DAC0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E3AA792-A473-4E3A-89F8-739A98FB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E37AF5E-75EA-4AB6-B0DD-5B7246D3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입력에서 뽑는 정보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8832053-BDE1-4557-A3EC-A135296C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출력에서 분리하는 정보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7F17A09-43A0-46B5-A432-1EC89D33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56E1BA3-1B49-4E25-B99E-97E7A6F0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처분기관, 위반일시, 위반 장소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8B0FF7C-53DF-4EDE-B0A1-27BC8729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D734B5A-47BC-4AE4-85DE-C72DFDE2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과태료·범칙금·벌점 관련 표현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E1DED2C-E006-404E-8E4A-4FDF9F1C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AF05D39-F35D-4098-A2C6-66DBF1C2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금액, 납부기한, 의견제출 안내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D718D25-962A-4593-A25A-DD9D44EF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6C202CA-5CEF-4EB6-93FD-DC86939E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가능한 사유와 부족한 증거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6EAFAC6-3700-4960-8DEB-B8EC2F4D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FFBD364-4704-40D8-85BE-DC7B3204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기한 경고와 문의해야 할 항목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478C0AC-E05A-4953-B7C5-C435F813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218DE14-46E0-4DC9-848B-96309EB8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확정 표현이 아닌 검토 결과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982B065-EBFD-43C1-B18E-4EEEF26F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8DDA19E-3030-49CB-AAC1-6C0F5DF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30/45</a:t>
            </a:r>
          </a:p>
        </p:txBody>
      </p:sp>
    </p:spTree>
    <p:extLst>
      <p:ext uri="{BB962C8B-B14F-4D97-AF65-F5344CB8AC3E}">
        <p14:creationId xmlns:p14="http://schemas.microsoft.com/office/powerpoint/2010/main" val="34328732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3F27B7E-3991-071F-F5F1-A90AE1F2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DC0C12-6849-B478-8974-743D7D6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735397B-B1F5-B218-6D4E-FF7DE607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 근거 검색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FF88D66A-2C64-59DF-B679-4A6D97F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0F8F91-23D4-5681-7416-D0CA9B07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4048824-819C-D278-2095-9A42601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법령 근거 검색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A221EC-220D-2A15-461D-76A44C1B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사용자의 일상어를 법률 용어로 확장함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조문 단위 chunk와 keyword/vector search로 관련 법령을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조문, 적용 한계, 추가 확인 사항을 남김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9E203E1-0856-F975-FD3C-C26744DB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7E24AB-7BDC-C25F-CC2F-E0488B5A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사례검색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8CC1D4-0994-8600-A60C-99B23717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교통 판례 3,562건, 과실비율 판례 973건, 심의사례 226건을 활용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 목록, 사실관계 차이, 부족한 증거를 함께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60F18BB-C514-0FA1-3B36-43E947F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828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판례·심의사례·인정기준은 성격이 다르므로 source를 구분해서 보여줘야 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D7C7129-6007-42FA-AAFD-441AF33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B94A3F61-6F63-4BA0-8DB7-0B0CF9C0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FEB02AA-8C27-448D-B2EB-C08B5135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근거 검색은 source를 나눠야 신뢰가 생긴다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55D4A67-504C-4CB6-86BF-85E33F1E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법령, 판례, 인정기준, 심의사례는 성격이 달라 리포트에서도 구분해 보여줘야 합니다.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771A47F2-8310-46C6-8F83-0997211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12935D57-7F6A-4B06-AD1E-2BF3C488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3,562건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048BCD25-ADCC-4589-83CE-132F35AF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교통 판례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FA5A3AA7-FDBF-47E9-B176-0D4134B3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사실관계와 법리 확인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3E1211D-074F-48FD-B264-1B218CEE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825664A-1AA9-4BC4-9D43-018BF6F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973건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3A1556D-F516-4A96-BF00-FCADE65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과실비율 판례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457D67C5-2EC7-4151-8DC7-5A1F764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책임 비율 판단 근거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4412EFF8-D531-4E46-8700-31E1732C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303AC949-D8D4-46A0-889B-D8D0BEBC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226건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3F719190-76EE-496F-807B-90772E3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심의사례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A3BCEB26-3852-4710-959A-D09488AA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보험 분쟁 실무 참고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E35B6391-EF04-406C-B711-F13404ED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883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52871057-424E-4D0E-A4E8-8DD3FE84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0537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정답 비율을 단정하지 않고, 유사 사례·사실관계 차이·부족한 증거를 함께 제시합니다.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11226C2-B10C-4FA8-9034-572D1EEA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D3D24F1-103E-45EF-9107-AF2536BE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서비스 이용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253C806-FD3D-4A06-A62A-C61838C3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법령·사례 근거 검색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D83C1A3-EBD3-4334-8F4E-72DD89DA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RAG는 ‘그럴듯한 답변’을 만들기보다 출처가 있는 근거를 붙이기 위한 구조입니다.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3D8EC03-806F-4482-9DDC-70787CD8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46DD626-D92F-4F90-8E81-C993D060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952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BC48B72-5AD6-422B-B019-AB6F8AD8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법령 근거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C947CE7-102B-445F-8489-25550AF3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도로교통 관련 법령과 행정 기준을 조문 단위로 연결합니다.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DFF9EE8-D342-4DAB-A959-7CD0402B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2952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BF37A4F-0F06-49BC-9972-46142D44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05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과실비율 기준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D45A351-0078-4392-90D4-770C6FA9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사고 유형과 쟁점을 기준표·심의사례와 비교합니다.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ECF88C-708A-4D05-9B31-07AEBE8C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2952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1B94658-DD82-461D-8206-27484805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한계 표시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B4D49DF-2020-4C42-BEDA-06CB69E9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유사하지만 다른 점, 확인되지 않은 사실, 추가 자료 필요성을 분리합니다.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A84E0E4-57FD-4892-AF53-77B40193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03274BA-BE4D-48DC-A79E-7E71DAC1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31/45</a:t>
            </a:r>
          </a:p>
        </p:txBody>
      </p:sp>
    </p:spTree>
    <p:extLst>
      <p:ext uri="{BB962C8B-B14F-4D97-AF65-F5344CB8AC3E}">
        <p14:creationId xmlns:p14="http://schemas.microsoft.com/office/powerpoint/2010/main" val="31550572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31202B7-7849-EAC2-66D1-F53CFD8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D21113-4364-2EEB-00C3-7928A280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9E2B43FD-3F8A-6ED9-9A5E-5C61519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리포트 관리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1E2CFD03-5A5D-806D-A78E-27DB09F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ACFE13D-718D-B604-5127-CCDFAC9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723542-B768-D927-C288-2D12BEAC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요약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8DC020-7684-4CE0-4EE3-969C50B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사고유형, 당사자 주장, 제출 자료를 한눈에 확인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6DD4BD-79B5-533C-2EBD-CBA40A7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A2823E8-1E25-1A68-E512-92D44EB9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자료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15784CE-F5DA-7CE5-3CA2-A370B23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법령, 판례, 심의사례, 과실기준을 출처와 함께 정리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D0CB76E-0247-2AFD-F2EF-6BA64AD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27AE82-4CC0-FE61-9348-87640BB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한계·주의사항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4A6B14-B28C-0B96-E092-56426AA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부족한 증거와 단정할 수 없는 부분을 표시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C73F3A6-8FD5-2E0B-E8EA-EC649436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C9DD3B1-D0A0-CFAC-24E9-CFF5D31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568D350-3C07-4389-E211-0E6D71F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보험사 문의 문구, 추가 증거 체크리스트, 다운로드 제공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030574A-E485-FD1B-36D0-DFA5CD25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9986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보험사와 대화하거나 전문가 상담을 받을 때 정리된 자료가 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7456FF3-4564-4677-BE8E-B2D6E3B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75820314-A76E-4BF2-8C53-D706EC00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BD6A4A89-7567-42CA-A0A9-75384347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상담 리포트는 보험사 대화와 전문가 상담의 준비물이 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76BA4EE-5BA7-4715-8E31-2C19A6BC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사건 요약, 근거, 한계, 다음 행동을 한 페이지 안에서 확인하게 만듭니다.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50D8B4A-6938-45A5-96EB-2FE05D0D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FE81F88E-8C49-4070-9CEC-85B34C00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5033D670-D3EB-49DF-B825-00A3F18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사건 요약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72177CE-0DF1-4957-95FB-20826EAB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43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사고유형·당사자 주장·제출 자료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405317A-E026-4B95-9F3A-921492C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2E98153-A628-41EF-AEA4-1E6860CB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근거 자료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6D6301A7-4737-49E0-A813-16E44F41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법령·판례·심의사례·과실기준</a:t>
            </a: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0F360E6C-B3DB-4160-BB7F-146BB1FA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72C2D109-81AA-4DD8-A7A3-EBF17D3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한계·주의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EE7835A4-F515-454C-BF6E-DA5A783C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부족한 증거와 단정 불가 영역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D2B4CCEA-A8F5-4BCB-B2B5-48BEA1DC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7E8F8F90-1674-4B72-8919-7DDC9EC2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다음 행동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15FB378-9735-470F-9983-3504847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보험사 문의 문구·증거 체크리스트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E7F825F-6918-4351-BD64-00B06B82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C4EC7F5-6288-4963-9D41-14EC0674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서비스 이용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33A206A-BE66-460A-A7DA-F9815F87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상담 리포트 관리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7473DF4-FB8E-4511-8FF4-E8B2D013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사건 요약, 근거, 부족 자료, 질문 문구가 한 화면에서 이어져야 합니다.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3BF31E-4B4D-4E1F-9065-B59BBB73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8F0AF9-7B1D-4BC6-83AE-7FDD2512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9472DF-E81D-498C-A27A-0AE6DC1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사건 요약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11CD206-9332-4C0C-BAFA-A26377AD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유형·당사자 주장·제출 자료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8750AAD-2B6C-4C6B-AB86-2C76D10F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661FBB1-8513-4E29-BD0F-E0CE4ED2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근거 자료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EF1C1D0-E320-4BDF-B3C4-B65C4E2E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법령·기준·유사 사례·출처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A05088-FC34-44D2-A011-A83665D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EFE7D62-299B-4E48-867A-9E9BCDD4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한계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51A7415-ECA4-4D5D-94DA-93408CAB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확정 불가, 부족 정보, 주의 표현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1B59F4B-FA28-43C6-8653-CAEEB093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41319CF-8F47-4119-8174-B5AE616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다음 행동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A79CBB2-62B3-40D6-ACD3-9233337C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 문의 초안·자료 보완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4B27338-C361-4ED1-9F03-FBDAC51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0B2EF4B-B60B-4C8E-ACEE-5179C785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32/45</a:t>
            </a:r>
          </a:p>
        </p:txBody>
      </p:sp>
    </p:spTree>
    <p:extLst>
      <p:ext uri="{BB962C8B-B14F-4D97-AF65-F5344CB8AC3E}">
        <p14:creationId xmlns:p14="http://schemas.microsoft.com/office/powerpoint/2010/main" val="10804869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9CDB27-2941-7051-E670-20DF93C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91DED4F-62D9-A598-6733-0ACEDFB7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1BBB26-855A-A8CD-5BAA-552C77BE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핵심 기능과</a:t>
            </a:r>
          </a:p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615BBB-120B-29DD-7332-5371141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406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문서 ·영상 ·법률 데이터를 연결하는 </a:t>
            </a:r>
          </a:p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AI 분석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7CBBC96-D3AA-A1CD-C196-7BA02C3B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29/40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EBFBFC-952A-A90C-A5C9-44DF9DE0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이미지·문서 분석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근거 검색과 결과 통합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민감 데이터 보호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C022316-DB00-44B2-8A78-69F61408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C3C20D5-9F6E-4AD7-8B8F-9957B93A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06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6D7C850-282F-49FB-B200-4256E960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AI 분석 구조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03FEB75-F14E-44B9-B3A2-8E3EB20B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문서·영상·법률 데이터를 모듈로 나누고 Supervisor가 병합합니다.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51675EA3-503F-4990-9E5B-E9A410F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5C3729D2-DDBB-4821-A2C4-B713D64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FC11871-DD92-4B9A-9A71-80B37009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모듈 분리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10707CD3-BF15-422F-BBDC-53D02CA5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오류 유형별로 검증 기준을 다르게 적용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D777A55B-D68D-4397-BEC2-FEA5263D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E7657F73-4C05-4669-B01B-935E0748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검색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CD016E9E-6F8D-4954-B5C5-D5175250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법령·사례 source를 분리해 추적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F5C10DB-C037-4C92-ADE4-77EDE84C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E6747950-B3A9-4532-A2BA-22024508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안전장치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AF3E76E-1146-4E44-A118-488C44CB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단정 대신 근거와 한계를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A7EDD5-19DB-4B73-8A73-AADFEA5C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238A93-9A15-4B35-9B8B-74D5EDEA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3E1475-EF54-4A21-BD8D-641C23FD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페르소나별 앱 사용 흐름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856AF5-66EF-421D-A8D5-47A36D24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2명의 가상 사용자를 통해 기능이 실제 장면에서 어떻게 쓰이는지 보여줍니다.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9F5154-4962-42EA-B7AC-CB6743BF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38838E-103D-4CF8-A57A-F85AA445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D8ABB8-0C66-443E-967C-C72D2106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민지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F1449C-50B8-4308-BDF4-3D1CB033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도난 상태 과태료 고지서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5DA603-3998-4DB8-A807-A22A57D8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3D150B-059D-42D3-A897-C15B1C73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준호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0AACA2-BCE9-43DC-9BE3-0F54080B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진로변경 사고 과실비율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DACB60-855D-4202-9B64-FE2FE46F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44A9AC-92C5-458A-A1A1-D74CE81F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공통 결과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6505EC-AE94-49B1-892A-67000867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근거 리포트와 다음 행동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9DDF7C-5C1C-46B0-AFC1-FD1FAE58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E17D7C-8985-4C26-9A3B-3B321D77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33/45</a:t>
            </a:r>
          </a:p>
        </p:txBody>
      </p:sp>
    </p:spTree>
    <p:extLst>
      <p:ext uri="{BB962C8B-B14F-4D97-AF65-F5344CB8AC3E}">
        <p14:creationId xmlns:p14="http://schemas.microsoft.com/office/powerpoint/2010/main" val="28618058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AA8577-8BF2-8390-F721-0619415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C5A431-9D8E-867D-6D9D-6358D9A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45F02FD-4921-57A5-9870-DC29888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7F58160-7E73-AF48-7871-08A9BD5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CAA5891-6326-9867-F794-3522C81F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293A27B-2FE3-F17C-BFEF-9DE9DB62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884032E-1C1D-72CE-0D80-247D8CE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텍스트·이미지·영상·고지서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98A04F-13C5-1112-197E-D5DD351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350DF2B-120C-0A1C-1F8A-DDA70F83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A73F84F-50D2-4076-EBB0-84903046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인식·파일 검사·항목 정리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1628ADA-1660-4964-BDC2-89F23C50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51315FC-21B0-87D4-C403-C3C87E1A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BEBE"/>
                </a:solidFill>
                <a:latin typeface="Malgun Gothic"/>
                <a:ea typeface="Malgun Gothic"/>
                <a:cs typeface="Malgun Gothic"/>
              </a:rPr>
              <a:t>검색/분석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D9AAEC7-3269-5D61-1DD0-10BA913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법령·사례·영상 분석</a:t>
            </a:r>
          </a:p>
        </p:txBody>
      </p:sp>
      <p:sp>
        <p:nvSpPr>
          <p:cNvPr id="3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CB4DA6D-320E-E392-1D93-FD450E2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C7DDED-B1F4-3098-E27D-68025064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통합 판단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986E664-0210-5EFF-4F97-6E95B16F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라우팅·병합·한계 표시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5AB0D3E-CB89-2250-FB7C-5F774D4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F0A214F-55E7-9BBE-A9DC-CDECF864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E8BBFCF-E1B1-E1A5-07FA-D11272CB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47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6F68FB6-C7ED-B8B7-8AEB-8E9D60E5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79214F6C-FFB0-3D6B-5FBB-09BF326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결과 저장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DBAE8A39-D216-CDF5-0DDA-32F35862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이력, 업로드 자료, 분석 진행 상태를 관리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사용자는 리포트와 이전 상담 내용을 다시 확인</a:t>
            </a:r>
          </a:p>
        </p:txBody>
      </p:sp>
      <p:sp>
        <p:nvSpPr>
          <p:cNvPr id="53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DC77304-CFEB-22EF-6F4B-9D5FDD2F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661FD2BB-6DC7-5A0D-28A3-0BE920E5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2A35622-614C-9945-8560-5DF14B9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법령·판례·과실비율 기준을 검색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근거와 한계를 함께 리포트에 표시</a:t>
            </a:r>
          </a:p>
        </p:txBody>
      </p:sp>
      <p:pic>
        <p:nvPicPr>
          <p:cNvPr id="166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8b716c8d7422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CA6F3BB6-E325-4459-881C-C36F7170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A2EFA5ED-C05C-493D-90BE-DC6E532C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분석 구조는</a:t>
            </a:r>
          </a:p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정답 생성이 아니라 근거 조립이다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807B2EA0-13AB-4E7D-B570-1454D53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C9C9C9"/>
                </a:solidFill>
              </a:defRPr>
            </a:pPr>
            <a:r>
              <a:rPr sz="1125" b="1">
                <a:solidFill>
                  <a:srgbClr val="C9C9C9"/>
                </a:solidFill>
              </a:rPr>
              <a:t>06  핵심 기능과 AI 분석 구조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2D2F4384-1925-456C-BFC5-FADAF6F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971DB1D2-D3BC-4ECD-B3E1-D8125FD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6166DAF-6134-4E06-9D26-3988636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정리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5DF3F063-F8FB-4B3A-8A92-CDB667E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고지서·사진·영상·사고 설명을 사건 필드로 분리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AF11FDB-4088-465A-816C-F4A67FDB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4B696B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24816D35-47B3-4C93-86F2-C3ABA29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12F8C07-E375-4C7B-AFC5-2F44EB5C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AE3C5BE3-AB5C-4F5A-9F69-9D354A1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법령, 인정기준, 판례, 심의사례를 source별로 검색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537C15C3-ACA5-4752-92DA-B07C343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444844C7-013C-4951-8BEF-1DBEE121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93F7BC0-247D-4515-9EC2-27DCC8B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61EC15E8-4B65-4003-99CD-A0554B99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Supervisor가 모듈 결과와 한계를 병합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120DC336-ACDF-44A6-A529-DFEF6AA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BF3B501-1B56-4454-A94D-29EDE32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E49F7BCA-D1ED-45E8-B0F9-6E423EC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리포트화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E877CE5D-1812-41D9-B6B6-5844EC47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근거, 부족 증거, 다음 행동을 사용자 문서로 제공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7BF69EDB-8A04-4A60-9B86-3133C1EE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D3D15742-FA98-4E08-B357-F12E66E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D28827F-83EE-49EE-8D4F-CB61215D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AI 분석 구조는 역할이 다른 에이전트가 근거를 합치는 방식이다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D185638D-BFBD-4D01-BA0D-B246C023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문서 인식, 사고 맥락, 법률 검색, 리포트 생성을 분리해 오류 전파를 줄입니다.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F665A0D1-2661-41BE-84D6-E1BA1EAC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8C21C9BB-21E2-4E38-BFBF-432D8771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19001C31-2602-4F61-8580-451F92AB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입력 수집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26F701A7-C9FE-4F8E-BA8F-C57CE209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고지서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사진·영상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 설명</a:t>
            </a:r>
          </a:p>
        </p:txBody>
      </p:sp>
      <p:sp>
        <p:nvSpPr>
          <p:cNvPr id="95" name="직선 연결선 94">
            <a:extLst xmlns:a="http://schemas.openxmlformats.org/drawingml/2006/main">
              <a:ext uri="{FF2B5EF4-FFF2-40B4-BE49-F238E27FC236}">
                <a16:creationId xmlns:a16="http://schemas.microsoft.com/office/drawing/2014/main" id="{71C83C1D-E86A-4521-93AC-5409D4D6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96" name="사각형: 둥근 모서리 95">
            <a:extLst xmlns:a="http://schemas.openxmlformats.org/drawingml/2006/main">
              <a:ext uri="{FF2B5EF4-FFF2-40B4-BE49-F238E27FC236}">
                <a16:creationId xmlns:a16="http://schemas.microsoft.com/office/drawing/2014/main" id="{0F8D0241-CE46-4DA5-9DD0-9496E31D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05050"/>
            <a:ext cx="1714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21C1F845-5A64-4245-9C5E-0FA11945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Supervisor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FCCEF324-F613-4067-948D-4E65399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입력 유형 분류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모듈 호출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결과 병합</a:t>
            </a:r>
          </a:p>
        </p:txBody>
      </p:sp>
      <p:sp>
        <p:nvSpPr>
          <p:cNvPr id="99" name="직선 연결선 98">
            <a:extLst xmlns:a="http://schemas.openxmlformats.org/drawingml/2006/main">
              <a:ext uri="{FF2B5EF4-FFF2-40B4-BE49-F238E27FC236}">
                <a16:creationId xmlns:a16="http://schemas.microsoft.com/office/drawing/2014/main" id="{70849BE4-D506-448C-8029-505364AD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0" name="사각형: 둥근 모서리 99">
            <a:extLst xmlns:a="http://schemas.openxmlformats.org/drawingml/2006/main">
              <a:ext uri="{FF2B5EF4-FFF2-40B4-BE49-F238E27FC236}">
                <a16:creationId xmlns:a16="http://schemas.microsoft.com/office/drawing/2014/main" id="{8F820741-F21E-497B-8CB8-E93E5EFB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2000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5B44AF95-D497-460B-9DBA-5CEB86FF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전문 에이전트</a:t>
            </a:r>
          </a:p>
        </p:txBody>
      </p:sp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4136CF74-3802-43A1-9044-B93E03C5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OCR/문서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사고상황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법률·사례 RAG</a:t>
            </a:r>
          </a:p>
        </p:txBody>
      </p:sp>
      <p:sp>
        <p:nvSpPr>
          <p:cNvPr id="103" name="직선 연결선 102">
            <a:extLst xmlns:a="http://schemas.openxmlformats.org/drawingml/2006/main">
              <a:ext uri="{FF2B5EF4-FFF2-40B4-BE49-F238E27FC236}">
                <a16:creationId xmlns:a16="http://schemas.microsoft.com/office/drawing/2014/main" id="{73C46EDA-7B5E-44FD-BA4F-016499F3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4" name="사각형: 둥근 모서리 103">
            <a:extLst xmlns:a="http://schemas.openxmlformats.org/drawingml/2006/main">
              <a:ext uri="{FF2B5EF4-FFF2-40B4-BE49-F238E27FC236}">
                <a16:creationId xmlns:a16="http://schemas.microsoft.com/office/drawing/2014/main" id="{3F124A45-5499-47A3-B909-981EAB88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19050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127E1C75-F6C7-4ECA-B140-D170AD6C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검증·안전장치</a:t>
            </a:r>
          </a:p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5A5C7D72-C536-4271-87AA-8A56A0D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출처 확인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한계 표시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개인정보 보호</a:t>
            </a:r>
          </a:p>
        </p:txBody>
      </p:sp>
      <p:sp>
        <p:nvSpPr>
          <p:cNvPr id="107" name="직선 연결선 106">
            <a:extLst xmlns:a="http://schemas.openxmlformats.org/drawingml/2006/main">
              <a:ext uri="{FF2B5EF4-FFF2-40B4-BE49-F238E27FC236}">
                <a16:creationId xmlns:a16="http://schemas.microsoft.com/office/drawing/2014/main" id="{B40B41C1-EA11-49B8-B27D-BEFA4E5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432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8" name="사각형: 둥근 모서리 107">
            <a:extLst xmlns:a="http://schemas.openxmlformats.org/drawingml/2006/main">
              <a:ext uri="{FF2B5EF4-FFF2-40B4-BE49-F238E27FC236}">
                <a16:creationId xmlns:a16="http://schemas.microsoft.com/office/drawing/2014/main" id="{CBB52B23-2BFC-4C65-A52B-34BF3AE7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272" y="2315936"/>
            <a:ext cx="1279979" cy="1203779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F77CBC84-1E4A-4904-9FB2-95FF07C0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208" y="2429329"/>
            <a:ext cx="980621" cy="429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리포트</a:t>
            </a:r>
          </a:p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A214E268-FEA5-49C5-81BD-A4C96EFE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437" y="2764972"/>
            <a:ext cx="1002392" cy="672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50" b="0">
                <a:solidFill>
                  <a:srgbClr val="D8D8D8"/>
                </a:solidFill>
              </a:rPr>
              <a:t>사건</a:t>
            </a:r>
            <a:r>
              <a:rPr sz="950" b="0">
                <a:solidFill>
                  <a:srgbClr val="D8D8D8"/>
                </a:solidFill>
              </a:rPr>
              <a:t> </a:t>
            </a:r>
            <a:r>
              <a:rPr sz="950" b="0">
                <a:solidFill>
                  <a:srgbClr val="D8D8D8"/>
                </a:solidFill>
              </a:rPr>
              <a:t>요약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50" b="0">
                <a:solidFill>
                  <a:srgbClr val="D8D8D8"/>
                </a:solidFill>
              </a:rPr>
              <a:t>근거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50" b="0">
                <a:solidFill>
                  <a:srgbClr val="D8D8D8"/>
                </a:solidFill>
              </a:rPr>
              <a:t>다음</a:t>
            </a:r>
            <a:r>
              <a:rPr sz="950" b="0">
                <a:solidFill>
                  <a:srgbClr val="D8D8D8"/>
                </a:solidFill>
              </a:rPr>
              <a:t> </a:t>
            </a:r>
            <a:r>
              <a:rPr sz="950" b="0">
                <a:solidFill>
                  <a:srgbClr val="D8D8D8"/>
                </a:solidFill>
              </a:rPr>
              <a:t>행동</a:t>
            </a:r>
          </a:p>
        </p:txBody>
      </p:sp>
      <p:sp>
        <p:nvSpPr>
          <p:cNvPr id="111" name="사각형: 둥근 모서리 110">
            <a:extLst xmlns:a="http://schemas.openxmlformats.org/drawingml/2006/main">
              <a:ext uri="{FF2B5EF4-FFF2-40B4-BE49-F238E27FC236}">
                <a16:creationId xmlns:a16="http://schemas.microsoft.com/office/drawing/2014/main" id="{70C8385B-0A11-45DF-8101-31E4E4C3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4305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2" name="직사각형 111">
            <a:extLst xmlns:a="http://schemas.openxmlformats.org/drawingml/2006/main">
              <a:ext uri="{FF2B5EF4-FFF2-40B4-BE49-F238E27FC236}">
                <a16:creationId xmlns:a16="http://schemas.microsoft.com/office/drawing/2014/main" id="{B2A43856-0D68-4736-B56F-71C79956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핵심 설계 원칙</a:t>
            </a:r>
          </a:p>
        </p:txBody>
      </p:sp>
      <p:sp>
        <p:nvSpPr>
          <p:cNvPr id="113" name="직사각형 112">
            <a:extLst xmlns:a="http://schemas.openxmlformats.org/drawingml/2006/main">
              <a:ext uri="{FF2B5EF4-FFF2-40B4-BE49-F238E27FC236}">
                <a16:creationId xmlns:a16="http://schemas.microsoft.com/office/drawing/2014/main" id="{F38D2235-52ED-4F4F-B1F7-0CAE6219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정답을 바로 생성하지 않고, 먼저 사건을 구조화한 뒤 근거 검색과 안전 검증을 거쳐 리포트로 합칩니다.</a:t>
            </a:r>
          </a:p>
        </p:txBody>
      </p:sp>
      <p:sp>
        <p:nvSpPr>
          <p:cNvPr id="114" name="사각형: 둥근 모서리 113">
            <a:extLst xmlns:a="http://schemas.openxmlformats.org/drawingml/2006/main">
              <a:ext uri="{FF2B5EF4-FFF2-40B4-BE49-F238E27FC236}">
                <a16:creationId xmlns:a16="http://schemas.microsoft.com/office/drawing/2014/main" id="{2BD15105-A288-434A-95D0-1815372F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0100"/>
            <a:ext cx="4305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E06FD266-0017-4CE5-BADB-6464A295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발표에서 강조할 한 문장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80D534E2-D5BD-4DAC-8890-EFC72E45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625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우리는 단일 챗봇이 아니라 교통분쟁에 맞춘 역할 분리형 에이전트 시스템을 만들었습니다.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4EE04EE2-0A7E-41CE-AFC4-E2B68728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30/41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A0C4EEB-2A42-4992-94D7-F9C8357B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72E37CD-7E37-484E-8DD6-750F7502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28583EA-02DD-4FB7-AD8C-0ECCB381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페르소나 1: 민지는 과태료 고지서를 받고 절차에서 막힌다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79093FA-310A-48E8-B67D-697ED33E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앱은 바로 이의신청을 권유하지 않고, 먼저 기한과 사유를 정리합니다.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2E4EB7E-DE08-434F-942E-CCC61E48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93F04BD-AA53-4AA5-BC51-11521250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E82144E-1290-40C6-BAF1-C01D3F39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15B4D79-7475-44E4-87A8-3D98913A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민지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C9208ED-2B3C-4503-9CC0-96DA3050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0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직장인 / 차량 도난 경험</a:t>
            </a:r>
          </a:p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불법주정차 과태료 고지서 수령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0A4DBB2-7E93-45EC-A6A7-43EEAE52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막힌 지점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B51704D-5CFD-4628-BC04-D33BEB85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도난 상태였는데 과태료를 내야 하는지, 어떤 증거가 필요한지 모릅니다.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C6B2002-CBC7-4DA6-B4A4-3528A805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7BB03EB-300A-47B8-8163-4FF2AC04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05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서비스가 제공해야 하는 결과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C3FFCE0-4E82-458B-91E2-030D1507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5E14D17-6E7A-43F8-9643-F0EB12A0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고지서 핵심 항목과 기한 확인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10DEA32-7861-4331-90FC-74C510F9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956853A-02FB-4AFA-A275-6D84B388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338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도난 사유와 필요한 증빙 자료 정리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A47A550-AC85-4BCA-9011-5C68BB21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E2E0BE1-BFD7-4EBF-A755-21AE54E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291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기관 문의 전 확인 질문과 제출 체크리스트 제공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29A4781-FEE5-45FB-9174-58EDBBA7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C8E7CD7-A570-4972-AB41-BCF5332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34/45</a:t>
            </a:r>
          </a:p>
        </p:txBody>
      </p:sp>
    </p:spTree>
    <p:extLst>
      <p:ext uri="{BB962C8B-B14F-4D97-AF65-F5344CB8AC3E}">
        <p14:creationId xmlns:p14="http://schemas.microsoft.com/office/powerpoint/2010/main" val="341965448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22596449-9C43-4EA2-BE83-6201D88F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F8F5A02-C684-4D2B-A4E4-A0EC03CA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CCAA29D-A72E-457C-A29F-3DF01E8C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시스템 아키텍처는 입력, 분석, 근거, 리포트 계층으로 나뉜다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8034607-1318-4710-84B6-4CE7EBF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에이전트가 같은 데이터를 보지 않고 필요한 정보만 처리해 정확도와 보안성을 함께 높입니다.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63F1E45-1A59-4213-80E9-2F11BAAA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83E97DEB-4B91-4474-BBB8-7956466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940A08C-7FA2-4EA9-A17B-27B49FB2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입력 계층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103363DF-2609-4853-9157-362543DA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사용자 질문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고지서 이미지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 사진·영상</a:t>
            </a:r>
          </a:p>
        </p:txBody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965A575B-A97E-41B4-BC62-30391136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44812AA9-2943-4C89-8C2F-F7140D9E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65FF2C04-EE72-411A-B7D1-C5684D3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전처리 계층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ED1E91A-956C-4CF4-928E-3D48557E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파일 검사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OCR·메타데이터 추출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개인정보 마스킹</a:t>
            </a:r>
          </a:p>
        </p:txBody>
      </p:sp>
      <p:sp>
        <p:nvSpPr>
          <p:cNvPr id="13" name="직선 연결선 12">
            <a:extLst xmlns:a="http://schemas.openxmlformats.org/drawingml/2006/main">
              <a:ext uri="{FF2B5EF4-FFF2-40B4-BE49-F238E27FC236}">
                <a16:creationId xmlns:a16="http://schemas.microsoft.com/office/drawing/2014/main" id="{0B72D21B-63C7-4E4A-8C82-736DB9DC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9297A1F5-360C-4F23-BDD2-3BF5DE37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B187F765-AB7B-4E4C-9D5D-CD8E66F9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Agent 계층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F9DFA448-B97F-4271-A12F-B2FD9CBC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Supervisor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문서 인식 Agent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사고상황 Agent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법률·사례 RAG Agent</a:t>
            </a:r>
          </a:p>
        </p:txBody>
      </p:sp>
      <p:sp>
        <p:nvSpPr>
          <p:cNvPr id="17" name="직선 연결선 16">
            <a:extLst xmlns:a="http://schemas.openxmlformats.org/drawingml/2006/main">
              <a:ext uri="{FF2B5EF4-FFF2-40B4-BE49-F238E27FC236}">
                <a16:creationId xmlns:a16="http://schemas.microsoft.com/office/drawing/2014/main" id="{358CF720-9A8A-42F1-8AE6-097DD884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061AB3FB-6F7A-49DC-A1EC-435AD776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0B26AD9D-B039-47BD-AC2F-447C1D06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근거 계층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A047EAFE-5E24-4F1B-AA27-4557A5E3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국가법령정보센터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과실비율 기준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심의·유사 사례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프로젝트 DB</a:t>
            </a:r>
          </a:p>
        </p:txBody>
      </p:sp>
      <p:sp>
        <p:nvSpPr>
          <p:cNvPr id="21" name="직선 연결선 20">
            <a:extLst xmlns:a="http://schemas.openxmlformats.org/drawingml/2006/main">
              <a:ext uri="{FF2B5EF4-FFF2-40B4-BE49-F238E27FC236}">
                <a16:creationId xmlns:a16="http://schemas.microsoft.com/office/drawing/2014/main" id="{D2016C68-A501-40BF-A35F-6720769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4DED5120-7DC9-4420-9007-043DDC0F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6F646A51-BA22-4717-B845-6E871241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출력 계층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5B84A39-BEC7-4064-8AA8-C7ECF177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상담 리포트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부족 정보 체크리스트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보험사 문의 초안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58F6C195-AFA1-44B5-B886-21B49A4A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887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931A82DD-9103-47A4-AA89-85CB15B2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62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보안·품질 공통 계층</a:t>
            </a: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B917C50A-A282-4C6C-9360-DF893914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81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권한 분리 · 업로드 파일 검사 · 개인정보 마스킹 · 근거 출처 표시 · 확정 판정 금지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EC8B5904-CF4E-42A2-B0C6-7BA9D931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31/41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272390-4F16-4A64-BE1D-E5E08813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431683-ECCC-43F5-AC8A-92A79224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78FF70-7513-4B9C-BC8D-562BA3B7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민지의 사용 흐름은 고지서 이해에서 제출 준비까지 이어진다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7FDDA8-428B-45D0-B580-7530E29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단계는 사용자가 실제로 눌러야 할 화면 단위로 구성됩니다.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43B1D5-D7E0-467F-B247-C14062DA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1ED2EE-8C4E-4406-9BB7-0CE2088F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6551A2-463F-4328-89FF-4C92EA4A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7240E1-4983-4193-AC63-5EFAB15C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 업로드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OCR로 항목 추출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48AAEB-9EC6-436E-A5CA-E95880D2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1CD280-6489-4E72-9A06-A436B2B7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5745C2-D4C4-4D97-BD70-E3C6BCC0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4B0DF3-3A58-40AD-910C-4F690FE6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처분 유형 확인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과태료·기한·기관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B7D060-F770-4097-BC53-B023974C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22E907-58A9-4177-9F5E-0E6700B1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2A2B9F-94C6-4F4C-B0A6-C345424D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34D85B-BD72-4690-AEFE-AC444179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사유 입력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도난 경위와 신고 자료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6525B7-75A6-4BE9-A741-81036804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56A97F-AB58-4844-BFAC-504124D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CDBC2B-3B22-4D0F-8EA6-A4B3BB30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3ABFA7-B061-4A52-88E6-FC1141E4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가능성 검토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인정 사유와 부족 자료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40BE06-7B1C-4A4A-9B85-01F7A6AE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E047A6-01AD-41D4-9D24-BB4CEAE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E165BF-EC3A-46C5-97EE-6561C24D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59A52D-F1D1-4791-A23E-93CE4ADE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기관 확인 문구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C69885-C61A-4D54-95D1-2DFDED9E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48AAAA-E3AB-4E2A-8A83-BDE1535F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35/45</a:t>
            </a:r>
          </a:p>
        </p:txBody>
      </p:sp>
    </p:spTree>
    <p:extLst>
      <p:ext uri="{BB962C8B-B14F-4D97-AF65-F5344CB8AC3E}">
        <p14:creationId xmlns:p14="http://schemas.microsoft.com/office/powerpoint/2010/main" val="8570660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D5A5655-E82E-A099-A1C6-5446B08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CA0C07-F82A-82AF-2F66-333F11DD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BB78A165-8507-B064-2DB9-923F93A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분석 모듈 역할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AB6E2FF-5AD6-B0D5-4CE8-43AB8092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AF45E4-5F50-6B6F-E0D9-99A4761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1BAF64-CCF5-35DC-9C9B-5EAB3C04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44E6D36-BC86-C281-451A-69EF0311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고지서·문서 필드 추출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A6E4FA0-AD08-6DF2-3A72-C3B8D9C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3BC8EF-47BA-0DEE-4898-DF1AF19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 분석 모듈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30E75B-73DA-2BA9-35D0-C4E68842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프레임·객체·사고상황 후보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189BC91-337C-A4AB-9742-9BAE94B5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AB31630-1C04-1D8B-41BF-55E29880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Law 근거 검색 분석 모듈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631E584-85D7-B817-3753-2A8DCEC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A7C64E5-6169-A173-461C-7CDB34F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BAC7246-194B-CCC3-E93F-707403DD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Fault 분석 모듈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7E87B1C-0247-C0B5-5339-947EF41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사고유형·쟁점·수정요소</a:t>
            </a:r>
          </a:p>
        </p:txBody>
      </p:sp>
      <p:sp>
        <p:nvSpPr>
          <p:cNvPr id="39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E7032DC-E981-1D9B-B6A8-F054ED8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AE65C10-2C0D-2347-0A92-26F154A2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Report 분석 모듈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5E0CBC43-E6F0-F863-AF0B-B54C3D0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초안·체크리스트·리포트</a:t>
            </a:r>
          </a:p>
        </p:txBody>
      </p:sp>
      <p:sp>
        <p:nvSpPr>
          <p:cNvPr id="52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B38097F-9ABB-15A6-A534-192D9CE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990445C8-58BE-E800-76CA-82806B94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 분석 모듈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03151DCE-4135-6185-FD8A-1AD7DF03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분류·라우팅·결과 병합·한계 표시</a:t>
            </a:r>
          </a:p>
        </p:txBody>
      </p:sp>
      <p:sp>
        <p:nvSpPr>
          <p:cNvPr id="6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A3741E6-B331-88AA-21F7-ED99845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3318"/>
            <a:ext cx="105613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4DB8A8A-ECE1-52A6-D15B-80CD30B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4798"/>
            <a:ext cx="10561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법률, 보험, 영상, 문서 분석은 오류 유형이 다르기 때문에 역할 분리가 더 안정적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962339A-3EBF-42A6-8D75-B9CD4B6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4E2E9075-AE46-4CD3-94D3-9FFE25E9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1AC9394-2B46-46B3-834C-2037BE06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모듈을 나누면 오류 유형을 더 잘 통제할 수 있다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4CC00D73-6D81-4648-8035-3703969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문서, 영상, 법률, 사례, 리포트는 서로 다른 검증 기준을 가집니다.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471CE8F8-1792-4604-ABA4-BA3AB803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78B7843-1481-46CA-972E-1BEC66C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문서 인식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E2F6690-5C19-42F6-A6AD-D555AF8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고지서·문서 필드 추출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F5A8E6AF-0FC6-4E5F-B252-2CCA4651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3E12988F-D850-4C7E-9BF4-F374B70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Vision/DL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0A09F8F0-EFD6-4D7A-8FEF-CCF586F2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프레임·객체·상황 후보</a:t>
            </a: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2342ADBE-7CBA-409B-B91E-17DE33C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CBD90106-D24E-4DF5-B101-023EC862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Law RAG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C46B2645-E7E4-4650-91C8-915C971F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법령·판례·심의사례 검색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D041B85F-85BA-4955-9C90-44D0226F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A49694BA-0FCF-4EDD-8901-F50E6C91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Fault 분석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5914A4CE-A718-4608-8D55-C7D1596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사고유형·쟁점·수정요소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377993AE-BC4E-428B-B8C9-A4775308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C4129766-9993-41E7-8049-AC6BDFF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Report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A4423DC-5806-4D03-A97D-4DBEF8C9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초안·체크리스트·리포트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AB07AE76-A3F0-496A-BB65-D621E52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67D3CE96-CB65-496A-95E2-7D10BB76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Supervisor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92FF0241-EA16-46D8-9867-38D4BE80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라우팅·병합·한계 표시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165EFDD0-0BD7-4B38-9340-F3D1F0AA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93041B5D-2DBD-4D39-A684-44628287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5A6B3C4A-FA6E-451D-BB38-E3174D6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분석 모듈은 사용자 질문을 검토 가능한 사건 데이터로 바꾼다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A231466A-AC24-433F-BEB4-FC9DB8A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모듈은 다른 실패 지점을 담당하고, Supervisor가 최종 리포트의 일관성을 맞춥니다.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BE895DF8-D0B8-4EC0-99D7-9FC9FC37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72915FF9-8843-43B6-8D18-FF9F2A97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EFE6143A-16AB-4535-AA67-C4CDCE2F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문서 인식 Agent</a:t>
            </a:r>
          </a:p>
        </p:txBody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FD6BB81A-A592-44D8-B0C9-31B5C808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고지서·통지서에서 위반일시, 장소, 금액, 기한, 처분 유형을 추출</a:t>
            </a:r>
          </a:p>
        </p:txBody>
      </p:sp>
      <p:sp>
        <p:nvSpPr>
          <p:cNvPr id="97" name="사각형: 둥근 모서리 96">
            <a:extLst xmlns:a="http://schemas.openxmlformats.org/drawingml/2006/main">
              <a:ext uri="{FF2B5EF4-FFF2-40B4-BE49-F238E27FC236}">
                <a16:creationId xmlns:a16="http://schemas.microsoft.com/office/drawing/2014/main" id="{A2BA2F18-6B92-4552-BC49-D723209A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ACFDB923-BA10-4A9E-9FF7-C0575FB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사고상황 Agent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68D222FE-35C0-4378-968F-882FAAC1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사고 설명과 이미지·영상 단서를 사고 유형, 당사자 행동, 증거 목록으로 구조화</a:t>
            </a:r>
          </a:p>
        </p:txBody>
      </p:sp>
      <p:sp>
        <p:nvSpPr>
          <p:cNvPr id="100" name="사각형: 둥근 모서리 99">
            <a:extLst xmlns:a="http://schemas.openxmlformats.org/drawingml/2006/main">
              <a:ext uri="{FF2B5EF4-FFF2-40B4-BE49-F238E27FC236}">
                <a16:creationId xmlns:a16="http://schemas.microsoft.com/office/drawing/2014/main" id="{D1D0FE6F-BB6E-40AF-85E4-BB85D59B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D783EA75-0721-44A8-A76D-844CF07B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법률·사례 RAG Agent</a:t>
            </a:r>
          </a:p>
        </p:txBody>
      </p:sp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0C906244-4556-43BD-8168-B0E12AA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법령, 과실비율 기준, 심의사례를 검색하고 답변 근거와 출처를 연결</a:t>
            </a:r>
          </a:p>
        </p:txBody>
      </p:sp>
      <p:sp>
        <p:nvSpPr>
          <p:cNvPr id="103" name="사각형: 둥근 모서리 102">
            <a:extLst xmlns:a="http://schemas.openxmlformats.org/drawingml/2006/main">
              <a:ext uri="{FF2B5EF4-FFF2-40B4-BE49-F238E27FC236}">
                <a16:creationId xmlns:a16="http://schemas.microsoft.com/office/drawing/2014/main" id="{230E2C41-E328-40C7-94F7-15F74CE7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8D282A6B-E478-4B12-963C-580C3C6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리포트 Agent</a:t>
            </a:r>
          </a:p>
        </p:txBody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2E5F61F0-4FFB-4F50-ADFB-53E12892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9105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가능성, 리스크, 부족 자료, 다음 행동을 사용자가 읽을 수 있는 형태로 정리</a:t>
            </a:r>
          </a:p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6B16EFAD-0D90-4056-9084-109070CB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32/41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F5AF08C-541E-471F-B383-3AAA98D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74B6C93-260B-4FC0-B93D-7121C863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48C3608-A361-4F5B-ABFA-0FA82BAE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페르소나 2: 준호는 보험사의 과실비율 설명을 검증하고 싶다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D93DF93-929F-4447-B9D3-62694FD6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앱은 과실비율을 확정하지 않고, 사고 쟁점과 유사 사례를 비교할 수 있게 돕습니다.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0CE0458-6999-4F80-98E4-82B3B656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1F7145E-5A64-4CE8-85D1-C0543741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4582C16-2E21-4E59-B464-64216DA1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EFE9DAA-E59D-4563-BE15-84112186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준호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733C407-EF1F-457A-BE84-1B6A14D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0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초보 운전자 / 진로변경 사고</a:t>
            </a:r>
          </a:p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보험사 과실비율에 이견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694DFF8-C833-40F6-BF26-8AEFBB4E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막힌 지점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37A973D-3979-4D75-BB91-61AC7CC1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상대 차가 끼어든 것 같은데 보험사가 말한 비율이 맞는지 확인하고 싶습니다.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24D446-02D8-4D6A-A5C7-53225E46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A17DB53-0A7B-472D-BCBC-1EC793D2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05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서비스가 제공해야 하는 결과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A5F1297-2AC9-4B46-8A85-CBAB94ED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503EAE-B89C-4DCF-92ED-037D4AB7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사고 유형과 쟁점 구조화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0F9C3C5-D2EE-497B-B15B-1C6A4CB7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3983F3E-9479-4EC2-A451-01D3C0EA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338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블랙박스·사진에서 확인해야 할 항목 제시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BC02D48-12C3-4D5D-BFFD-592709FD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9C36977-1DA1-449C-B620-CDFB90E2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291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보험사에 물어볼 질문과 유사 사례 근거 정리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FBE5D6B-9282-429D-8FFA-714320EE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A9D6791-E624-47EB-98C5-10D73C8D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36/45</a:t>
            </a:r>
          </a:p>
        </p:txBody>
      </p:sp>
    </p:spTree>
    <p:extLst>
      <p:ext uri="{BB962C8B-B14F-4D97-AF65-F5344CB8AC3E}">
        <p14:creationId xmlns:p14="http://schemas.microsoft.com/office/powerpoint/2010/main" val="5773818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92C7304-A754-553B-7C54-12E4BA2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78BCAB-C548-C92A-273D-161DDCA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9B8E52F-423A-AD67-D168-3A7A81B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보안 설계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547C11D-A71E-6FB2-0171-B63E79B7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326874D-0AFD-610C-655A-66DA5798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BD3641C-AACE-24EF-5D23-8D40962B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권한 분리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9BA88F-41E5-0D44-A1D3-6D29A96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로그인 여부에 따라 저장·다운로드 권한을 다르게 적용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391FC68-410D-3E34-DB86-57FDB7EC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F78C476-C0BA-0602-A37A-593D37E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계정 보호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4689D73-EDFD-9FF1-A45E-09F5C85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인증 정보는 서버에서 안전하게 관리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759F51-5325-1552-D31B-D546C6E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210471F-78C1-2AF4-B5D1-7E70C75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046A61B-D02C-2422-F479-595EBDD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업로드 파일을 검사한 뒤 AI 분석에 전달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A58412E-C515-47D7-ACFA-75943F72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18B55FA-E08A-53E3-E408-796CAFC4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개인정보 최소화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4928952-3213-8EE1-7F48-F171E48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필요한 정보만 저장하고 민감한 원문 노출을 줄임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882D7E9-789E-4FB0-BFA2-C1125A10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146AC91-1DEE-401A-492F-BB3A0AF5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입력 검증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1DA210E-8B02-6548-9FB0-2785202F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안의 악성 지시가 답변을 오염시키지 않도록 분리</a:t>
            </a:r>
          </a:p>
        </p:txBody>
      </p:sp>
      <p:sp>
        <p:nvSpPr>
          <p:cNvPr id="4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3594BB1-A814-9E55-EFC6-333CEA12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25BDA974-D9B6-C0D3-A96F-6E8CA90A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책임 제한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77F7027B-21C0-BBA1-0A44-8FFB5FAA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3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근거·한계·전문가 상담 안내 포함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1C8BBDA-BA10-48E3-8084-B2C5C79D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B8189220-286E-4288-882A-453FC161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0F60600-B242-4C6E-87EF-5F400BC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보안 설계는 AI 기능의 전제 조건이다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1D71B73-02B3-4A2B-9085-BCD45E4A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데이터는 법률·보험·개인정보가 한 번에 들어오는 민감한 입력입니다.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0A271772-10D1-4C82-AE99-845E7DD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51E392DE-3E6D-4B31-BECB-5D80B39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권한 분리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165905F-BFA0-4576-A7E5-6B86CEEA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로그인 여부에 따라 저장·다운로드 권한 차등</a:t>
            </a:r>
          </a:p>
        </p:txBody>
      </p:sp>
      <p:sp>
        <p:nvSpPr>
          <p:cNvPr id="73" name="사각형: 둥근 모서리 72">
            <a:extLst xmlns:a="http://schemas.openxmlformats.org/drawingml/2006/main">
              <a:ext uri="{FF2B5EF4-FFF2-40B4-BE49-F238E27FC236}">
                <a16:creationId xmlns:a16="http://schemas.microsoft.com/office/drawing/2014/main" id="{7EB1E344-94E0-4232-9957-1E1113A6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D3E69AD-AAF3-4201-9F6B-1670FA64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계정 보호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91189E6E-CB01-46A7-85A7-0E158DA6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인증 정보는 서버에서 관리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F2BE1784-81CA-48B7-93B6-745CB1E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A54C817B-8B15-4208-82CD-0245341E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파일 검사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D68CD458-027F-4289-9DDB-0196F8A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검사 후 AI 분석에 전달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7119CA41-79BA-4368-ACF2-9AC79E39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442F0024-627A-4871-B8B6-1E8C511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개인정보 최소화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DC6D0F33-3737-4A7D-A4DD-F1D1A5D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필요 필드 중심 저장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D8616FCC-4CE5-422A-A7E9-534A16B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732C1AA8-07D3-473B-AF0C-17D7BBB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AI 입력 검증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87B4950E-B793-4F88-B500-D6073812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문서 내 악성 지시 분리</a:t>
            </a:r>
          </a:p>
        </p:txBody>
      </p:sp>
      <p:sp>
        <p:nvSpPr>
          <p:cNvPr id="85" name="사각형: 둥근 모서리 84">
            <a:extLst xmlns:a="http://schemas.openxmlformats.org/drawingml/2006/main">
              <a:ext uri="{FF2B5EF4-FFF2-40B4-BE49-F238E27FC236}">
                <a16:creationId xmlns:a16="http://schemas.microsoft.com/office/drawing/2014/main" id="{1CE671FC-FAF0-4030-85D1-11F73FE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58256A8A-BF2E-4818-B08C-10407CF1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책임 제한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11A0216A-A8BC-4FCE-AE83-A05A024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근거·한계·상담 안내 포함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BA3EFB37-F890-44D8-8B11-D6DB3D6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A0608AA-5BDA-464E-A403-7B79EFAE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33/41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FDB217D-3DC1-4867-9981-59F45FC8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3DF7440-877E-4844-9AE0-BF3C212A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BB5A5E-2AA4-41B2-8E1D-919184E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준호의 사용 흐름은 사고 설명에서 보험사 질문 준비로 이어진다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AA721AE-DEF1-4E2F-BF95-09BF446A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영상 자체보다 사고 유형, 신호, 차선, 정지 여부를 묶어 보는 것이 중요합니다.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CF5DED3-9B6A-404F-87E4-BECE959A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C7EAD1-ABC4-470E-8159-C0073314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FB036D5-5086-421C-89D3-6F1043E1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0BC99E3-AF22-4A1A-9E39-8770956E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설명 입력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일상어 상황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48C81A1-FD02-4528-A197-03CED7B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9BC1798-196C-4481-A4C2-253EAD4E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CF7F5BB-C92D-4BCF-8BED-BC07726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E1E4CE4-0A0A-42E5-8358-236DD53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업로드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블랙박스·현장 사진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108F460-46AC-450E-ABF6-347011B2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4739042-D507-441A-888F-C78C224A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0AC986D-624D-4B31-AEC7-7A65D89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280F106-A61E-4F93-A068-14ADA4A9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쟁점 구조화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진로변경·신호·차선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8A05965-13E1-480C-9EBC-3726B32D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D9EE68-AAE9-4A9A-906B-F9250002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AF75C05-BA94-4672-804C-BE720677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9110BE6-7F9C-4A30-A435-3D7E0F59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유사 사례 비교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기준과 차이점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0A0C8D3-0E33-48AF-AC30-8553D938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7E2E8EF-A554-46A8-8D5D-D8FE5ABD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2EAF024-5E81-48CE-968B-F9DD5DF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B1DC411-F73A-43F7-9437-D8C7B341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 질문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확인 문구 초안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8F25A42-D228-4D70-89E4-FF78278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9629D5B-AA09-45F4-9DA6-A83AEC4A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37/45</a:t>
            </a:r>
          </a:p>
        </p:txBody>
      </p:sp>
    </p:spTree>
    <p:extLst>
      <p:ext uri="{BB962C8B-B14F-4D97-AF65-F5344CB8AC3E}">
        <p14:creationId xmlns:p14="http://schemas.microsoft.com/office/powerpoint/2010/main" val="23586468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C576DCF-5215-A46F-F56B-D9A43921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33/40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868A09-922B-5EFD-0F3C-8CA4B04B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23FF589-05AA-EB1D-A59A-E7D7222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기반 안전장치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B089523-E867-44FC-7573-C36152B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1AAEE5-DDA4-C9FF-FFF1-023CEE0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068997-D808-9437-6466-D2271F5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하지 않는 것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EEA34A-9D04-1853-B8AC-3398320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 보장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과실비율 확정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제출·대리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변호사처럼 단정하는 표현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27B340-C516-3E8F-D6DC-63B2B74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788A49-AC4F-987D-B0FA-F9F5E2A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반드시 하는 것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BED0C63-AAA4-60EE-F72B-6B8C5F0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출처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근거와 한계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추가 확인사항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 직접 확인 절차 안내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26216B2-A80C-25F3-772D-25BCAE1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79032"/>
            <a:ext cx="29718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8D7934-8EF5-8B16-8E9E-7A9998A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21619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표현 방식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69CC4B9-AABA-1B2C-4501-94FBB70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609384"/>
            <a:ext cx="260604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“가능성 있음”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“검토가 필요함”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“부족 자료 안내”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A2CD0C-A964-7A43-BB18-1CFC03C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235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확정 판정 X | 기준·유사 사례·부족한 증거·다음 행동 제시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08F646A-3926-4429-B2AF-419CA08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171B16E-E7F9-4A95-8BCD-BC76C9E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5A156E43-DE86-466A-A88D-AB84D66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안전한 서비스는 하지 않을 일을 먼저 정한다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ACDBBB8-F44E-4DA3-AD54-FF15B68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AI는 확정 판정이 아니라 검토 가능한 근거와 다음 행동을 제공합니다.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948B4E3F-CA68-4B3B-88B5-C27613B4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E38A57E3-CEC0-4A24-ADCF-89E9ACD9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667B4D6F-7EA3-4723-8184-9E9C361A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하지 않는 것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7A05B83-F6D9-4774-947A-72DEC340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반드시 하는 것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7688C557-B1B8-4502-95F3-ED49C4A6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승소 보장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5C30D95C-0B14-49BC-8593-7E9AEF65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과실비율 확정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B0F209B8-966A-4504-9714-0C0F3A9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자동 제출·대리 신청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AE2DE1F-353A-46D2-9CB7-6E96F4B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변호사처럼 단정하는 표현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00C2595-D0ED-42C7-BCF5-1B82B701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출처 표시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FCD2A1EA-B944-4BB1-845E-EC54ACD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판단 근거와 한계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D622EC67-F1B5-42BE-AE27-08992D81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추가 확인사항 제시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7E374B7-58E2-407E-BC76-DB4F3AA6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사용자 직접 확인 절차 안내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758664A4-7FE9-432A-B69D-77794283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609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D3FE1C4F-31D5-4101-BE84-E99E68E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7690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표현 방식: 가능성 있음 · 검토 필요 · 부족 자료 안내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99E9F1FC-5D9D-4362-BA71-6C92A6B1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5020823-D5BE-4212-97E1-9A76706B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34/41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5B8791E-639B-49C4-9A10-F98ED91C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40AE56E-DD99-45E0-8F14-CC4BDA7D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3AEAB1A-644A-48D4-BE48-05312BE7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두 사용자는 다른 문제를 겪지만 같은 결과물을 필요로 한다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9103763-B253-4EA9-AA27-E29A57C9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고지서와 과실비율은 달라도, 사용자는 결국 근거와 다음 행동을 원합니다.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70B774F-1A25-483B-904E-158FEDEC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CE33821-BC6B-4FF0-80BE-D59BCF3F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6363E9A-066E-456B-AE4E-A25537C8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D0D2DA-C103-41C3-AD62-99D86AA8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민지에게 필요한 것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74AD0CD-F62C-4486-B890-9F913BE1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준호에게 필요한 것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CDCFC91-422B-4643-B45B-83EBB768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0AAE25B-6C0D-4A5D-8559-BF614BCC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고지서 핵심 항목 해석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7FD47E5-0CE1-47F1-A114-84B7D7E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0D36585-75F9-49A4-A437-A26D52D2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도난 사유와 증빙 자료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FD78D83-8939-4F47-BA15-7F0C4182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07A189C-A9A6-4C37-B8E5-4F4A59B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기관 문의 전 체크리스트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546749A-706B-4804-8CD6-B2419328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BCEF1C4-BD45-426B-ACBD-129733B9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사고 유형과 쟁점 분리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D8716AD-AF66-4BD9-A348-920950C3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16F6492-BD0D-4EB5-AE95-08CE5F1C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유사 사례와 차이 비교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702B94D-73F9-4CF4-8313-CE3DC1E3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4CDFD53-78CF-4125-9570-8E3D5CEA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보험사에 확인할 질문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511C117-A1CA-4DB8-848F-4EE3468D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8996716-1D21-4E29-A43A-B19E6228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38/45</a:t>
            </a:r>
          </a:p>
        </p:txBody>
      </p:sp>
    </p:spTree>
    <p:extLst>
      <p:ext uri="{BB962C8B-B14F-4D97-AF65-F5344CB8AC3E}">
        <p14:creationId xmlns:p14="http://schemas.microsoft.com/office/powerpoint/2010/main" val="12428057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26C8F3-7EB5-A9E4-AB64-673A0B94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FF1564A-19FA-7025-8258-FDE21C1F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83696D8-CCC3-11F5-091E-8D3044A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28EC2A-1B03-734C-E90C-78B11FB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MVP 기능, 검증 계획, 향후 확장 방향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3ABC2F-7F0E-7C95-A00E-72E545F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34/40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B94F91-FBBC-EFB1-548C-F88D9770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6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MVP 포함 및 제외 범위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분석 모듈 별 평가지표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현재 한계와 향후 확장 계획 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A749F42-D938-42E4-9D5B-0B119A04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A499571A-D4A4-44A2-87EB-E6A810E4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07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4CDEA5C-3B62-4CEF-9735-5DABE299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구현 범위와 기대효과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53A7A11C-D1A8-4D25-84B7-30523A03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MVP는 검증 가능한 기능에 집중하고 위험한 자동화는 제외합니다.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E9AE391-D968-4EA4-8D5E-967969D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F8B83F37-8557-4F80-8016-FD3C1283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026D4B3C-C802-4541-9D01-307B6191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MVP 범위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7F909919-7A85-4095-9165-5CC2009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고지서·사고 설명·근거 검색·리포트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2B787B58-EDB8-4487-BFE0-CA9750A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BC368FF5-3710-4021-8DD4-3D7DA86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평가 계획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B60D759F-59DA-4999-8B13-9F7523A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모듈별 정확도와 안전장치 검증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0CA975BA-04C7-4ED2-9B47-A455A3A7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4C0FCD7-5558-4AB2-9053-76217A8E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Next Step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15E332A-B0DA-44F0-B732-EBF59DD0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실제 사고 샘플 기반 E2E 보강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206498CF-7774-41B8-AF3E-C9A4974A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E9F10FE1-CFD7-496F-965C-1B33B48D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35/41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5A4DE-972D-4DCF-A938-44DE36C0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DF003D-9E70-4E00-9E18-A52C8148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282964-2620-4D87-97E3-DDE6B1D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핵심 기능과 AI 분석 구조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A06813-C10B-4A03-958F-AB3156F2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민감한 사고 자료를 다루기 때문에 Agent 구조와 보안 통제가 함께 필요합니다.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A87811-CC6C-404C-9250-5158D8FE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DF4003-E55C-44B0-9D61-67701A13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AA69A9-EAD4-4D8C-B64F-F74C2AAE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Agent 구조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119B2A-D9FD-48E0-BBC3-1FFE9C1E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역할 분리와 Supervisor 병합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4A376E-34E5-42D2-87AC-6FB47F2D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4C4F4B-B8E4-4F5A-B68B-462C94FD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보안 통제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3C1816-C6E7-4277-B719-2B484142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파일 검사·개인정보·출처 검증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7FBDA1-D893-48D4-BA98-BEC19424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22BF28-7067-4764-9484-E2A3EF83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MVP 범위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3D248C-82D9-4634-B01F-87BE0215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검증 가능한 기능에 집중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FFDB75-36C5-44CB-BE52-351DA739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E4D949-BE7C-4FAB-9A21-3EE48F78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39/45</a:t>
            </a:r>
          </a:p>
        </p:txBody>
      </p:sp>
    </p:spTree>
    <p:extLst>
      <p:ext uri="{BB962C8B-B14F-4D97-AF65-F5344CB8AC3E}">
        <p14:creationId xmlns:p14="http://schemas.microsoft.com/office/powerpoint/2010/main" val="404811138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6CC153E-47DF-49E4-9E0F-1DCD511B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F80A37-CC2F-8BF2-9B79-F66AE185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3476D41-8227-9C42-6077-1245078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MVP 구현 범위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7E7EA93E-67B7-9A95-303A-E947F46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AFE901B-483F-592A-E6F8-EC9FFD8C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AD4209-C966-31B2-78BC-1B8C69FD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MVP에 포함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75FCFC6-417E-C389-4F62-8E1EAA68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및 과태료/범칙금 유형 확인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사고 설명 + 이미지/영상 구조화 결과 생성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법령·과실비율 기준·유사사례 근거 검색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이의제기 가능성 높음/중간/낮음 라벨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부족한 증거 체크리스트와 참고용 리포트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CD18615-97F2-0B1B-2E53-83637AE9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A2CDDF-7752-0854-2F4D-2AE9A5F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후순위 / 제외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26BA59-46AE-B2A5-3FC0-E645637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 또는 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승소/과실비율 확정 표현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전문가 연결 수익화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모든 영상 상황 자동 판정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자문처럼 보이는 단정 문구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A768100-9CDE-46A6-A9A7-1AE625F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1334A804-D7ED-4668-87F0-56DD95FE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07  구현 범위와 기대효과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129F8260-1692-4255-8964-CD941113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MVP는 검증 가능한 기능에 집중한다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3DB1176-2EB8-4589-BDAA-8335F64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위험한 자동화와 단정 표현은 후순위로 두고 근거 리포트 흐름을 먼저 완성합니다.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4FB60CAB-424B-4F9B-823B-F6B0869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57086EE0-DF42-4FC0-B726-E03ADD50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0F96E0B7-5ACC-40B5-9E40-5AE24ABA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4E28334C-E072-44DF-917E-2664FB5E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MVP에 포함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CC44D66E-1E91-476C-9F35-F83FE34B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후순위 / 제외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9D6A4C6-B7E1-4116-AFC3-ECC5FE4F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문서 인식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15D1BFD-0A52-4D2D-BCF3-5E34AC0B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 설명 + 이미지/영상 구조화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0442587-F637-4B36-A0A9-9F34C017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법령·기준·유사사례 검색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C435EA69-6885-4069-85D0-3AB2AE87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부족한 증거 체크리스트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908327F9-F370-4BF8-973D-CC2684F4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자동 제출 또는 대리 신청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62D4FF70-FBA3-47FC-A2A5-ADFCC3AE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승소·과실비율 확정 표현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708EFF4-EEE3-4FB4-807B-F9A1BD70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전문가 연결 수익화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C935A28E-72C0-4D97-92BB-9A52A211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모든 영상 상황 자동 판정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D6A9E92C-B1F7-41A2-A672-F401BB8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5A558423-E906-4500-B958-C140EFB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36/41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9468765-C730-49D7-A0BD-BC9D187A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299182-46EB-4A86-A92C-10B70591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5A7B4A9-5B0C-4FF6-A62C-B97A436A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시스템 아키텍처는 입력, 분석, 근거, 리포트 계층으로 나뉜다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E685951-CCA0-43AC-9F05-7D696345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Agent가 필요한 정보만 처리하고 Supervisor가 결과를 병합합니다.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4161036-79AC-40CD-8E88-D25552EA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E3A37F4-96CB-4437-ACEE-15139BA1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3C34FE-D63C-4B66-8252-10FAA0F1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입력 계층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869576E-6AB2-43D4-9E5A-441CF9A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질문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사진·영상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EDC20D4-896F-49BE-8CB9-694D822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73BB81C-2218-4BAD-A9B4-D5EE1EF2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96CE76-C41B-468D-B376-5AF45CED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전처리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C4BE625-2213-4305-88F4-5B970154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파일 검사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OCR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마스킹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947F103-2F23-4BF9-8BDE-1E251A01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5B94029-0E82-4AC3-8E08-2BBBC7CC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A194D33-314D-41D3-8D47-25D5F8E6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Agent 계층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D9FC1A4-46C1-4F97-8F0B-7FE4301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Supervisor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Agent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Agent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RAG Agent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3A67109-DDF2-4605-B4D7-B0AA6E03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07F090E-3A35-4330-9460-5509E6A6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96A00EA-D234-4AFF-AD17-DE25DCDB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근거 계층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D22C4E3-BDCF-44EC-96BF-50E4F3FD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과실기준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심의사례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프로젝트 DB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C4BABE0-38AD-4521-91E4-CAB32D8A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28B8A68-EE6B-4558-B22E-A7BD2AAC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9D7A9F8-5E91-4CE0-874B-863F5A1A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출력 계층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8EAD662-DDFA-4AF1-9CB5-7FF15741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리포트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체크리스트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600555-735A-4E37-B1BE-06681F6D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81AEBF2-9DD1-423A-9597-64B3899A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40/45</a:t>
            </a:r>
          </a:p>
        </p:txBody>
      </p:sp>
    </p:spTree>
    <p:extLst>
      <p:ext uri="{BB962C8B-B14F-4D97-AF65-F5344CB8AC3E}">
        <p14:creationId xmlns:p14="http://schemas.microsoft.com/office/powerpoint/2010/main" val="393586588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94D1064-057D-20E4-4BA3-EE502EB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6DEB490-A897-96E9-6F45-0B065F52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BC5B1AB-5628-B542-4E0A-75FCEEFF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기능별 평가 계획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4A6F3484-F834-55CE-6DCD-87A790E2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90A2AD6-E1D5-00C6-544F-383F5627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51096E-998D-80C6-EEC4-BCEB7915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C1E345-48CC-4221-9509-6C0BEBB9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필드 정확도, CER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핵심값이 맞는가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23424DF-6E05-AB78-9655-71703117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F4B55D7-E4B8-C85B-F4DB-27833FB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3FFE49-3377-718F-E44D-362B806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Recall@k, MRR, Faithfulness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문서를 찾는가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4EAE8D0-82E9-F34E-E663-1A6FEE9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70CCD7D-030E-C1B9-1F30-AFF719C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A215532-4504-CBD5-CAF6-76509B7A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mAP, 장면 후보 정확도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상황을 구조화하는가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894C9F-3B21-63EF-3EB1-FE4829A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DFBC811-F50E-0E87-3D91-56683658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0B6C7C6-807A-7607-2DD3-1BCC6D9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라우팅 정확도, E2E 성공률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올바른 분석 모듈를 호출하는가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0D71E48-0245-3EDC-F891-D4EFC32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F27474C-3173-2252-25E8-CCB62AD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154643-041C-657C-6C3C-9738712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단정 표현 차단률, limitations 포함률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리스크를 줄이는가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F9A5EED-CCF3-D484-0035-567FD2F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183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최소 목표 | 분석 모듈마다 숫자 1개 + 실패/한계 예시 1개 + 근거 포함 결과 1개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A207AB4-0792-4C6C-B8CE-343A021E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589CCB29-C42E-499D-835E-929CDFCB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36E6598-8A65-430B-9D04-DD7022A4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기능별 평가는 하나의 점수가 아니라 모듈별 기준으로 본다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6CA7CFBD-67BD-4892-9884-93CFF3F7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OCR, 검색, 영상, 통합, 안전장치는 서로 다른 실패 방식을 갖습니다.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8A5E3D6A-EC34-4B83-A17F-CA008EF4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F823020C-A4FE-45BC-B231-DF3B98A7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97351817-3D15-454D-864E-77667FC1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문서 인식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AB2977A-AD83-41A6-9941-220DF93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필드 정확도·CER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핵심값이 맞는가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072FBEC4-5621-44BD-B441-D737B86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2656A8A-28E5-4AAC-A1C6-F044C7A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BF84CB5E-D207-4504-B0A5-2F7F727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55EAE74E-B947-44E2-8766-775DED2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Recall@k·MRR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 문서를 찾는가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12636398-D2AF-4A73-80DC-FE948148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F3550E9E-E68A-46B6-AA2A-4A29E11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648A4EB0-B43D-4596-BF14-0B923D99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Vision/DL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803A704B-72D3-4E32-8F6A-EAF7723C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mAP·장면 후보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상황을 구조화하는가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8B3A959E-95E3-4BB1-9E4F-61B51A0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C64ABFFF-0A3D-407F-BC7A-2F75040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49DA8AA9-B967-4D6A-BAE7-58554367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0BC4A680-26B4-4C53-8432-124F65C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라우팅·E2E 성공률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올바른 모듈을 호출하는가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4D00B2C8-4299-4508-8788-BB58705E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4EEC1DE3-5C5A-46F8-BD72-26707847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E6FDA771-A9E5-482A-9986-D79B11CD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안전장치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E0D8B941-081E-41AF-A012-08B9206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단정 표현 차단률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법률 리스크를 줄이는가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CF58B243-93F1-4172-864B-C3D7E6F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902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평가의 목표는 높은 점수보다, 근거 없는 단정과 잘못된 라우팅을 줄이는 것입니다.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1CF6C1B0-D228-4995-A3CD-B45845C0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A47DF435-44B6-4449-BDB3-02BC41E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37/41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2AE984C-B910-4276-9497-608C9722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2AF6268-BBC7-4B91-86A2-1147343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6B7426-915B-4F7E-855E-B9BAAF4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Agent를 나눈 이유는 정확도보다 오류 전파를 줄이기 위해서다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7FFFEAB-6FA1-4EC5-A30F-53A2014C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단일 챗봇이 모든 일을 하는 구조보다, 역할이 분리된 결과를 병합하는 구조가 안전합니다.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6FD3E40-B5FD-4B16-AB9A-601FE8A0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8B46CAE-69C6-4F8E-80A5-8E19D6C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76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17F35A4-7B47-4EC9-8703-99E6D66C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E56AE06-5AA1-4F4E-8FA2-A3E263D8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76682E-0971-4D0F-A1BC-ECF123C9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411075F-FFA1-402B-B27D-6E011116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765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담당 입력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0B0C02D-C84E-410A-BA27-262EEBDB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AFC407-C15E-4767-AA62-A5E1DD31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출력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3F33EEB-63B4-453B-A371-6F0EF477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FF786AB-C6B1-4A28-B227-4335B7DD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안전장치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5E7ACB5-E182-49C1-A538-30FC8B8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0D4908C-9B1D-4245-BDA8-62AB505E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문서 인식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D943C4C-E99A-4233-AA9D-CC4A013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A089F87-C89F-4D45-ACAA-EBF431FF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고지서·통지서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5E9F81E-B5D6-49B3-9122-A23335EE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0636CC-38A5-48CB-9826-68E8E29C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956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처분 유형·기한·금액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0EF2FBB-BEBC-40FD-89C7-5D6D7525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B1A305F-1BAC-4343-85B1-58B8D70E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원문과 추출값 분리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8F58C1C-7FBC-4377-A0D1-21F1DCA7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B5E0276-93A2-4B65-8BC3-87C722FA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사고상황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BDFC7D3-4917-4866-AF22-1125F68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290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2AE5F78-E3C5-4202-9D91-326D4E4A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623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설명·사진·영상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857F9C6-09AC-4467-ADC4-A08DE2AD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CFE32ED-F586-4707-A824-AEF3CFE2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623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유형·쟁점·증거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B35C4F6-E282-4F6D-88F6-72A7D345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C14709C-9E5F-4FF4-A21C-C2CC913D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확인 불가 항목 표시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B12D9C9-7934-41A3-856B-01726A64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295A21C-732A-424F-8E2C-321F33C2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법률·사례 RAG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64D8889-7F34-4BA3-A97F-CB549D1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3D9C61C-1C46-40AF-9075-75F89FEC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291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구조화된 쟁점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DB9719D-608D-441A-84AE-233DA2F4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027829C-EE87-4550-8FF4-375393EC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291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법령·기준·유사 사례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23B614D-5457-445D-8E3C-3566E975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1EAFFC-F284-41A3-B7EB-59D2105C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출처 없는 답변 제한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3DA327B-ECEF-4D91-A28E-5AB403A1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BBF51D5-E7FE-4323-8268-94679C4E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리포트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1A09831-2312-4460-8E2C-764BE0AA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27E0360-2C94-4D80-A7B3-49F758E8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958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Agent 결과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4D25F7B-201F-416F-AF48-187D7185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18A8425-238C-4C68-91DF-71E15980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958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요약·한계·다음 행동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2CFAFB4-7DB3-4FFB-86DC-CC700629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C3C6AD0-9083-4E59-AFA3-F4A247CB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확정 판정 금지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A8C9998-33B6-463E-83EF-DED35465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D59E0EE-5B13-4669-B890-BE6D7AFC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41/45</a:t>
            </a:r>
          </a:p>
        </p:txBody>
      </p:sp>
    </p:spTree>
    <p:extLst>
      <p:ext uri="{BB962C8B-B14F-4D97-AF65-F5344CB8AC3E}">
        <p14:creationId xmlns:p14="http://schemas.microsoft.com/office/powerpoint/2010/main" val="39601915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63FC-0B13-6DED-BD97-594AFF1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AAB7D1-4F15-460E-143F-BEFDC020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A45ECE0-7AD3-8925-7EFB-3C2E3DB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구현과 다음 단계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7851612-E02F-D66B-1FCD-A5B2C385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8E5539C-12E6-643D-89C6-3C5D1AB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767B3C-43B4-E1AB-8B27-5542854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강조할 것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C84D907-32D9-33BC-5818-555B33B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고지서 문서 인식 기반 처분 정보 추출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법령·과실비율 사례 검색 기반 답변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결과 리포트와 이력 확인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업로드 파일 검사와 개인정보 보호 설계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994EB2E-087E-74F6-43F7-A221609C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83C979-1B95-C683-A381-96C94368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한계와 Next Step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0D5EA99-BDA2-E120-9AC7-4F937CE6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보험사 내부 데이터는 아직 활용하지 않음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모든 영상 상황 자동 판정은 후순위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법률 자문·대리 제출이 아닌 자가 대응 도구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사고 샘플 기반 E2E 데모 보강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정량 평가 수치와 리포트 품질 표시 강화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8D3218B3-A259-465F-94D6-9255C9D1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E046D64F-EF13-4F8B-B35E-45FF684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07  구현 범위와 기대효과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48AD3684-E6FF-48D4-8B91-8F2768E4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현재 구현은 데모 가능한 흐름과 한계를 함께 보여준다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6F2BF368-6BB4-445F-87A9-A7872C11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완성된 부분과 아직 아닌 부분을 분리해야 발표의 신뢰도가 올라갑니다.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9030E4C9-9C81-434C-BC4C-39012BD6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3F555038-4CA4-4871-8921-06047A6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88B233C1-D73C-4102-B81E-30F30621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CFF1D1D1-7152-4E13-88A9-CE798E24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현재 강조할 것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4838B0E-0E7F-4D09-BC55-FB0B31C7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한계와 Next Step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191F60CC-0740-4745-BE03-968B6EF4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문서 인식 기반 처분 정보 추출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EDD22D23-5D0F-4A6D-BA5B-766DB457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법령·과실비율 사례 검색 기반 답변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DF0907C9-AB70-47C6-82E1-B0CCA05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상담 결과 리포트와 이력 확인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716D9F0C-9B92-41EE-AC56-55BDC5D3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업로드 파일 검사와 개인정보 보호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8B1B43A7-2B52-49F4-9085-FBFB4707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 내부 데이터는 아직 미사용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1C889C8-7FA3-4E35-94C1-F167F1F9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모든 영상 자동 판정은 후순위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C9A29948-57E3-47BB-972F-43A8FF7A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자가 대응 도구로 범위 제한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07D4923-E815-431C-80F3-FDC49F3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실제 사고 샘플 기반 E2E 보강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666103AA-F704-4836-A3C0-8D2BE939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A6176098-6CB1-40AC-B23D-E32BB17C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38/41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5C4F24A-85E0-4EBE-84AD-22FF74E3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AFE91A4-1E2A-4872-9AAA-C44C287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EF96AF3-31BF-43F5-AB7F-94BEBA04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보안은 개인정보, 파일, LLM 출력, 권한을 함께 통제한다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29F396-A4A8-4DF1-B323-624F91A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OWASP LLM 위험과 프로젝트의 파일 스캔·권한 설계를 발표용 언어로 정리했습니다.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44CEEF2-512C-45F0-8984-FC861EC4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B7B4A6C-F038-4417-B046-0E1EFB8E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0287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3600A89-EBA9-4F1A-83DA-10AAD25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7044AAE-16ED-4E78-8417-06D8110C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위험 영역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A3337C3-BDE9-4B76-B91B-35ADDF3E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241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5F19D4D-271A-48E6-B4D2-FDEA73D1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발표에 넣을 체크포인트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65DC88-5810-45BB-AA39-C4750A63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241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430ACB7-9C46-41FD-9060-10F060E8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384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프로젝트 반영 포인트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CDD12E-ED99-4DCC-8411-AD7E7CC3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7ECA3A2-59F9-4EDA-A7D5-7107573C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384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관련 기준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7567585-7EDC-476E-A7A9-4A695143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38FD631-E434-4481-A207-49CCCA0C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Prompt Injection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4831385-2FF4-4CF1-AA8C-D60C87DA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1E4CE19-9BBC-49D6-950C-2D3CB5A7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안 지시문을 사용자 의도와 분리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28EB97C-2DB0-4C03-B475-83FB75CD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712A5DA-306F-4D26-836C-3F9B7D2B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575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Agent별 입력 envelope·Supervisor 병합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CCBD0C-73C0-453C-80C7-5AE80426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51CAFA3-F23B-4AF2-BC34-4B625535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OWASP LLM01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2375815-83B7-4AED-8973-04C472D4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A5B1806-6EED-4753-B93D-67C9DEA1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민감정보 노출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F8C3F3B-5DC6-4B63-9AFA-57755C72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290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C931C6A-4856-4B75-A248-659B5332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623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차량번호·주소·영상 최소 저장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596C25B-4A7D-4989-90BD-5A6F0BA5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290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2D1914C-D54A-4AEB-BFA6-087412BE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623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privacy_risk, PII scan 옵션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5D8671D-1380-4565-8F2D-06B99CED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3588950-1097-4249-8374-19278565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OWASP LLM06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D9BE6A5-57CD-4997-88C3-1017B9F0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6B00E8F-A8FD-4789-9661-2D965091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파일 업로드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56F8DE0-AEFD-4411-8B6C-32D49EE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229F5D3-EF66-4966-ADBA-7544FDBA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672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스캔 전 Agent 전달 차단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4303EA4-2DE1-4994-B49B-9890FE27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338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62890B5-FDFC-46D8-9FFC-560F2DF4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672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file_scan_service scan gate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F3270B3-E547-48F0-9C30-6124BEB2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338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2452011-423D-4F4D-BB78-CB4E44EF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보안 설계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6010378-1734-4CE1-8160-3B6DFCED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2A87E72-2006-41ED-B852-98716D64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과도한 자동화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787F596-76D8-4F9D-86AF-37F5A869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387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250F6F4-BFA5-4EEA-88D1-F48CC117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720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자동 제출·확정 판정 제외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476C2E7-4913-44EC-A3A0-00D75B64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387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C0DF268-5529-42C4-AC79-90F8C8D1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720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MVP scope 제한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14DF51F-2EF2-4356-B49C-FAE210B0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387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474873F-449D-4389-83F4-4DB23F74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720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OWASP LLM08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5DA1DD3-D53F-4192-801C-156E3680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36124CE-68DD-49B8-B967-E9AD78B6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42/45</a:t>
            </a:r>
          </a:p>
        </p:txBody>
      </p:sp>
    </p:spTree>
    <p:extLst>
      <p:ext uri="{BB962C8B-B14F-4D97-AF65-F5344CB8AC3E}">
        <p14:creationId xmlns:p14="http://schemas.microsoft.com/office/powerpoint/2010/main" val="330240217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8D62189-8C58-443A-13D8-46B8CE1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37E76C-1723-016B-4183-92D51D19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F1CD41-2F02-3A6D-FFA1-D897AD48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AI가 필요한 이유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D9679A91-74AC-9FEB-6FE9-87EF66CA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6FB915D-DD67-0A6E-C25D-F99CFD3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95A45D-0C36-0AFB-E717-5F51DC54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분쟁 증가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7E52D3-A5EE-8DAC-D44E-55FDD575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D4EB5B-3EE2-0FAD-2372-5E87502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3AAE824-7683-B192-8F17-AB0E913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탐색 비용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C127E0-99B6-E858-DF28-D5D328A4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0A08C8B-4C84-854C-434C-A838433F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AB428B8-5C88-8B33-06F1-37C0B7FF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구조화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60E71F9-6CB1-A613-07FD-E5F6CC72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79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1C72AC8-D6CD-E0D5-BC8C-1A1A95B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C654980-A649-1438-B216-1DA1F38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검색/분석 모듈 분석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F827B37-BFC7-4397-0711-69A1D76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5A2A98A-8906-2D12-35A0-8916298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86FDEC9-E85B-3E11-8385-450B0AF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리포트</a:t>
            </a:r>
          </a:p>
        </p:txBody>
      </p:sp>
      <p:sp>
        <p:nvSpPr>
          <p:cNvPr id="37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0BF945D-F627-5BA1-2826-08D5C75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94472"/>
            <a:ext cx="104698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EF5595E-1802-7133-BDED-30707C20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31632"/>
            <a:ext cx="1010411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한 문장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E69ED8A-493F-DE05-BCFE-9149C12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43111"/>
            <a:ext cx="10104119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 서비스는 교통사고·과태료·보험 분쟁에서 사용자가 전문가 상담 전 스스로 근거를 확인하고 다음 행동을 정리하도록 돕는 AI 상담·분석 서비스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D4F8E17-CAF4-A0AD-1AC0-B9BA22F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0432"/>
            <a:ext cx="10469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정답을 대신 내려주는 서비스가 아니라, 근거를 정리해 판단을 돕는 서비스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39876FF7-AD09-4F36-BD76-CC8BD66E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8079242C-8E50-4B5E-9E86-AE39B04E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A9A9775C-9A28-44A4-83F9-AA1377A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교통분쟁 AI는 판단을 대신하지 않고 판단 준비를 돕는다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C318D96-67D3-43DA-A6D8-5E8131D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전문가 상담 전, 자기 사건의 쟁점·근거·부족한 증거를 먼저 정리할 수 있습니다.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18BFD49A-4B8A-4DBA-9EE7-C4B315DD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6165EE9B-B079-42AB-BCF1-F36F91A4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F600C1E2-A936-4781-90B1-CDBFE971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분쟁 증가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D3867A50-A0BB-42D2-9DEF-CF59A8EE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정보 격차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2401B232-46CA-4690-98FF-A50699E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AC24978-1414-4AB4-B62E-A2E74D95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E5A0D58C-AF9B-4691-8543-CB119D2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탐색 비용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F91C6AB-21BD-490F-90CA-496AAE1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흩어진 기준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8C9C1580-DB0C-447E-A1FE-BC0F7920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AE8DCD0-ED8F-4FF2-A6A7-00097D21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05870032-C875-4551-8C6C-5B4D897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73D87131-DCF9-4C5E-AE5D-804B73D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자료를 필드화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043DDA74-20D2-4C51-9FF5-EBC94C30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56B306F4-8E1E-43C3-B6DE-4216DBB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8FCA19BE-FE35-4090-B949-F880DB22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096965A2-8014-40D9-BE82-A8CC2ADE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법령·판례·사례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F4CC9B93-31A2-4A64-9C69-511082F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2FDA7491-A249-43AC-A1EA-F2DF4BA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3102E621-E596-476B-BA9F-0848FB41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58EF6639-D596-445C-982C-F3AB1AE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다음 행동</a:t>
            </a:r>
          </a:p>
        </p:txBody>
      </p:sp>
      <p:sp>
        <p:nvSpPr>
          <p:cNvPr id="90" name="사각형: 둥근 모서리 89">
            <a:extLst xmlns:a="http://schemas.openxmlformats.org/drawingml/2006/main">
              <a:ext uri="{FF2B5EF4-FFF2-40B4-BE49-F238E27FC236}">
                <a16:creationId xmlns:a16="http://schemas.microsoft.com/office/drawing/2014/main" id="{FFA021CC-9015-48CA-9403-5BD93324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CEB08AB9-035D-4675-AC8B-72FB22B6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72075"/>
            <a:ext cx="853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한 문장: 정답을 대신 내려주는 서비스가 아니라, 근거를 정리해 사용자의 다음 판단을 돕는 서비스입니다.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FA7D255F-730E-4E43-A8CC-9329746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2BF990AD-4767-419D-A8CE-596068F0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39/41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1CC53B5-FD75-42E5-8E1F-538C7BA6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012E7F8-ECEF-449C-9523-1C8EE949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C83572-EBC1-4A30-954A-F7DF2D7E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MVP는 검증 가능한 기능에 집중하고 위험한 자동화는 제외한다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512FE27-72FD-45BE-8F23-163203CC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발표에서는 많이 한다보다 어디까지 책임지는지 선을 긋는 것이 더 설득력 있습니다.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6379E42-A5A8-4D80-BA98-3D63BFC9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ACCEA6-E001-441F-94A2-7435903B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0FA7E21-E606-4329-B3B0-783139C5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A2B699-216F-44D3-99D5-D23C7D01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MVP에 포함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D69EA8A-637D-4871-9478-C26B2941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후순위 또는 제외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1C293D9-34CF-4991-9F3B-CAEB058D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777929-5D1D-4078-8087-E8DBB86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고지서 핵심 항목 추출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7FF7AB5-63B7-45C2-BBA8-085C568E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F3C31EE-C26B-4691-89DE-2AAE2D3B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사고 설명·자료 구조화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3887492-D2D8-463E-B22D-915AC161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121A634-3F8D-49E4-955D-EEBE91F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법령·기준·사례 근거 검색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016A16B-362D-4AA9-BB36-93560030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AA753CA-BF3E-456C-8B71-7A88FC2F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리포트와 문의 초안 생성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73FD214-D117-4117-94CD-CC2D929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9925865-6FD8-4862-A901-17D6819E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자동 제출·대리 신청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5BE98C5-13E3-4DEE-9E95-41FCA44E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A3830A1-1C6D-40F7-9C15-E14291D9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승소·과실비율 확정 표현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1275252-71A5-4A41-8FF3-0500A766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955D39D-6CFA-4DB5-8319-67471721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 내부 데이터 활용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ACD793A-C9A4-4604-9F11-E3C2D129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587D413-D809-4296-AFB8-3CD60BE3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672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모든 영상 상황 자동 판정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9D72C87-3CC5-41E7-8BF2-3782A06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B76B54C-977A-464D-B697-4DA454B3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43/45</a:t>
            </a:r>
          </a:p>
        </p:txBody>
      </p:sp>
    </p:spTree>
    <p:extLst>
      <p:ext uri="{BB962C8B-B14F-4D97-AF65-F5344CB8AC3E}">
        <p14:creationId xmlns:p14="http://schemas.microsoft.com/office/powerpoint/2010/main" val="405461284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B073CF9-FB27-4BF9-959B-A61D6EBA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266" y="3855130"/>
            <a:ext cx="8678444" cy="1421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보험연구원·한국보험신문: 과실비율 분쟁 증가 및 국민인식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IT동아/Daum: 교통사고 과실비율 판단 변수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자동차사고 과실비율 정보포털: 공식 기준·심의사례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국가법령정보센터: 도로교통 관련 법령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개인정보보호위원회·OWASP LLM Top 10: 보안 기준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E1C8AB-9C9E-489C-A045-BFA67D8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/>
              </a:rPr>
              <a:t>39/40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621449-F1B2-B05C-0F95-3662F64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cja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F28438AA-BA8C-45B3-B1BB-ED88465C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BDF1D499-2F92-4CA2-A72A-FE509ECB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39/40  참고자료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D2181154-82FF-41AC-ACD7-B7158C8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참고자료는 시장·공식기준·보안을 분리해 제시한다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59FD7C45-2668-4422-A434-A67D956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발표 근거가 어디에서 왔는지 마지막에 한 번 더 정리합니다.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9D7D798-78D3-4E87-B9E1-C36FF28D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F5645D16-7154-4661-BF04-49F2773C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E0CB9DAE-7F89-4A92-9079-EA6915AA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시장/인식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47E76057-62EE-490B-A9BD-0AD0263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보험연구원·한국보험신문</a:t>
            </a:r>
          </a:p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과실비율 분쟁 증가 및 국민인식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C63BE01-39A1-4C68-A41B-25D39496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DF04EF28-E0B6-4E84-8A0F-6A4D8DE4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판단 변수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4A535BA1-8A95-4169-AC79-6257671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IT동아 / Daum</a:t>
            </a:r>
          </a:p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교통사고 과실비율 판단 변수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65ED25C9-7C79-4DE6-A94B-70CB113B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180BF591-B044-446B-99F2-A8FCB699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공식 기준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5623193D-D682-43C9-BFCD-4BF70EEB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자동차사고 과실비율 정보포털</a:t>
            </a:r>
          </a:p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공식 기준·심의사례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2FFBA2C5-D7A9-48BF-ACAE-54E91194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3305960A-3554-42C7-8975-F3E2BA0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법령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B485E96B-231A-41D5-AE5D-D982E8C1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국가법령정보센터</a:t>
            </a:r>
          </a:p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도로교통 관련 법령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C5598331-84D4-478F-B71D-EC485592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719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2792C079-A89D-4512-BE7C-B986DB5B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보안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4ED9424A-63AE-4BDF-B717-278B354B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개인정보보호위원회·OWASP LLM Top 10</a:t>
            </a:r>
          </a:p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개인정보·LLM 안전 기준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5D4B84BE-18E5-48DA-BF00-FF9AE1ED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04912F2C-3D04-469C-9D65-2ED41D3F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40/41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164B01-4142-43F9-A938-FBF2F729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709D6B-2908-4875-B4EC-D182D335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REFERENCE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5A47AC-F1A8-43EE-A6C6-E51FF555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자료 출처와 설계 근거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3660A8-5D18-4372-81AE-D83A9F60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반복 수치는 줄이고, 시장·법령·보안·프로젝트 구현 근거를 구분했습니다.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3DF4F3-0E93-4EED-955A-908A08E3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F1BDE0-8D5E-4EF7-A5F0-7374AEA0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7E575F-DF4F-4179-8C0C-2B1A3A3C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956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보험연구원·한국보험신문: 과실비율 분쟁 증가 및 소비자 인식 관련 기존 조사 자료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8CF305-BE7C-48CA-8452-FA557AF8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85B55C-8DB9-495A-9B37-F5E74E64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956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자동차사고 과실비율 정보포털: 공식 기준 및 심의사례 확인 경로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3025D5-9DD9-4154-B47B-C060A06F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7F083E-7C18-40AE-8634-369BF43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956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국가법령정보센터: 도로교통 관련 법령 확인 경로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6B704F-60C1-464C-A547-2762A40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B94ED7-1A3E-4FF3-BF31-505B5627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956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OWASP GenAI Security Project: LLM Prompt Injection, Sensitive Information Disclosure, Excessive Agency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E0464B-BE61-43DC-A272-B87AF55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F85812-5904-4A37-8750-77E974A4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956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NIST AI RMF / Generative AI Profile: AI 위험관리와 신뢰성 고려사항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F42793-9F2A-4591-99F7-0885A7C0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2B4D72-91F2-4363-AC4A-C4B51DCB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956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프로젝트 내부 설계: ai/README, backend/chatbot/file_scan_service.py, .env.example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2C6815-3E69-420C-ABEE-97A74802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ED28B7-B843-478D-B1D1-68A2FD30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44/45</a:t>
            </a:r>
          </a:p>
        </p:txBody>
      </p:sp>
    </p:spTree>
    <p:extLst>
      <p:ext uri="{BB962C8B-B14F-4D97-AF65-F5344CB8AC3E}">
        <p14:creationId xmlns:p14="http://schemas.microsoft.com/office/powerpoint/2010/main" val="44600657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52AFD0D-6D4A-4F5D-8B4E-897C604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634" y="1833151"/>
            <a:ext cx="4572000" cy="139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Q&amp;A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7DA0A3-C9B6-456B-A01D-AB98AFF8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3633699"/>
            <a:ext cx="67665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상담·분석 서비스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197156-6C4F-4090-8844-E139F41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40/40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6BFE417-1B8D-4056-AA47-2D3E5765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FA87E04-C117-4FCA-A6BD-CF1B59DF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C7252EC-49FB-4AC3-A526-01E25030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9C9C9"/>
                </a:solidFill>
              </a:defRPr>
            </a:pPr>
            <a:r>
              <a:rPr sz="1950" b="0">
                <a:solidFill>
                  <a:srgbClr val="C9C9C9"/>
                </a:solidFill>
              </a:rPr>
              <a:t>교통분쟁 AI 상담·분석 서비스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DD6F5E0-2473-4296-AD02-F4368E61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9535FAB6-46B5-4072-A9E7-4861F374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B38FF27-FB82-4893-B066-25FF9DC4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확정 판정이 아닌가요?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A3F33C0-552C-4C59-936B-9EA89CF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 리포트와 다음 행동을 제공합니다.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9F531060-3CDE-477B-ACDA-06ACBD28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77422A8-7418-4A31-B09A-DA6FD85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보험사와 독립적인가요?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A62B1722-2B00-439C-BA86-58FD8119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특정 보험사 고객에 한정하지 않습니다.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D6ABAA79-0F64-409A-A164-9CD4F7F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89C44D1-8BA6-429E-A918-1A2C79D3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개인정보는 안전한가요?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B15EFC38-F08D-411D-A91E-6160725E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권한·파일 검사·최소 저장을 전제로 합니다.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D106C5EE-6DB5-44FF-8B19-14CE228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0F6A2EE4-078B-492B-AEAD-23CDD49C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33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MVP 한계는 무엇인가요?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D15687-1239-4496-92D7-5E3E3746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57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자동 제출과 확정 표현은 제외합니다.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1F5B5A62-3D94-4603-B1B1-8B02289F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3A2246A7-7E6F-40F1-9A57-34D6EAB3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41/41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74B42-211D-43EF-87D3-1244B5B4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537F0-4707-4A18-97E3-36D3F0D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97A3D7-332D-4F74-B6AA-C8F5545B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C9C9C9"/>
                </a:solidFill>
              </a:defRPr>
            </a:pPr>
            <a:r>
              <a:rPr sz="1800" b="0">
                <a:solidFill>
                  <a:srgbClr val="C9C9C9"/>
                </a:solidFill>
              </a:rPr>
              <a:t>교통분쟁 AI 상담·분석 서비스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CD51E-6E63-43DD-8F32-3EDA9D13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42729-79DD-487F-A458-0465B755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확정 판정인가요?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BE0FB3-70BB-443D-AE25-EA2544FF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아니요. 근거 리포트와 다음 행동을 제공하고, 과실비율·승소 가능성을 단정하지 않습니다.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CD875F-BC40-428F-AFF1-EACEE0D0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E450B6-A5E7-4407-A191-C4BC7486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보험사와 독립적인가요?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843B1B-FEDC-4BF8-9391-7DECDD74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특정 보험사 고객에 한정하지 않는 소비자용 셀프 점검 흐름으로 설계했습니다.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C93331-D04C-48BD-949E-DA712776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EDF4FF-D42D-483D-ABFE-20A2C088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개인정보는 안전한가요?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C025D2-6A7E-40D8-9C03-BEF5D683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파일 검사, 민감정보 위험 표시, 최소 저장, 권한 분리를 전제로 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089C6-98EF-4532-98AF-1B9605EB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CEC023-22C9-4E7B-9184-6AF26250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MVP 한계는 무엇인가요?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31FB61-3867-4D59-92D9-AE35693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자동 제출, 대리 신청, 확정 판정은 제외하고 검증 가능한 리포트 생성에 집중합니다.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032A96-28E5-439D-A523-DF377EED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3F4B52-3E93-4EF5-BBD9-A01900C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45/45</a:t>
            </a:r>
          </a:p>
        </p:txBody>
      </p:sp>
    </p:spTree>
    <p:extLst>
      <p:ext uri="{BB962C8B-B14F-4D97-AF65-F5344CB8AC3E}">
        <p14:creationId xmlns:p14="http://schemas.microsoft.com/office/powerpoint/2010/main" val="12200507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2026-07-09T01:24:31.6250000Z</dcterms:created>
  <dcterms:modified xsi:type="dcterms:W3CDTF">2026-07-09T01:24:31.6250000Z</dcterms:modified>
</coreProperties>
</file>