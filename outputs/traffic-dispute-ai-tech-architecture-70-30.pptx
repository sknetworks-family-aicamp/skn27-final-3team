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ed8527094746bb" /><Relationship Type="http://schemas.openxmlformats.org/officeDocument/2006/relationships/extended-properties" Target="/docProps/app.xml" Id="R628e68bd04214ba0" /><Relationship Type="http://schemas.openxmlformats.org/officeDocument/2006/relationships/officeDocument" Target="/ppt/presentation.xml" Id="R1eced0dda9c747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cfacdb3f4c4ea5"/>
  </p:sldMasterIdLst>
  <p:notesMasterIdLst>
    <p:notesMasterId xmlns:r="http://schemas.openxmlformats.org/officeDocument/2006/relationships" r:id="R4e598c2d01004b7b"/>
  </p:notesMasterIdLst>
  <p:sldIdLst>
    <p:sldId xmlns:r="http://schemas.openxmlformats.org/officeDocument/2006/relationships" id="256" r:id="R343d5cb037f9480f"/>
    <p:sldId xmlns:r="http://schemas.openxmlformats.org/officeDocument/2006/relationships" id="257" r:id="R62cdee9abc5244db"/>
    <p:sldId xmlns:r="http://schemas.openxmlformats.org/officeDocument/2006/relationships" id="258" r:id="R61eed21da95a4dc5"/>
    <p:sldId xmlns:r="http://schemas.openxmlformats.org/officeDocument/2006/relationships" id="259" r:id="R52dc8b7ab45f4f75"/>
    <p:sldId xmlns:r="http://schemas.openxmlformats.org/officeDocument/2006/relationships" id="260" r:id="R5a71dc44a7854d74"/>
    <p:sldId xmlns:r="http://schemas.openxmlformats.org/officeDocument/2006/relationships" id="261" r:id="R93aff5f56aa54256"/>
    <p:sldId xmlns:r="http://schemas.openxmlformats.org/officeDocument/2006/relationships" id="262" r:id="R8daf71ee5d21450c"/>
    <p:sldId xmlns:r="http://schemas.openxmlformats.org/officeDocument/2006/relationships" id="263" r:id="Re93e5aaf24aa4aa6"/>
    <p:sldId xmlns:r="http://schemas.openxmlformats.org/officeDocument/2006/relationships" id="264" r:id="R34fc67465bcc4519"/>
    <p:sldId xmlns:r="http://schemas.openxmlformats.org/officeDocument/2006/relationships" id="265" r:id="R9ba2657085f6474c"/>
    <p:sldId xmlns:r="http://schemas.openxmlformats.org/officeDocument/2006/relationships" id="266" r:id="R019dfd2e1dd64a69"/>
    <p:sldId xmlns:r="http://schemas.openxmlformats.org/officeDocument/2006/relationships" id="267" r:id="R8ad5751ea96043b8"/>
    <p:sldId xmlns:r="http://schemas.openxmlformats.org/officeDocument/2006/relationships" id="268" r:id="R74de4d73cf274600"/>
    <p:sldId xmlns:r="http://schemas.openxmlformats.org/officeDocument/2006/relationships" id="269" r:id="R9f14dc2699714b24"/>
    <p:sldId xmlns:r="http://schemas.openxmlformats.org/officeDocument/2006/relationships" id="270" r:id="Rf9d51b7f8c934ae2"/>
    <p:sldId xmlns:r="http://schemas.openxmlformats.org/officeDocument/2006/relationships" id="271" r:id="Rf3c73fafb59142c4"/>
    <p:sldId xmlns:r="http://schemas.openxmlformats.org/officeDocument/2006/relationships" id="272" r:id="R4d8d7575d04449b1"/>
    <p:sldId xmlns:r="http://schemas.openxmlformats.org/officeDocument/2006/relationships" id="273" r:id="R0e2facb5b5364264"/>
    <p:sldId xmlns:r="http://schemas.openxmlformats.org/officeDocument/2006/relationships" id="274" r:id="Ree41107076cd425a"/>
    <p:sldId xmlns:r="http://schemas.openxmlformats.org/officeDocument/2006/relationships" id="275" r:id="R08c881d5fcad435d"/>
    <p:sldId xmlns:r="http://schemas.openxmlformats.org/officeDocument/2006/relationships" id="276" r:id="Rb4d3f73ce51f4d19"/>
    <p:sldId xmlns:r="http://schemas.openxmlformats.org/officeDocument/2006/relationships" id="277" r:id="Rb01fb55e6940420d"/>
    <p:sldId xmlns:r="http://schemas.openxmlformats.org/officeDocument/2006/relationships" id="278" r:id="R48e4e187e7194769"/>
    <p:sldId xmlns:r="http://schemas.openxmlformats.org/officeDocument/2006/relationships" id="279" r:id="R514566e4168e40d9"/>
    <p:sldId xmlns:r="http://schemas.openxmlformats.org/officeDocument/2006/relationships" id="280" r:id="R18bf8bee93e2436b"/>
    <p:sldId xmlns:r="http://schemas.openxmlformats.org/officeDocument/2006/relationships" id="281" r:id="Rb33be1f28a804199"/>
    <p:sldId xmlns:r="http://schemas.openxmlformats.org/officeDocument/2006/relationships" id="282" r:id="R59dc5a35141e498a"/>
    <p:sldId xmlns:r="http://schemas.openxmlformats.org/officeDocument/2006/relationships" id="283" r:id="Ra88d930ffd684a8c"/>
    <p:sldId xmlns:r="http://schemas.openxmlformats.org/officeDocument/2006/relationships" id="284" r:id="Rcea6bf92c77243c8"/>
    <p:sldId xmlns:r="http://schemas.openxmlformats.org/officeDocument/2006/relationships" id="285" r:id="R24291c2fefa84bf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2a26cb424e414c" /><Relationship Type="http://schemas.openxmlformats.org/officeDocument/2006/relationships/slideMaster" Target="/ppt/slideMasters/slideMaster1.xml" Id="R09cfacdb3f4c4ea5" /><Relationship Type="http://schemas.openxmlformats.org/officeDocument/2006/relationships/notesMaster" Target="/ppt/notesMasters/notesMaster1.xml" Id="R4e598c2d01004b7b" /><Relationship Type="http://schemas.openxmlformats.org/officeDocument/2006/relationships/presProps" Target="/ppt/presProps.xml" Id="R76f197d4e02545a1" /><Relationship Type="http://schemas.openxmlformats.org/officeDocument/2006/relationships/tableStyles" Target="/ppt/tableStyles.xml" Id="Re8b29d8295244b6c" /><Relationship Type="http://schemas.openxmlformats.org/officeDocument/2006/relationships/slide" Target="/ppt/slides/slide1.xml" Id="R343d5cb037f9480f" /><Relationship Type="http://schemas.openxmlformats.org/officeDocument/2006/relationships/slide" Target="/ppt/slides/slide2.xml" Id="R62cdee9abc5244db" /><Relationship Type="http://schemas.openxmlformats.org/officeDocument/2006/relationships/slide" Target="/ppt/slides/slide3.xml" Id="R61eed21da95a4dc5" /><Relationship Type="http://schemas.openxmlformats.org/officeDocument/2006/relationships/slide" Target="/ppt/slides/slide4.xml" Id="R52dc8b7ab45f4f75" /><Relationship Type="http://schemas.openxmlformats.org/officeDocument/2006/relationships/slide" Target="/ppt/slides/slide5.xml" Id="R5a71dc44a7854d74" /><Relationship Type="http://schemas.openxmlformats.org/officeDocument/2006/relationships/slide" Target="/ppt/slides/slide6.xml" Id="R93aff5f56aa54256" /><Relationship Type="http://schemas.openxmlformats.org/officeDocument/2006/relationships/slide" Target="/ppt/slides/slide7.xml" Id="R8daf71ee5d21450c" /><Relationship Type="http://schemas.openxmlformats.org/officeDocument/2006/relationships/slide" Target="/ppt/slides/slide8.xml" Id="Re93e5aaf24aa4aa6" /><Relationship Type="http://schemas.openxmlformats.org/officeDocument/2006/relationships/slide" Target="/ppt/slides/slide9.xml" Id="R34fc67465bcc4519" /><Relationship Type="http://schemas.openxmlformats.org/officeDocument/2006/relationships/slide" Target="/ppt/slides/slide10.xml" Id="R9ba2657085f6474c" /><Relationship Type="http://schemas.openxmlformats.org/officeDocument/2006/relationships/slide" Target="/ppt/slides/slide11.xml" Id="R019dfd2e1dd64a69" /><Relationship Type="http://schemas.openxmlformats.org/officeDocument/2006/relationships/slide" Target="/ppt/slides/slide12.xml" Id="R8ad5751ea96043b8" /><Relationship Type="http://schemas.openxmlformats.org/officeDocument/2006/relationships/slide" Target="/ppt/slides/slide13.xml" Id="R74de4d73cf274600" /><Relationship Type="http://schemas.openxmlformats.org/officeDocument/2006/relationships/slide" Target="/ppt/slides/slide14.xml" Id="R9f14dc2699714b24" /><Relationship Type="http://schemas.openxmlformats.org/officeDocument/2006/relationships/slide" Target="/ppt/slides/slide15.xml" Id="Rf9d51b7f8c934ae2" /><Relationship Type="http://schemas.openxmlformats.org/officeDocument/2006/relationships/slide" Target="/ppt/slides/slide16.xml" Id="Rf3c73fafb59142c4" /><Relationship Type="http://schemas.openxmlformats.org/officeDocument/2006/relationships/slide" Target="/ppt/slides/slide17.xml" Id="R4d8d7575d04449b1" /><Relationship Type="http://schemas.openxmlformats.org/officeDocument/2006/relationships/slide" Target="/ppt/slides/slide18.xml" Id="R0e2facb5b5364264" /><Relationship Type="http://schemas.openxmlformats.org/officeDocument/2006/relationships/slide" Target="/ppt/slides/slide19.xml" Id="Ree41107076cd425a" /><Relationship Type="http://schemas.openxmlformats.org/officeDocument/2006/relationships/slide" Target="/ppt/slides/slide20.xml" Id="R08c881d5fcad435d" /><Relationship Type="http://schemas.openxmlformats.org/officeDocument/2006/relationships/slide" Target="/ppt/slides/slide21.xml" Id="Rb4d3f73ce51f4d19" /><Relationship Type="http://schemas.openxmlformats.org/officeDocument/2006/relationships/slide" Target="/ppt/slides/slide22.xml" Id="Rb01fb55e6940420d" /><Relationship Type="http://schemas.openxmlformats.org/officeDocument/2006/relationships/slide" Target="/ppt/slides/slide23.xml" Id="R48e4e187e7194769" /><Relationship Type="http://schemas.openxmlformats.org/officeDocument/2006/relationships/slide" Target="/ppt/slides/slide24.xml" Id="R514566e4168e40d9" /><Relationship Type="http://schemas.openxmlformats.org/officeDocument/2006/relationships/slide" Target="/ppt/slides/slide25.xml" Id="R18bf8bee93e2436b" /><Relationship Type="http://schemas.openxmlformats.org/officeDocument/2006/relationships/slide" Target="/ppt/slides/slide26.xml" Id="Rb33be1f28a804199" /><Relationship Type="http://schemas.openxmlformats.org/officeDocument/2006/relationships/slide" Target="/ppt/slides/slide27.xml" Id="R59dc5a35141e498a" /><Relationship Type="http://schemas.openxmlformats.org/officeDocument/2006/relationships/slide" Target="/ppt/slides/slide28.xml" Id="Ra88d930ffd684a8c" /><Relationship Type="http://schemas.openxmlformats.org/officeDocument/2006/relationships/slide" Target="/ppt/slides/slide29.xml" Id="Rcea6bf92c77243c8" /><Relationship Type="http://schemas.openxmlformats.org/officeDocument/2006/relationships/slide" Target="/ppt/slides/slide30.xml" Id="R24291c2fefa84b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c84d7e843c42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a30a1d2508484a" /><Relationship Type="http://schemas.openxmlformats.org/officeDocument/2006/relationships/notesMaster" Target="/ppt/notesMasters/notesMaster1.xml" Id="R108e6dcd1be84b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06bdb483424351" /><Relationship Type="http://schemas.openxmlformats.org/officeDocument/2006/relationships/notesMaster" Target="/ppt/notesMasters/notesMaster1.xml" Id="R3dd9f0812cf442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f1544eeb894a19" /><Relationship Type="http://schemas.openxmlformats.org/officeDocument/2006/relationships/notesMaster" Target="/ppt/notesMasters/notesMaster1.xml" Id="R85872e6622d241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aa5e4bae344d2d" /><Relationship Type="http://schemas.openxmlformats.org/officeDocument/2006/relationships/notesMaster" Target="/ppt/notesMasters/notesMaster1.xml" Id="Redb56b6717f649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34826d09ed4b77" /><Relationship Type="http://schemas.openxmlformats.org/officeDocument/2006/relationships/notesMaster" Target="/ppt/notesMasters/notesMaster1.xml" Id="R3e4a2a31499e4b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b4d29b64884705" /><Relationship Type="http://schemas.openxmlformats.org/officeDocument/2006/relationships/notesMaster" Target="/ppt/notesMasters/notesMaster1.xml" Id="Rb70a6d057d084f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80c90ff73f4b13" /><Relationship Type="http://schemas.openxmlformats.org/officeDocument/2006/relationships/notesMaster" Target="/ppt/notesMasters/notesMaster1.xml" Id="Reec10258628442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b3fa52ed5c4948" /><Relationship Type="http://schemas.openxmlformats.org/officeDocument/2006/relationships/notesMaster" Target="/ppt/notesMasters/notesMaster1.xml" Id="R40f5ee5be2bc4e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9a640eb4044443" /><Relationship Type="http://schemas.openxmlformats.org/officeDocument/2006/relationships/notesMaster" Target="/ppt/notesMasters/notesMaster1.xml" Id="Raed44664fa024e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713bcb87da4c89" /><Relationship Type="http://schemas.openxmlformats.org/officeDocument/2006/relationships/notesMaster" Target="/ppt/notesMasters/notesMaster1.xml" Id="R4b9bc7858f484b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f4b81525fa41ba" /><Relationship Type="http://schemas.openxmlformats.org/officeDocument/2006/relationships/notesMaster" Target="/ppt/notesMasters/notesMaster1.xml" Id="Rce545604043740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563bf407ac46f2" /><Relationship Type="http://schemas.openxmlformats.org/officeDocument/2006/relationships/notesMaster" Target="/ppt/notesMasters/notesMaster1.xml" Id="R333698b9a12a4a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c91f5df2d84de7" /><Relationship Type="http://schemas.openxmlformats.org/officeDocument/2006/relationships/notesMaster" Target="/ppt/notesMasters/notesMaster1.xml" Id="R04b7a29ccee747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60712dbe104eb4" /><Relationship Type="http://schemas.openxmlformats.org/officeDocument/2006/relationships/notesMaster" Target="/ppt/notesMasters/notesMaster1.xml" Id="Rd6e9b9f45f2b4a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41e93ef04a84648" /><Relationship Type="http://schemas.openxmlformats.org/officeDocument/2006/relationships/notesMaster" Target="/ppt/notesMasters/notesMaster1.xml" Id="R37f0af27ca41443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0a783d68718425b" /><Relationship Type="http://schemas.openxmlformats.org/officeDocument/2006/relationships/notesMaster" Target="/ppt/notesMasters/notesMaster1.xml" Id="Rb4b58fc4f87047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a5b4f2cc425443d" /><Relationship Type="http://schemas.openxmlformats.org/officeDocument/2006/relationships/notesMaster" Target="/ppt/notesMasters/notesMaster1.xml" Id="R13755ae88d9d423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76b8869cdf34c66" /><Relationship Type="http://schemas.openxmlformats.org/officeDocument/2006/relationships/notesMaster" Target="/ppt/notesMasters/notesMaster1.xml" Id="R85c6240053874f0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41caa512f834e49" /><Relationship Type="http://schemas.openxmlformats.org/officeDocument/2006/relationships/notesMaster" Target="/ppt/notesMasters/notesMaster1.xml" Id="Rcb1151dcb983430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5fe2577f6ea47f3" /><Relationship Type="http://schemas.openxmlformats.org/officeDocument/2006/relationships/notesMaster" Target="/ppt/notesMasters/notesMaster1.xml" Id="Rdb74c7231c9f4f8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bae0f56a8de4ba9" /><Relationship Type="http://schemas.openxmlformats.org/officeDocument/2006/relationships/notesMaster" Target="/ppt/notesMasters/notesMaster1.xml" Id="R6214c33eed584e5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0e41629b6a84c79" /><Relationship Type="http://schemas.openxmlformats.org/officeDocument/2006/relationships/notesMaster" Target="/ppt/notesMasters/notesMaster1.xml" Id="R115254029c694d4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b0ead6cca5040f6" /><Relationship Type="http://schemas.openxmlformats.org/officeDocument/2006/relationships/notesMaster" Target="/ppt/notesMasters/notesMaster1.xml" Id="R96e90775fc58454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072c8cd6a614c81" /><Relationship Type="http://schemas.openxmlformats.org/officeDocument/2006/relationships/notesMaster" Target="/ppt/notesMasters/notesMaster1.xml" Id="R985fb206e525469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964e238744e4825" /><Relationship Type="http://schemas.openxmlformats.org/officeDocument/2006/relationships/notesMaster" Target="/ppt/notesMasters/notesMaster1.xml" Id="R17513e7e0187479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73f435629544d3b" /><Relationship Type="http://schemas.openxmlformats.org/officeDocument/2006/relationships/notesMaster" Target="/ppt/notesMasters/notesMaster1.xml" Id="R555fd090291540a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394a6ea7bc848c5" /><Relationship Type="http://schemas.openxmlformats.org/officeDocument/2006/relationships/notesMaster" Target="/ppt/notesMasters/notesMaster1.xml" Id="R99cf6c194dd9400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e64a48fd09f41d1" /><Relationship Type="http://schemas.openxmlformats.org/officeDocument/2006/relationships/notesMaster" Target="/ppt/notesMasters/notesMaster1.xml" Id="R128a00130f03416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4c3cf0dca254194" /><Relationship Type="http://schemas.openxmlformats.org/officeDocument/2006/relationships/notesMaster" Target="/ppt/notesMasters/notesMaster1.xml" Id="Rc35767324b38461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d47984e7cd942f4" /><Relationship Type="http://schemas.openxmlformats.org/officeDocument/2006/relationships/notesMaster" Target="/ppt/notesMasters/notesMaster1.xml" Id="R2ed1bd6d789344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9f36c78b8140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8fa60fabe3453c" /><Relationship Type="http://schemas.openxmlformats.org/officeDocument/2006/relationships/slideLayout" Target="/ppt/slideLayouts/slideLayout1.xml" Id="Rda728e54ce6f4a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728e54ce6f4a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097c0d9f04e2e" /><Relationship Type="http://schemas.openxmlformats.org/officeDocument/2006/relationships/image" Target="/ppt/media/image.png" Id="Rcb490ff425514ea7" /><Relationship Type="http://schemas.openxmlformats.org/officeDocument/2006/relationships/notesSlide" Target="/ppt/notesSlides/notesSlide1.xml" Id="R180924f31b4345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b87486623446a" /><Relationship Type="http://schemas.openxmlformats.org/officeDocument/2006/relationships/image" Target="/ppt/media/image2.png" Id="R3f7c6a4b651c4d96" /><Relationship Type="http://schemas.openxmlformats.org/officeDocument/2006/relationships/notesSlide" Target="/ppt/notesSlides/notesSlide2.xml" Id="R1f8856cfa2cb4f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c02b605eb4c67" /><Relationship Type="http://schemas.openxmlformats.org/officeDocument/2006/relationships/image" Target="/ppt/media/image3.png" Id="Rb4f475bb70e740e0" /><Relationship Type="http://schemas.openxmlformats.org/officeDocument/2006/relationships/notesSlide" Target="/ppt/notesSlides/notesSlide3.xml" Id="Rcb9c3c6370d54e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9b7230f26464c" /><Relationship Type="http://schemas.openxmlformats.org/officeDocument/2006/relationships/image" Target="/ppt/media/image4.png" Id="Rbdcadee2ab684566" /><Relationship Type="http://schemas.openxmlformats.org/officeDocument/2006/relationships/notesSlide" Target="/ppt/notesSlides/notesSlide4.xml" Id="R7e2c7f8e98ec41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d1fdea648444d" /><Relationship Type="http://schemas.openxmlformats.org/officeDocument/2006/relationships/image" Target="/ppt/media/image5.png" Id="R8b8eec9197bb42e2" /><Relationship Type="http://schemas.openxmlformats.org/officeDocument/2006/relationships/notesSlide" Target="/ppt/notesSlides/notesSlide5.xml" Id="R52c7b1cde8094c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ae4b3a3994885" /><Relationship Type="http://schemas.openxmlformats.org/officeDocument/2006/relationships/image" Target="/ppt/media/image6.png" Id="Rf5a9fd1b6b874278" /><Relationship Type="http://schemas.openxmlformats.org/officeDocument/2006/relationships/notesSlide" Target="/ppt/notesSlides/notesSlide6.xml" Id="Rc6a8eec89c914f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bf34415644576" /><Relationship Type="http://schemas.openxmlformats.org/officeDocument/2006/relationships/image" Target="/ppt/media/image7.png" Id="R98f5cad562954db1" /><Relationship Type="http://schemas.openxmlformats.org/officeDocument/2006/relationships/notesSlide" Target="/ppt/notesSlides/notesSlide7.xml" Id="Rb9057a830e3249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771eabe744592" /><Relationship Type="http://schemas.openxmlformats.org/officeDocument/2006/relationships/image" Target="/ppt/media/image8.png" Id="R5d61133b70ba40e8" /><Relationship Type="http://schemas.openxmlformats.org/officeDocument/2006/relationships/notesSlide" Target="/ppt/notesSlides/notesSlide8.xml" Id="Ra04dcb5d77004f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b8a99e310442d" /><Relationship Type="http://schemas.openxmlformats.org/officeDocument/2006/relationships/image" Target="/ppt/media/image9.png" Id="R458ed2678afd401e" /><Relationship Type="http://schemas.openxmlformats.org/officeDocument/2006/relationships/notesSlide" Target="/ppt/notesSlides/notesSlide9.xml" Id="R28fd50a94b6048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fe1a9c21c4da6" /><Relationship Type="http://schemas.openxmlformats.org/officeDocument/2006/relationships/image" Target="/ppt/media/image10.png" Id="R357cafb2b1a54a2d" /><Relationship Type="http://schemas.openxmlformats.org/officeDocument/2006/relationships/notesSlide" Target="/ppt/notesSlides/notesSlide10.xml" Id="R3fd631e3dd9e4b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a185a57b7494c" /><Relationship Type="http://schemas.openxmlformats.org/officeDocument/2006/relationships/image" Target="/ppt/media/image11.png" Id="R7c14186f73ce49c5" /><Relationship Type="http://schemas.openxmlformats.org/officeDocument/2006/relationships/notesSlide" Target="/ppt/notesSlides/notesSlide11.xml" Id="Rc034a7267d2e4d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62b7421f74f5e" /><Relationship Type="http://schemas.openxmlformats.org/officeDocument/2006/relationships/image" Target="/ppt/media/image12.png" Id="Re82f5879d4f34d7e" /><Relationship Type="http://schemas.openxmlformats.org/officeDocument/2006/relationships/notesSlide" Target="/ppt/notesSlides/notesSlide12.xml" Id="R6e56e5e1cb0740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12f4003504700" /><Relationship Type="http://schemas.openxmlformats.org/officeDocument/2006/relationships/image" Target="/ppt/media/image13.png" Id="Rf65fdb637a5b4af1" /><Relationship Type="http://schemas.openxmlformats.org/officeDocument/2006/relationships/notesSlide" Target="/ppt/notesSlides/notesSlide13.xml" Id="Radcd650c449a479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3016bcd7445a5" /><Relationship Type="http://schemas.openxmlformats.org/officeDocument/2006/relationships/image" Target="/ppt/media/image14.png" Id="Rc1c98d51b8bb4fb6" /><Relationship Type="http://schemas.openxmlformats.org/officeDocument/2006/relationships/notesSlide" Target="/ppt/notesSlides/notesSlide14.xml" Id="Rda128709e2054ea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27d26b04142a8" /><Relationship Type="http://schemas.openxmlformats.org/officeDocument/2006/relationships/image" Target="/ppt/media/image15.png" Id="R8038f389f50a4194" /><Relationship Type="http://schemas.openxmlformats.org/officeDocument/2006/relationships/notesSlide" Target="/ppt/notesSlides/notesSlide15.xml" Id="R0b041907ff4b409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86d20f1a449db" /><Relationship Type="http://schemas.openxmlformats.org/officeDocument/2006/relationships/image" Target="/ppt/media/image16.png" Id="R811a0a353bea4a3e" /><Relationship Type="http://schemas.openxmlformats.org/officeDocument/2006/relationships/notesSlide" Target="/ppt/notesSlides/notesSlide16.xml" Id="R9eeb4abbb967436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57ff333f343b2" /><Relationship Type="http://schemas.openxmlformats.org/officeDocument/2006/relationships/image" Target="/ppt/media/image17.png" Id="Rda7c8c0618274edf" /><Relationship Type="http://schemas.openxmlformats.org/officeDocument/2006/relationships/notesSlide" Target="/ppt/notesSlides/notesSlide17.xml" Id="R9ff0e0b0b88e45a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f0d5a2bda4660" /><Relationship Type="http://schemas.openxmlformats.org/officeDocument/2006/relationships/image" Target="/ppt/media/image18.png" Id="Raa5a9faf236a451f" /><Relationship Type="http://schemas.openxmlformats.org/officeDocument/2006/relationships/notesSlide" Target="/ppt/notesSlides/notesSlide18.xml" Id="Rff85c06022ee445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a1fa74d94448b" /><Relationship Type="http://schemas.openxmlformats.org/officeDocument/2006/relationships/image" Target="/ppt/media/image19.png" Id="R4c823436152f4dee" /><Relationship Type="http://schemas.openxmlformats.org/officeDocument/2006/relationships/notesSlide" Target="/ppt/notesSlides/notesSlide19.xml" Id="R6fbf0edcaaec4c5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492f23d5843cf" /><Relationship Type="http://schemas.openxmlformats.org/officeDocument/2006/relationships/image" Target="/ppt/media/image20.png" Id="R5f84a3eb09294433" /><Relationship Type="http://schemas.openxmlformats.org/officeDocument/2006/relationships/notesSlide" Target="/ppt/notesSlides/notesSlide20.xml" Id="R94d5a1d896244ad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71fcd1a8a435d" /><Relationship Type="http://schemas.openxmlformats.org/officeDocument/2006/relationships/image" Target="/ppt/media/image21.png" Id="R1213e736ba6c4461" /><Relationship Type="http://schemas.openxmlformats.org/officeDocument/2006/relationships/notesSlide" Target="/ppt/notesSlides/notesSlide21.xml" Id="R000d6b5268164a9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92895d62b45bc" /><Relationship Type="http://schemas.openxmlformats.org/officeDocument/2006/relationships/image" Target="/ppt/media/image22.png" Id="Rb96d1329a29541cf" /><Relationship Type="http://schemas.openxmlformats.org/officeDocument/2006/relationships/notesSlide" Target="/ppt/notesSlides/notesSlide22.xml" Id="R833c1dca4a9243a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75aa08cd945b5" /><Relationship Type="http://schemas.openxmlformats.org/officeDocument/2006/relationships/image" Target="/ppt/media/image23.png" Id="R7dc74302601f4d87" /><Relationship Type="http://schemas.openxmlformats.org/officeDocument/2006/relationships/notesSlide" Target="/ppt/notesSlides/notesSlide23.xml" Id="R62438d99b27746d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a49a859c04295" /><Relationship Type="http://schemas.openxmlformats.org/officeDocument/2006/relationships/image" Target="/ppt/media/image24.png" Id="R9c87ca531e6448bc" /><Relationship Type="http://schemas.openxmlformats.org/officeDocument/2006/relationships/notesSlide" Target="/ppt/notesSlides/notesSlide24.xml" Id="R8790222085cf4bd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e3f72fb954d23" /><Relationship Type="http://schemas.openxmlformats.org/officeDocument/2006/relationships/image" Target="/ppt/media/image25.png" Id="R080f30913ede4ece" /><Relationship Type="http://schemas.openxmlformats.org/officeDocument/2006/relationships/notesSlide" Target="/ppt/notesSlides/notesSlide25.xml" Id="R0d2a0e5f20f349d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0138990ab487c" /><Relationship Type="http://schemas.openxmlformats.org/officeDocument/2006/relationships/image" Target="/ppt/media/image26.png" Id="R0b1377c91d134ec4" /><Relationship Type="http://schemas.openxmlformats.org/officeDocument/2006/relationships/notesSlide" Target="/ppt/notesSlides/notesSlide26.xml" Id="R2e6823678a3646f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abd74902f4b72" /><Relationship Type="http://schemas.openxmlformats.org/officeDocument/2006/relationships/image" Target="/ppt/media/image27.png" Id="R2e24c9d80b414ee3" /><Relationship Type="http://schemas.openxmlformats.org/officeDocument/2006/relationships/notesSlide" Target="/ppt/notesSlides/notesSlide27.xml" Id="R244793864125443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caad14a674a4b" /><Relationship Type="http://schemas.openxmlformats.org/officeDocument/2006/relationships/image" Target="/ppt/media/image28.png" Id="R8862b8e92be249a1" /><Relationship Type="http://schemas.openxmlformats.org/officeDocument/2006/relationships/notesSlide" Target="/ppt/notesSlides/notesSlide28.xml" Id="R14824f016d6848f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4640a38c34d78" /><Relationship Type="http://schemas.openxmlformats.org/officeDocument/2006/relationships/image" Target="/ppt/media/image29.png" Id="R52ed01f3f9df400e" /><Relationship Type="http://schemas.openxmlformats.org/officeDocument/2006/relationships/notesSlide" Target="/ppt/notesSlides/notesSlide29.xml" Id="R5fa96671c87d49b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42e97adf94909" /><Relationship Type="http://schemas.openxmlformats.org/officeDocument/2006/relationships/image" Target="/ppt/media/image30.png" Id="Re4cff4cfb3424366" /><Relationship Type="http://schemas.openxmlformats.org/officeDocument/2006/relationships/notesSlide" Target="/ppt/notesSlides/notesSlide30.xml" Id="R2ddc67b2a45846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67C8788C-B363-4AAE-88B8-9150DCE1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E7B3BAB8-44B7-4BDE-AD4F-8E0742B3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E2F6BACC-69FE-4825-B59F-7A809F7E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2105729C-23C3-4BFD-9699-16C7835C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E2122B3D-7529-4078-BB02-31FB99D3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BC5F84FF-FF2E-4DDB-9449-0BF34CBE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7DFE22A-AFAF-4AF9-91CF-8E8E445C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SKN27 FINAL 3Team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648405B6-ADF1-4B4B-A30C-5E3779DD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03111D-63F2-4F6F-9A0B-92AE8DE5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AI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기반 교통 분쟁 및 법률 솔루션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374ADCCB-8099-4228-8E86-8AC641B9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252D7140-95EA-499B-BABF-DF364049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2A51C906-D76F-4128-9729-88616216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CB54ABEA-C89B-44E5-8737-E97D785A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29D6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90ff425514ea7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D1BD8747-8DDB-446D-8FDA-32B6970C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77209D4E-5972-420E-A7CC-0B4FF428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224B58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29F5F767-5E9C-4ED3-B756-406A53AD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차분해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1B842DE4-0B19-44DF-880C-3ABB4C66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9735ADA3-3626-4331-848E-930A309B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35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과실비율, 과태료/범칙금, 보험 대응, 법률 근거를 사건 중심으로 재구성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35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발표 흐름과 원본 톤을 유지하고 핵심 메시지만 읽기 쉽게 정리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35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김필주, 신동혁, 이재강, 이혜림, 오주희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1981CEEC-8336-445F-AC9B-5FA39321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29D6E8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57E719D6-DA53-4905-B2D8-8BCA271D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1BFB5F0-CBEF-4C33-84F5-3A41400F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706051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175FD597-E7EE-4A0B-846E-E6533B24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7D991666-CF3B-4C38-B594-76E81EA0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E0B72191-0BB1-4FE9-AC4E-DF886DE8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5B9F9DFD-6040-4D62-8A95-1D8616A8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F081F6D1-6677-4C12-BE32-EE874BEF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71B4C022-4D2A-42F5-801B-0BCC3A5F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9CE064F-E6F4-415B-AC25-F5401CCB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C9ADE96C-2B24-461D-AE39-088624F7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8190D3-7699-4216-BE27-F549D39A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문제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정의에서 구현 범위까지 이어지는 흐름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562AB0B7-64BF-492E-8A8E-E51E132C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B37AB9D2-B785-4E24-B9A8-B4F013AE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9D089C7B-3127-44F8-BCAD-58F5CC5E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E3F56A7B-E640-4830-B8F5-E0D910A3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FF614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c6a4b651c4d96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A81DC364-2A66-441A-994C-5A25C7FA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46B60C9E-B447-4D03-BC68-7B6E3CA5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54312F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054BD98A-6C1A-47D5-BB7E-3910A9DD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전체 목차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10B29A99-31E7-4E7A-B438-0442909F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DE75247E-965F-4594-B089-61BCC33D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시장과 문제 배경, 사용자의 문제정의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경쟁사와 차별점, 서비스 이용 과정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핵심 기능과 AI 분석 구조, 구현 범위와 기대효과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1B00680C-4E37-4F3E-B5C7-E3942F7D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FF614F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750C5087-952E-4E69-B12E-3197D923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459103-7F1A-4590-BD36-49423DE8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37917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87577F3D-0E5B-454A-8185-746215C3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A163CC63-2CE1-48A9-A992-AD15BB0E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8E9CBCA3-321B-422D-9A78-979D50F3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043F9217-22E5-4FE3-BE00-F12E47E0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F9C0BC9E-5C5A-464A-A699-25DB9AA6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7366E54A-E559-491C-8A41-273F67A5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C4D6E42-7485-4990-B612-FAB73990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01 시장과 문제 배경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27BC8BC2-C31B-48B2-A116-7D6DBAE0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29D3D9-077E-4FD4-A31C-F488952A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과실비율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분쟁은 10년 동안 구조적으로 커졌다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1FD3576F-CF85-467A-ADC5-39D57A05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30480052-A16B-490D-AF49-4D18A72B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C43D1676-3E29-4196-AE6C-00F450D7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F89DAE7E-77FE-4169-ADF2-5DDF3369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29D6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475bb70e740e0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46090C3F-AAC1-42D9-9E88-CFA45544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AC48E25C-47B7-4C2C-9AC2-920A0C43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224B58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3A3DD564-A470-4814-BD6E-6DA8BF13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시장 신호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17EA7826-AF6D-425F-A8BF-DD552412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2D76DB80-759D-4E3C-A1C2-0BB2A3C4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2024년 과실비율 분쟁 건수는 156,812건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대물 수리 대비 비율은 5.4%까지 상승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2014년 대비 5.2배 증가하며 검증 수요가 커짐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B33EC074-3E3B-4EB7-B887-0A23DC8A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29D6E8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78AC0F0D-2B57-4ED6-9D8E-6945C4BA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7041E7D-EED2-4676-AE3C-AB586E39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207920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07A0FEAF-F441-4FE2-90D1-5D0165CB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F1DA2A98-BAD5-4B60-9533-1CCF7711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71CA6EB5-9416-4BF5-8949-1D4E29D8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E1D0BFB9-A29B-4921-BAB6-B201FAC1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1C48F6DC-2658-49EC-9B01-C62528A8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E85E3134-EEB3-4449-AE25-02EB3F7D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5E715BA-04DD-4B6D-A229-7EFED8EA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01 시장과 문제 배경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3AC3E83B-182C-4DB0-9476-431575D4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4B5168-71B9-4253-8FBA-8B1EEDE6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시장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신호는 분쟁의 양보다 근거 탐색 비용에 있다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94D9C23E-5B11-41FF-B6EF-031EE0D9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ABBD21B9-CCB1-4408-88B4-635AF4FE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E0905CF8-6B4E-465C-AE50-6458DC7C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3E2CDA95-D32E-4005-BF26-B58B43E6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FF614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adee2ab684566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66C6DDEF-145E-4435-9D2A-9CB95DA3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A3A5EF70-6C77-48F4-ADEF-75CBFC26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54312F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A34AE8B6-691D-42D4-BCE9-442E03A1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문제 초점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8D68F137-A95B-4796-B933-824C1822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2C4D3023-319E-4C01-A3BD-359CAC32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사고 건수보다 보험사 설명을 검증하려는 수요에 주목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사고 경험자의 34.9%가 공정하지 않다고 인식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인정기준, 판례, 심의사례를 사건 단위로 연결해야 함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2281C2E3-814D-491D-A09B-1230FC50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FF614F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740FE0DC-2E54-4D3C-B885-C328B133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A3731C-CE04-442D-8FA0-FEE44273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277096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9B9828E1-7618-4F06-9AA5-5495F348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697506FB-8D78-4B4C-BF1F-6563FAB4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B727049C-43C9-45EC-9E66-333E1915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F6986B26-BFA8-464A-B52A-06A2BB01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1FFC98D5-856D-4BB7-B806-15941FEB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503A3920-E8A7-41BF-BC7F-6C480962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1E78503-BA09-4A6F-B88C-20749A0F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01 시장과 문제 배경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D7AC8157-F229-4465-8FD6-5BA136AD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C46B01-B61B-44D1-9E38-172BD13A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사용자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문제는 사건 단위 근거 리포트로 연결된다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51EFD8F3-2F1C-4A3B-A332-F20F9B7A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E06F81D8-397E-4F7E-B456-E1FBB69A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1D36ED53-A2C9-4976-8B47-5821B515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B54D2FD0-CB3C-4B9D-8D22-F060A012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29D6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eec9197bb42e2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CDFF2D92-13A5-4BE9-A03F-79222113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F06C531E-85EC-4D74-BF9B-60922A75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224B58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1DA7C7F2-6FDF-44A6-AB3B-7A9765AC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문제와 서비스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497A23F3-86ED-4A89-8FE3-6C5F62B0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B6F57B9E-BF10-4949-9E0D-547BFCDC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사용자는 과실 산정 이유와 쟁점 파악에 어려움을 겪음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서비스는 사고자료를 사건 단위로 정리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공식 기준, 판례, 심의사례와 리포트 제공으로 연결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9D7E6B59-03D3-4A1A-AE65-616D9F2B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29D6E8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E6859B53-9DD1-4E4E-A1F2-8EB6AC2B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2446D74-192C-456D-99AA-74E01407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67297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0491F964-E7B7-4C81-8BBD-2C031FEA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1B7F433C-60E1-4F7F-BD45-492BDEC0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00E5CADD-F814-4421-A4A3-DE448865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54D90E4F-7839-40FF-AA59-2193F06D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45CA0478-4260-41A3-9D03-E8C8F210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32372A8F-80AE-4C19-9BD0-C2626CBD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046B85C-D862-4241-81C1-2434D659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01 시장과 문제 배경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AA94D2C9-2BAA-4E06-990D-C52A1FC8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035308-D164-4BC9-BD3D-7FD5839C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사고도 변수에 따라 결론이 달라진다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7ECA7B64-2093-4978-B59C-556B3F72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EF244F01-DCD6-4735-9588-D4E7280F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93ADC24B-9114-4304-B01D-BEB8967C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E842B785-1C46-4050-A99E-6B295637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FF614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9fd1b6b874278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5BB7B05E-3964-441A-8113-20FA4B7E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E099A0C3-C7D5-43BE-BCBC-60B7A6F6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54312F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74023AF3-2113-45C0-B93B-3F147B92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판단 변수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3F10AE50-740C-4B10-B56B-FC350D44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6FADE52D-DB41-4FD6-802A-289D0258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악천후, 도로 상태, 블랙박스 화각이 판단에 영향을 줌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유사 사고도 사실관계와 판단 주체에 따라 달라짐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필요한 AI는 확정 판정이 아니라 변수 정리와 근거 제시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6F8408A4-3DE3-4A85-909C-D552347A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FF614F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A140A4A6-F3A3-4E51-AEF2-079C3C2C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CCD578B-EFB7-4023-90AA-F9EBC385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312040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BCC1F3DB-5E87-4CFD-A934-B4402709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41CB0BF6-DCFD-44C2-9F4C-C1FF68D2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568D7112-DF61-48A3-8A8E-D8F7E04D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D444AAA4-2668-45DB-B268-AD45D4B8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FB578D6F-B69F-4F8E-8C3A-11FE367A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9BFAC247-4601-46B4-B27D-BEBD485B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917D459-B201-4333-94E7-29DABBDB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01 시장과 문제 배경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E99A45F8-D7B4-48E7-92D5-23EBF0A2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CBD7BF-1D3C-4914-948E-75020589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판단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전에 구조화하고 근거로 답한다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6C80811F-C4AF-4DE7-85E3-D0DE1D4C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A340C84E-F63F-4566-A7FE-B118E2E6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0ECC93EA-6890-48D9-BF4B-255E4CA1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C2F7700C-6E3F-48B1-B9FD-081C5DC3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29D6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5cad562954db1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F79813E2-6C8C-4188-90A2-C3A51475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91F88023-D216-44F8-95C0-6210F7C6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224B58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D48B38C0-4301-4229-8D5A-7DCC6815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분석 흐름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53441E69-895B-4380-A98E-428DA43F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2390102E-CCB8-49DE-AF99-788E7B9D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고지서, 설명, 사진, 영상에서 핵심 필드를 먼저 분리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법령, 인정기준, 판례, 심의사례와 출처를 연결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이의 가능성, 리스크, 증거, 문의 초안으로 이어짐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460E620B-EDEB-442E-B6AF-DC61BABB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29D6E8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93A4E036-076F-4656-9E8E-3A21BC54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9EFF401-8743-4945-AF2A-0B717FF6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532236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9AE9684A-490F-4148-9BEE-5BA07D5C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1F034246-931B-4DAF-8DFB-BD909503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318F42F1-2A5E-4AA5-A4AD-538B970B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7E00C08E-FC51-4559-803E-E0C9B410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99F0A90D-F7A7-4AE2-9FA5-1D959B6A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B00B9432-59E8-41A3-A451-76FF0341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71CD6EB-4FFB-43EF-92AB-C66E43A0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01 시장과 문제 배경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EF099276-3B42-4236-AC3E-44ADED96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12195D-1C62-4851-9293-53903868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사건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리포트는 상담 가능한 형태로 자료를 바꾼다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2697C6CE-F57E-4702-BFE4-D76CA557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8B250629-4C28-46F7-BB4B-AF9DA27D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A0A043D1-3471-4610-A7BB-19D468A2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2910EDE9-8173-4485-81B7-8EC33F0C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FF614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1133b70ba40e8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F98E1778-FF41-450C-9E08-6B71FE9F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6FDF6678-B9EC-4791-B628-8EA8571B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54312F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6A9B5249-FE21-4712-812D-632EC22C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리포트 가치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158BB63C-EACB-451F-B61C-31FE76A6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3745A094-6DD9-4142-B8C9-12274A1A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공식 정보와 사고자료를 사건 흐름으로 연결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전문가 상담 전 쟁점과 근거를 먼저 확인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서비스 가치는 사용자의 사건 맥락 정리에 있음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56B7EC54-7B6A-444B-9174-4A87EDE6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FF614F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6193FC87-8AE4-4ECC-B557-7EDCB916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2BD2785-4C8F-4372-B520-944970B4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167773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26A194E1-0071-4C8C-8EBB-45C5136D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F268AC76-1F16-4BBA-AC13-CA332401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F523E1D7-E5F3-40D2-8AA6-FC92EC7E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CC864314-BB66-444E-B9ED-E4898184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EFF7A686-153E-41BA-A9BB-52A6C1F3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1F04DBA9-268D-449C-A444-0AEC09F6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6C45C64-7ACF-4B03-AB2A-2CFF8CCD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03 사용자가 겪는 문제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23686087-29D3-4F6D-8A06-161AFBF0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88025E-1A70-45B8-BE59-37C65168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고지서,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과실비율, 보험 대응에서 실패 장면이 반복된다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A1B56B45-1E66-4F38-8A66-A1606E16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414D7779-C817-4E3B-B9E4-95AEFA12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16A27357-262D-49A3-943C-2D5E1969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A7CA0D60-AD14-4167-8258-C65A0555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29D6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ed2678afd401e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12723297-8B6A-440E-A0BA-6508747D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B5AAABAF-E11C-4412-8E79-9D52FAE9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224B58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9B84915A-6960-40DD-A8A6-05C97147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사용자 문제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4C78F675-9BA7-4A15-B4E1-171A3CCB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3DA7436E-065E-43FA-9FE2-CC43B019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납부, 의견제출, 이의신청 중 어떤 절차가 맞는지 헷갈림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보험사 설명이 내 사고와 맞는 기준인지 확인하기 어려움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법령, 기준, 사례, 영상이 흩어져 주장 정리가 어려움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45CFC96F-A235-49CC-B437-93556062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29D6E8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71120E7D-4796-4D58-98DE-8EE2F101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B46395A-F8B9-4B4C-B2A4-439872A0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223780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1AC41842-6B04-4514-9C64-E0C8949D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0BF978E3-33A0-459C-9619-64051D41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7BACF6BF-AF6D-4FA6-BAC3-F184393D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3E165DA0-3D97-437D-9907-FBABA4CA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3D414089-C111-4845-A807-14F3566A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2130D3C1-2EAB-4BF5-AE84-B56B8E2E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6A68B9B-2B04-4CAB-94F8-3A78A0EB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03 사용자가 겪는 문제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5759FD6A-EA5C-40EC-B989-3D0B617B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332873-CC2C-4BF3-82B7-3865FE6D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책임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주체와 절차는 다르지만 사용자는 한 문제로 본다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F9708E45-F5DF-4093-A85A-A6D57149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9C4653E5-54CE-416D-BA08-0FA116E8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313EBEFB-B0E5-4683-9762-CC0DB216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EAC167EA-06E1-4F9F-AFDD-EE373808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FF614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cafb2b1a54a2d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15E0B802-55F8-45DE-A981-1C35C2BE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F96A5BC6-61A1-45D8-A814-5F198C07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54312F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5559E004-909C-44ED-97A7-635DCE2C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설계 원칙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99B5993D-ABA3-4780-9FB7-7811EA1F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61283883-E358-4411-BE09-5223B661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과태료, 범칙금, 벌점, 사고 과실비율은 각각 절차가 다름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객관적 근거, 기한, 증거, 절차를 먼저 확인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단정형 문서 생성은 제한하고 리스크를 분리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592DBB0E-5CBE-48DD-98EB-1DE6D913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FF614F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66FB933F-3E26-4902-96B7-4E9643F9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1B1BFCC-A1BA-4A2A-A046-A6227313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674643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F3DFB62B-08CE-4391-A9D9-49890442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86D1C7FB-01AA-40F2-93CF-8EC55C33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75D0F793-2119-49F7-BA88-C44AED73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40BB986F-805F-4E68-822D-F439A426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680912D9-DB1E-4261-99F4-1F1B4595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23F137D3-006B-421E-93FF-62D058C7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B48A61E-79DD-4AB6-85CE-FD75DE83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03 사용자가 겪는 문제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D72E337A-BD28-4727-B7B8-37F0DC38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4E67C3-C28A-47B9-ACB8-8450D8C5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도난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차량 사례는 판단 결과와 리스크를 분리해야 한다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09B51BA2-D74F-48A6-9846-31C040AC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D784875D-ACF2-4A62-97AF-2D00F9DF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629A9C90-A9B9-4AB6-BD09-43E1B9F1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C015DFA7-C9DE-4B81-B229-46C1945F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29D6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4186f73ce49c5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0B70A26A-36CB-4FF2-B2AA-EC320C53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604093FA-AEDB-4FC8-B3F8-5994E652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224B58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9AA4B092-49AE-40B7-8370-E9A8A399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예시 상황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8CF97360-B56F-41F3-8409-EE4D2B42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D00E7D0B-84E2-44F0-BFDA-005C558B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고지서의 기한, 법조문, 금액을 읽기 어려움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진술 리스크와 인정 가능성을 구분해야 함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판단 결과와 부족 정보를 함께 안내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D76F16A9-3333-45EA-AC8B-0FB81BE6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29D6E8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8794391D-8683-46FB-BA74-BAC2BEF4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9540BF-06C1-40CB-9C36-B6DE4F5E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311671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74E940F3-DD7D-4172-96FE-817DE3D1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6074E5D6-AC36-4B5C-B4BB-A248660D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8C21E3D2-E699-4EE4-B3A0-9548FCB3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C0F667B5-BB6B-4CAD-A0ED-1055A326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A691E812-1FFA-46B1-B12B-363C720F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AAFF655C-E26D-4B1A-9628-0790F4F6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B32D611-0E35-4D41-A2F0-D6B15268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03 사용자가 겪는 문제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6DEA7296-2BD1-4282-AA4E-DE52E123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D417E2-9A49-44E6-8E4F-1F3BCFCE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과실비율은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정답이 아니라 비교해야 할 주장이다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9642A3D8-2035-4FC9-A791-5F817AEF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38035B66-7AEF-4731-ADA4-2511C7BD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7EE575F8-0392-44F4-A232-915954A0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99ADF0A8-A8E3-4C4C-B360-5B74073D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FF614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f5879d4f34d7e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483DCDEF-372B-4EBC-827B-27DC917B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C858D000-4442-460F-8771-8AC172C3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54312F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394E3FE4-33E7-4216-A139-C78E0EAC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과실비율 접근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C4B590BE-2ADD-4A6E-B7D9-0DFC00D9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12ECE8C6-CCC2-4625-9050-03830F41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보험사 비율 확인에서 질문 정리까지 단계화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유사 사례와 사실관계 차이를 비교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부족 증거와 보험사 질문 문구까지 정리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D623377E-8B32-45D2-BD22-8F272073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FF614F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BFEC23D3-6520-42CA-86B6-33EE68F2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7C725E9-88AC-4B9A-B4E3-54826717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752561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F9587BE7-606F-4D54-8ECC-CCD5221C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19464298-58C5-4621-B997-86441CB7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C35383B7-96F8-4188-AC71-6517244F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81CEE080-5E1A-4B3F-8319-A21F81BA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476E09E3-5337-4DFF-A7B7-F7D95A8C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7D4E5EB4-AC0D-4EB5-A26B-BA2AB7C4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88AFB3F-FC37-432F-859F-F7CC75DE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03 사용자가 겪는 문제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F57C5D3A-C7D6-4059-BA2F-EC0B5C1C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520060-7DBC-4B06-A2ED-D38C95AF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AI의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정답보다 안전한 답이 먼저다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2EB2806D-8F4D-4BE5-92F0-797BBD6E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B4BE9126-E4AE-426E-A664-D0291FAE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7549FCAC-5F21-4C9F-BAEA-380F66EF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7BD150E3-3E7F-4E3A-BA66-F7819869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29D6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fdb637a5b4af1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01A70CC1-FF95-4307-B8AF-A7C87AD5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20D2BBC2-067C-4AF2-8F43-FD5AAA39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224B58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ABEB816E-579C-4D4A-BB2F-4403FD40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보안과 신뢰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EC1D36BD-BE47-4CCC-BE1D-EC717664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C502AB93-02E5-48AC-B491-96260AA5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차량번호, 주소, 고지서, 블랙박스 등 민감 자료가 들어옴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권한, 업로드 검사, 필드 중심 처리로 노출 범위를 줄임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근거와 한계를 표시해 검증 가능한 답을 만든다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B91B9D5A-4E2A-4A2C-ADA3-7608382B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29D6E8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D7CD2631-BC88-4723-AEE2-6A64D27C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B5EA52D-39B8-4156-B992-56B544C8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58940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0B90E791-6F9B-421B-97D1-67ED264F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E1A36B40-71A1-40A9-B9CD-C0E6A97D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60191FFF-BE51-44A1-9E03-F2EEC756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F5226D94-BADC-4B44-B39E-18D8EA32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2B9893E5-37C9-4216-8396-192D39D8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E6E6B290-D10E-49EB-9A91-7D753521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08B81C5-BDCC-4188-B385-21A23CBE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4FA9FC4C-5769-4F2F-8690-A094FFFA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BF5491-112A-4412-8268-A2972BB6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시장에는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기능이 있지만 사건 단위 조합이 부족하다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E2008BEC-F967-413F-BC53-1DBA0A57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FD310BAC-F4A7-4C6B-BF4A-78C3C175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3B2A6B6D-F0EE-4DEB-85DE-18267654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620AA4A9-0282-432F-AA66-F8483436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FF614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98d51b8bb4fb6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4AB2ACF4-4894-43C6-9BFF-B15E5B9E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B584557E-845F-43B0-BC87-44E57459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54312F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1528DEE7-A9FA-4BA5-BA92-7304F653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경쟁 구도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033D20D8-53D3-4A2B-9C83-3D35C934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7E7AA919-8C0C-4AF7-9CD1-3EE26619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조회, 납부, 사고 접수, 판례 검색은 이미 존재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부족한 것은 OCR, 사고자료, 근거 검색, 리포트의 결합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사용자 사건 기반 근거 리포트로 차별화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EF3D78F1-DEE5-4233-ADD3-0E908394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FF614F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DC05C030-9308-4CAA-9088-5E36BB79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25B97FE-85A2-4B02-966C-F6EC2621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384379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42036961-535E-48B1-B194-01E4A2C8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63FF44C9-DCEC-4F41-ACD3-B7DABE29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B63EBF5E-3660-4D35-91FB-16ADB3A0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E8D469F8-D6BA-4097-AFA1-4F921E5C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A2D4B3A9-9425-45E9-88C9-4C192A91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D32C88C3-2125-4D78-B95D-7C86785E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51B619F-A510-47DD-8E61-34B21C34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37FE0DE1-BD0B-4ADA-8502-A1092532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711E96-C6B7-47DE-99C7-477CA925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기존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서비스는 강하지만 사건 단위 리포트는 비어 있다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76B3EEFD-1F17-45D4-8989-C3B21439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7D120ACD-C345-431E-9D90-1A2B701D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2256A19E-6E49-4507-85E6-E54D0070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089A8B90-0800-413E-90C2-C3498E91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29D6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8f389f50a4194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1F883198-E6C8-4635-8F82-A062A08B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1428CFBF-FD24-4A29-AA6F-4DD7F610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224B58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DE2E314F-6AE0-42F6-BF46-E6777343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비어 있는 부분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74795D9C-DE54-4456-8E26-DC2F701C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7F5D1D8C-D5EF-4630-B002-D161F7B4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공식 포털, 보험사 앱, 리걸테크, 일반 AI의 강점이 다름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공통 공백은 개인 사건 연결, 출처, 보안, 이력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문서, 영상, 법령, 사례를 한 사용자 흐름으로 묶음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9897821F-3D0A-453F-A625-4694FDAE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29D6E8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628A9EF0-CEB9-438E-8B79-4F64AF0B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540AD0A-4CD9-4B73-B60F-9B43C7D0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569610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BC5E75DC-63B4-4277-85B4-B423374D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F60934DE-2FAD-45C4-AE15-F67B031B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A3CC8A76-488E-4F63-A7BA-8FCC6145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E118BCC6-2459-490E-9975-3FD1FE09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D121F362-8D58-49CC-A419-FC5E97F3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E67E4779-2D51-4152-BE49-F9EC5915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C12B1B9-CD67-4BB9-BF26-74239834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99B4E9A8-EEA5-441D-AA2E-2D616EA3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CEB371-3033-4690-AB7D-352C41E8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차별점은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기능보다 안전한 판단 흐름에 있다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A49579D8-F56D-4EB1-9411-D320108E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F3484204-BA9F-4389-A63F-615C49BE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DF655A94-C964-4AF7-A3F8-6A4FDA1E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1D4E4459-4E36-4F26-9832-69F4B228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FF614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a0a353bea4a3e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F3260CAD-FD15-46BD-8986-C40253FC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D6BE0CCC-752B-4AA3-81EB-9A7B4CB1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54312F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68145B52-40FB-484F-891A-F2773542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차별점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0FF97FCF-13D5-436B-B85A-8EC2D720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1A91A731-06E7-4D5B-AB4C-DE54A719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보험사와 분리해 누구나 사건을 검토 가능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이의 전 근거, 기한, 증거, 위험을 분리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판례와 기준 출처를 제시하고 승소 보장 표현은 제외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1C4B896C-4592-4A99-8057-A76E4F1C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FF614F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BA90C757-10C6-4869-86F4-531FB227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A8E2EE-BD19-4329-A184-6CB2567B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817501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E7473FC1-1DA2-4B4B-9CFB-7BCE3BA4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98D25236-B295-41C8-AE77-5CF21314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771994E0-9F95-4E3A-887F-EBCA7319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BBF9BA48-9718-4A47-9178-D7FAABE5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5C7ED3D9-A03C-40E8-A1D3-FC71ED50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2EAC9CB1-4628-412C-B785-AE81E0A2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B51C316-4987-4FB7-AFD2-5E4BD3F2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C0DEC900-A8E3-4856-ABB4-9DFF656F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D1175-11E7-4D26-B8EF-4FC975A9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정민서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사례는 긴급 정차의 인정 가능성을 묻는다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07CB0E3E-2859-42AA-80E1-B3BA4A87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3ED7F833-E023-4E3F-B6E8-92375674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BF354B03-B521-43C6-96C4-71626E58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58615BB1-3502-4041-AA79-43DD3E42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29D6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c8c0618274edf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E4FF79CA-270D-4430-9C62-01CBA17C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D7BD94CB-07EB-45B6-8D0C-9C94A2C6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224B58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50A6F38C-867B-4CF1-B11F-19960439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Persona A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FDC034AF-E4CD-464A-9FC9-9E207257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9FF5D6B6-3EAB-4450-9EBC-1A59272C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어린이보호구역 급정차 후 과태료 고지서를 받음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긴급 정차 사유와 의견제출 가능성을 확인하려 함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불가피한 사유와 보완 자료를 함께 점검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B7C8F973-9E47-4AED-8597-17C6D1DC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29D6E8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C2596315-ABAC-47D0-80F4-F9F08729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E73C0D8-00CC-4E23-AAEC-7AA7ABB8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677671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508FD6CF-A65C-4980-A0B6-7CD06422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39518F88-E997-4BAB-A08F-2075439E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3B721588-29FE-4803-9F75-C9D28241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F64266BF-C103-4845-9FC9-27EA9E4A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62861425-B51A-4ECB-87A2-56BB503D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63B88ED1-E2D0-48E6-8FD4-5094C659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9E301EC-BB1D-40A9-A5B1-4EB1EA18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A70ADA9D-23D8-4E56-ADBD-3D02CD80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66DE16-18CF-4BD5-9C95-CA3F210D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채팅으로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정민서 사례의 자료를 빠르게 모은다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A88AABFB-403A-4D54-A0BC-38347195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1D40B5F5-27B8-4CE6-8C1D-A6585116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32971398-D712-4F2A-8A6B-6CE9C2E6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01DB11C4-1541-4106-95A7-D6AAB3D9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FF614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a9faf236a451f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A81E0614-CE95-4B68-A316-F1A31FB6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526571A8-0B12-4649-AF47-83F3385B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54312F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4C133469-FB67-479B-9F6E-37C1D0DB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Scene 01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FF3118F4-1959-468B-AA78-6EF3B12F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C90FBE6E-1792-40B0-AE67-EEDB3607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사용자의 상황 설명과 고지서 정보를 수집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기한, 장소, 금액, 사유를 확인 질문으로 정리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대화 흐름에서 필요한 첨부를 안내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F80C3777-A606-4D50-B65E-56420C87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FF614F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7249A5D9-4E7D-4344-B09A-C720DC1D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DCE6304-6C8E-488A-B370-D0616D25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917250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15A03DBA-5D78-41A4-BF45-E60356AD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2F1BB57E-6CD4-4C25-BB2D-22F55CAC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9049822E-AE73-42BB-A1C3-4DC74284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2DBCDB5B-4B7E-4933-B407-613CAC63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4C00A9D4-E47F-4D46-8EA6-D64E0EF7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6691F232-E8BD-4B92-906E-0B2882BB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6C8C3A6-FFA6-4EBD-9BAE-4FBC5734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2ECE916C-F358-4E0D-8325-BADD6668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79F677-8BF6-4E15-B9A2-9ED97F97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정민서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케이스는 독립 에이전트 흐름으로 검증한다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809EE332-EAA2-4938-AD60-B6F5C518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F3E464E4-2F94-42D9-8E2A-3416122D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51ADE593-6D7C-41ED-9927-25DA077A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BF3CD1EC-5B44-4B72-B59A-272D6739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29D6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23436152f4dee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5AD08BE9-1085-4CDC-8007-9D1B5CBE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517A88DD-3484-4E83-824D-2A3C8FEF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224B58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7C47DAAE-3D0C-44D0-9480-3778B779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System Flow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9231FD18-0245-47CF-BD62-395FFDCE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3CD0C2FC-1720-4A0C-8430-6EAF8C46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입력 컨텍스트와 OCR로 도메인을 분류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고지서 상세, 법률 근거, 초안 구성, 안전 가드를 순차 실행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단정 표현 제한과 누락 필드 검사를 마지막에 둠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7413E8F1-7D47-4558-A93D-AD9D3118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29D6E8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1B72208A-F1D3-4CB3-9FC5-D1CFAA77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EDB80E1-29C0-4AFF-8D41-A86F6128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636478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D92D2E32-B1A3-4F66-A419-230205A3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2FF827A1-4B86-41D3-A4D6-9B130D4B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0123B439-C57F-4885-B51C-A68AFD83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BBA8CB28-366F-4F3C-8B88-1EF737A2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67EEDA08-FCD5-4D9C-AB54-43AD5EB8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BCC79ACB-3B69-46E9-85B8-139F546C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96EC41A-DFC4-4CEA-A959-22804018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D5CB0E8D-4EF4-4CFA-A984-35A0EB74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6E0488-4AC1-4152-B375-FC439FCB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정민서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리포트는 검토 가능성과 보완 자료를 나눈다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4916C60C-76BB-45F2-A3CF-9A32824D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0F355594-99E3-47A5-ADD4-F9E21D51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5A316E8A-5290-4824-8D1C-E608FEAB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5CB7A6DD-0465-4FBC-A5CE-659D92F4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FF614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4a3eb09294433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EE40315E-1FF4-4A9D-ADB8-93CF6D2A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A8BCE947-DCC6-484E-ABFF-7F92D7A1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54312F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72633811-DAE3-48A7-8B0D-8C536298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Output Report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00997E20-6C2F-4BB5-B50A-8F3237F4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A67834E4-D1E6-410F-AC85-C371021E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OCR 결과, 이의제기 가능성, 법령 및 구제 기준을 분리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약국 영수증과 블랙박스 캡처 등 첨부 서류 안내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기한 임박과 기재 오류 가능성을 점검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149115CB-9A3A-4C33-B0A3-1B4D12D5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FF614F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0D8895D7-E374-4401-BE88-52951F23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747B2FD-7200-41E9-B0BE-D10ED049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8824636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A1B769EA-4DC8-4965-9F10-3D121DE8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14095070-7CA2-4267-B971-89FB65A7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C9DFC570-8A76-4ED6-98BB-17175726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58CC35B1-C7AF-489B-93B6-E49229B9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FB818C85-EBA3-46B9-977E-9E9106BC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CD55DFB7-9AE0-41CC-86FF-955A0245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5365D0D-52DB-4479-85C6-21CDBF8B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A18C2488-50C0-4F9B-94B6-FA8F7120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528C3A-2B79-40AA-B41B-1AB6FB8E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박도윤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사례는 무신호 교차로의 과실 쟁점을 묻는다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3ECA26AC-FDC3-41B0-BC66-69B94EFA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A8CEDD81-2A0B-4456-B22C-E93656C8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F4AFAEF1-18CD-4FDE-88E4-960E0D66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D9C7D398-D5BD-4C20-A37D-DCD3BE4F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29D6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3e736ba6c4461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4814FA68-BF88-4CA8-8671-AB4D7C3A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1422F759-9331-4EFF-913D-32E6F6D8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224B58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5FAA7AB6-4A53-44DF-8099-22A9BD75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Persona B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689240D8-2EAB-48C7-AB3F-C046C480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8F9026FD-5ACA-4102-B743-7D902EC1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무신호 교차로 접촉 사고에서 선진입과 우측차 쟁점 발생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블랙박스 고장으로 현장 사진과 설명이 핵심 자료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보험 접수 전 유리한 쟁점과 주의 사항을 정리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0860BB1D-2838-4BD9-95C5-D9BA13F6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29D6E8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CAB2E3A3-EA82-4321-AB62-76395727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E6E9F26-66D5-47A1-84AF-F07D2ABE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1454650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1F3D9627-2086-4BB2-BCC8-22866742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8A0DFB72-4FD8-49C8-B72A-15B616FA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6DC69C6F-5492-4F0D-99F4-17C4FD66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F4D98D08-9EB0-4AA2-B8F9-6CD93AF5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8226EA27-7229-461F-BE0B-091BC68B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BAFF313F-BCBB-46DA-9BAE-474D2DED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3660A0B-7965-452E-A342-063D94F5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237294C2-100E-4735-8963-245C3807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355899-82C8-4578-99A1-976E13D9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미디어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첨부와 질의로 사고 맥락을 확보한다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C1D19B4B-8B3D-4E60-99B9-76B90E5C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194BF2AF-8867-4383-9E5D-194E4A5D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15EA3628-CCEE-4D5F-AF89-D5E34340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8A8B8B94-F9CA-4754-A311-C171EE19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FF614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d1329a29541cf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366C0333-39AA-43F7-A02A-12766CE7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FCA69517-A13D-42D5-A93A-520BAA12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54312F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85D87060-727F-41C2-85DD-E13B9F19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Scene 02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33471F76-0131-4A95-829B-F424748D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3891F6DC-DA0A-4AEF-ABFB-E806DB4E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사진과 설명을 함께 받아 사고 맥락을 구성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선진입, 시야 제한, 우측차 여부를 질문으로 좁힘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부족한 영상과 증거를 확인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7AC3C3D0-199C-4432-8F39-554F2B63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FF614F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E6D21C83-3D53-4C1D-BE35-148997ED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0DCBEC2-4BF2-45F6-8A4A-86D90B55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3701849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1603C040-97E5-4C00-B484-606EFB15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FFD7AFE4-FEB8-4175-9CC0-1C93ED23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0A7F1010-DF63-4D8F-BD4C-DEE9ACED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274F696D-8120-44B5-B002-AC4ADA1F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FC481E7D-B1DB-4CD1-A50A-5331C242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BAB9CC14-4B9D-4058-A9D9-F5F9A49F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8EA907B-AFF7-405C-8C4F-44BCECB3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E53BA59B-996E-40A9-9910-E6625F7B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B26FD9-5D64-4BB7-9742-C7D1A9D9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박도윤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케이스는 비전 분석과 케이스 검색을 연결한다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2E86C531-7ABD-47B7-8DD0-158D3EC0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48F9DA3F-EE5D-4479-A462-33E362F8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F2DD098D-A077-4671-B2DC-7034A21E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4A4E6F14-0486-47C7-B3CA-500BA25C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29D6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74302601f4d87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71D19183-1E11-4380-825E-D5E9F649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D17DCBF5-0334-49D2-9EA3-42D48C3E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224B58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855E4237-F891-4CD9-8B2A-9C122585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System Flow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55C7E43B-255A-4F34-B9F7-DCF02947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9262D658-89D0-45D2-BEC3-F0AF98E1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차량 위치, 파손, 정지선, 시야 제한을 이미지에서 분석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설명 텍스트로 신호 없는 교차로와 선진입 쟁점을 태깅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비율 단정 대신 리스크 고지 문구를 붙임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20557E97-3B84-4EFA-AFC1-1778F5A6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29D6E8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945EBC40-1F36-446A-BF6D-F7375F55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F4DB015-513E-47E5-943E-C687EFF8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8857433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2C402A0F-8FCB-4803-99B1-CE13408F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96E8B014-7892-43CD-82E6-32365FF5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6FEF2980-6F8E-43A0-A6B7-2838410C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FA67673E-E8F0-4E37-A718-4C2AE499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EF4BCEC8-3EFC-4493-9769-F82729C4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BFC64D3E-4D3C-4391-BFBC-FFCCF626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FE38BC4-5909-4AA5-93AD-C0B9E7CB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08D1C1AD-238D-4269-9152-540C7D0D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8BAB94-F52D-4D90-B020-C73C9480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박도윤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리포트는 증거 확보와 보험사 대응을 나눈다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8711646E-279C-4A34-B88A-EC720B95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CC61CF06-3BF3-4D2F-B105-C3ED3E8F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E91F62AE-D9C9-4586-B633-FB049F60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A003F3F3-543D-4FC7-867A-4BFB727F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FF614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7ca531e6448bc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8AD52928-DA1D-4442-9325-21F4E326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863D56BC-18FC-48E8-B489-1F14B78E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54312F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121258AE-887A-4387-BCF1-53FCD9E7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Output Report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2A03D439-07AD-4AA6-BF15-877378F0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A036DBF9-C4A9-49AB-A8A4-AC10914E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선진입 여부와 우측차 양보의무를 핵심 쟁점으로 분리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CCTV, 주변 차량 블랙박스, 사설 카메라 확보를 안내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판례와 보험 협회 기준을 연결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35787C57-AB1D-42ED-84A3-52D7E7D8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FF614F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B2728C37-94D0-4BB5-938D-3C9A2AD2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2DC6AD5-E7C0-42D8-AD77-BE28B8E0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502374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2F3AFBE3-EFE1-46A6-8848-235BF5F4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56C2EDDB-8597-4F70-AC79-27F6B304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70A8F8CD-68DD-4D3A-BFF8-189EF56A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29466A36-0E71-4394-A071-BE74C3AF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85771AE6-DF8B-432A-8B5C-6F5D721A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58EEE3DE-AAC2-4B51-9389-654F6E9D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AFE3870-5C85-4856-8A9C-157EA7FF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D94A6E47-2F7B-4B0B-A9E7-BA3FA016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8C8BDB-8CDE-482D-9382-E5EDDFAD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지향점은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단정형 챗봇이 아니라 근거 기반 협상 지원이다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01A1E992-837C-47EF-BF01-876E82B9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0A8C6B6D-C923-425D-9F12-F2F480E4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6646C588-357F-449B-BDA4-607DAE79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34B090B7-E875-4FEE-A320-7C253FD1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29D6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f30913ede4ece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1E1E317C-3F9C-4177-8924-83AF5A72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C2A77DBD-3B47-4175-BCA9-DA43F173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224B58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C9DCBF16-90B3-432A-B1FC-C4DADD44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궁극적 지향점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6D5476EA-B66C-465A-8C9E-E4ED32F9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55DC6E64-D555-470E-9195-4AE47FE0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과실을 단정하지 않고 핵심 쟁점과 취약점을 제시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판결 선고년도, 사건 번호, 관련 조문을 분리 제공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OCR, Vision, RAG 모듈을 분산 검증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FC2C1DE7-BAFD-46C4-A8AC-EC6C51F8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29D6E8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9EC9B5C7-6B21-462D-B388-4BB6B965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F702441-7BA5-4038-A7A1-319B3C26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1959367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CC2017AC-03E7-4E0C-BDD3-55913294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E31FA951-67F2-4321-8403-0CD408E3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87B631BE-B1D1-41AC-B749-1DC6DEB8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5A32DF6E-E7B6-4615-8867-5CE4E67B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76E842FB-3DE0-44A3-A2F4-9E172528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221B02EE-5C1C-44F6-A904-D819AC01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F96627E-D785-4AFE-BC29-D5C99A94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B1C4CC5D-9EB0-4DD4-BF3C-C83D5ADB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62E23A-9B56-4B51-86DA-FC29BB5C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시스템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아키텍처는 입력부터 저장까지 에이전트로 분리된다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D09C881D-1291-44E0-AEDB-D1B74E37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196A2140-333F-46E2-985D-00BCCA33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48763F1E-A9E6-41EB-AC22-AC505E73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2829FC69-0A31-4E6E-A5BC-66889604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FF614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377c91d134ec4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63167088-767F-4645-907D-E2D82CE0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7E2934DC-CA82-42C3-8751-2C30ECEE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54312F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C04C01EF-9E1A-40F5-A66A-543AF7E1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AI Traffic Dispute Advisory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E0A077C8-1F04-4A63-A698-F65E84F0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E1681F09-2526-4E21-97D9-72A064A7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35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사용자 입력, Supervisor, 전용 에이전트, RAG, LLM, 저장 계층을 연결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35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OCR, Vision, 법률 근거 검색을 분리해 처리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35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리포트 생성과 이력 저장까지 포함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00873227-3827-4791-AFBF-F4694E04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FF614F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98272D42-B88E-4B3E-BFA4-284A32DE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86E1E81-2125-4212-9B8C-660D3AA4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8138753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6439EB8E-4972-424D-8EBC-7873916A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FCDC4A10-89D7-4F6C-AF3D-9B26809F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25188CD4-D4C2-4B31-96F8-A5D641DD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A2AAA345-CABB-4E08-AFEE-C55EC71A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CEC44738-8A68-42CF-82CB-681952C8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BF2B2E6E-CEC7-45F8-85B5-73486BA3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B1DC72E-E176-4ED7-B2F5-62DEE4CA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5ADA21D5-3EF4-413D-A2C1-2FEEA10F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E91C96-BCB4-4798-B71C-4362DE42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5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현재</a:t>
            </a:r>
            <a:r>
              <a:rPr sz="25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MVP는 상담 흐름, 업로드, 실행 구조, 이력 보존을 갖췄다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C53D5390-8280-4CA0-B8FB-10A29912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D2AB804A-8359-42F9-A9EB-58B3522B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9CB94EC2-D494-4F82-9CBE-8CD4889D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A6C56CEA-0769-45D6-B18C-AA5C02D4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29D6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4c9d80b414ee3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625C221B-A943-4079-8E76-5525993A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CE7C464F-9B92-4DF5-B91A-AFBECF7A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224B58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03EEFF7D-1DAB-49B6-90A8-2C9B8374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구축 완료 범위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8B2B9D60-D833-4DE3-B7F5-7E4FCA6A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ABD3097F-EF44-4ACD-B458-2EA43D80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자유 질문과 대화식 교통 정황 캡처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과태료 통지서와 현장 사진 업로드 검증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독립 에이전트 규약과 마이페이지 히스토리 보존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BB0A45B4-521A-4B29-9BBA-44538E1F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29D6E8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FDF242EB-51E7-4ABD-BF8A-88E0AC91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F998CBF-E086-4A54-BB66-8E442569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76684392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C4F06A81-BE0C-4D3F-8D36-DA50CD2F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C993AF46-E634-4405-B688-E7383E67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874D6244-A3D9-4461-9F77-F401F8DA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E8D4173E-DFB5-4E2A-AF31-7CA3DAD5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8C228AB9-9BC8-44BC-B694-D2E8A529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4A71365A-7B8A-45E9-83FA-0A7E7F10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90ABE91-F45B-4F1F-BC39-5DBDBC70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96F604D7-914D-4B42-822A-7CE41332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1EA6D2-5F7C-407D-A0FF-FB19E827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고도화는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신뢰성을 높이는 5개 축으로 정리된다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C97BAF17-A05B-4516-B883-783539F6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A1D3F57C-F066-46C1-8440-2204831F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FD090F8B-9FAA-4056-94A7-A26B03B9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F9C5180B-D98F-47E6-A258-1F05C00A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FF614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2b8e92be249a1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E0D7C246-885D-4378-A127-D4434E11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6F224597-FC92-4A83-9AF5-F926EE04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54312F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BA69A99F-2619-43A8-A505-96747D5F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고도화 영역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0902EF2A-22AD-47B9-B341-7983121C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080DF434-03B1-433E-B02C-6829EA69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Supervisor 전략화와 판단 알고리즘 고도화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비전 분석 엔진과 MCP 외부 신뢰망 구축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실행 가능한 리포트 완결로 실사용성을 높임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826579FA-1CFA-42E8-9917-9E2DC9DD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FF614F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D09B29E0-FC66-4164-AA78-F5AD97CA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E8503F6-DA7D-499F-9E12-EACBE2E4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70864295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18576F62-C4C5-4166-A7DE-D1C4100A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950E0D2F-7791-439C-B256-0B22268F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2DC4BCBE-7D65-4C4C-B798-B73BC62D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C0617ACF-3E92-442B-B00A-BD641872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DE79481A-037A-4597-9BB4-5FCD47B7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D4A77851-62B2-46A7-824B-4D641C39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921D82C-4B8E-49B3-A041-BD5469E8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B55EB5CB-3DFB-409F-B177-14289F77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80E65D-F89D-4F47-B35C-98DFFD7F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트러블</a:t>
            </a: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 슈팅은 데이터, 판단, 세션 계약을 고정하는 과정이다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44894040-9A12-414D-BF90-315358D1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EC96815F-B51F-4521-832C-61C3B3E9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08A16D4E-E8D6-44AF-81D5-9E2DFEE4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2C153B58-6B10-4FB4-B446-407A9774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29D6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ed01f3f9df400e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C4A0D465-7F18-42C4-B7AB-BBEC1C99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31680E45-F0E1-491C-9FE5-B13DA29F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224B58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61FCA4BA-DD10-4ACA-A4CD-DFB0B77A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9D6E8"/>
                </a:solidFill>
                <a:latin typeface="Malgun Gothic"/>
                <a:ea typeface="Malgun Gothic"/>
                <a:cs typeface="Malgun Gothic"/>
              </a:rPr>
              <a:t>트러블 슈팅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C6744AAF-AD63-4054-A760-5ECA339E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97328743-0AD1-44EA-9781-5FD15DE3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35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영상 manifest, YOLO/ByteTrack, 판례 혼입 등 병목을 분리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35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판정 흔들림은 temperature 고정과 회귀 테스트로 대응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35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인증, 업로드 scan gate, 리포트 payload 계약을 고정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C9B09743-4423-4566-AA47-6EAA2046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29D6E8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29B00667-9B00-4525-A260-E006CB44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9963232-6CEF-4A46-9214-17E64143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42707972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5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band">
            <a:extLst xmlns:a="http://schemas.openxmlformats.org/drawingml/2006/main">
              <a:ext uri="{FF2B5EF4-FFF2-40B4-BE49-F238E27FC236}">
                <a16:creationId xmlns:a16="http://schemas.microsoft.com/office/drawing/2014/main" id="{628BF74D-414A-4D8E-A7F9-3341EE0C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14"/>
              </a:gs>
              <a:gs pos="62000">
                <a:srgbClr val="08111F"/>
              </a:gs>
              <a:gs pos="100000">
                <a:srgbClr val="020408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0F870156-092E-4EC5-9FD5-5EC63353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ircuit-line-1">
            <a:extLst xmlns:a="http://schemas.openxmlformats.org/drawingml/2006/main">
              <a:ext uri="{FF2B5EF4-FFF2-40B4-BE49-F238E27FC236}">
                <a16:creationId xmlns:a16="http://schemas.microsoft.com/office/drawing/2014/main" id="{C09831F9-DB22-427D-A24B-E0EFCC57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4" name="circuit-line-2">
            <a:extLst xmlns:a="http://schemas.openxmlformats.org/drawingml/2006/main">
              <a:ext uri="{FF2B5EF4-FFF2-40B4-BE49-F238E27FC236}">
                <a16:creationId xmlns:a16="http://schemas.microsoft.com/office/drawing/2014/main" id="{562BA53B-D074-44C8-BBED-1161687D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621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5" name="circuit-line-3">
            <a:extLst xmlns:a="http://schemas.openxmlformats.org/drawingml/2006/main">
              <a:ext uri="{FF2B5EF4-FFF2-40B4-BE49-F238E27FC236}">
                <a16:creationId xmlns:a16="http://schemas.microsoft.com/office/drawing/2014/main" id="{28E1A0E9-346C-4FD1-8FA4-49A438C6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90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33B4A"/>
            </a:solidFill>
            <a:prstDash val="solid"/>
          </a:ln>
        </p:spPr>
      </p:sp>
      <p:sp>
        <p:nvSpPr>
          <p:cNvPr id="6" name="circuit-line-4">
            <a:extLst xmlns:a="http://schemas.openxmlformats.org/drawingml/2006/main">
              <a:ext uri="{FF2B5EF4-FFF2-40B4-BE49-F238E27FC236}">
                <a16:creationId xmlns:a16="http://schemas.microsoft.com/office/drawing/2014/main" id="{9D49FF98-AFA0-45B5-ADCC-778A0B40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19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1C21"/>
            </a:solidFill>
            <a:prstDash val="solid"/>
          </a:ln>
        </p:spPr>
      </p:sp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EBC0EA7-E057-418E-A1D3-28847388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Q&amp;A</a:t>
            </a:r>
          </a:p>
        </p:txBody>
      </p:sp>
      <p:sp>
        <p:nvSpPr>
          <p:cNvPr id="8" name="deck-label">
            <a:extLst xmlns:a="http://schemas.openxmlformats.org/drawingml/2006/main">
              <a:ext uri="{FF2B5EF4-FFF2-40B4-BE49-F238E27FC236}">
                <a16:creationId xmlns:a16="http://schemas.microsoft.com/office/drawing/2014/main" id="{A0FB9B7D-3883-4FEE-A224-C665FF69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AI 기반 교통분쟁 및 법률 솔루션</a:t>
            </a:r>
          </a:p>
        </p:txBody>
      </p:sp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934EDD-6D9B-488B-8282-DBA447EB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648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Q&amp;A</a:t>
            </a:r>
          </a:p>
        </p:txBody>
      </p:sp>
      <p:sp>
        <p:nvSpPr>
          <p:cNvPr id="10" name="title-underline-red">
            <a:extLst xmlns:a="http://schemas.openxmlformats.org/drawingml/2006/main">
              <a:ext uri="{FF2B5EF4-FFF2-40B4-BE49-F238E27FC236}">
                <a16:creationId xmlns:a16="http://schemas.microsoft.com/office/drawing/2014/main" id="{A266803C-B969-4F29-A89F-6D9C0650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tle-underline-cyan">
            <a:extLst xmlns:a="http://schemas.openxmlformats.org/drawingml/2006/main">
              <a:ext uri="{FF2B5EF4-FFF2-40B4-BE49-F238E27FC236}">
                <a16:creationId xmlns:a16="http://schemas.microsoft.com/office/drawing/2014/main" id="{95B0ED3D-9F74-4022-A390-388BE43C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ual-shadow">
            <a:extLst xmlns:a="http://schemas.openxmlformats.org/drawingml/2006/main">
              <a:ext uri="{FF2B5EF4-FFF2-40B4-BE49-F238E27FC236}">
                <a16:creationId xmlns:a16="http://schemas.microsoft.com/office/drawing/2014/main" id="{F20E4ACA-7D73-4DC6-8215-DD6F3416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205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isual-border">
            <a:extLst xmlns:a="http://schemas.openxmlformats.org/drawingml/2006/main">
              <a:ext uri="{FF2B5EF4-FFF2-40B4-BE49-F238E27FC236}">
                <a16:creationId xmlns:a16="http://schemas.microsoft.com/office/drawing/2014/main" id="{F5F33AAD-A9E3-48C5-8AC9-0B4CB179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524750" cy="422910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09111B"/>
          </a:solidFill>
          <a:ln xmlns:a="http://schemas.openxmlformats.org/drawingml/2006/main" w="11430">
            <a:solidFill>
              <a:srgbClr val="FF614F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ff4cfb3424366"/>
          <a:stretch xmlns:a="http://schemas.openxmlformats.org/drawingml/2006/main"/>
        </p:blipFill>
        <p:spPr>
          <a:xfrm xmlns:a="http://schemas.openxmlformats.org/drawingml/2006/main">
            <a:off x="686858" y="1562100"/>
            <a:ext cx="7179733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15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9BCB48CD-4939-4B43-87BF-D78408D9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원본 흐름 유지: PDF 페이지를 비주얼로 크게 배치</a:t>
            </a:r>
          </a:p>
        </p:txBody>
      </p:sp>
      <p:sp>
        <p:nvSpPr>
          <p:cNvPr id="16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A4F7FADD-ACA2-4E04-8340-D2123404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295650" cy="4229100"/>
          </a:xfrm>
          <a:prstGeom xmlns:a="http://schemas.openxmlformats.org/drawingml/2006/main" prst="roundRect">
            <a:avLst>
              <a:gd name="adj" fmla="val 5202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9525">
            <a:solidFill>
              <a:srgbClr val="54312F"/>
            </a:solidFill>
            <a:prstDash val="solid"/>
          </a:ln>
        </p:spPr>
      </p:sp>
      <p:sp>
        <p:nvSpPr>
          <p:cNvPr id="17" name="summary-tag">
            <a:extLst xmlns:a="http://schemas.openxmlformats.org/drawingml/2006/main">
              <a:ext uri="{FF2B5EF4-FFF2-40B4-BE49-F238E27FC236}">
                <a16:creationId xmlns:a16="http://schemas.microsoft.com/office/drawing/2014/main" id="{17A053C8-ED5C-40E9-8375-596D5C8F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14F"/>
                </a:solidFill>
                <a:latin typeface="Malgun Gothic"/>
                <a:ea typeface="Malgun Gothic"/>
                <a:cs typeface="Malgun Gothic"/>
              </a:rPr>
              <a:t>교통분쟁 AI 상담, 분석 서비스</a:t>
            </a:r>
          </a:p>
        </p:txBody>
      </p:sp>
      <p:sp>
        <p:nvSpPr>
          <p:cNvPr id="18" name="summary-headline">
            <a:extLst xmlns:a="http://schemas.openxmlformats.org/drawingml/2006/main">
              <a:ext uri="{FF2B5EF4-FFF2-40B4-BE49-F238E27FC236}">
                <a16:creationId xmlns:a16="http://schemas.microsoft.com/office/drawing/2014/main" id="{61CCF2DD-F4F1-4D06-AACC-9E3065A1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9" name="summary-bullets">
            <a:extLst xmlns:a="http://schemas.openxmlformats.org/drawingml/2006/main">
              <a:ext uri="{FF2B5EF4-FFF2-40B4-BE49-F238E27FC236}">
                <a16:creationId xmlns:a16="http://schemas.microsoft.com/office/drawing/2014/main" id="{3E8622BF-737E-4C0C-9798-6936C665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432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서비스 흐름, AI 분석 구조, 리포트 출력에 대한 질문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과실비율, 과태료/범칙금, 보험 대응 범위 확인</a:t>
            </a:r>
          </a:p>
          <a:p xmlns:a="http://schemas.openxmlformats.org/drawingml/2006/main">
            <a:pPr marL="20" indent="-12">
              <a:lnSpc>
                <a:spcPct val="118000"/>
              </a:lnSpc>
              <a:spcAft>
                <a:spcPts val="14"/>
              </a:spcAft>
              <a:buNone/>
              <a:def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C3D0D8"/>
                </a:solidFill>
                <a:latin typeface="Malgun Gothic"/>
                <a:ea typeface="Malgun Gothic"/>
                <a:cs typeface="Malgun Gothic"/>
              </a:rPr>
              <a:t>구현 범위와 고도화 방향에 대한 피드백</a:t>
            </a:r>
          </a:p>
        </p:txBody>
      </p:sp>
      <p:sp>
        <p:nvSpPr>
          <p:cNvPr id="20" name="ratio-chip">
            <a:extLst xmlns:a="http://schemas.openxmlformats.org/drawingml/2006/main">
              <a:ext uri="{FF2B5EF4-FFF2-40B4-BE49-F238E27FC236}">
                <a16:creationId xmlns:a16="http://schemas.microsoft.com/office/drawing/2014/main" id="{BF89D879-3BA7-4DEA-BC6D-E998D78B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8160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D151E"/>
          </a:solidFill>
          <a:ln xmlns:a="http://schemas.openxmlformats.org/drawingml/2006/main" w="9525">
            <a:solidFill>
              <a:srgbClr val="FF614F"/>
            </a:solidFill>
            <a:prstDash val="solid"/>
          </a:ln>
        </p:spPr>
      </p:sp>
      <p:sp>
        <p:nvSpPr>
          <p:cNvPr id="21" name="ratio-chip-text">
            <a:extLst xmlns:a="http://schemas.openxmlformats.org/drawingml/2006/main">
              <a:ext uri="{FF2B5EF4-FFF2-40B4-BE49-F238E27FC236}">
                <a16:creationId xmlns:a16="http://schemas.microsoft.com/office/drawing/2014/main" id="{70F93B8F-C4E7-4DC2-AE16-E266A823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4F7FA"/>
                </a:solidFill>
                <a:latin typeface="Malgun Gothic"/>
                <a:ea typeface="Malgun Gothic"/>
                <a:cs typeface="Malgun Gothic"/>
              </a:rPr>
              <a:t>그림 70% / 글 30%</a:t>
            </a:r>
          </a:p>
        </p:txBody>
      </p:sp>
      <p:sp>
        <p:nvSpPr>
          <p:cNvPr id="2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4CA881-4947-415B-9F39-62DECA09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3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9FB2BF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4983920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2026-07-09T14:50:49.3360000Z</dcterms:created>
  <dcterms:modified xsi:type="dcterms:W3CDTF">2026-07-09T14:50:49.3360000Z</dcterms:modified>
</coreProperties>
</file>